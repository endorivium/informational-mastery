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7"/>
  </p:notesMasterIdLst>
  <p:sldIdLst>
    <p:sldId id="302" r:id="rId2"/>
    <p:sldId id="314" r:id="rId3"/>
    <p:sldId id="318" r:id="rId4"/>
    <p:sldId id="319" r:id="rId5"/>
    <p:sldId id="30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5ABB"/>
    <a:srgbClr val="00CC00"/>
    <a:srgbClr val="B2A5BF"/>
    <a:srgbClr val="8664B0"/>
    <a:srgbClr val="46B1E6"/>
    <a:srgbClr val="000000"/>
    <a:srgbClr val="212121"/>
    <a:srgbClr val="24DC84"/>
    <a:srgbClr val="007FDE"/>
    <a:srgbClr val="008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84444" autoAdjust="0"/>
  </p:normalViewPr>
  <p:slideViewPr>
    <p:cSldViewPr snapToGrid="0">
      <p:cViewPr varScale="1">
        <p:scale>
          <a:sx n="69" d="100"/>
          <a:sy n="69" d="100"/>
        </p:scale>
        <p:origin x="12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Erster punkt gleich sichtbar</a:t>
            </a:r>
          </a:p>
          <a:p>
            <a:r>
              <a:rPr lang="de-DE"/>
              <a:t>Verschiedene kommunikationsstile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7F73-44EA-26C7-0EC5-D4611F9D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5E3F4-7362-F0AA-DBA3-21B930030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7B395-472A-54C4-1DC3-65EB3623A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10256-73BA-C20A-232F-C9E6DB8AE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EA9B-34BC-85C1-294B-C5403D29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CAE33-499F-57C1-0B7C-2E2CC643C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3A90-542E-1E64-7752-D2315FD96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0B9DA-CE20-689E-A932-A260C0E7D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18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FE40-5DF8-623F-549B-A6448C7F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12638-C4FD-2F4E-A65F-ACEE491F2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A3DEA-BB45-54FE-8984-7BCCCD269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10D63-C52E-1341-F732-4D6092C1C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97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B7B15-6CC9-5292-3284-16076A49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781E1-317B-6E8F-9F7E-86001F2F7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FEE55-0CD0-B0E9-DF24-78656F9A8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73117-2282-E4A7-8C8E-9A75B3FDF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5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85000"/>
                <a:lumOff val="15000"/>
              </a:schemeClr>
            </a:fgClr>
            <a:bgClr>
              <a:srgbClr val="0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6A6D2-B2BA-4A66-D35C-27B359B0CB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2"/>
            <a:ext cx="11694695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C61811-C283-F6CC-A91D-DC791575DE70}"/>
              </a:ext>
            </a:extLst>
          </p:cNvPr>
          <p:cNvGrpSpPr/>
          <p:nvPr/>
        </p:nvGrpSpPr>
        <p:grpSpPr>
          <a:xfrm>
            <a:off x="248651" y="233412"/>
            <a:ext cx="11694695" cy="661937"/>
            <a:chOff x="248651" y="233412"/>
            <a:chExt cx="11694695" cy="6619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653909-56EC-7190-1871-427870C43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51" y="233412"/>
              <a:ext cx="11694695" cy="66193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9747C2-AA67-61ED-F486-351D83CAAC4C}"/>
                </a:ext>
              </a:extLst>
            </p:cNvPr>
            <p:cNvSpPr/>
            <p:nvPr/>
          </p:nvSpPr>
          <p:spPr>
            <a:xfrm>
              <a:off x="881207" y="283392"/>
              <a:ext cx="2100118" cy="561975"/>
            </a:xfrm>
            <a:prstGeom prst="rect">
              <a:avLst/>
            </a:prstGeom>
            <a:solidFill>
              <a:srgbClr val="161717"/>
            </a:solidFill>
            <a:ln>
              <a:solidFill>
                <a:srgbClr val="161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175495-9298-0535-B3F0-05A61F509538}"/>
                </a:ext>
              </a:extLst>
            </p:cNvPr>
            <p:cNvSpPr txBox="1"/>
            <p:nvPr/>
          </p:nvSpPr>
          <p:spPr>
            <a:xfrm>
              <a:off x="881206" y="379713"/>
              <a:ext cx="117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Beck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75211C-170A-5070-78FC-027CD2C78746}"/>
              </a:ext>
            </a:extLst>
          </p:cNvPr>
          <p:cNvGrpSpPr/>
          <p:nvPr/>
        </p:nvGrpSpPr>
        <p:grpSpPr>
          <a:xfrm>
            <a:off x="584026" y="1088129"/>
            <a:ext cx="4500930" cy="841685"/>
            <a:chOff x="888826" y="4371483"/>
            <a:chExt cx="3598469" cy="841685"/>
          </a:xfrm>
          <a:solidFill>
            <a:srgbClr val="46B1E6"/>
          </a:solidFill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5DB7D4B4-AB00-18E5-6C27-AC152BA3A195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982FE9B-E954-F064-B8CE-8A106D1FB8B7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3322511" cy="841422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hast du lust mit mir zu diesem einen </a:t>
              </a:r>
            </a:p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event hinzugeheeeen? </a:t>
              </a:r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  <a:sym typeface="Wingdings" panose="05000000000000000000" pitchFamily="2" charset="2"/>
                </a:rPr>
                <a:t>  </a:t>
              </a: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4679DD1-7BB1-F140-5F91-6AF16E78F35F}"/>
              </a:ext>
            </a:extLst>
          </p:cNvPr>
          <p:cNvSpPr txBox="1"/>
          <p:nvPr/>
        </p:nvSpPr>
        <p:spPr>
          <a:xfrm>
            <a:off x="1282700" y="5986647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65000"/>
                    <a:lumOff val="35000"/>
                  </a:schemeClr>
                </a:solidFill>
              </a:rPr>
              <a:t>Typing...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C78076-C37F-EFAD-6A7F-73677E2BEAD9}"/>
              </a:ext>
            </a:extLst>
          </p:cNvPr>
          <p:cNvSpPr/>
          <p:nvPr/>
        </p:nvSpPr>
        <p:spPr>
          <a:xfrm>
            <a:off x="248651" y="233412"/>
            <a:ext cx="11694695" cy="6760274"/>
          </a:xfrm>
          <a:prstGeom prst="rect">
            <a:avLst/>
          </a:prstGeom>
          <a:noFill/>
          <a:ln w="57150">
            <a:solidFill>
              <a:srgbClr val="16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79B1A5-2F40-A9DF-903A-D637232B1BD6}"/>
              </a:ext>
            </a:extLst>
          </p:cNvPr>
          <p:cNvGrpSpPr/>
          <p:nvPr/>
        </p:nvGrpSpPr>
        <p:grpSpPr>
          <a:xfrm flipH="1">
            <a:off x="10268711" y="1964182"/>
            <a:ext cx="1270685" cy="559534"/>
            <a:chOff x="881206" y="4371746"/>
            <a:chExt cx="1080829" cy="559534"/>
          </a:xfrm>
          <a:solidFill>
            <a:srgbClr val="8664B0"/>
          </a:solidFill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78DEC73-6B6A-0220-AEDA-627833B3BEC7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75848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B4ABAE-EEE9-3E5A-125F-860A8179150E}"/>
                </a:ext>
              </a:extLst>
            </p:cNvPr>
            <p:cNvSpPr>
              <a:spLocks/>
            </p:cNvSpPr>
            <p:nvPr/>
          </p:nvSpPr>
          <p:spPr>
            <a:xfrm>
              <a:off x="1164787" y="4371746"/>
              <a:ext cx="797248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okay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A06688-D31B-138C-FB2D-301B7BC9A8A3}"/>
              </a:ext>
            </a:extLst>
          </p:cNvPr>
          <p:cNvGrpSpPr/>
          <p:nvPr/>
        </p:nvGrpSpPr>
        <p:grpSpPr>
          <a:xfrm>
            <a:off x="584026" y="2643645"/>
            <a:ext cx="2884002" cy="507913"/>
            <a:chOff x="888826" y="4371483"/>
            <a:chExt cx="2305744" cy="507913"/>
          </a:xfrm>
          <a:solidFill>
            <a:srgbClr val="46B1E6"/>
          </a:solidFill>
        </p:grpSpPr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5A5F9A06-F3AA-8C50-6B8C-726143C17AB3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788C1D-86F1-9302-8C9A-8E7C9DECE0DC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2029786" cy="507650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okay, dann halt nicht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FD0F4-FF18-5BB0-0F66-B79BBFD36338}"/>
              </a:ext>
            </a:extLst>
          </p:cNvPr>
          <p:cNvGrpSpPr/>
          <p:nvPr/>
        </p:nvGrpSpPr>
        <p:grpSpPr>
          <a:xfrm flipH="1">
            <a:off x="7978820" y="4627353"/>
            <a:ext cx="3565829" cy="559534"/>
            <a:chOff x="881206" y="4361807"/>
            <a:chExt cx="3033050" cy="559534"/>
          </a:xfrm>
          <a:solidFill>
            <a:srgbClr val="8664B0"/>
          </a:solidFill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5C5858C9-8728-AB3A-0A75-C552DCC928F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65495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6390824-5C38-21C4-B696-25A33148B1A2}"/>
                </a:ext>
              </a:extLst>
            </p:cNvPr>
            <p:cNvSpPr>
              <a:spLocks/>
            </p:cNvSpPr>
            <p:nvPr/>
          </p:nvSpPr>
          <p:spPr>
            <a:xfrm>
              <a:off x="1164787" y="4361807"/>
              <a:ext cx="2749469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 ich hab doch okay gesagt?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165E27-DB3B-F713-A5FC-DEB317FAEBD1}"/>
              </a:ext>
            </a:extLst>
          </p:cNvPr>
          <p:cNvGrpSpPr/>
          <p:nvPr/>
        </p:nvGrpSpPr>
        <p:grpSpPr>
          <a:xfrm>
            <a:off x="584026" y="5274891"/>
            <a:ext cx="2616373" cy="472187"/>
            <a:chOff x="888826" y="4371483"/>
            <a:chExt cx="2091777" cy="472187"/>
          </a:xfrm>
          <a:solidFill>
            <a:srgbClr val="46B1E6"/>
          </a:solidFill>
        </p:grpSpPr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871660AE-96A7-32D1-4F34-F0B7F57435C4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EB21C19-05CF-3232-A5DD-8D57D8CDF940}"/>
                </a:ext>
              </a:extLst>
            </p:cNvPr>
            <p:cNvSpPr>
              <a:spLocks/>
            </p:cNvSpPr>
            <p:nvPr/>
          </p:nvSpPr>
          <p:spPr>
            <a:xfrm>
              <a:off x="1164785" y="4371746"/>
              <a:ext cx="1815818" cy="471924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neee, passt schon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3574A5-25C1-E677-0E70-9CB076A3D5B6}"/>
              </a:ext>
            </a:extLst>
          </p:cNvPr>
          <p:cNvGrpSpPr/>
          <p:nvPr/>
        </p:nvGrpSpPr>
        <p:grpSpPr>
          <a:xfrm>
            <a:off x="584026" y="3384970"/>
            <a:ext cx="3898764" cy="507913"/>
            <a:chOff x="888826" y="4371483"/>
            <a:chExt cx="3117040" cy="507913"/>
          </a:xfrm>
          <a:solidFill>
            <a:srgbClr val="46B1E6"/>
          </a:solidFill>
        </p:grpSpPr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0368A78C-20B9-E4BC-E2FA-E5D8BB7F707D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43BA147-EC3A-5DE5-A8E8-DD5BC53CA810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2841082" cy="507650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du musst dich nich zwingen </a:t>
              </a:r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  <a:sym typeface="Wingdings" panose="05000000000000000000" pitchFamily="2" charset="2"/>
                </a:rPr>
                <a:t></a:t>
              </a: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6DB6976-B4F2-A3F5-85D9-E126C9E61833}"/>
              </a:ext>
            </a:extLst>
          </p:cNvPr>
          <p:cNvSpPr>
            <a:spLocks/>
          </p:cNvSpPr>
          <p:nvPr/>
        </p:nvSpPr>
        <p:spPr>
          <a:xfrm>
            <a:off x="310146" y="5969469"/>
            <a:ext cx="11591844" cy="8367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rgbClr val="F2F2F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B22C0A-FA0E-3022-98C4-549587CA9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46" y="5868103"/>
            <a:ext cx="11571707" cy="80241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346815C-0ADB-9A4E-83D7-06D58629BCA3}"/>
              </a:ext>
            </a:extLst>
          </p:cNvPr>
          <p:cNvSpPr/>
          <p:nvPr/>
        </p:nvSpPr>
        <p:spPr>
          <a:xfrm>
            <a:off x="-3" y="6720908"/>
            <a:ext cx="12192000" cy="506423"/>
          </a:xfrm>
          <a:prstGeom prst="rect">
            <a:avLst/>
          </a:prstGeom>
          <a:pattFill prst="wdUpDiag">
            <a:fgClr>
              <a:schemeClr val="bg1">
                <a:lumMod val="85000"/>
                <a:lumOff val="15000"/>
              </a:schemeClr>
            </a:fgClr>
            <a:bgClr>
              <a:srgbClr val="0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659D14-D957-E511-3DFC-F93C3C4899CF}"/>
              </a:ext>
            </a:extLst>
          </p:cNvPr>
          <p:cNvGrpSpPr/>
          <p:nvPr/>
        </p:nvGrpSpPr>
        <p:grpSpPr>
          <a:xfrm flipH="1">
            <a:off x="10515601" y="3864731"/>
            <a:ext cx="1023795" cy="559534"/>
            <a:chOff x="881206" y="4361807"/>
            <a:chExt cx="870827" cy="559534"/>
          </a:xfrm>
          <a:solidFill>
            <a:srgbClr val="8664B0"/>
          </a:solidFill>
        </p:grpSpPr>
        <p:sp>
          <p:nvSpPr>
            <p:cNvPr id="38" name="Right Triangle 37">
              <a:extLst>
                <a:ext uri="{FF2B5EF4-FFF2-40B4-BE49-F238E27FC236}">
                  <a16:creationId xmlns:a16="http://schemas.microsoft.com/office/drawing/2014/main" id="{0382F8FE-330D-9648-C6E4-02E192C2A3AE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64762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5DCABA8-E1BD-BD65-8375-C45424A82F12}"/>
                </a:ext>
              </a:extLst>
            </p:cNvPr>
            <p:cNvSpPr>
              <a:spLocks/>
            </p:cNvSpPr>
            <p:nvPr/>
          </p:nvSpPr>
          <p:spPr>
            <a:xfrm>
              <a:off x="1164788" y="4361807"/>
              <a:ext cx="587245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 ?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CC5053-BEDC-FB16-FFB3-54A8DFA22DFA}"/>
              </a:ext>
            </a:extLst>
          </p:cNvPr>
          <p:cNvGrpSpPr/>
          <p:nvPr/>
        </p:nvGrpSpPr>
        <p:grpSpPr>
          <a:xfrm>
            <a:off x="1282699" y="6065689"/>
            <a:ext cx="1347685" cy="369332"/>
            <a:chOff x="1282699" y="5999347"/>
            <a:chExt cx="1347685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C46ADE-5E24-2ACE-2202-3B067D1DB7CB}"/>
                </a:ext>
              </a:extLst>
            </p:cNvPr>
            <p:cNvSpPr txBox="1"/>
            <p:nvPr/>
          </p:nvSpPr>
          <p:spPr>
            <a:xfrm>
              <a:off x="1282699" y="5999347"/>
              <a:ext cx="1347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häh?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AA4C2E2-690A-4B2B-AEFD-7DED94B65920}"/>
                </a:ext>
              </a:extLst>
            </p:cNvPr>
            <p:cNvCxnSpPr>
              <a:cxnSpLocks/>
            </p:cNvCxnSpPr>
            <p:nvPr/>
          </p:nvCxnSpPr>
          <p:spPr>
            <a:xfrm>
              <a:off x="1905597" y="6045200"/>
              <a:ext cx="0" cy="244639"/>
            </a:xfrm>
            <a:prstGeom prst="line">
              <a:avLst/>
            </a:prstGeom>
            <a:ln>
              <a:solidFill>
                <a:srgbClr val="00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85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85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60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7F31-DDA5-7630-3158-F118DC44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5C493-00D6-CB97-87A1-68BCD72EEB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4AC0661-C826-D23F-A4D3-B18CA9EF1E2B}"/>
              </a:ext>
            </a:extLst>
          </p:cNvPr>
          <p:cNvSpPr/>
          <p:nvPr/>
        </p:nvSpPr>
        <p:spPr>
          <a:xfrm>
            <a:off x="491067" y="491067"/>
            <a:ext cx="3373966" cy="1253066"/>
          </a:xfrm>
          <a:prstGeom prst="wedgeRoundRectCallout">
            <a:avLst>
              <a:gd name="adj1" fmla="val 32982"/>
              <a:gd name="adj2" fmla="val 126689"/>
              <a:gd name="adj3" fmla="val 16667"/>
            </a:avLst>
          </a:prstGeom>
          <a:solidFill>
            <a:srgbClr val="21212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8531F92-492E-3C47-B9BA-14683D29457E}"/>
              </a:ext>
            </a:extLst>
          </p:cNvPr>
          <p:cNvSpPr/>
          <p:nvPr/>
        </p:nvSpPr>
        <p:spPr>
          <a:xfrm>
            <a:off x="6405102" y="3500388"/>
            <a:ext cx="5235882" cy="2392412"/>
          </a:xfrm>
          <a:prstGeom prst="wedgeRoundRectCallout">
            <a:avLst>
              <a:gd name="adj1" fmla="val -68051"/>
              <a:gd name="adj2" fmla="val -9695"/>
              <a:gd name="adj3" fmla="val 16667"/>
            </a:avLst>
          </a:prstGeom>
          <a:solidFill>
            <a:schemeClr val="tx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8C0DEFB-2985-D322-9DC5-27DEC52012EB}"/>
              </a:ext>
            </a:extLst>
          </p:cNvPr>
          <p:cNvSpPr/>
          <p:nvPr/>
        </p:nvSpPr>
        <p:spPr>
          <a:xfrm>
            <a:off x="5604933" y="553988"/>
            <a:ext cx="6096000" cy="2392412"/>
          </a:xfrm>
          <a:prstGeom prst="wedgeRoundRectCallout">
            <a:avLst>
              <a:gd name="adj1" fmla="val -60277"/>
              <a:gd name="adj2" fmla="val 40913"/>
              <a:gd name="adj3" fmla="val 16667"/>
            </a:avLst>
          </a:prstGeom>
          <a:solidFill>
            <a:schemeClr val="tx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46181-A884-D2A1-F8C0-BCCFD8AE9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18" y="1826113"/>
            <a:ext cx="5235882" cy="5031887"/>
          </a:xfrm>
          <a:prstGeom prst="rect">
            <a:avLst/>
          </a:prstGeom>
        </p:spPr>
      </p:pic>
      <p:pic>
        <p:nvPicPr>
          <p:cNvPr id="11" name="Graphic 10" descr="Stars with solid fill">
            <a:extLst>
              <a:ext uri="{FF2B5EF4-FFF2-40B4-BE49-F238E27FC236}">
                <a16:creationId xmlns:a16="http://schemas.microsoft.com/office/drawing/2014/main" id="{28CD5B0E-5782-046B-7E5A-D5450D74A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2350" y="5389612"/>
            <a:ext cx="914400" cy="914400"/>
          </a:xfrm>
          <a:prstGeom prst="rect">
            <a:avLst/>
          </a:prstGeom>
        </p:spPr>
      </p:pic>
      <p:pic>
        <p:nvPicPr>
          <p:cNvPr id="12" name="Graphic 11" descr="Stars with solid fill">
            <a:extLst>
              <a:ext uri="{FF2B5EF4-FFF2-40B4-BE49-F238E27FC236}">
                <a16:creationId xmlns:a16="http://schemas.microsoft.com/office/drawing/2014/main" id="{4057C51C-B094-6288-0CE8-5E75B79B5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" y="251460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7B7420-F135-16F9-1F65-DA36ADA1732A}"/>
              </a:ext>
            </a:extLst>
          </p:cNvPr>
          <p:cNvSpPr txBox="1"/>
          <p:nvPr/>
        </p:nvSpPr>
        <p:spPr>
          <a:xfrm>
            <a:off x="6024033" y="866970"/>
            <a:ext cx="525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“[P]eople are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overconfident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in their ability to communicate sarcasm, seriousness, anger, and sadness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over e-mail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, and [one of our studies] implicated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egocentrism as a probable source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of this overconfidence.”</a:t>
            </a:r>
          </a:p>
          <a:p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– Kruger et al. (2005)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69689F-D892-8369-4641-B08820160D2E}"/>
              </a:ext>
            </a:extLst>
          </p:cNvPr>
          <p:cNvSpPr txBox="1"/>
          <p:nvPr/>
        </p:nvSpPr>
        <p:spPr>
          <a:xfrm>
            <a:off x="702733" y="553988"/>
            <a:ext cx="3162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masis MT Pro Black" panose="02040A04050005020304" pitchFamily="18" charset="0"/>
              </a:rPr>
              <a:t>Egozentrische Perspektive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C459E-A2F2-3001-5A85-68B5463D96E7}"/>
              </a:ext>
            </a:extLst>
          </p:cNvPr>
          <p:cNvSpPr txBox="1"/>
          <p:nvPr/>
        </p:nvSpPr>
        <p:spPr>
          <a:xfrm>
            <a:off x="6937810" y="3819431"/>
            <a:ext cx="4171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“Speakers tended to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overestimate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their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effectiveness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and expected their addressees to understand their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intentions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more than was warranted.”</a:t>
            </a:r>
          </a:p>
          <a:p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– Keysar and Henly (2002)</a:t>
            </a:r>
          </a:p>
        </p:txBody>
      </p:sp>
    </p:spTree>
    <p:extLst>
      <p:ext uri="{BB962C8B-B14F-4D97-AF65-F5344CB8AC3E}">
        <p14:creationId xmlns:p14="http://schemas.microsoft.com/office/powerpoint/2010/main" val="4241229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13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89524-7C5C-AF99-9A81-282EFD30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995EF7-4607-ACDF-1AC3-C42FFEBAF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DC048-C0E5-8CC2-D064-A4317CB6FF54}"/>
              </a:ext>
            </a:extLst>
          </p:cNvPr>
          <p:cNvSpPr txBox="1"/>
          <p:nvPr/>
        </p:nvSpPr>
        <p:spPr>
          <a:xfrm>
            <a:off x="4248234" y="216985"/>
            <a:ext cx="36955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Amasis MT Pro Black" panose="02040A04050005020304" pitchFamily="18" charset="0"/>
              </a:rPr>
              <a:t>Schemata und</a:t>
            </a:r>
          </a:p>
          <a:p>
            <a:pPr algn="ctr"/>
            <a:r>
              <a:rPr lang="en-US" sz="3200">
                <a:latin typeface="Amasis MT Pro Black" panose="02040A04050005020304" pitchFamily="18" charset="0"/>
              </a:rPr>
              <a:t>Personal Bias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E2CC9-1996-EE78-E838-86E507DC628D}"/>
              </a:ext>
            </a:extLst>
          </p:cNvPr>
          <p:cNvSpPr txBox="1"/>
          <p:nvPr/>
        </p:nvSpPr>
        <p:spPr>
          <a:xfrm>
            <a:off x="4540228" y="6581001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/>
              <a:t>cf.:</a:t>
            </a:r>
            <a:r>
              <a:rPr lang="en-US" sz="1200"/>
              <a:t> Bartlett (1932),</a:t>
            </a:r>
            <a:r>
              <a:rPr lang="de-DE" sz="1200"/>
              <a:t> Keysar (1994), Tyagi (2024)</a:t>
            </a:r>
            <a:endParaRPr lang="en-US" sz="12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1275AF-D7E4-4B2A-C59C-DAEF2060F9D2}"/>
              </a:ext>
            </a:extLst>
          </p:cNvPr>
          <p:cNvGrpSpPr/>
          <p:nvPr/>
        </p:nvGrpSpPr>
        <p:grpSpPr>
          <a:xfrm>
            <a:off x="10626030" y="2510347"/>
            <a:ext cx="914400" cy="918653"/>
            <a:chOff x="1382313" y="3927756"/>
            <a:chExt cx="914400" cy="918653"/>
          </a:xfrm>
        </p:grpSpPr>
        <p:pic>
          <p:nvPicPr>
            <p:cNvPr id="7" name="Graphic 6" descr="Eye with solid fill">
              <a:extLst>
                <a:ext uri="{FF2B5EF4-FFF2-40B4-BE49-F238E27FC236}">
                  <a16:creationId xmlns:a16="http://schemas.microsoft.com/office/drawing/2014/main" id="{DE8E85B6-4A00-9DE6-B883-C4BE09083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82313" y="3927756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Close with solid fill">
              <a:extLst>
                <a:ext uri="{FF2B5EF4-FFF2-40B4-BE49-F238E27FC236}">
                  <a16:creationId xmlns:a16="http://schemas.microsoft.com/office/drawing/2014/main" id="{1DC3A293-03DC-5B2D-A923-1BF1254D7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82313" y="3932009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5608E1-222B-8F5F-D241-7088861E58C3}"/>
              </a:ext>
            </a:extLst>
          </p:cNvPr>
          <p:cNvGrpSpPr/>
          <p:nvPr/>
        </p:nvGrpSpPr>
        <p:grpSpPr>
          <a:xfrm>
            <a:off x="10626030" y="3831098"/>
            <a:ext cx="929174" cy="914400"/>
            <a:chOff x="1367539" y="4771420"/>
            <a:chExt cx="929174" cy="914400"/>
          </a:xfrm>
        </p:grpSpPr>
        <p:pic>
          <p:nvPicPr>
            <p:cNvPr id="8" name="Graphic 7" descr="Ear with solid fill">
              <a:extLst>
                <a:ext uri="{FF2B5EF4-FFF2-40B4-BE49-F238E27FC236}">
                  <a16:creationId xmlns:a16="http://schemas.microsoft.com/office/drawing/2014/main" id="{2C8F8C1E-38B4-0A7E-DE23-D34E2A01E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82313" y="4771420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Close with solid fill">
              <a:extLst>
                <a:ext uri="{FF2B5EF4-FFF2-40B4-BE49-F238E27FC236}">
                  <a16:creationId xmlns:a16="http://schemas.microsoft.com/office/drawing/2014/main" id="{CB42EEA3-8443-BB32-E6F0-E84CC3B5F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67539" y="4771420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657819-25E8-101A-D070-8388ACD4B8CF}"/>
              </a:ext>
            </a:extLst>
          </p:cNvPr>
          <p:cNvGrpSpPr/>
          <p:nvPr/>
        </p:nvGrpSpPr>
        <p:grpSpPr>
          <a:xfrm>
            <a:off x="3216320" y="2805654"/>
            <a:ext cx="1323908" cy="726582"/>
            <a:chOff x="5806990" y="2923158"/>
            <a:chExt cx="1323908" cy="726582"/>
          </a:xfrm>
          <a:solidFill>
            <a:srgbClr val="46B1E6"/>
          </a:solidFill>
        </p:grpSpPr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6BBB1ECB-5DE3-D78B-3B2F-87771358AD54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FA43834-4E94-7485-CE74-4AE9820E2CE6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1047950" cy="7263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okay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1F90B1-7D24-E14F-27AB-994A17710AE7}"/>
              </a:ext>
            </a:extLst>
          </p:cNvPr>
          <p:cNvGrpSpPr/>
          <p:nvPr/>
        </p:nvGrpSpPr>
        <p:grpSpPr>
          <a:xfrm>
            <a:off x="403579" y="2308161"/>
            <a:ext cx="2562225" cy="2562225"/>
            <a:chOff x="679827" y="1513774"/>
            <a:chExt cx="2562225" cy="2562225"/>
          </a:xfrm>
        </p:grpSpPr>
        <p:pic>
          <p:nvPicPr>
            <p:cNvPr id="43" name="Graphic 42" descr="Head with gears outline">
              <a:extLst>
                <a:ext uri="{FF2B5EF4-FFF2-40B4-BE49-F238E27FC236}">
                  <a16:creationId xmlns:a16="http://schemas.microsoft.com/office/drawing/2014/main" id="{2355C2BC-D811-0554-36DF-22F7A006B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9827" y="1513774"/>
              <a:ext cx="2562225" cy="2562225"/>
            </a:xfrm>
            <a:prstGeom prst="rect">
              <a:avLst/>
            </a:prstGeom>
          </p:spPr>
        </p:pic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31A47ADB-9B74-9A5E-FF5E-C3F2181A1642}"/>
                </a:ext>
              </a:extLst>
            </p:cNvPr>
            <p:cNvSpPr>
              <a:spLocks/>
            </p:cNvSpPr>
            <p:nvPr/>
          </p:nvSpPr>
          <p:spPr>
            <a:xfrm>
              <a:off x="1178351" y="1826984"/>
              <a:ext cx="1357459" cy="1319753"/>
            </a:xfrm>
            <a:prstGeom prst="flowChartConnector">
              <a:avLst/>
            </a:prstGeom>
            <a:pattFill prst="wdUpDiag">
              <a:fgClr>
                <a:srgbClr val="21212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0DC3D516-DD06-E5D6-74D5-6D5F989FA625}"/>
              </a:ext>
            </a:extLst>
          </p:cNvPr>
          <p:cNvSpPr/>
          <p:nvPr/>
        </p:nvSpPr>
        <p:spPr>
          <a:xfrm>
            <a:off x="2839974" y="1864717"/>
            <a:ext cx="158123" cy="3661915"/>
          </a:xfrm>
          <a:prstGeom prst="rect">
            <a:avLst/>
          </a:prstGeom>
          <a:pattFill prst="horzBrick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65122D-89A8-348E-84DB-53481CBDB558}"/>
              </a:ext>
            </a:extLst>
          </p:cNvPr>
          <p:cNvGrpSpPr/>
          <p:nvPr/>
        </p:nvGrpSpPr>
        <p:grpSpPr>
          <a:xfrm flipH="1">
            <a:off x="8165410" y="2309027"/>
            <a:ext cx="2562225" cy="2562225"/>
            <a:chOff x="615819" y="1678366"/>
            <a:chExt cx="2562225" cy="2562225"/>
          </a:xfrm>
        </p:grpSpPr>
        <p:pic>
          <p:nvPicPr>
            <p:cNvPr id="12" name="Graphic 11" descr="Head with gears outline">
              <a:extLst>
                <a:ext uri="{FF2B5EF4-FFF2-40B4-BE49-F238E27FC236}">
                  <a16:creationId xmlns:a16="http://schemas.microsoft.com/office/drawing/2014/main" id="{F6BD6A16-58B2-4741-FA81-837129E1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5819" y="1678366"/>
              <a:ext cx="2562225" cy="2562225"/>
            </a:xfrm>
            <a:prstGeom prst="rect">
              <a:avLst/>
            </a:prstGeom>
          </p:spPr>
        </p:pic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74952605-4EE6-3013-8429-EED952109E81}"/>
                </a:ext>
              </a:extLst>
            </p:cNvPr>
            <p:cNvSpPr>
              <a:spLocks/>
            </p:cNvSpPr>
            <p:nvPr/>
          </p:nvSpPr>
          <p:spPr>
            <a:xfrm>
              <a:off x="1096775" y="1948804"/>
              <a:ext cx="1357459" cy="1319753"/>
            </a:xfrm>
            <a:prstGeom prst="flowChartConnector">
              <a:avLst/>
            </a:prstGeom>
            <a:pattFill prst="wdUpDiag">
              <a:fgClr>
                <a:srgbClr val="21212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E5A28895-1EA0-4640-18EC-C1D321B17A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603" y="2620950"/>
            <a:ext cx="1013740" cy="101374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7AB8B55-27F3-09B2-AD81-EF8D8A0ABF9F}"/>
              </a:ext>
            </a:extLst>
          </p:cNvPr>
          <p:cNvSpPr/>
          <p:nvPr/>
        </p:nvSpPr>
        <p:spPr>
          <a:xfrm>
            <a:off x="6265468" y="5246105"/>
            <a:ext cx="1466740" cy="992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schroff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16A8628-1769-033E-356B-7F3BBFDAEE0D}"/>
              </a:ext>
            </a:extLst>
          </p:cNvPr>
          <p:cNvSpPr/>
          <p:nvPr/>
        </p:nvSpPr>
        <p:spPr>
          <a:xfrm>
            <a:off x="5443262" y="1698883"/>
            <a:ext cx="1344778" cy="734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keine Lust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404C3D-F646-5297-A929-EB7BD23E8A05}"/>
              </a:ext>
            </a:extLst>
          </p:cNvPr>
          <p:cNvGrpSpPr/>
          <p:nvPr/>
        </p:nvGrpSpPr>
        <p:grpSpPr>
          <a:xfrm>
            <a:off x="3210027" y="4039106"/>
            <a:ext cx="3785748" cy="726582"/>
            <a:chOff x="5806990" y="2923158"/>
            <a:chExt cx="3785748" cy="726582"/>
          </a:xfrm>
          <a:solidFill>
            <a:srgbClr val="46B1E6"/>
          </a:solidFill>
        </p:grpSpPr>
        <p:sp>
          <p:nvSpPr>
            <p:cNvPr id="60" name="Right Triangle 59">
              <a:extLst>
                <a:ext uri="{FF2B5EF4-FFF2-40B4-BE49-F238E27FC236}">
                  <a16:creationId xmlns:a16="http://schemas.microsoft.com/office/drawing/2014/main" id="{552D1AD9-7F91-D704-0255-B4DB500CB735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5B359DA-D0EC-95CE-3687-415692EB0264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3509790" cy="7263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ich hab doch okay gesagt?</a:t>
              </a:r>
            </a:p>
          </p:txBody>
        </p:sp>
      </p:grp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A7576949-8095-A0B4-9B8D-D2188255565F}"/>
              </a:ext>
            </a:extLst>
          </p:cNvPr>
          <p:cNvCxnSpPr>
            <a:cxnSpLocks/>
            <a:stCxn id="49" idx="2"/>
            <a:endCxn id="56" idx="3"/>
          </p:cNvCxnSpPr>
          <p:nvPr/>
        </p:nvCxnSpPr>
        <p:spPr>
          <a:xfrm rot="5400000">
            <a:off x="7620941" y="3745958"/>
            <a:ext cx="2107800" cy="188526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EE65882-62F8-6746-1ACC-F259E53CA8EB}"/>
              </a:ext>
            </a:extLst>
          </p:cNvPr>
          <p:cNvCxnSpPr>
            <a:cxnSpLocks/>
            <a:endCxn id="57" idx="3"/>
          </p:cNvCxnSpPr>
          <p:nvPr/>
        </p:nvCxnSpPr>
        <p:spPr>
          <a:xfrm rot="10800000">
            <a:off x="6788040" y="2066162"/>
            <a:ext cx="2829434" cy="682847"/>
          </a:xfrm>
          <a:prstGeom prst="bentConnector3">
            <a:avLst>
              <a:gd name="adj1" fmla="val 17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6CE705B-F87C-D258-6CC3-6065495E78D1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4695957" y="3115981"/>
            <a:ext cx="4414646" cy="118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831E38E-7725-4885-6936-AAABB192323A}"/>
              </a:ext>
            </a:extLst>
          </p:cNvPr>
          <p:cNvCxnSpPr>
            <a:cxnSpLocks/>
          </p:cNvCxnSpPr>
          <p:nvPr/>
        </p:nvCxnSpPr>
        <p:spPr>
          <a:xfrm flipV="1">
            <a:off x="7103003" y="3238511"/>
            <a:ext cx="2010356" cy="11109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B855A8-E469-A700-6BE8-03665615413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4630467" y="2066161"/>
            <a:ext cx="812795" cy="7276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4FF601-710F-1B81-3305-DA6891B2758A}"/>
              </a:ext>
            </a:extLst>
          </p:cNvPr>
          <p:cNvCxnSpPr>
            <a:cxnSpLocks/>
          </p:cNvCxnSpPr>
          <p:nvPr/>
        </p:nvCxnSpPr>
        <p:spPr>
          <a:xfrm flipH="1" flipV="1">
            <a:off x="6391576" y="4804679"/>
            <a:ext cx="513063" cy="468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025088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5010-F572-10AB-62A1-D9673F82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86BC0-103F-8551-1F41-A5B600620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8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99658-46BA-5AE8-C926-E31C9AB7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849B75-6F39-FE38-995D-94ADC8FAA2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0" y="233412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6E15B3-6778-7AA2-16C6-28037CC5B49F}"/>
              </a:ext>
            </a:extLst>
          </p:cNvPr>
          <p:cNvGrpSpPr/>
          <p:nvPr/>
        </p:nvGrpSpPr>
        <p:grpSpPr>
          <a:xfrm>
            <a:off x="85444" y="101035"/>
            <a:ext cx="27963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DB9805-C156-C082-9CB7-4CB86EBE055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4F10E9-3FE1-FB55-B24A-BE1112071712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Quellen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BD7898-DC62-1165-DA4E-2B39C4AAB27A}"/>
              </a:ext>
            </a:extLst>
          </p:cNvPr>
          <p:cNvSpPr txBox="1"/>
          <p:nvPr/>
        </p:nvSpPr>
        <p:spPr>
          <a:xfrm>
            <a:off x="1137706" y="888636"/>
            <a:ext cx="99165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Bartlett, F. C. (1932). </a:t>
            </a:r>
            <a:r>
              <a:rPr lang="en-US" i="1"/>
              <a:t>Remembering: A study in experimental and social psychology.</a:t>
            </a:r>
            <a:r>
              <a:rPr lang="en-US"/>
              <a:t> Cambridge University Press.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Keysar, B. (1994). The illusory transparency of intention: Linguistic perspective taking in text. </a:t>
            </a:r>
            <a:r>
              <a:rPr lang="en-US" i="1"/>
              <a:t>Cognitive Psychology, 26</a:t>
            </a:r>
            <a:r>
              <a:rPr lang="en-US"/>
              <a:t>(2), 165–208. https://doi.org/10.1006/cogp.1994.1006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Keysar, B., &amp; Henly, A. S. (2002). Speakers' overestimation of their effectiveness. </a:t>
            </a:r>
            <a:r>
              <a:rPr lang="en-US" i="1"/>
              <a:t>Psychological Science, 13</a:t>
            </a:r>
            <a:r>
              <a:rPr lang="en-US"/>
              <a:t>(3), 207–212. https://doi.org/10.1111/1467-9280.00439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Kruger, J., Epley, N., Parker, J., &amp; Ng, Z. W. (2005). Egocentrism over e-mail: can we communicate as well as we think?. </a:t>
            </a:r>
            <a:r>
              <a:rPr lang="en-US" i="1"/>
              <a:t>Journal of personality and social psychology</a:t>
            </a:r>
            <a:r>
              <a:rPr lang="en-US"/>
              <a:t>, </a:t>
            </a:r>
            <a:r>
              <a:rPr lang="en-US" i="1"/>
              <a:t>89</a:t>
            </a:r>
            <a:r>
              <a:rPr lang="en-US"/>
              <a:t>(6), 925–936. https://doi.org/10.1037/0022-3514.89.6.925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McCulloch, G. (2019). </a:t>
            </a:r>
            <a:r>
              <a:rPr lang="en-US" i="1"/>
              <a:t>Because Internet: understanding the new rules of language.</a:t>
            </a:r>
            <a:r>
              <a:rPr lang="en-US"/>
              <a:t> Riverhead Books, An imprint of Penguin Random House LLC.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Tyagi, V. (2024, June 22). Understanding How Personal Bias Shapes Our Reading Experience. Retrieved from Medium: https://medium.com/@vt3630/understanding-how-personal-bias-shapes-our-reading-experience-1c7fa4280410</a:t>
            </a:r>
          </a:p>
        </p:txBody>
      </p:sp>
    </p:spTree>
    <p:extLst>
      <p:ext uri="{BB962C8B-B14F-4D97-AF65-F5344CB8AC3E}">
        <p14:creationId xmlns:p14="http://schemas.microsoft.com/office/powerpoint/2010/main" val="346561536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1837</TotalTime>
  <Words>379</Words>
  <Application>Microsoft Office PowerPoint</Application>
  <PresentationFormat>Widescreen</PresentationFormat>
  <Paragraphs>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Amasis MT Pro Black</vt:lpstr>
      <vt:lpstr>Aptos</vt:lpstr>
      <vt:lpstr>Arial</vt:lpstr>
      <vt:lpstr>Cascadia Code</vt:lpstr>
      <vt:lpstr>Roboto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Ihrenberger, Julia</cp:lastModifiedBy>
  <cp:revision>1218</cp:revision>
  <dcterms:created xsi:type="dcterms:W3CDTF">2025-03-21T16:11:25Z</dcterms:created>
  <dcterms:modified xsi:type="dcterms:W3CDTF">2026-01-09T19:56:07Z</dcterms:modified>
</cp:coreProperties>
</file>