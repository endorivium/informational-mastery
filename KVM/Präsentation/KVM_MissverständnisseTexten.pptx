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8"/>
  </p:notesMasterIdLst>
  <p:sldIdLst>
    <p:sldId id="302" r:id="rId2"/>
    <p:sldId id="315" r:id="rId3"/>
    <p:sldId id="314" r:id="rId4"/>
    <p:sldId id="318" r:id="rId5"/>
    <p:sldId id="319" r:id="rId6"/>
    <p:sldId id="308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00"/>
    <a:srgbClr val="B2A5BF"/>
    <a:srgbClr val="8664B0"/>
    <a:srgbClr val="46B1E6"/>
    <a:srgbClr val="000000"/>
    <a:srgbClr val="212121"/>
    <a:srgbClr val="24DC84"/>
    <a:srgbClr val="007FDE"/>
    <a:srgbClr val="0086EA"/>
    <a:srgbClr val="D25A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2" autoAdjust="0"/>
    <p:restoredTop sz="93009" autoAdjust="0"/>
  </p:normalViewPr>
  <p:slideViewPr>
    <p:cSldViewPr snapToGrid="0">
      <p:cViewPr>
        <p:scale>
          <a:sx n="100" d="100"/>
          <a:sy n="100" d="100"/>
        </p:scale>
        <p:origin x="4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3DAD76-3859-4D52-8B81-C27FCE0A7D18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D61062-E9D8-4DAB-8118-1CF0D558F9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90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36126-EF57-F334-2A2C-B38B0AC12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5B86D-8D9B-FDC7-85EA-EE6D3D483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F71E6-A417-9636-9295-CEDAE34A6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EFFD6-BE77-DFCA-C1BA-36E4F13FCC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547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62594-422A-5312-D9A7-5B12431A7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4FC12-680B-E71F-89B2-FB8FA952E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349AB-A1C2-6C9E-A4C2-0F8C22859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C8BE2-C077-A1CC-6938-08658E6130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25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C7F73-44EA-26C7-0EC5-D4611F9DB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5E3F4-7362-F0AA-DBA3-21B9300302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57B395-472A-54C4-1DC3-65EB3623A1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010256-73BA-C20A-232F-C9E6DB8AEB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9133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EEA9B-34BC-85C1-294B-C5403D29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DCAE33-499F-57C1-0B7C-2E2CC643C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4B3A90-542E-1E64-7752-D2315FD96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0B9DA-CE20-689E-A932-A260C0E7DA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618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FFE40-5DF8-623F-549B-A6448C7F4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A12638-C4FD-2F4E-A65F-ACEE491F2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6A3DEA-BB45-54FE-8984-7BCCCD269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010D63-C52E-1341-F732-4D6092C1CD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597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B7B15-6CC9-5292-3284-16076A49E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A781E1-317B-6E8F-9F7E-86001F2F7A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0FEE55-0CD0-B0E9-DF24-78656F9A82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73117-2282-E4A7-8C8E-9A75B3FDFF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854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56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67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15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570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819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995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7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911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942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584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5873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196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545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090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8482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748" r:id="rId13"/>
    <p:sldLayoutId id="214748374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2D5E-789E-474C-70AE-A01E47420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3834BC-5ECC-DBE5-570B-3FCA9E1B6B4D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chemeClr val="bg1">
                <a:lumMod val="85000"/>
                <a:lumOff val="15000"/>
              </a:schemeClr>
            </a:fgClr>
            <a:bgClr>
              <a:srgbClr val="000000"/>
            </a:bgClr>
          </a:patt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36A6D2-B2BA-4A66-D35C-27B359B0CB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2" y="233412"/>
            <a:ext cx="11694695" cy="68580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7C61811-C283-F6CC-A91D-DC791575DE70}"/>
              </a:ext>
            </a:extLst>
          </p:cNvPr>
          <p:cNvGrpSpPr/>
          <p:nvPr/>
        </p:nvGrpSpPr>
        <p:grpSpPr>
          <a:xfrm>
            <a:off x="248651" y="233412"/>
            <a:ext cx="11694695" cy="661937"/>
            <a:chOff x="248651" y="233412"/>
            <a:chExt cx="11694695" cy="66193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C653909-56EC-7190-1871-427870C432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51" y="233412"/>
              <a:ext cx="11694695" cy="661937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D9747C2-AA67-61ED-F486-351D83CAAC4C}"/>
                </a:ext>
              </a:extLst>
            </p:cNvPr>
            <p:cNvSpPr/>
            <p:nvPr/>
          </p:nvSpPr>
          <p:spPr>
            <a:xfrm>
              <a:off x="881207" y="283392"/>
              <a:ext cx="2100118" cy="561975"/>
            </a:xfrm>
            <a:prstGeom prst="rect">
              <a:avLst/>
            </a:prstGeom>
            <a:solidFill>
              <a:srgbClr val="161717"/>
            </a:solidFill>
            <a:ln>
              <a:solidFill>
                <a:srgbClr val="16171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  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A175495-9298-0535-B3F0-05A61F509538}"/>
                </a:ext>
              </a:extLst>
            </p:cNvPr>
            <p:cNvSpPr txBox="1"/>
            <p:nvPr/>
          </p:nvSpPr>
          <p:spPr>
            <a:xfrm>
              <a:off x="881206" y="379713"/>
              <a:ext cx="11761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Beck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A75211C-170A-5070-78FC-027CD2C78746}"/>
              </a:ext>
            </a:extLst>
          </p:cNvPr>
          <p:cNvGrpSpPr/>
          <p:nvPr/>
        </p:nvGrpSpPr>
        <p:grpSpPr>
          <a:xfrm>
            <a:off x="584026" y="1088129"/>
            <a:ext cx="4372022" cy="841685"/>
            <a:chOff x="888826" y="4371483"/>
            <a:chExt cx="3495408" cy="841685"/>
          </a:xfrm>
          <a:solidFill>
            <a:srgbClr val="46B1E6"/>
          </a:solidFill>
        </p:grpSpPr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5DB7D4B4-AB00-18E5-6C27-AC152BA3A195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888826" y="4371483"/>
              <a:ext cx="41910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D982FE9B-E954-F064-B8CE-8A106D1FB8B7}"/>
                </a:ext>
              </a:extLst>
            </p:cNvPr>
            <p:cNvSpPr>
              <a:spLocks/>
            </p:cNvSpPr>
            <p:nvPr/>
          </p:nvSpPr>
          <p:spPr>
            <a:xfrm>
              <a:off x="1164784" y="4371746"/>
              <a:ext cx="3219450" cy="841422"/>
            </a:xfrm>
            <a:prstGeom prst="roundRect">
              <a:avLst/>
            </a:prstGeom>
            <a:solidFill>
              <a:srgbClr val="46B1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>
                  <a:latin typeface="Roboto" panose="02000000000000000000" pitchFamily="2" charset="0"/>
                  <a:ea typeface="Roboto" panose="02000000000000000000" pitchFamily="2" charset="0"/>
                </a:rPr>
                <a:t> hast du lust mit mir zu diesem einen </a:t>
              </a:r>
            </a:p>
            <a:p>
              <a:r>
                <a:rPr lang="en-US">
                  <a:latin typeface="Roboto" panose="02000000000000000000" pitchFamily="2" charset="0"/>
                  <a:ea typeface="Roboto" panose="02000000000000000000" pitchFamily="2" charset="0"/>
                </a:rPr>
                <a:t> event hinzugeheeeen? </a:t>
              </a:r>
              <a:r>
                <a:rPr lang="en-US">
                  <a:latin typeface="Roboto" panose="02000000000000000000" pitchFamily="2" charset="0"/>
                  <a:ea typeface="Roboto" panose="02000000000000000000" pitchFamily="2" charset="0"/>
                  <a:sym typeface="Wingdings" panose="05000000000000000000" pitchFamily="2" charset="2"/>
                </a:rPr>
                <a:t>  </a:t>
              </a:r>
              <a:endParaRPr lang="en-US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4679DD1-7BB1-F140-5F91-6AF16E78F35F}"/>
              </a:ext>
            </a:extLst>
          </p:cNvPr>
          <p:cNvSpPr txBox="1"/>
          <p:nvPr/>
        </p:nvSpPr>
        <p:spPr>
          <a:xfrm>
            <a:off x="1282700" y="5986647"/>
            <a:ext cx="3371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bg1">
                    <a:lumMod val="65000"/>
                    <a:lumOff val="35000"/>
                  </a:schemeClr>
                </a:solidFill>
              </a:rPr>
              <a:t>Typing...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C78076-C37F-EFAD-6A7F-73677E2BEAD9}"/>
              </a:ext>
            </a:extLst>
          </p:cNvPr>
          <p:cNvSpPr/>
          <p:nvPr/>
        </p:nvSpPr>
        <p:spPr>
          <a:xfrm>
            <a:off x="248651" y="233412"/>
            <a:ext cx="11694695" cy="6760274"/>
          </a:xfrm>
          <a:prstGeom prst="rect">
            <a:avLst/>
          </a:prstGeom>
          <a:noFill/>
          <a:ln w="57150">
            <a:solidFill>
              <a:srgbClr val="1617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B79B1A5-2F40-A9DF-903A-D637232B1BD6}"/>
              </a:ext>
            </a:extLst>
          </p:cNvPr>
          <p:cNvGrpSpPr/>
          <p:nvPr/>
        </p:nvGrpSpPr>
        <p:grpSpPr>
          <a:xfrm flipH="1">
            <a:off x="10268711" y="1958345"/>
            <a:ext cx="1270685" cy="565371"/>
            <a:chOff x="881206" y="4365909"/>
            <a:chExt cx="1080829" cy="565371"/>
          </a:xfrm>
          <a:solidFill>
            <a:srgbClr val="8664B0"/>
          </a:solidFill>
        </p:grpSpPr>
        <p:sp>
          <p:nvSpPr>
            <p:cNvPr id="5" name="Right Triangle 4">
              <a:extLst>
                <a:ext uri="{FF2B5EF4-FFF2-40B4-BE49-F238E27FC236}">
                  <a16:creationId xmlns:a16="http://schemas.microsoft.com/office/drawing/2014/main" id="{F78DEC73-6B6A-0220-AEDA-627833B3BEC7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881206" y="4365909"/>
              <a:ext cx="41910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FB4ABAE-EEE9-3E5A-125F-860A8179150E}"/>
                </a:ext>
              </a:extLst>
            </p:cNvPr>
            <p:cNvSpPr>
              <a:spLocks/>
            </p:cNvSpPr>
            <p:nvPr/>
          </p:nvSpPr>
          <p:spPr>
            <a:xfrm>
              <a:off x="1164787" y="4371746"/>
              <a:ext cx="797248" cy="559534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>
                  <a:latin typeface="Roboto" panose="02000000000000000000" pitchFamily="2" charset="0"/>
                  <a:ea typeface="Roboto" panose="02000000000000000000" pitchFamily="2" charset="0"/>
                </a:rPr>
                <a:t> okay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4A06688-D31B-138C-FB2D-301B7BC9A8A3}"/>
              </a:ext>
            </a:extLst>
          </p:cNvPr>
          <p:cNvGrpSpPr/>
          <p:nvPr/>
        </p:nvGrpSpPr>
        <p:grpSpPr>
          <a:xfrm>
            <a:off x="584026" y="2643645"/>
            <a:ext cx="2780966" cy="507913"/>
            <a:chOff x="888826" y="4371483"/>
            <a:chExt cx="2223367" cy="507913"/>
          </a:xfrm>
          <a:solidFill>
            <a:srgbClr val="46B1E6"/>
          </a:solidFill>
        </p:grpSpPr>
        <p:sp>
          <p:nvSpPr>
            <p:cNvPr id="12" name="Right Triangle 11">
              <a:extLst>
                <a:ext uri="{FF2B5EF4-FFF2-40B4-BE49-F238E27FC236}">
                  <a16:creationId xmlns:a16="http://schemas.microsoft.com/office/drawing/2014/main" id="{5A5F9A06-F3AA-8C50-6B8C-726143C17AB3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888826" y="4371483"/>
              <a:ext cx="41910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3788C1D-86F1-9302-8C9A-8E7C9DECE0DC}"/>
                </a:ext>
              </a:extLst>
            </p:cNvPr>
            <p:cNvSpPr>
              <a:spLocks/>
            </p:cNvSpPr>
            <p:nvPr/>
          </p:nvSpPr>
          <p:spPr>
            <a:xfrm>
              <a:off x="1164784" y="4371746"/>
              <a:ext cx="1947409" cy="507650"/>
            </a:xfrm>
            <a:prstGeom prst="roundRect">
              <a:avLst/>
            </a:prstGeom>
            <a:solidFill>
              <a:srgbClr val="46B1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>
                  <a:latin typeface="Roboto" panose="02000000000000000000" pitchFamily="2" charset="0"/>
                  <a:ea typeface="Roboto" panose="02000000000000000000" pitchFamily="2" charset="0"/>
                </a:rPr>
                <a:t> okay, dann halt nicht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C6FD0F4-FF18-5BB0-0F66-B79BBFD36338}"/>
              </a:ext>
            </a:extLst>
          </p:cNvPr>
          <p:cNvGrpSpPr/>
          <p:nvPr/>
        </p:nvGrpSpPr>
        <p:grpSpPr>
          <a:xfrm flipH="1">
            <a:off x="7978820" y="4637292"/>
            <a:ext cx="3565829" cy="559534"/>
            <a:chOff x="881206" y="4371746"/>
            <a:chExt cx="3033050" cy="559534"/>
          </a:xfrm>
          <a:solidFill>
            <a:srgbClr val="8664B0"/>
          </a:solidFill>
        </p:grpSpPr>
        <p:sp>
          <p:nvSpPr>
            <p:cNvPr id="17" name="Right Triangle 16">
              <a:extLst>
                <a:ext uri="{FF2B5EF4-FFF2-40B4-BE49-F238E27FC236}">
                  <a16:creationId xmlns:a16="http://schemas.microsoft.com/office/drawing/2014/main" id="{5C5858C9-8728-AB3A-0A75-C552DCC928F8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881206" y="4375434"/>
              <a:ext cx="41910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C6390824-5C38-21C4-B696-25A33148B1A2}"/>
                </a:ext>
              </a:extLst>
            </p:cNvPr>
            <p:cNvSpPr>
              <a:spLocks/>
            </p:cNvSpPr>
            <p:nvPr/>
          </p:nvSpPr>
          <p:spPr>
            <a:xfrm>
              <a:off x="1164787" y="4371746"/>
              <a:ext cx="2749469" cy="559534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>
                  <a:latin typeface="Roboto" panose="02000000000000000000" pitchFamily="2" charset="0"/>
                  <a:ea typeface="Roboto" panose="02000000000000000000" pitchFamily="2" charset="0"/>
                </a:rPr>
                <a:t> ich hab doch okay gesagt?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0165E27-DB3B-F713-A5FC-DEB317FAEBD1}"/>
              </a:ext>
            </a:extLst>
          </p:cNvPr>
          <p:cNvGrpSpPr/>
          <p:nvPr/>
        </p:nvGrpSpPr>
        <p:grpSpPr>
          <a:xfrm>
            <a:off x="584026" y="5274891"/>
            <a:ext cx="2397300" cy="472187"/>
            <a:chOff x="888826" y="4371483"/>
            <a:chExt cx="1916629" cy="472187"/>
          </a:xfrm>
          <a:solidFill>
            <a:srgbClr val="46B1E6"/>
          </a:solidFill>
        </p:grpSpPr>
        <p:sp>
          <p:nvSpPr>
            <p:cNvPr id="22" name="Right Triangle 21">
              <a:extLst>
                <a:ext uri="{FF2B5EF4-FFF2-40B4-BE49-F238E27FC236}">
                  <a16:creationId xmlns:a16="http://schemas.microsoft.com/office/drawing/2014/main" id="{871660AE-96A7-32D1-4F34-F0B7F57435C4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888826" y="4371483"/>
              <a:ext cx="41910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3EB21C19-05CF-3232-A5DD-8D57D8CDF940}"/>
                </a:ext>
              </a:extLst>
            </p:cNvPr>
            <p:cNvSpPr>
              <a:spLocks/>
            </p:cNvSpPr>
            <p:nvPr/>
          </p:nvSpPr>
          <p:spPr>
            <a:xfrm>
              <a:off x="1164786" y="4371746"/>
              <a:ext cx="1640669" cy="471924"/>
            </a:xfrm>
            <a:prstGeom prst="roundRect">
              <a:avLst/>
            </a:prstGeom>
            <a:solidFill>
              <a:srgbClr val="46B1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>
                  <a:latin typeface="Roboto" panose="02000000000000000000" pitchFamily="2" charset="0"/>
                  <a:ea typeface="Roboto" panose="02000000000000000000" pitchFamily="2" charset="0"/>
                </a:rPr>
                <a:t> ne, passt schon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574A5-25C1-E677-0E70-9CB076A3D5B6}"/>
              </a:ext>
            </a:extLst>
          </p:cNvPr>
          <p:cNvGrpSpPr/>
          <p:nvPr/>
        </p:nvGrpSpPr>
        <p:grpSpPr>
          <a:xfrm>
            <a:off x="584026" y="3384970"/>
            <a:ext cx="3466766" cy="507913"/>
            <a:chOff x="888826" y="4371483"/>
            <a:chExt cx="2771660" cy="507913"/>
          </a:xfrm>
          <a:solidFill>
            <a:srgbClr val="46B1E6"/>
          </a:solidFill>
        </p:grpSpPr>
        <p:sp>
          <p:nvSpPr>
            <p:cNvPr id="26" name="Right Triangle 25">
              <a:extLst>
                <a:ext uri="{FF2B5EF4-FFF2-40B4-BE49-F238E27FC236}">
                  <a16:creationId xmlns:a16="http://schemas.microsoft.com/office/drawing/2014/main" id="{0368A78C-20B9-E4BC-E2FA-E5D8BB7F707D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888826" y="4371483"/>
              <a:ext cx="41910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843BA147-EC3A-5DE5-A8E8-DD5BC53CA810}"/>
                </a:ext>
              </a:extLst>
            </p:cNvPr>
            <p:cNvSpPr>
              <a:spLocks/>
            </p:cNvSpPr>
            <p:nvPr/>
          </p:nvSpPr>
          <p:spPr>
            <a:xfrm>
              <a:off x="1164784" y="4371746"/>
              <a:ext cx="2495702" cy="507650"/>
            </a:xfrm>
            <a:prstGeom prst="roundRect">
              <a:avLst/>
            </a:prstGeom>
            <a:solidFill>
              <a:srgbClr val="46B1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>
                  <a:latin typeface="Roboto" panose="02000000000000000000" pitchFamily="2" charset="0"/>
                  <a:ea typeface="Roboto" panose="02000000000000000000" pitchFamily="2" charset="0"/>
                </a:rPr>
                <a:t> musst dich nich zwingen </a:t>
              </a:r>
              <a:r>
                <a:rPr lang="en-US">
                  <a:latin typeface="Roboto" panose="02000000000000000000" pitchFamily="2" charset="0"/>
                  <a:ea typeface="Roboto" panose="02000000000000000000" pitchFamily="2" charset="0"/>
                  <a:sym typeface="Wingdings" panose="05000000000000000000" pitchFamily="2" charset="2"/>
                </a:rPr>
                <a:t></a:t>
              </a:r>
              <a:endParaRPr lang="en-US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6DB6976-B4F2-A3F5-85D9-E126C9E61833}"/>
              </a:ext>
            </a:extLst>
          </p:cNvPr>
          <p:cNvSpPr>
            <a:spLocks/>
          </p:cNvSpPr>
          <p:nvPr/>
        </p:nvSpPr>
        <p:spPr>
          <a:xfrm>
            <a:off x="310146" y="5969469"/>
            <a:ext cx="11591844" cy="83673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B22C0A-FA0E-3022-98C4-549587CA9E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46" y="5868103"/>
            <a:ext cx="11571707" cy="802418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346815C-0ADB-9A4E-83D7-06D58629BCA3}"/>
              </a:ext>
            </a:extLst>
          </p:cNvPr>
          <p:cNvSpPr/>
          <p:nvPr/>
        </p:nvSpPr>
        <p:spPr>
          <a:xfrm>
            <a:off x="-3" y="6720908"/>
            <a:ext cx="12192000" cy="506423"/>
          </a:xfrm>
          <a:prstGeom prst="rect">
            <a:avLst/>
          </a:prstGeom>
          <a:pattFill prst="wdUpDiag">
            <a:fgClr>
              <a:schemeClr val="bg1">
                <a:lumMod val="85000"/>
                <a:lumOff val="15000"/>
              </a:schemeClr>
            </a:fgClr>
            <a:bgClr>
              <a:srgbClr val="000000"/>
            </a:bgClr>
          </a:patt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5659D14-D957-E511-3DFC-F93C3C4899CF}"/>
              </a:ext>
            </a:extLst>
          </p:cNvPr>
          <p:cNvGrpSpPr/>
          <p:nvPr/>
        </p:nvGrpSpPr>
        <p:grpSpPr>
          <a:xfrm flipH="1">
            <a:off x="10529643" y="3874670"/>
            <a:ext cx="1009753" cy="559534"/>
            <a:chOff x="881206" y="4371746"/>
            <a:chExt cx="858883" cy="559534"/>
          </a:xfrm>
          <a:solidFill>
            <a:srgbClr val="8664B0"/>
          </a:solidFill>
        </p:grpSpPr>
        <p:sp>
          <p:nvSpPr>
            <p:cNvPr id="38" name="Right Triangle 37">
              <a:extLst>
                <a:ext uri="{FF2B5EF4-FFF2-40B4-BE49-F238E27FC236}">
                  <a16:creationId xmlns:a16="http://schemas.microsoft.com/office/drawing/2014/main" id="{0382F8FE-330D-9648-C6E4-02E192C2A3AE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881206" y="4374701"/>
              <a:ext cx="41910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5DCABA8-E1BD-BD65-8375-C45424A82F12}"/>
                </a:ext>
              </a:extLst>
            </p:cNvPr>
            <p:cNvSpPr>
              <a:spLocks/>
            </p:cNvSpPr>
            <p:nvPr/>
          </p:nvSpPr>
          <p:spPr>
            <a:xfrm>
              <a:off x="1164788" y="4371746"/>
              <a:ext cx="575301" cy="559534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>
                  <a:latin typeface="Roboto" panose="02000000000000000000" pitchFamily="2" charset="0"/>
                  <a:ea typeface="Roboto" panose="02000000000000000000" pitchFamily="2" charset="0"/>
                </a:rPr>
                <a:t> ?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6CC5053-BEDC-FB16-FFB3-54A8DFA22DFA}"/>
              </a:ext>
            </a:extLst>
          </p:cNvPr>
          <p:cNvGrpSpPr/>
          <p:nvPr/>
        </p:nvGrpSpPr>
        <p:grpSpPr>
          <a:xfrm>
            <a:off x="1282699" y="6065689"/>
            <a:ext cx="1347685" cy="369332"/>
            <a:chOff x="1282699" y="5999347"/>
            <a:chExt cx="1347685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BC46ADE-5E24-2ACE-2202-3B067D1DB7CB}"/>
                </a:ext>
              </a:extLst>
            </p:cNvPr>
            <p:cNvSpPr txBox="1"/>
            <p:nvPr/>
          </p:nvSpPr>
          <p:spPr>
            <a:xfrm>
              <a:off x="1282699" y="5999347"/>
              <a:ext cx="13476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atin typeface="Roboto" panose="02000000000000000000" pitchFamily="2" charset="0"/>
                  <a:ea typeface="Roboto" panose="02000000000000000000" pitchFamily="2" charset="0"/>
                </a:rPr>
                <a:t> häh?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AA4C2E2-690A-4B2B-AEFD-7DED94B65920}"/>
                </a:ext>
              </a:extLst>
            </p:cNvPr>
            <p:cNvCxnSpPr>
              <a:cxnSpLocks/>
            </p:cNvCxnSpPr>
            <p:nvPr/>
          </p:nvCxnSpPr>
          <p:spPr>
            <a:xfrm>
              <a:off x="1905597" y="6045200"/>
              <a:ext cx="0" cy="244639"/>
            </a:xfrm>
            <a:prstGeom prst="line">
              <a:avLst/>
            </a:prstGeom>
            <a:ln>
              <a:solidFill>
                <a:srgbClr val="00CC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91990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5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850"/>
                            </p:stCondLst>
                            <p:childTnLst>
                              <p:par>
                                <p:cTn id="30" presetID="2" presetClass="entr" presetSubtype="4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850"/>
                            </p:stCondLst>
                            <p:childTnLst>
                              <p:par>
                                <p:cTn id="35" presetID="2" presetClass="entr" presetSubtype="4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600"/>
                            </p:stCondLst>
                            <p:childTnLst>
                              <p:par>
                                <p:cTn id="40" presetID="16" presetClass="entr" presetSubtype="21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0EABE-9886-8F3B-E78B-12D70C6C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D67648-AAB8-F5C3-0673-F496AB121B0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D43F342-020D-ACAF-112D-FDE78057B101}"/>
              </a:ext>
            </a:extLst>
          </p:cNvPr>
          <p:cNvGrpSpPr/>
          <p:nvPr/>
        </p:nvGrpSpPr>
        <p:grpSpPr>
          <a:xfrm flipH="1">
            <a:off x="9944089" y="2116110"/>
            <a:ext cx="1387649" cy="601903"/>
            <a:chOff x="850726" y="852150"/>
            <a:chExt cx="1387649" cy="601903"/>
          </a:xfrm>
          <a:solidFill>
            <a:srgbClr val="8664B0"/>
          </a:solidFill>
        </p:grpSpPr>
        <p:sp>
          <p:nvSpPr>
            <p:cNvPr id="4" name="Right Triangle 3">
              <a:extLst>
                <a:ext uri="{FF2B5EF4-FFF2-40B4-BE49-F238E27FC236}">
                  <a16:creationId xmlns:a16="http://schemas.microsoft.com/office/drawing/2014/main" id="{0A27AA9A-BC53-C98C-5C94-3922D249B844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850726" y="852150"/>
              <a:ext cx="41910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49EED43-519F-A2F1-CEAF-D6E90F35DD3F}"/>
                </a:ext>
              </a:extLst>
            </p:cNvPr>
            <p:cNvSpPr>
              <a:spLocks/>
            </p:cNvSpPr>
            <p:nvPr/>
          </p:nvSpPr>
          <p:spPr>
            <a:xfrm>
              <a:off x="1126684" y="852413"/>
              <a:ext cx="1111691" cy="60164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00">
                  <a:latin typeface="Roboto" panose="02000000000000000000" pitchFamily="2" charset="0"/>
                  <a:ea typeface="Roboto" panose="02000000000000000000" pitchFamily="2" charset="0"/>
                </a:rPr>
                <a:t>  hey </a:t>
              </a:r>
              <a:r>
                <a:rPr lang="en-US" sz="2000">
                  <a:latin typeface="Roboto" panose="02000000000000000000" pitchFamily="2" charset="0"/>
                  <a:ea typeface="Roboto" panose="02000000000000000000" pitchFamily="2" charset="0"/>
                  <a:sym typeface="Wingdings" panose="05000000000000000000" pitchFamily="2" charset="2"/>
                </a:rPr>
                <a:t></a:t>
              </a:r>
              <a:endParaRPr lang="en-US" sz="20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01658E-42BB-9074-7C35-14C43F26F024}"/>
              </a:ext>
            </a:extLst>
          </p:cNvPr>
          <p:cNvGrpSpPr/>
          <p:nvPr/>
        </p:nvGrpSpPr>
        <p:grpSpPr>
          <a:xfrm flipH="1">
            <a:off x="7458064" y="2976049"/>
            <a:ext cx="3873674" cy="841685"/>
            <a:chOff x="850726" y="3118672"/>
            <a:chExt cx="3873674" cy="841685"/>
          </a:xfrm>
          <a:solidFill>
            <a:srgbClr val="8664B0"/>
          </a:solidFill>
        </p:grpSpPr>
        <p:sp>
          <p:nvSpPr>
            <p:cNvPr id="10" name="Right Triangle 9">
              <a:extLst>
                <a:ext uri="{FF2B5EF4-FFF2-40B4-BE49-F238E27FC236}">
                  <a16:creationId xmlns:a16="http://schemas.microsoft.com/office/drawing/2014/main" id="{81655491-8E15-337D-8FE4-D83BD739EBEA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850726" y="3118672"/>
              <a:ext cx="41910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8764DEF-3359-95DB-EFFE-CAE873FC9EA3}"/>
                </a:ext>
              </a:extLst>
            </p:cNvPr>
            <p:cNvSpPr>
              <a:spLocks/>
            </p:cNvSpPr>
            <p:nvPr/>
          </p:nvSpPr>
          <p:spPr>
            <a:xfrm>
              <a:off x="1126684" y="3118935"/>
              <a:ext cx="3597716" cy="841422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00">
                  <a:latin typeface="Roboto" panose="02000000000000000000" pitchFamily="2" charset="0"/>
                  <a:ea typeface="Roboto" panose="02000000000000000000" pitchFamily="2" charset="0"/>
                </a:rPr>
                <a:t> hast du die woche lust was </a:t>
              </a:r>
            </a:p>
            <a:p>
              <a:r>
                <a:rPr lang="en-US" sz="2000">
                  <a:latin typeface="Roboto" panose="02000000000000000000" pitchFamily="2" charset="0"/>
                  <a:ea typeface="Roboto" panose="02000000000000000000" pitchFamily="2" charset="0"/>
                </a:rPr>
                <a:t> zu machen? </a:t>
              </a:r>
              <a:r>
                <a:rPr lang="en-US" sz="2000">
                  <a:latin typeface="Roboto" panose="02000000000000000000" pitchFamily="2" charset="0"/>
                  <a:ea typeface="Roboto" panose="02000000000000000000" pitchFamily="2" charset="0"/>
                  <a:sym typeface="Wingdings" panose="05000000000000000000" pitchFamily="2" charset="2"/>
                </a:rPr>
                <a:t> </a:t>
              </a:r>
              <a:endParaRPr lang="en-US" sz="20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52048F6-48D5-F359-7219-29E3529D353D}"/>
              </a:ext>
            </a:extLst>
          </p:cNvPr>
          <p:cNvGrpSpPr/>
          <p:nvPr/>
        </p:nvGrpSpPr>
        <p:grpSpPr>
          <a:xfrm flipH="1">
            <a:off x="8372464" y="4075771"/>
            <a:ext cx="2959274" cy="642932"/>
            <a:chOff x="574501" y="3844401"/>
            <a:chExt cx="2959274" cy="642932"/>
          </a:xfrm>
          <a:solidFill>
            <a:srgbClr val="8664B0"/>
          </a:solidFill>
        </p:grpSpPr>
        <p:sp>
          <p:nvSpPr>
            <p:cNvPr id="43" name="Right Triangle 42">
              <a:extLst>
                <a:ext uri="{FF2B5EF4-FFF2-40B4-BE49-F238E27FC236}">
                  <a16:creationId xmlns:a16="http://schemas.microsoft.com/office/drawing/2014/main" id="{B5378F05-946A-9861-F398-076826B8ADC3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574501" y="3844401"/>
              <a:ext cx="41910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DBC1D011-01D6-323F-384A-EE29EAE4262F}"/>
                </a:ext>
              </a:extLst>
            </p:cNvPr>
            <p:cNvSpPr>
              <a:spLocks/>
            </p:cNvSpPr>
            <p:nvPr/>
          </p:nvSpPr>
          <p:spPr>
            <a:xfrm>
              <a:off x="850459" y="3844401"/>
              <a:ext cx="2683316" cy="642932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00">
                  <a:latin typeface="Roboto" panose="02000000000000000000" pitchFamily="2" charset="0"/>
                  <a:ea typeface="Roboto" panose="02000000000000000000" pitchFamily="2" charset="0"/>
                </a:rPr>
                <a:t> vielleicht dienstag?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49E305D-4A64-0F9D-DD82-E2AB5D4DCCAA}"/>
              </a:ext>
            </a:extLst>
          </p:cNvPr>
          <p:cNvGrpSpPr/>
          <p:nvPr/>
        </p:nvGrpSpPr>
        <p:grpSpPr>
          <a:xfrm>
            <a:off x="752302" y="434901"/>
            <a:ext cx="6520565" cy="1348764"/>
            <a:chOff x="5806990" y="2922833"/>
            <a:chExt cx="6520565" cy="1348764"/>
          </a:xfrm>
          <a:solidFill>
            <a:srgbClr val="46B1E6"/>
          </a:solidFill>
        </p:grpSpPr>
        <p:sp>
          <p:nvSpPr>
            <p:cNvPr id="6" name="Right Triangle 5">
              <a:extLst>
                <a:ext uri="{FF2B5EF4-FFF2-40B4-BE49-F238E27FC236}">
                  <a16:creationId xmlns:a16="http://schemas.microsoft.com/office/drawing/2014/main" id="{83F01BC9-C2B8-85C9-3D5C-2B4BE6577676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5806990" y="2922833"/>
              <a:ext cx="49221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D2443607-160A-25B9-2734-24193DBF17D8}"/>
                </a:ext>
              </a:extLst>
            </p:cNvPr>
            <p:cNvSpPr>
              <a:spLocks/>
            </p:cNvSpPr>
            <p:nvPr/>
          </p:nvSpPr>
          <p:spPr>
            <a:xfrm>
              <a:off x="6082947" y="2923420"/>
              <a:ext cx="6244608" cy="1348177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3600" b="1">
                  <a:latin typeface="Roboto" panose="02000000000000000000" pitchFamily="2" charset="0"/>
                  <a:ea typeface="Roboto" panose="02000000000000000000" pitchFamily="2" charset="0"/>
                </a:rPr>
                <a:t>  Kommunikationsstil und</a:t>
              </a:r>
            </a:p>
            <a:p>
              <a:r>
                <a:rPr lang="en-US" sz="3600" b="1">
                  <a:latin typeface="Roboto" panose="02000000000000000000" pitchFamily="2" charset="0"/>
                  <a:ea typeface="Roboto" panose="02000000000000000000" pitchFamily="2" charset="0"/>
                </a:rPr>
                <a:t>  “Ton”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9A2F2A3-F432-B2DD-BAF0-202CDB13B8AA}"/>
              </a:ext>
            </a:extLst>
          </p:cNvPr>
          <p:cNvSpPr txBox="1"/>
          <p:nvPr/>
        </p:nvSpPr>
        <p:spPr>
          <a:xfrm>
            <a:off x="4540228" y="6588289"/>
            <a:ext cx="76517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/>
              <a:t>cf.: McCulloch (2019, Ch. 4)</a:t>
            </a:r>
            <a:endParaRPr lang="en-US" sz="120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3DEC4C9-4116-9746-F402-5BBC19E229FD}"/>
              </a:ext>
            </a:extLst>
          </p:cNvPr>
          <p:cNvGrpSpPr/>
          <p:nvPr/>
        </p:nvGrpSpPr>
        <p:grpSpPr>
          <a:xfrm>
            <a:off x="752302" y="5162889"/>
            <a:ext cx="4543598" cy="1092955"/>
            <a:chOff x="5806990" y="2923158"/>
            <a:chExt cx="4543598" cy="1092955"/>
          </a:xfrm>
          <a:solidFill>
            <a:srgbClr val="46B1E6"/>
          </a:solidFill>
        </p:grpSpPr>
        <p:sp>
          <p:nvSpPr>
            <p:cNvPr id="16" name="Right Triangle 15">
              <a:extLst>
                <a:ext uri="{FF2B5EF4-FFF2-40B4-BE49-F238E27FC236}">
                  <a16:creationId xmlns:a16="http://schemas.microsoft.com/office/drawing/2014/main" id="{0AA9C671-B3E5-F773-952C-B0A5DCA96461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5806990" y="2923158"/>
              <a:ext cx="49221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A4AB37FD-E4E5-26F5-27F9-4210CD5684EB}"/>
                </a:ext>
              </a:extLst>
            </p:cNvPr>
            <p:cNvSpPr>
              <a:spLocks/>
            </p:cNvSpPr>
            <p:nvPr/>
          </p:nvSpPr>
          <p:spPr>
            <a:xfrm>
              <a:off x="6082947" y="2923421"/>
              <a:ext cx="4267641" cy="1092692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00">
                  <a:latin typeface="Roboto" panose="02000000000000000000" pitchFamily="2" charset="0"/>
                  <a:ea typeface="Roboto" panose="02000000000000000000" pitchFamily="2" charset="0"/>
                </a:rPr>
                <a:t> wenn du das möchtest, können </a:t>
              </a:r>
            </a:p>
            <a:p>
              <a:r>
                <a:rPr lang="en-US" sz="2000">
                  <a:latin typeface="Roboto" panose="02000000000000000000" pitchFamily="2" charset="0"/>
                  <a:ea typeface="Roboto" panose="02000000000000000000" pitchFamily="2" charset="0"/>
                </a:rPr>
                <a:t> wir das tun... aber dienstag habe </a:t>
              </a:r>
            </a:p>
            <a:p>
              <a:r>
                <a:rPr lang="en-US" sz="2000">
                  <a:latin typeface="Roboto" panose="02000000000000000000" pitchFamily="2" charset="0"/>
                  <a:ea typeface="Roboto" panose="02000000000000000000" pitchFamily="2" charset="0"/>
                </a:rPr>
                <a:t> ich keine zeit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266587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D7F31-DDA5-7630-3158-F118DC444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55C493-00D6-CB97-87A1-68BCD72EEBE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94AC0661-C826-D23F-A4D3-B18CA9EF1E2B}"/>
              </a:ext>
            </a:extLst>
          </p:cNvPr>
          <p:cNvSpPr/>
          <p:nvPr/>
        </p:nvSpPr>
        <p:spPr>
          <a:xfrm>
            <a:off x="491067" y="491067"/>
            <a:ext cx="3373966" cy="1253066"/>
          </a:xfrm>
          <a:prstGeom prst="wedgeRoundRectCallout">
            <a:avLst>
              <a:gd name="adj1" fmla="val 32982"/>
              <a:gd name="adj2" fmla="val 126689"/>
              <a:gd name="adj3" fmla="val 16667"/>
            </a:avLst>
          </a:prstGeom>
          <a:solidFill>
            <a:srgbClr val="21212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B8531F92-492E-3C47-B9BA-14683D29457E}"/>
              </a:ext>
            </a:extLst>
          </p:cNvPr>
          <p:cNvSpPr/>
          <p:nvPr/>
        </p:nvSpPr>
        <p:spPr>
          <a:xfrm>
            <a:off x="6405102" y="3500388"/>
            <a:ext cx="5235882" cy="2392412"/>
          </a:xfrm>
          <a:prstGeom prst="wedgeRoundRectCallout">
            <a:avLst>
              <a:gd name="adj1" fmla="val -68051"/>
              <a:gd name="adj2" fmla="val -9695"/>
              <a:gd name="adj3" fmla="val 16667"/>
            </a:avLst>
          </a:prstGeom>
          <a:solidFill>
            <a:schemeClr val="tx1"/>
          </a:solidFill>
          <a:ln>
            <a:solidFill>
              <a:srgbClr val="2121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48C0DEFB-2985-D322-9DC5-27DEC52012EB}"/>
              </a:ext>
            </a:extLst>
          </p:cNvPr>
          <p:cNvSpPr/>
          <p:nvPr/>
        </p:nvSpPr>
        <p:spPr>
          <a:xfrm>
            <a:off x="5604933" y="553988"/>
            <a:ext cx="6096000" cy="2392412"/>
          </a:xfrm>
          <a:prstGeom prst="wedgeRoundRectCallout">
            <a:avLst>
              <a:gd name="adj1" fmla="val -60277"/>
              <a:gd name="adj2" fmla="val 40913"/>
              <a:gd name="adj3" fmla="val 16667"/>
            </a:avLst>
          </a:prstGeom>
          <a:solidFill>
            <a:schemeClr val="tx1"/>
          </a:solidFill>
          <a:ln>
            <a:solidFill>
              <a:srgbClr val="2121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E46181-A884-D2A1-F8C0-BCCFD8AE95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818" y="1826113"/>
            <a:ext cx="5235882" cy="5031887"/>
          </a:xfrm>
          <a:prstGeom prst="rect">
            <a:avLst/>
          </a:prstGeom>
        </p:spPr>
      </p:pic>
      <p:pic>
        <p:nvPicPr>
          <p:cNvPr id="11" name="Graphic 10" descr="Stars with solid fill">
            <a:extLst>
              <a:ext uri="{FF2B5EF4-FFF2-40B4-BE49-F238E27FC236}">
                <a16:creationId xmlns:a16="http://schemas.microsoft.com/office/drawing/2014/main" id="{28CD5B0E-5782-046B-7E5A-D5450D74A9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32350" y="5389612"/>
            <a:ext cx="914400" cy="914400"/>
          </a:xfrm>
          <a:prstGeom prst="rect">
            <a:avLst/>
          </a:prstGeom>
        </p:spPr>
      </p:pic>
      <p:pic>
        <p:nvPicPr>
          <p:cNvPr id="12" name="Graphic 11" descr="Stars with solid fill">
            <a:extLst>
              <a:ext uri="{FF2B5EF4-FFF2-40B4-BE49-F238E27FC236}">
                <a16:creationId xmlns:a16="http://schemas.microsoft.com/office/drawing/2014/main" id="{4057C51C-B094-6288-0CE8-5E75B79B50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50" y="251460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27B7420-F135-16F9-1F65-DA36ADA1732A}"/>
              </a:ext>
            </a:extLst>
          </p:cNvPr>
          <p:cNvSpPr txBox="1"/>
          <p:nvPr/>
        </p:nvSpPr>
        <p:spPr>
          <a:xfrm>
            <a:off x="6024033" y="866970"/>
            <a:ext cx="5257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bg1"/>
                </a:solidFill>
                <a:latin typeface="Amasis MT Pro Black" panose="020F0502020204030204" pitchFamily="18" charset="0"/>
                <a:ea typeface="ADLaM Display" panose="020F0502020204030204" pitchFamily="2" charset="0"/>
                <a:cs typeface="ADLaM Display" panose="020F0502020204030204" pitchFamily="2" charset="0"/>
              </a:rPr>
              <a:t>“[P]eople are </a:t>
            </a:r>
            <a:r>
              <a:rPr lang="en-US">
                <a:solidFill>
                  <a:srgbClr val="46B1E6"/>
                </a:solidFill>
                <a:latin typeface="Amasis MT Pro Black" panose="020F0502020204030204" pitchFamily="18" charset="0"/>
                <a:ea typeface="ADLaM Display" panose="020F0502020204030204" pitchFamily="2" charset="0"/>
                <a:cs typeface="ADLaM Display" panose="020F0502020204030204" pitchFamily="2" charset="0"/>
              </a:rPr>
              <a:t>overconfident</a:t>
            </a:r>
            <a:r>
              <a:rPr lang="en-US">
                <a:solidFill>
                  <a:schemeClr val="bg1"/>
                </a:solidFill>
                <a:latin typeface="Amasis MT Pro Black" panose="020F0502020204030204" pitchFamily="18" charset="0"/>
                <a:ea typeface="ADLaM Display" panose="020F0502020204030204" pitchFamily="2" charset="0"/>
                <a:cs typeface="ADLaM Display" panose="020F0502020204030204" pitchFamily="2" charset="0"/>
              </a:rPr>
              <a:t> in their ability to communicate sarcasm, seriousness, anger, and sadness </a:t>
            </a:r>
            <a:r>
              <a:rPr lang="en-US">
                <a:solidFill>
                  <a:srgbClr val="46B1E6"/>
                </a:solidFill>
                <a:latin typeface="Amasis MT Pro Black" panose="020F0502020204030204" pitchFamily="18" charset="0"/>
                <a:ea typeface="ADLaM Display" panose="020F0502020204030204" pitchFamily="2" charset="0"/>
                <a:cs typeface="ADLaM Display" panose="020F0502020204030204" pitchFamily="2" charset="0"/>
              </a:rPr>
              <a:t>over e-mail</a:t>
            </a:r>
            <a:r>
              <a:rPr lang="en-US">
                <a:solidFill>
                  <a:schemeClr val="bg1"/>
                </a:solidFill>
                <a:latin typeface="Amasis MT Pro Black" panose="020F0502020204030204" pitchFamily="18" charset="0"/>
                <a:ea typeface="ADLaM Display" panose="020F0502020204030204" pitchFamily="2" charset="0"/>
                <a:cs typeface="ADLaM Display" panose="020F0502020204030204" pitchFamily="2" charset="0"/>
              </a:rPr>
              <a:t>, and [one of our studies] implicated </a:t>
            </a:r>
            <a:r>
              <a:rPr lang="en-US">
                <a:solidFill>
                  <a:srgbClr val="46B1E6"/>
                </a:solidFill>
                <a:latin typeface="Amasis MT Pro Black" panose="020F0502020204030204" pitchFamily="18" charset="0"/>
                <a:ea typeface="ADLaM Display" panose="020F0502020204030204" pitchFamily="2" charset="0"/>
                <a:cs typeface="ADLaM Display" panose="020F0502020204030204" pitchFamily="2" charset="0"/>
              </a:rPr>
              <a:t>egocentrism as a probable source</a:t>
            </a:r>
            <a:r>
              <a:rPr lang="en-US">
                <a:solidFill>
                  <a:schemeClr val="bg1"/>
                </a:solidFill>
                <a:latin typeface="Amasis MT Pro Black" panose="020F0502020204030204" pitchFamily="18" charset="0"/>
                <a:ea typeface="ADLaM Display" panose="020F0502020204030204" pitchFamily="2" charset="0"/>
                <a:cs typeface="ADLaM Display" panose="020F0502020204030204" pitchFamily="2" charset="0"/>
              </a:rPr>
              <a:t> of this overconfidence.”</a:t>
            </a:r>
          </a:p>
          <a:p>
            <a:r>
              <a:rPr lang="en-US">
                <a:solidFill>
                  <a:schemeClr val="bg1"/>
                </a:solidFill>
                <a:latin typeface="Amasis MT Pro Black" panose="020F0502020204030204" pitchFamily="18" charset="0"/>
                <a:ea typeface="ADLaM Display" panose="020F0502020204030204" pitchFamily="2" charset="0"/>
                <a:cs typeface="ADLaM Display" panose="020F0502020204030204" pitchFamily="2" charset="0"/>
              </a:rPr>
              <a:t>– Kruger et al. (2005)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69689F-D892-8369-4641-B08820160D2E}"/>
              </a:ext>
            </a:extLst>
          </p:cNvPr>
          <p:cNvSpPr txBox="1"/>
          <p:nvPr/>
        </p:nvSpPr>
        <p:spPr>
          <a:xfrm>
            <a:off x="702733" y="553988"/>
            <a:ext cx="31623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latin typeface="Amasis MT Pro Black" panose="02040A04050005020304" pitchFamily="18" charset="0"/>
              </a:rPr>
              <a:t>Egozentrische Perspektive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EC459E-A2F2-3001-5A85-68B5463D96E7}"/>
              </a:ext>
            </a:extLst>
          </p:cNvPr>
          <p:cNvSpPr txBox="1"/>
          <p:nvPr/>
        </p:nvSpPr>
        <p:spPr>
          <a:xfrm>
            <a:off x="6937810" y="3819431"/>
            <a:ext cx="41710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bg1"/>
                </a:solidFill>
                <a:latin typeface="Amasis MT Pro Black" panose="02040A04050005020304" pitchFamily="18" charset="0"/>
              </a:rPr>
              <a:t>“Speakers tended to </a:t>
            </a:r>
            <a:r>
              <a:rPr lang="en-US">
                <a:solidFill>
                  <a:srgbClr val="D25ABB"/>
                </a:solidFill>
                <a:latin typeface="Amasis MT Pro Black" panose="02040A04050005020304" pitchFamily="18" charset="0"/>
              </a:rPr>
              <a:t>overestimate</a:t>
            </a:r>
            <a:r>
              <a:rPr lang="en-US">
                <a:solidFill>
                  <a:schemeClr val="bg1"/>
                </a:solidFill>
                <a:latin typeface="Amasis MT Pro Black" panose="02040A04050005020304" pitchFamily="18" charset="0"/>
              </a:rPr>
              <a:t> their </a:t>
            </a:r>
            <a:r>
              <a:rPr lang="en-US">
                <a:solidFill>
                  <a:srgbClr val="D25ABB"/>
                </a:solidFill>
                <a:latin typeface="Amasis MT Pro Black" panose="02040A04050005020304" pitchFamily="18" charset="0"/>
              </a:rPr>
              <a:t>effectiveness</a:t>
            </a:r>
            <a:r>
              <a:rPr lang="en-US">
                <a:solidFill>
                  <a:schemeClr val="bg1"/>
                </a:solidFill>
                <a:latin typeface="Amasis MT Pro Black" panose="02040A04050005020304" pitchFamily="18" charset="0"/>
              </a:rPr>
              <a:t> and expected their addressees to understand their intentions more than was warranted.”</a:t>
            </a:r>
          </a:p>
          <a:p>
            <a:r>
              <a:rPr lang="en-US">
                <a:solidFill>
                  <a:schemeClr val="bg1"/>
                </a:solidFill>
                <a:latin typeface="Amasis MT Pro Black" panose="02040A04050005020304" pitchFamily="18" charset="0"/>
              </a:rPr>
              <a:t>– Keysar and Henly (2002)</a:t>
            </a:r>
          </a:p>
        </p:txBody>
      </p:sp>
    </p:spTree>
    <p:extLst>
      <p:ext uri="{BB962C8B-B14F-4D97-AF65-F5344CB8AC3E}">
        <p14:creationId xmlns:p14="http://schemas.microsoft.com/office/powerpoint/2010/main" val="42412296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animBg="1"/>
      <p:bldP spid="13" grpId="0"/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89524-7C5C-AF99-9A81-282EFD303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995EF7-4607-ACDF-1AC3-C42FFEBAF1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DC048-C0E5-8CC2-D064-A4317CB6FF54}"/>
              </a:ext>
            </a:extLst>
          </p:cNvPr>
          <p:cNvSpPr txBox="1"/>
          <p:nvPr/>
        </p:nvSpPr>
        <p:spPr>
          <a:xfrm>
            <a:off x="4248234" y="216985"/>
            <a:ext cx="369553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latin typeface="Amasis MT Pro Black" panose="02040A04050005020304" pitchFamily="18" charset="0"/>
              </a:rPr>
              <a:t>Schemata und</a:t>
            </a:r>
          </a:p>
          <a:p>
            <a:pPr algn="ctr"/>
            <a:r>
              <a:rPr lang="en-US" sz="3200">
                <a:latin typeface="Amasis MT Pro Black" panose="02040A04050005020304" pitchFamily="18" charset="0"/>
              </a:rPr>
              <a:t>Personal Bias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DE2CC9-1996-EE78-E838-86E507DC628D}"/>
              </a:ext>
            </a:extLst>
          </p:cNvPr>
          <p:cNvSpPr txBox="1"/>
          <p:nvPr/>
        </p:nvSpPr>
        <p:spPr>
          <a:xfrm>
            <a:off x="4540228" y="6581001"/>
            <a:ext cx="76517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/>
              <a:t>cf.:</a:t>
            </a:r>
            <a:r>
              <a:rPr lang="en-US" sz="1200"/>
              <a:t> Bartlett (1932),</a:t>
            </a:r>
            <a:r>
              <a:rPr lang="de-DE" sz="1200"/>
              <a:t> Keysar (1994), Tyagi (2024)</a:t>
            </a:r>
            <a:endParaRPr lang="en-US" sz="120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51275AF-D7E4-4B2A-C59C-DAEF2060F9D2}"/>
              </a:ext>
            </a:extLst>
          </p:cNvPr>
          <p:cNvGrpSpPr/>
          <p:nvPr/>
        </p:nvGrpSpPr>
        <p:grpSpPr>
          <a:xfrm>
            <a:off x="10626030" y="2510347"/>
            <a:ext cx="914400" cy="918653"/>
            <a:chOff x="1382313" y="3927756"/>
            <a:chExt cx="914400" cy="918653"/>
          </a:xfrm>
        </p:grpSpPr>
        <p:pic>
          <p:nvPicPr>
            <p:cNvPr id="7" name="Graphic 6" descr="Eye with solid fill">
              <a:extLst>
                <a:ext uri="{FF2B5EF4-FFF2-40B4-BE49-F238E27FC236}">
                  <a16:creationId xmlns:a16="http://schemas.microsoft.com/office/drawing/2014/main" id="{DE8E85B6-4A00-9DE6-B883-C4BE09083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382313" y="3927756"/>
              <a:ext cx="914400" cy="914400"/>
            </a:xfrm>
            <a:prstGeom prst="rect">
              <a:avLst/>
            </a:prstGeom>
          </p:spPr>
        </p:pic>
        <p:pic>
          <p:nvPicPr>
            <p:cNvPr id="5" name="Graphic 4" descr="Close with solid fill">
              <a:extLst>
                <a:ext uri="{FF2B5EF4-FFF2-40B4-BE49-F238E27FC236}">
                  <a16:creationId xmlns:a16="http://schemas.microsoft.com/office/drawing/2014/main" id="{1DC3A293-03DC-5B2D-A923-1BF1254D71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382313" y="3932009"/>
              <a:ext cx="914400" cy="9144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B5608E1-222B-8F5F-D241-7088861E58C3}"/>
              </a:ext>
            </a:extLst>
          </p:cNvPr>
          <p:cNvGrpSpPr/>
          <p:nvPr/>
        </p:nvGrpSpPr>
        <p:grpSpPr>
          <a:xfrm>
            <a:off x="10626030" y="3831098"/>
            <a:ext cx="929174" cy="914400"/>
            <a:chOff x="1367539" y="4771420"/>
            <a:chExt cx="929174" cy="914400"/>
          </a:xfrm>
        </p:grpSpPr>
        <p:pic>
          <p:nvPicPr>
            <p:cNvPr id="8" name="Graphic 7" descr="Ear with solid fill">
              <a:extLst>
                <a:ext uri="{FF2B5EF4-FFF2-40B4-BE49-F238E27FC236}">
                  <a16:creationId xmlns:a16="http://schemas.microsoft.com/office/drawing/2014/main" id="{2C8F8C1E-38B4-0A7E-DE23-D34E2A01E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382313" y="4771420"/>
              <a:ext cx="914400" cy="914400"/>
            </a:xfrm>
            <a:prstGeom prst="rect">
              <a:avLst/>
            </a:prstGeom>
          </p:spPr>
        </p:pic>
        <p:pic>
          <p:nvPicPr>
            <p:cNvPr id="6" name="Graphic 5" descr="Close with solid fill">
              <a:extLst>
                <a:ext uri="{FF2B5EF4-FFF2-40B4-BE49-F238E27FC236}">
                  <a16:creationId xmlns:a16="http://schemas.microsoft.com/office/drawing/2014/main" id="{CB42EEA3-8443-BB32-E6F0-E84CC3B5F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367539" y="4771420"/>
              <a:ext cx="914400" cy="914400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8657819-25E8-101A-D070-8388ACD4B8CF}"/>
              </a:ext>
            </a:extLst>
          </p:cNvPr>
          <p:cNvGrpSpPr/>
          <p:nvPr/>
        </p:nvGrpSpPr>
        <p:grpSpPr>
          <a:xfrm>
            <a:off x="3216320" y="2805654"/>
            <a:ext cx="1323908" cy="726582"/>
            <a:chOff x="5806990" y="2923158"/>
            <a:chExt cx="1323908" cy="726582"/>
          </a:xfrm>
          <a:solidFill>
            <a:srgbClr val="46B1E6"/>
          </a:solidFill>
        </p:grpSpPr>
        <p:sp>
          <p:nvSpPr>
            <p:cNvPr id="39" name="Right Triangle 38">
              <a:extLst>
                <a:ext uri="{FF2B5EF4-FFF2-40B4-BE49-F238E27FC236}">
                  <a16:creationId xmlns:a16="http://schemas.microsoft.com/office/drawing/2014/main" id="{6BBB1ECB-5DE3-D78B-3B2F-87771358AD54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5806990" y="2923158"/>
              <a:ext cx="49221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5FA43834-4E94-7485-CE74-4AE9820E2CE6}"/>
                </a:ext>
              </a:extLst>
            </p:cNvPr>
            <p:cNvSpPr>
              <a:spLocks/>
            </p:cNvSpPr>
            <p:nvPr/>
          </p:nvSpPr>
          <p:spPr>
            <a:xfrm>
              <a:off x="6082948" y="2923421"/>
              <a:ext cx="1047950" cy="726319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00">
                  <a:latin typeface="Roboto" panose="02000000000000000000" pitchFamily="2" charset="0"/>
                  <a:ea typeface="Roboto" panose="02000000000000000000" pitchFamily="2" charset="0"/>
                </a:rPr>
                <a:t> okay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F1F90B1-7D24-E14F-27AB-994A17710AE7}"/>
              </a:ext>
            </a:extLst>
          </p:cNvPr>
          <p:cNvGrpSpPr/>
          <p:nvPr/>
        </p:nvGrpSpPr>
        <p:grpSpPr>
          <a:xfrm>
            <a:off x="403579" y="2308161"/>
            <a:ext cx="2562225" cy="2562225"/>
            <a:chOff x="679827" y="1513774"/>
            <a:chExt cx="2562225" cy="2562225"/>
          </a:xfrm>
        </p:grpSpPr>
        <p:pic>
          <p:nvPicPr>
            <p:cNvPr id="43" name="Graphic 42" descr="Head with gears outline">
              <a:extLst>
                <a:ext uri="{FF2B5EF4-FFF2-40B4-BE49-F238E27FC236}">
                  <a16:creationId xmlns:a16="http://schemas.microsoft.com/office/drawing/2014/main" id="{2355C2BC-D811-0554-36DF-22F7A006B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79827" y="1513774"/>
              <a:ext cx="2562225" cy="2562225"/>
            </a:xfrm>
            <a:prstGeom prst="rect">
              <a:avLst/>
            </a:prstGeom>
          </p:spPr>
        </p:pic>
        <p:sp>
          <p:nvSpPr>
            <p:cNvPr id="44" name="Flowchart: Connector 43">
              <a:extLst>
                <a:ext uri="{FF2B5EF4-FFF2-40B4-BE49-F238E27FC236}">
                  <a16:creationId xmlns:a16="http://schemas.microsoft.com/office/drawing/2014/main" id="{31A47ADB-9B74-9A5E-FF5E-C3F2181A1642}"/>
                </a:ext>
              </a:extLst>
            </p:cNvPr>
            <p:cNvSpPr>
              <a:spLocks/>
            </p:cNvSpPr>
            <p:nvPr/>
          </p:nvSpPr>
          <p:spPr>
            <a:xfrm>
              <a:off x="1178351" y="1826984"/>
              <a:ext cx="1357459" cy="1319753"/>
            </a:xfrm>
            <a:prstGeom prst="flowChartConnector">
              <a:avLst/>
            </a:prstGeom>
            <a:pattFill prst="wdUpDiag">
              <a:fgClr>
                <a:srgbClr val="21212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0DC3D516-DD06-E5D6-74D5-6D5F989FA625}"/>
              </a:ext>
            </a:extLst>
          </p:cNvPr>
          <p:cNvSpPr/>
          <p:nvPr/>
        </p:nvSpPr>
        <p:spPr>
          <a:xfrm>
            <a:off x="2839974" y="1864717"/>
            <a:ext cx="158123" cy="3661915"/>
          </a:xfrm>
          <a:prstGeom prst="rect">
            <a:avLst/>
          </a:prstGeom>
          <a:pattFill prst="horzBrick">
            <a:fgClr>
              <a:schemeClr val="tx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765122D-89A8-348E-84DB-53481CBDB558}"/>
              </a:ext>
            </a:extLst>
          </p:cNvPr>
          <p:cNvGrpSpPr/>
          <p:nvPr/>
        </p:nvGrpSpPr>
        <p:grpSpPr>
          <a:xfrm flipH="1">
            <a:off x="8165410" y="2309027"/>
            <a:ext cx="2562225" cy="2562225"/>
            <a:chOff x="615819" y="1678366"/>
            <a:chExt cx="2562225" cy="2562225"/>
          </a:xfrm>
        </p:grpSpPr>
        <p:pic>
          <p:nvPicPr>
            <p:cNvPr id="12" name="Graphic 11" descr="Head with gears outline">
              <a:extLst>
                <a:ext uri="{FF2B5EF4-FFF2-40B4-BE49-F238E27FC236}">
                  <a16:creationId xmlns:a16="http://schemas.microsoft.com/office/drawing/2014/main" id="{F6BD6A16-58B2-4741-FA81-837129E1D0A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15819" y="1678366"/>
              <a:ext cx="2562225" cy="2562225"/>
            </a:xfrm>
            <a:prstGeom prst="rect">
              <a:avLst/>
            </a:prstGeom>
          </p:spPr>
        </p:pic>
        <p:sp>
          <p:nvSpPr>
            <p:cNvPr id="22" name="Flowchart: Connector 21">
              <a:extLst>
                <a:ext uri="{FF2B5EF4-FFF2-40B4-BE49-F238E27FC236}">
                  <a16:creationId xmlns:a16="http://schemas.microsoft.com/office/drawing/2014/main" id="{74952605-4EE6-3013-8429-EED952109E81}"/>
                </a:ext>
              </a:extLst>
            </p:cNvPr>
            <p:cNvSpPr>
              <a:spLocks/>
            </p:cNvSpPr>
            <p:nvPr/>
          </p:nvSpPr>
          <p:spPr>
            <a:xfrm>
              <a:off x="1096775" y="1948804"/>
              <a:ext cx="1357459" cy="1319753"/>
            </a:xfrm>
            <a:prstGeom prst="flowChartConnector">
              <a:avLst/>
            </a:prstGeom>
            <a:pattFill prst="wdUpDiag">
              <a:fgClr>
                <a:srgbClr val="21212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9" name="Picture 48">
            <a:extLst>
              <a:ext uri="{FF2B5EF4-FFF2-40B4-BE49-F238E27FC236}">
                <a16:creationId xmlns:a16="http://schemas.microsoft.com/office/drawing/2014/main" id="{E5A28895-1EA0-4640-18EC-C1D321B17AE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0603" y="2620950"/>
            <a:ext cx="1013740" cy="1013740"/>
          </a:xfrm>
          <a:prstGeom prst="rect">
            <a:avLst/>
          </a:prstGeom>
        </p:spPr>
      </p:pic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7AB8B55-27F3-09B2-AD81-EF8D8A0ABF9F}"/>
              </a:ext>
            </a:extLst>
          </p:cNvPr>
          <p:cNvSpPr/>
          <p:nvPr/>
        </p:nvSpPr>
        <p:spPr>
          <a:xfrm>
            <a:off x="6265468" y="5246105"/>
            <a:ext cx="1466740" cy="9927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schroff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616A8628-1769-033E-356B-7F3BBFDAEE0D}"/>
              </a:ext>
            </a:extLst>
          </p:cNvPr>
          <p:cNvSpPr/>
          <p:nvPr/>
        </p:nvSpPr>
        <p:spPr>
          <a:xfrm>
            <a:off x="5443262" y="1698883"/>
            <a:ext cx="1344778" cy="7345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keine Lust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E404C3D-F646-5297-A929-EB7BD23E8A05}"/>
              </a:ext>
            </a:extLst>
          </p:cNvPr>
          <p:cNvGrpSpPr/>
          <p:nvPr/>
        </p:nvGrpSpPr>
        <p:grpSpPr>
          <a:xfrm>
            <a:off x="3210027" y="4039106"/>
            <a:ext cx="3785748" cy="726582"/>
            <a:chOff x="5806990" y="2923158"/>
            <a:chExt cx="3785748" cy="726582"/>
          </a:xfrm>
          <a:solidFill>
            <a:srgbClr val="46B1E6"/>
          </a:solidFill>
        </p:grpSpPr>
        <p:sp>
          <p:nvSpPr>
            <p:cNvPr id="60" name="Right Triangle 59">
              <a:extLst>
                <a:ext uri="{FF2B5EF4-FFF2-40B4-BE49-F238E27FC236}">
                  <a16:creationId xmlns:a16="http://schemas.microsoft.com/office/drawing/2014/main" id="{552D1AD9-7F91-D704-0255-B4DB500CB735}"/>
                </a:ext>
              </a:extLst>
            </p:cNvPr>
            <p:cNvSpPr>
              <a:spLocks noChangeAspect="1"/>
            </p:cNvSpPr>
            <p:nvPr/>
          </p:nvSpPr>
          <p:spPr>
            <a:xfrm flipH="1" flipV="1">
              <a:off x="5806990" y="2923158"/>
              <a:ext cx="492210" cy="310327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45B359DA-D0EC-95CE-3687-415692EB0264}"/>
                </a:ext>
              </a:extLst>
            </p:cNvPr>
            <p:cNvSpPr>
              <a:spLocks/>
            </p:cNvSpPr>
            <p:nvPr/>
          </p:nvSpPr>
          <p:spPr>
            <a:xfrm>
              <a:off x="6082948" y="2923421"/>
              <a:ext cx="3509790" cy="726319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00">
                  <a:latin typeface="Roboto" panose="02000000000000000000" pitchFamily="2" charset="0"/>
                  <a:ea typeface="Roboto" panose="02000000000000000000" pitchFamily="2" charset="0"/>
                </a:rPr>
                <a:t> ich hab doch okay gesagt?</a:t>
              </a:r>
            </a:p>
          </p:txBody>
        </p:sp>
      </p:grp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A7576949-8095-A0B4-9B8D-D2188255565F}"/>
              </a:ext>
            </a:extLst>
          </p:cNvPr>
          <p:cNvCxnSpPr>
            <a:cxnSpLocks/>
            <a:stCxn id="49" idx="2"/>
            <a:endCxn id="56" idx="3"/>
          </p:cNvCxnSpPr>
          <p:nvPr/>
        </p:nvCxnSpPr>
        <p:spPr>
          <a:xfrm rot="5400000">
            <a:off x="7620941" y="3745958"/>
            <a:ext cx="2107800" cy="188526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2EE65882-62F8-6746-1ACC-F259E53CA8EB}"/>
              </a:ext>
            </a:extLst>
          </p:cNvPr>
          <p:cNvCxnSpPr>
            <a:cxnSpLocks/>
            <a:endCxn id="57" idx="3"/>
          </p:cNvCxnSpPr>
          <p:nvPr/>
        </p:nvCxnSpPr>
        <p:spPr>
          <a:xfrm rot="10800000">
            <a:off x="6788040" y="2066162"/>
            <a:ext cx="2829434" cy="682847"/>
          </a:xfrm>
          <a:prstGeom prst="bentConnector3">
            <a:avLst>
              <a:gd name="adj1" fmla="val 177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6CE705B-F87C-D258-6CC3-6065495E78D1}"/>
              </a:ext>
            </a:extLst>
          </p:cNvPr>
          <p:cNvCxnSpPr>
            <a:cxnSpLocks/>
            <a:endCxn id="49" idx="1"/>
          </p:cNvCxnSpPr>
          <p:nvPr/>
        </p:nvCxnSpPr>
        <p:spPr>
          <a:xfrm>
            <a:off x="4695957" y="3115981"/>
            <a:ext cx="4414646" cy="1183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F831E38E-7725-4885-6936-AAABB192323A}"/>
              </a:ext>
            </a:extLst>
          </p:cNvPr>
          <p:cNvCxnSpPr>
            <a:cxnSpLocks/>
          </p:cNvCxnSpPr>
          <p:nvPr/>
        </p:nvCxnSpPr>
        <p:spPr>
          <a:xfrm flipV="1">
            <a:off x="7103003" y="3238511"/>
            <a:ext cx="2010356" cy="111092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B855A8-E469-A700-6BE8-036656154131}"/>
              </a:ext>
            </a:extLst>
          </p:cNvPr>
          <p:cNvCxnSpPr>
            <a:cxnSpLocks/>
            <a:stCxn id="57" idx="1"/>
          </p:cNvCxnSpPr>
          <p:nvPr/>
        </p:nvCxnSpPr>
        <p:spPr>
          <a:xfrm flipH="1">
            <a:off x="4630467" y="2066161"/>
            <a:ext cx="812795" cy="72765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4FF601-710F-1B81-3305-DA6891B2758A}"/>
              </a:ext>
            </a:extLst>
          </p:cNvPr>
          <p:cNvCxnSpPr>
            <a:cxnSpLocks/>
          </p:cNvCxnSpPr>
          <p:nvPr/>
        </p:nvCxnSpPr>
        <p:spPr>
          <a:xfrm flipH="1" flipV="1">
            <a:off x="6391576" y="4804679"/>
            <a:ext cx="513063" cy="46814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9025088"/>
      </p:ext>
    </p:extLst>
  </p:cSld>
  <p:clrMapOvr>
    <a:masterClrMapping/>
  </p:clrMapOvr>
  <p:transition spd="slow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5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B5010-F572-10AB-62A1-D9673F820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186BC0-103F-8551-1F41-A5B6006200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487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A99658-46BA-5AE8-C926-E31C9AB75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849B75-6F39-FE38-995D-94ADC8FAA2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8650" y="233412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W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16E15B3-6778-7AA2-16C6-28037CC5B49F}"/>
              </a:ext>
            </a:extLst>
          </p:cNvPr>
          <p:cNvGrpSpPr/>
          <p:nvPr/>
        </p:nvGrpSpPr>
        <p:grpSpPr>
          <a:xfrm>
            <a:off x="85444" y="101035"/>
            <a:ext cx="2796301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DB9805-C156-C082-9CB7-4CB86EBE055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4F10E9-3FE1-FB55-B24A-BE1112071712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Quellen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7BD7898-DC62-1165-DA4E-2B39C4AAB27A}"/>
              </a:ext>
            </a:extLst>
          </p:cNvPr>
          <p:cNvSpPr txBox="1"/>
          <p:nvPr/>
        </p:nvSpPr>
        <p:spPr>
          <a:xfrm>
            <a:off x="1137706" y="888636"/>
            <a:ext cx="991658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Bartlett, F. C. (1932). </a:t>
            </a:r>
            <a:r>
              <a:rPr lang="en-US" i="1"/>
              <a:t>Remembering: A study in experimental and social psychology.</a:t>
            </a:r>
            <a:r>
              <a:rPr lang="en-US"/>
              <a:t> Cambridge University Press.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Keysar, B. (1994). The illusory transparency of intention: Linguistic perspective taking in text. </a:t>
            </a:r>
            <a:r>
              <a:rPr lang="en-US" i="1"/>
              <a:t>Cognitive Psychology, 26</a:t>
            </a:r>
            <a:r>
              <a:rPr lang="en-US"/>
              <a:t>(2), 165–208. https://doi.org/10.1006/cogp.1994.1006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Keysar, B., &amp; Henly, A. S. (2002). Speakers' overestimation of their effectiveness. </a:t>
            </a:r>
            <a:r>
              <a:rPr lang="en-US" i="1"/>
              <a:t>Psychological Science, 13</a:t>
            </a:r>
            <a:r>
              <a:rPr lang="en-US"/>
              <a:t>(3), 207–212. https://doi.org/10.1111/1467-9280.00439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Kruger, J., Epley, N., Parker, J., &amp; Ng, Z. W. (2005). Egocentrism over e-mail: can we communicate as well as we think?. </a:t>
            </a:r>
            <a:r>
              <a:rPr lang="en-US" i="1"/>
              <a:t>Journal of personality and social psychology</a:t>
            </a:r>
            <a:r>
              <a:rPr lang="en-US"/>
              <a:t>, </a:t>
            </a:r>
            <a:r>
              <a:rPr lang="en-US" i="1"/>
              <a:t>89</a:t>
            </a:r>
            <a:r>
              <a:rPr lang="en-US"/>
              <a:t>(6), 925–936. https://doi.org/10.1037/0022-3514.89.6.925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McCulloch, G. (2019). </a:t>
            </a:r>
            <a:r>
              <a:rPr lang="en-US" i="1"/>
              <a:t>Because Internet: understanding the new rules of language.</a:t>
            </a:r>
            <a:r>
              <a:rPr lang="en-US"/>
              <a:t> Riverhead Books, An imprint of Penguin Random House LLC.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Tyagi, V. (2024, June 22). Understanding How Personal Bias Shapes Our Reading Experience. Retrieved from Medium: https://medium.com/@vt3630/understanding-how-personal-bias-shapes-our-reading-experience-1c7fa4280410</a:t>
            </a:r>
          </a:p>
        </p:txBody>
      </p:sp>
    </p:spTree>
    <p:extLst>
      <p:ext uri="{BB962C8B-B14F-4D97-AF65-F5344CB8AC3E}">
        <p14:creationId xmlns:p14="http://schemas.microsoft.com/office/powerpoint/2010/main" val="3465615360"/>
      </p:ext>
    </p:extLst>
  </p:cSld>
  <p:clrMapOvr>
    <a:masterClrMapping/>
  </p:clrMapOvr>
  <p:transition spd="slow">
    <p:cover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7AF46513-5B0D-4B03-9323-32F3F0BFC9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1771</TotalTime>
  <Words>429</Words>
  <Application>Microsoft Office PowerPoint</Application>
  <PresentationFormat>Widescreen</PresentationFormat>
  <Paragraphs>53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Amasis MT Pro Black</vt:lpstr>
      <vt:lpstr>Aptos</vt:lpstr>
      <vt:lpstr>Arial</vt:lpstr>
      <vt:lpstr>Cascadia Code</vt:lpstr>
      <vt:lpstr>Roboto</vt:lpstr>
      <vt:lpstr>Wingdings 2</vt:lpstr>
      <vt:lpstr>Quotable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Ihrenberger</dc:creator>
  <cp:lastModifiedBy>Edison Scriven</cp:lastModifiedBy>
  <cp:revision>1204</cp:revision>
  <dcterms:created xsi:type="dcterms:W3CDTF">2025-03-21T16:11:25Z</dcterms:created>
  <dcterms:modified xsi:type="dcterms:W3CDTF">2026-01-09T15:36:00Z</dcterms:modified>
</cp:coreProperties>
</file>