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notesMasterIdLst>
    <p:notesMasterId r:id="rId8"/>
  </p:notesMasterIdLst>
  <p:sldIdLst>
    <p:sldId id="256" r:id="rId2"/>
    <p:sldId id="299" r:id="rId3"/>
    <p:sldId id="294" r:id="rId4"/>
    <p:sldId id="296" r:id="rId5"/>
    <p:sldId id="298" r:id="rId6"/>
    <p:sldId id="30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8E6D"/>
    <a:srgbClr val="00AAE6"/>
    <a:srgbClr val="212121"/>
    <a:srgbClr val="EB8F91"/>
    <a:srgbClr val="A17CB6"/>
    <a:srgbClr val="C46EB2"/>
    <a:srgbClr val="C96994"/>
    <a:srgbClr val="D01E62"/>
    <a:srgbClr val="825FAD"/>
    <a:srgbClr val="8664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1943" autoAdjust="0"/>
  </p:normalViewPr>
  <p:slideViewPr>
    <p:cSldViewPr snapToGrid="0">
      <p:cViewPr varScale="1">
        <p:scale>
          <a:sx n="104" d="100"/>
          <a:sy n="104" d="100"/>
        </p:scale>
        <p:origin x="87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3DAD76-3859-4D52-8B81-C27FCE0A7D18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61062-E9D8-4DAB-8118-1CF0D558F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990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27C79-C440-023F-7C7D-A439550D7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75C1FA-20A7-AE9F-30E8-F2FFDC6DD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0DD766-9F66-6986-1F21-846703EC70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8E267F-5FF6-6EBA-0694-504E21C85F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1560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2279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2A265-A38E-0B4D-77D8-81CDCAD39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16410C-3FE3-30BB-D3E8-B98BCED56D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E49B70-3E17-A615-9E3E-AF4BB1A1F9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8259A8-2457-D62C-E3C0-E6673BABDA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6020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DE60D-87A9-10C3-D7E3-A3B06C485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C464C4-BAF7-DEE2-43BC-5C20296346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71ED67-F8AA-DEEA-9714-3A94F8C237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28F45D-6C44-5E1A-42C9-9CA982B79D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1892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B6EA9-6E82-74D0-E4E3-82D41F09C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7DFF5B-AE5B-3E2D-76FE-D16B1719B4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741DAD-61C0-2A8C-235D-E6D7DA9C59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4BB196-7B58-4B76-2D00-77BFF281E2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2033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856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67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015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570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819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995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57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911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740BD348-92FB-45D5-94E3-8A197772B7D9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942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>
                <a:latin typeface="Cascadia Code" panose="020B0609020000020004" pitchFamily="49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584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5873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3196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5457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090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fld id="{740BD348-92FB-45D5-94E3-8A197772B7D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  <a:latin typeface="Cascadia Code" panose="020B0609020000020004" pitchFamily="49" charset="0"/>
              </a:defRPr>
            </a:lvl1pPr>
          </a:lstStyle>
          <a:p>
            <a:fld id="{05A7E34D-6B37-4BA6-A354-C6C091B434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8482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Cascadia Code" panose="020B0609020000020004" pitchFamily="49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6F72D-82E1-A086-9B1A-97D7D97534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Programmiersprache</a:t>
            </a:r>
            <a:br>
              <a:rPr lang="en-US"/>
            </a:br>
            <a:r>
              <a:rPr lang="en-US">
                <a:solidFill>
                  <a:schemeClr val="accent3"/>
                </a:solidFill>
              </a:rPr>
              <a:t>Kotlin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2D11D3-0A40-FDB6-3126-FE39A5160C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General Purpose Language von </a:t>
            </a:r>
            <a:r>
              <a:rPr lang="en-US" err="1"/>
              <a:t>Jetbrains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06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8AF9D2-45AA-BD93-D83F-01C230513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937EDF-7CC0-B3DB-D785-CC442F9C585A}"/>
              </a:ext>
            </a:extLst>
          </p:cNvPr>
          <p:cNvSpPr/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66CDF7C-2104-57EE-CAC3-8AA190C3847C}"/>
              </a:ext>
            </a:extLst>
          </p:cNvPr>
          <p:cNvGrpSpPr/>
          <p:nvPr/>
        </p:nvGrpSpPr>
        <p:grpSpPr>
          <a:xfrm>
            <a:off x="85444" y="101035"/>
            <a:ext cx="4120648" cy="406964"/>
            <a:chOff x="689746" y="1254252"/>
            <a:chExt cx="10812505" cy="141531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F209032-21B6-2D3E-2790-436326768A66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AE6F6E2-D0B7-4949-301A-1CDAD8DBBA2F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General Information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4B21F944-9749-C432-F935-AFD7E0E22075}"/>
              </a:ext>
            </a:extLst>
          </p:cNvPr>
          <p:cNvSpPr txBox="1"/>
          <p:nvPr/>
        </p:nvSpPr>
        <p:spPr>
          <a:xfrm>
            <a:off x="2014502" y="1719633"/>
            <a:ext cx="873564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Kotlin is an open-source general purpose programming language, developed and officially released by Jetbrains in 2016</a:t>
            </a: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Data types as expected: numbers (signed, unsigned), Boolean, Character, </a:t>
            </a:r>
          </a:p>
          <a:p>
            <a:r>
              <a:rPr lang="en-US"/>
              <a:t>							String, Array (also Collections)</a:t>
            </a:r>
          </a:p>
          <a:p>
            <a:r>
              <a:rPr lang="en-US"/>
              <a:t>							</a:t>
            </a:r>
            <a:r>
              <a:rPr lang="en-US" u="sng"/>
              <a:t>additionally</a:t>
            </a:r>
            <a:r>
              <a:rPr lang="en-US"/>
              <a:t>: </a:t>
            </a:r>
            <a:r>
              <a:rPr lang="en-US">
                <a:solidFill>
                  <a:schemeClr val="accent3"/>
                </a:solidFill>
              </a:rPr>
              <a:t>Any</a:t>
            </a:r>
            <a:r>
              <a:rPr lang="en-US"/>
              <a:t>, </a:t>
            </a:r>
            <a:r>
              <a:rPr lang="en-US">
                <a:solidFill>
                  <a:schemeClr val="accent1"/>
                </a:solidFill>
              </a:rPr>
              <a:t>Nothing</a:t>
            </a:r>
            <a:r>
              <a:rPr lang="en-US"/>
              <a:t>, </a:t>
            </a:r>
            <a:r>
              <a:rPr lang="en-US">
                <a:solidFill>
                  <a:srgbClr val="0070C0"/>
                </a:solidFill>
              </a:rPr>
              <a:t>Unit</a:t>
            </a:r>
          </a:p>
          <a:p>
            <a:endParaRPr lang="en-US">
              <a:solidFill>
                <a:srgbClr val="92D0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solidFill>
                <a:srgbClr val="92D0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3"/>
                </a:solidFill>
              </a:rPr>
              <a:t>Any:</a:t>
            </a:r>
            <a:r>
              <a:rPr lang="en-US">
                <a:solidFill>
                  <a:srgbClr val="92D050"/>
                </a:solidFill>
              </a:rPr>
              <a:t> </a:t>
            </a:r>
            <a:r>
              <a:rPr lang="en-US"/>
              <a:t>superclass of all classes, like golang </a:t>
            </a:r>
            <a:r>
              <a:rPr lang="en-US">
                <a:solidFill>
                  <a:schemeClr val="accent3"/>
                </a:solidFill>
              </a:rPr>
              <a:t>any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1"/>
                </a:solidFill>
              </a:rPr>
              <a:t>Nothing: </a:t>
            </a:r>
            <a:r>
              <a:rPr lang="en-US"/>
              <a:t>class with </a:t>
            </a:r>
            <a:r>
              <a:rPr lang="en-US">
                <a:solidFill>
                  <a:schemeClr val="accent1"/>
                </a:solidFill>
              </a:rPr>
              <a:t>no instances</a:t>
            </a:r>
            <a:r>
              <a:rPr lang="en-US"/>
              <a:t>, will always </a:t>
            </a:r>
            <a:r>
              <a:rPr lang="en-US">
                <a:solidFill>
                  <a:schemeClr val="accent1"/>
                </a:solidFill>
              </a:rPr>
              <a:t>throw</a:t>
            </a:r>
            <a:r>
              <a:rPr lang="en-US"/>
              <a:t> </a:t>
            </a:r>
            <a:r>
              <a:rPr lang="en-US">
                <a:solidFill>
                  <a:schemeClr val="accent1"/>
                </a:solidFill>
              </a:rPr>
              <a:t>exception</a:t>
            </a:r>
            <a:r>
              <a:rPr lang="en-US"/>
              <a:t> as return 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70C0"/>
                </a:solidFill>
              </a:rPr>
              <a:t>Unit: </a:t>
            </a:r>
            <a:r>
              <a:rPr lang="en-US"/>
              <a:t>corresponds to </a:t>
            </a:r>
            <a:r>
              <a:rPr lang="en-US">
                <a:solidFill>
                  <a:srgbClr val="0070C0"/>
                </a:solidFill>
              </a:rPr>
              <a:t>void</a:t>
            </a:r>
            <a:r>
              <a:rPr lang="en-US"/>
              <a:t> 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solidFill>
                <a:srgbClr val="FFFF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no semicolons at end of code lines</a:t>
            </a:r>
          </a:p>
        </p:txBody>
      </p:sp>
    </p:spTree>
    <p:extLst>
      <p:ext uri="{BB962C8B-B14F-4D97-AF65-F5344CB8AC3E}">
        <p14:creationId xmlns:p14="http://schemas.microsoft.com/office/powerpoint/2010/main" val="1114009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12AE7C-02F8-840A-3AF6-5351880ED870}"/>
              </a:ext>
            </a:extLst>
          </p:cNvPr>
          <p:cNvSpPr/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8F8327-F2B6-7348-5001-D90FEB4FC220}"/>
              </a:ext>
            </a:extLst>
          </p:cNvPr>
          <p:cNvSpPr txBox="1"/>
          <p:nvPr/>
        </p:nvSpPr>
        <p:spPr>
          <a:xfrm>
            <a:off x="1246908" y="2136339"/>
            <a:ext cx="5006110" cy="2585323"/>
          </a:xfrm>
          <a:prstGeom prst="rect">
            <a:avLst/>
          </a:prstGeom>
          <a:noFill/>
          <a:ln>
            <a:solidFill>
              <a:schemeClr val="tx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>
                <a:effectLst/>
                <a:latin typeface="JetBrains Mono"/>
              </a:rPr>
              <a:t>package </a:t>
            </a:r>
            <a:r>
              <a:rPr lang="en-US" sz="1800">
                <a:solidFill>
                  <a:srgbClr val="00B0F0"/>
                </a:solidFill>
                <a:effectLst/>
                <a:latin typeface="JetBrains Mono"/>
              </a:rPr>
              <a:t>packageName</a:t>
            </a:r>
            <a:br>
              <a:rPr lang="en-US" sz="1800">
                <a:effectLst/>
                <a:latin typeface="JetBrains Mono"/>
              </a:rPr>
            </a:br>
            <a:br>
              <a:rPr lang="en-US" sz="1800">
                <a:effectLst/>
                <a:latin typeface="JetBrains Mono"/>
              </a:rPr>
            </a:br>
            <a:r>
              <a:rPr lang="en-US" sz="1800">
                <a:effectLst/>
                <a:latin typeface="JetBrains Mono"/>
              </a:rPr>
              <a:t>import </a:t>
            </a:r>
            <a:r>
              <a:rPr lang="en-US" sz="1800">
                <a:solidFill>
                  <a:schemeClr val="accent3"/>
                </a:solidFill>
                <a:effectLst/>
                <a:latin typeface="JetBrains Mono"/>
              </a:rPr>
              <a:t>otherPackage.*</a:t>
            </a:r>
            <a:br>
              <a:rPr lang="en-US" sz="1800">
                <a:effectLst/>
                <a:latin typeface="JetBrains Mono"/>
              </a:rPr>
            </a:br>
            <a:br>
              <a:rPr lang="en-US" sz="1800">
                <a:effectLst/>
                <a:latin typeface="JetBrains Mono"/>
              </a:rPr>
            </a:br>
            <a:r>
              <a:rPr lang="en-US" sz="1800">
                <a:effectLst/>
                <a:latin typeface="JetBrains Mono"/>
              </a:rPr>
              <a:t>fun </a:t>
            </a:r>
            <a:r>
              <a:rPr lang="en-US" sz="1800">
                <a:solidFill>
                  <a:srgbClr val="FFC000"/>
                </a:solidFill>
                <a:effectLst/>
                <a:latin typeface="JetBrains Mono"/>
              </a:rPr>
              <a:t>main() </a:t>
            </a:r>
            <a:r>
              <a:rPr lang="en-US" sz="1800">
                <a:effectLst/>
                <a:latin typeface="JetBrains Mono"/>
              </a:rPr>
              <a:t>{</a:t>
            </a:r>
            <a:br>
              <a:rPr lang="en-US" sz="1800">
                <a:effectLst/>
                <a:latin typeface="JetBrains Mono"/>
              </a:rPr>
            </a:br>
            <a:r>
              <a:rPr lang="en-US" sz="1800">
                <a:effectLst/>
                <a:latin typeface="JetBrains Mono"/>
              </a:rPr>
              <a:t>    val </a:t>
            </a:r>
            <a:r>
              <a:rPr lang="en-US" sz="1800">
                <a:solidFill>
                  <a:srgbClr val="00B050"/>
                </a:solidFill>
                <a:effectLst/>
                <a:latin typeface="JetBrains Mono"/>
              </a:rPr>
              <a:t>name</a:t>
            </a:r>
            <a:r>
              <a:rPr lang="en-US">
                <a:solidFill>
                  <a:srgbClr val="00B050"/>
                </a:solidFill>
                <a:latin typeface="JetBrains Mono"/>
              </a:rPr>
              <a:t> </a:t>
            </a:r>
            <a:r>
              <a:rPr lang="en-US" sz="1800">
                <a:effectLst/>
                <a:latin typeface="JetBrains Mono"/>
              </a:rPr>
              <a:t>= "World" </a:t>
            </a:r>
            <a:r>
              <a:rPr lang="en-US" sz="1800">
                <a:solidFill>
                  <a:schemeClr val="tx1">
                    <a:lumMod val="50000"/>
                  </a:schemeClr>
                </a:solidFill>
                <a:effectLst/>
                <a:latin typeface="JetBrains Mono"/>
              </a:rPr>
              <a:t>//infers String data type </a:t>
            </a:r>
            <a:br>
              <a:rPr lang="en-US" sz="1800">
                <a:effectLst/>
                <a:latin typeface="JetBrains Mono"/>
              </a:rPr>
            </a:br>
            <a:r>
              <a:rPr lang="en-US" sz="1800">
                <a:effectLst/>
                <a:latin typeface="JetBrains Mono"/>
              </a:rPr>
              <a:t>    </a:t>
            </a:r>
            <a:br>
              <a:rPr lang="en-US" sz="1800">
                <a:effectLst/>
                <a:latin typeface="JetBrains Mono"/>
              </a:rPr>
            </a:br>
            <a:r>
              <a:rPr lang="en-US" sz="1800"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92D050"/>
                </a:solidFill>
                <a:effectLst/>
                <a:latin typeface="JetBrains Mono"/>
              </a:rPr>
              <a:t>println</a:t>
            </a:r>
            <a:r>
              <a:rPr lang="en-US" sz="1800">
                <a:effectLst/>
                <a:latin typeface="JetBrains Mono"/>
              </a:rPr>
              <a:t>("Hello </a:t>
            </a:r>
            <a:r>
              <a:rPr lang="en-US" sz="1800">
                <a:solidFill>
                  <a:srgbClr val="92D050"/>
                </a:solidFill>
                <a:effectLst/>
                <a:latin typeface="JetBrains Mono"/>
              </a:rPr>
              <a:t>$</a:t>
            </a:r>
            <a:r>
              <a:rPr lang="en-US" sz="1800">
                <a:solidFill>
                  <a:srgbClr val="00B050"/>
                </a:solidFill>
                <a:effectLst/>
                <a:latin typeface="JetBrains Mono"/>
              </a:rPr>
              <a:t>name</a:t>
            </a:r>
            <a:r>
              <a:rPr lang="en-US" sz="1800">
                <a:effectLst/>
                <a:latin typeface="JetBrains Mono"/>
              </a:rPr>
              <a:t>!") </a:t>
            </a:r>
            <a:r>
              <a:rPr lang="en-US" sz="1800">
                <a:solidFill>
                  <a:schemeClr val="bg1">
                    <a:lumMod val="50000"/>
                    <a:lumOff val="50000"/>
                  </a:schemeClr>
                </a:solidFill>
                <a:effectLst/>
                <a:latin typeface="JetBrains Mono"/>
              </a:rPr>
              <a:t>//output: Hello, World!</a:t>
            </a:r>
          </a:p>
          <a:p>
            <a:pPr>
              <a:buNone/>
            </a:pPr>
            <a:r>
              <a:rPr lang="en-US">
                <a:latin typeface="JetBrains Mono"/>
              </a:rPr>
              <a:t>}</a:t>
            </a:r>
            <a:endParaRPr lang="en-US" sz="1800">
              <a:effectLst/>
              <a:latin typeface="JetBrains Mono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4C24E50-DEAC-A23F-8F91-EF3C078E3FD0}"/>
              </a:ext>
            </a:extLst>
          </p:cNvPr>
          <p:cNvGrpSpPr/>
          <p:nvPr/>
        </p:nvGrpSpPr>
        <p:grpSpPr>
          <a:xfrm>
            <a:off x="85444" y="101035"/>
            <a:ext cx="4120648" cy="406964"/>
            <a:chOff x="689746" y="1254252"/>
            <a:chExt cx="10812505" cy="141531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4C0DE72-604F-30FA-B910-CF2F07D44035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A800467-565F-782E-6B99-BAD5A870A378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effectLst/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Basic Syntax and File Structure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431F0D5A-E101-7B35-E486-13DAFD474EEC}"/>
              </a:ext>
            </a:extLst>
          </p:cNvPr>
          <p:cNvSpPr txBox="1"/>
          <p:nvPr/>
        </p:nvSpPr>
        <p:spPr>
          <a:xfrm>
            <a:off x="6789455" y="1720840"/>
            <a:ext cx="424409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Declaration of own </a:t>
            </a:r>
            <a:r>
              <a:rPr lang="en-US">
                <a:solidFill>
                  <a:srgbClr val="00B0F0"/>
                </a:solidFill>
              </a:rPr>
              <a:t>packageName</a:t>
            </a:r>
            <a:r>
              <a:rPr lang="en-US"/>
              <a:t> (must be in folder of the same name)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Declaration of </a:t>
            </a:r>
            <a:r>
              <a:rPr lang="en-US">
                <a:solidFill>
                  <a:schemeClr val="accent3"/>
                </a:solidFill>
              </a:rPr>
              <a:t>otherPackage</a:t>
            </a:r>
            <a:r>
              <a:rPr lang="en-US"/>
              <a:t> (allows </a:t>
            </a:r>
            <a:r>
              <a:rPr lang="en-US">
                <a:solidFill>
                  <a:schemeClr val="accent3"/>
                </a:solidFill>
              </a:rPr>
              <a:t>usage</a:t>
            </a:r>
            <a:r>
              <a:rPr lang="en-US"/>
              <a:t> of code without </a:t>
            </a:r>
            <a:r>
              <a:rPr lang="en-US">
                <a:solidFill>
                  <a:schemeClr val="accent3"/>
                </a:solidFill>
              </a:rPr>
              <a:t>qualification</a:t>
            </a:r>
            <a:r>
              <a:rPr lang="en-US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FC000"/>
                </a:solidFill>
              </a:rPr>
              <a:t>main() </a:t>
            </a:r>
            <a:r>
              <a:rPr lang="en-US"/>
              <a:t>as program entry point</a:t>
            </a: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92D050"/>
                </a:solidFill>
              </a:rPr>
              <a:t>println() </a:t>
            </a:r>
            <a:r>
              <a:rPr lang="en-US"/>
              <a:t>with </a:t>
            </a:r>
            <a:r>
              <a:rPr lang="en-US">
                <a:solidFill>
                  <a:srgbClr val="92D050"/>
                </a:solidFill>
                <a:latin typeface="JetBrains Mono"/>
              </a:rPr>
              <a:t>$</a:t>
            </a:r>
            <a:r>
              <a:rPr lang="en-US"/>
              <a:t> to insert value of name variable into text</a:t>
            </a:r>
          </a:p>
        </p:txBody>
      </p:sp>
    </p:spTree>
    <p:extLst>
      <p:ext uri="{BB962C8B-B14F-4D97-AF65-F5344CB8AC3E}">
        <p14:creationId xmlns:p14="http://schemas.microsoft.com/office/powerpoint/2010/main" val="2555253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C5AE1B-0A42-D2DA-76E4-E19714852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80E9C3C-072C-7890-F121-CC494C567EC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BE3D08-AF08-46D4-40B8-D7E6DAE43626}"/>
              </a:ext>
            </a:extLst>
          </p:cNvPr>
          <p:cNvSpPr txBox="1"/>
          <p:nvPr/>
        </p:nvSpPr>
        <p:spPr>
          <a:xfrm>
            <a:off x="1778017" y="2055303"/>
            <a:ext cx="3736092" cy="1477328"/>
          </a:xfrm>
          <a:prstGeom prst="rect">
            <a:avLst/>
          </a:prstGeom>
          <a:noFill/>
          <a:ln>
            <a:solidFill>
              <a:schemeClr val="tx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>
                <a:effectLst/>
                <a:latin typeface="JetBrains Mono"/>
              </a:rPr>
              <a:t>fun sum(</a:t>
            </a:r>
            <a:r>
              <a:rPr lang="en-US" sz="1800">
                <a:solidFill>
                  <a:schemeClr val="accent3"/>
                </a:solidFill>
                <a:effectLst/>
                <a:latin typeface="JetBrains Mono"/>
              </a:rPr>
              <a:t>a: Int </a:t>
            </a:r>
            <a:r>
              <a:rPr lang="en-US" sz="1800">
                <a:solidFill>
                  <a:schemeClr val="accent1"/>
                </a:solidFill>
                <a:effectLst/>
                <a:latin typeface="JetBrains Mono"/>
              </a:rPr>
              <a:t>= 5</a:t>
            </a:r>
            <a:r>
              <a:rPr lang="en-US" sz="1800">
                <a:effectLst/>
                <a:latin typeface="JetBrains Mono"/>
              </a:rPr>
              <a:t>, </a:t>
            </a:r>
            <a:r>
              <a:rPr lang="en-US" sz="1800">
                <a:solidFill>
                  <a:schemeClr val="accent3"/>
                </a:solidFill>
                <a:effectLst/>
                <a:latin typeface="JetBrains Mono"/>
              </a:rPr>
              <a:t>b: Int</a:t>
            </a:r>
            <a:r>
              <a:rPr lang="en-US" sz="1800">
                <a:effectLst/>
                <a:latin typeface="JetBrains Mono"/>
              </a:rPr>
              <a:t>): </a:t>
            </a:r>
            <a:r>
              <a:rPr lang="en-US" sz="1800">
                <a:solidFill>
                  <a:schemeClr val="accent6">
                    <a:lumMod val="75000"/>
                  </a:schemeClr>
                </a:solidFill>
                <a:effectLst/>
                <a:latin typeface="JetBrains Mono"/>
              </a:rPr>
              <a:t>Int</a:t>
            </a:r>
            <a:r>
              <a:rPr lang="en-US" sz="1800">
                <a:effectLst/>
                <a:latin typeface="JetBrains Mono"/>
              </a:rPr>
              <a:t> {</a:t>
            </a:r>
            <a:br>
              <a:rPr lang="en-US" sz="1800">
                <a:effectLst/>
                <a:latin typeface="JetBrains Mono"/>
              </a:rPr>
            </a:br>
            <a:r>
              <a:rPr lang="en-US" sz="1800">
                <a:effectLst/>
                <a:latin typeface="JetBrains Mono"/>
              </a:rPr>
              <a:t>    return a + b</a:t>
            </a:r>
            <a:br>
              <a:rPr lang="en-US" sz="1800">
                <a:effectLst/>
                <a:latin typeface="JetBrains Mono"/>
              </a:rPr>
            </a:br>
            <a:r>
              <a:rPr lang="en-US" sz="1800">
                <a:effectLst/>
                <a:latin typeface="JetBrains Mono"/>
              </a:rPr>
              <a:t>}</a:t>
            </a:r>
          </a:p>
          <a:p>
            <a:pPr>
              <a:buNone/>
            </a:pPr>
            <a:endParaRPr lang="en-US">
              <a:latin typeface="JetBrains Mono"/>
            </a:endParaRPr>
          </a:p>
          <a:p>
            <a:pPr>
              <a:buNone/>
            </a:pPr>
            <a:r>
              <a:rPr lang="en-US">
                <a:latin typeface="JetBrains Mono"/>
              </a:rPr>
              <a:t>s</a:t>
            </a:r>
            <a:r>
              <a:rPr lang="en-US" sz="1800">
                <a:effectLst/>
                <a:latin typeface="JetBrains Mono"/>
              </a:rPr>
              <a:t>um(</a:t>
            </a:r>
            <a:r>
              <a:rPr lang="en-US" sz="1800">
                <a:solidFill>
                  <a:srgbClr val="00B0F0"/>
                </a:solidFill>
                <a:effectLst/>
                <a:latin typeface="JetBrains Mono"/>
              </a:rPr>
              <a:t>b = 10</a:t>
            </a:r>
            <a:r>
              <a:rPr lang="en-US" sz="1800">
                <a:effectLst/>
                <a:latin typeface="JetBrains Mono"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AA3C4F-72E4-B4D4-230F-C29FB20B3A7E}"/>
              </a:ext>
            </a:extLst>
          </p:cNvPr>
          <p:cNvSpPr txBox="1"/>
          <p:nvPr/>
        </p:nvSpPr>
        <p:spPr>
          <a:xfrm>
            <a:off x="1778017" y="4138104"/>
            <a:ext cx="3736092" cy="369332"/>
          </a:xfrm>
          <a:prstGeom prst="rect">
            <a:avLst/>
          </a:prstGeom>
          <a:noFill/>
          <a:ln>
            <a:solidFill>
              <a:schemeClr val="tx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>
                <a:effectLst/>
                <a:latin typeface="JetBrains Mono"/>
              </a:rPr>
              <a:t>fun sum(a: Int, b: Int) </a:t>
            </a:r>
            <a:r>
              <a:rPr lang="en-US" sz="1800">
                <a:solidFill>
                  <a:srgbClr val="92D050"/>
                </a:solidFill>
                <a:effectLst/>
                <a:latin typeface="JetBrains Mono"/>
              </a:rPr>
              <a:t>= a + 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9C7699-068F-3B8E-D26C-49ECBB424CF0}"/>
              </a:ext>
            </a:extLst>
          </p:cNvPr>
          <p:cNvSpPr txBox="1"/>
          <p:nvPr/>
        </p:nvSpPr>
        <p:spPr>
          <a:xfrm>
            <a:off x="6188364" y="3999604"/>
            <a:ext cx="42440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Function body as </a:t>
            </a:r>
            <a:r>
              <a:rPr lang="en-US">
                <a:solidFill>
                  <a:srgbClr val="92D050"/>
                </a:solidFill>
              </a:rPr>
              <a:t>expression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Return</a:t>
            </a:r>
            <a:r>
              <a:rPr lang="en-US"/>
              <a:t> type is inferred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8715C7-D378-37EC-F29F-7E339802C34C}"/>
              </a:ext>
            </a:extLst>
          </p:cNvPr>
          <p:cNvSpPr txBox="1"/>
          <p:nvPr/>
        </p:nvSpPr>
        <p:spPr>
          <a:xfrm>
            <a:off x="6188363" y="2055303"/>
            <a:ext cx="424409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Function with </a:t>
            </a:r>
            <a:r>
              <a:rPr lang="en-US">
                <a:solidFill>
                  <a:schemeClr val="accent3"/>
                </a:solidFill>
              </a:rPr>
              <a:t>multiple parameters </a:t>
            </a:r>
            <a:r>
              <a:rPr lang="en-US"/>
              <a:t>with </a:t>
            </a:r>
            <a:r>
              <a:rPr lang="en-US">
                <a:solidFill>
                  <a:schemeClr val="accent1"/>
                </a:solidFill>
              </a:rPr>
              <a:t>default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Function call with </a:t>
            </a:r>
            <a:r>
              <a:rPr lang="en-US">
                <a:solidFill>
                  <a:srgbClr val="00B0F0"/>
                </a:solidFill>
              </a:rPr>
              <a:t>named argument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1C4A419-E98A-A097-E0E0-1BD9E9F4B4AF}"/>
              </a:ext>
            </a:extLst>
          </p:cNvPr>
          <p:cNvGrpSpPr/>
          <p:nvPr/>
        </p:nvGrpSpPr>
        <p:grpSpPr>
          <a:xfrm>
            <a:off x="85444" y="101035"/>
            <a:ext cx="3027212" cy="406964"/>
            <a:chOff x="689746" y="1254252"/>
            <a:chExt cx="10812505" cy="1415319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C6C102F-0591-D9ED-F2F8-FCE0A7EE56DD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65937C8-FE24-79E9-32AC-B7E25D245C98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effectLst/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Functions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9058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FBF719-6EA4-D9AD-4F43-6CC0A05D3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FD3C562-1D62-118F-12D4-838543223C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0359E50-A80B-7136-4A4F-D56BE0FAA837}"/>
              </a:ext>
            </a:extLst>
          </p:cNvPr>
          <p:cNvGrpSpPr/>
          <p:nvPr/>
        </p:nvGrpSpPr>
        <p:grpSpPr>
          <a:xfrm>
            <a:off x="85444" y="101035"/>
            <a:ext cx="3027212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1D417D9-5825-08C3-4C80-C8EEB2C4D321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2194C8D-4F1D-8F09-9F17-9A0FDC4D5843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effectLst/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Class Structure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1CDBADC-8F81-FCB7-967A-9B17328F2DF5}"/>
              </a:ext>
            </a:extLst>
          </p:cNvPr>
          <p:cNvSpPr txBox="1"/>
          <p:nvPr/>
        </p:nvSpPr>
        <p:spPr>
          <a:xfrm>
            <a:off x="1200726" y="861903"/>
            <a:ext cx="9790545" cy="3693319"/>
          </a:xfrm>
          <a:prstGeom prst="rect">
            <a:avLst/>
          </a:prstGeom>
          <a:noFill/>
          <a:ln>
            <a:solidFill>
              <a:schemeClr val="tx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>
                <a:effectLst/>
                <a:latin typeface="JetBrains Mono"/>
              </a:rPr>
              <a:t>class Greeting</a:t>
            </a:r>
            <a:r>
              <a:rPr lang="en-US" sz="1800">
                <a:solidFill>
                  <a:srgbClr val="00B0F0"/>
                </a:solidFill>
                <a:effectLst/>
                <a:latin typeface="JetBrains Mono"/>
              </a:rPr>
              <a:t>(</a:t>
            </a:r>
            <a:r>
              <a:rPr lang="en-US" sz="1800">
                <a:solidFill>
                  <a:schemeClr val="accent3"/>
                </a:solidFill>
                <a:effectLst/>
                <a:latin typeface="JetBrains Mono"/>
              </a:rPr>
              <a:t>val</a:t>
            </a:r>
            <a:r>
              <a:rPr lang="en-US" sz="1800">
                <a:solidFill>
                  <a:srgbClr val="00B0F0"/>
                </a:solidFill>
                <a:effectLst/>
                <a:latin typeface="JetBrains Mono"/>
              </a:rPr>
              <a:t> </a:t>
            </a:r>
            <a:r>
              <a:rPr lang="en-US" sz="1800">
                <a:solidFill>
                  <a:srgbClr val="FFFF00"/>
                </a:solidFill>
                <a:effectLst/>
                <a:latin typeface="JetBrains Mono"/>
              </a:rPr>
              <a:t>name</a:t>
            </a:r>
            <a:r>
              <a:rPr lang="en-US" sz="1800">
                <a:solidFill>
                  <a:srgbClr val="00B0F0"/>
                </a:solidFill>
                <a:effectLst/>
                <a:latin typeface="JetBrains Mono"/>
              </a:rPr>
              <a:t>: String = "World", </a:t>
            </a:r>
            <a:r>
              <a:rPr lang="en-US" sz="1800">
                <a:solidFill>
                  <a:schemeClr val="accent1"/>
                </a:solidFill>
                <a:effectLst/>
                <a:latin typeface="JetBrains Mono"/>
              </a:rPr>
              <a:t>var</a:t>
            </a:r>
            <a:r>
              <a:rPr lang="en-US" sz="1800">
                <a:solidFill>
                  <a:srgbClr val="00B0F0"/>
                </a:solidFill>
                <a:effectLst/>
                <a:latin typeface="JetBrains Mono"/>
              </a:rPr>
              <a:t> </a:t>
            </a:r>
            <a:r>
              <a:rPr lang="en-US" sz="1800">
                <a:solidFill>
                  <a:srgbClr val="FFFF00"/>
                </a:solidFill>
                <a:effectLst/>
                <a:latin typeface="JetBrains Mono"/>
              </a:rPr>
              <a:t>repeats</a:t>
            </a:r>
            <a:r>
              <a:rPr lang="en-US" sz="1800">
                <a:solidFill>
                  <a:srgbClr val="00B0F0"/>
                </a:solidFill>
                <a:effectLst/>
                <a:latin typeface="JetBrains Mono"/>
              </a:rPr>
              <a:t>: Int = 5)</a:t>
            </a:r>
            <a:r>
              <a:rPr lang="en-US" sz="1800">
                <a:effectLst/>
                <a:latin typeface="JetBrains Mono"/>
              </a:rPr>
              <a:t>{</a:t>
            </a:r>
            <a:br>
              <a:rPr lang="en-US" sz="1800">
                <a:effectLst/>
                <a:latin typeface="JetBrains Mono"/>
              </a:rPr>
            </a:br>
            <a:br>
              <a:rPr lang="en-US" sz="1800">
                <a:effectLst/>
                <a:latin typeface="JetBrains Mono"/>
              </a:rPr>
            </a:br>
            <a:r>
              <a:rPr lang="en-US" sz="1800">
                <a:effectLst/>
                <a:latin typeface="JetBrains Mono"/>
              </a:rPr>
              <a:t>    </a:t>
            </a:r>
            <a:r>
              <a:rPr lang="en-US" sz="1800">
                <a:solidFill>
                  <a:schemeClr val="accent6">
                    <a:lumMod val="75000"/>
                  </a:schemeClr>
                </a:solidFill>
                <a:effectLst/>
                <a:latin typeface="JetBrains Mono"/>
              </a:rPr>
              <a:t>constructor(): </a:t>
            </a:r>
            <a:r>
              <a:rPr lang="en-US" sz="1800">
                <a:solidFill>
                  <a:srgbClr val="00B0F0"/>
                </a:solidFill>
                <a:effectLst/>
                <a:latin typeface="JetBrains Mono"/>
              </a:rPr>
              <a:t>this("World", 5)</a:t>
            </a:r>
            <a:r>
              <a:rPr lang="en-US" sz="1800">
                <a:effectLst/>
                <a:latin typeface="JetBrains Mono"/>
              </a:rPr>
              <a:t>{</a:t>
            </a:r>
            <a:br>
              <a:rPr lang="en-US" sz="1800">
                <a:effectLst/>
                <a:latin typeface="JetBrains Mono"/>
              </a:rPr>
            </a:br>
            <a:r>
              <a:rPr lang="en-US" sz="1800">
                <a:effectLst/>
                <a:latin typeface="JetBrains Mono"/>
              </a:rPr>
              <a:t>        println("\"Greeting\" instance created with \"$name\", configured to repeat $repeats times")</a:t>
            </a:r>
            <a:br>
              <a:rPr lang="en-US" sz="1800">
                <a:effectLst/>
                <a:latin typeface="JetBrains Mono"/>
              </a:rPr>
            </a:br>
            <a:r>
              <a:rPr lang="en-US" sz="1800">
                <a:effectLst/>
                <a:latin typeface="JetBrains Mono"/>
              </a:rPr>
              <a:t>    }</a:t>
            </a:r>
            <a:br>
              <a:rPr lang="en-US" sz="1800">
                <a:effectLst/>
                <a:latin typeface="JetBrains Mono"/>
              </a:rPr>
            </a:br>
            <a:br>
              <a:rPr lang="en-US" sz="1800">
                <a:effectLst/>
                <a:latin typeface="JetBrains Mono"/>
              </a:rPr>
            </a:br>
            <a:r>
              <a:rPr lang="en-US" sz="1800">
                <a:effectLst/>
                <a:latin typeface="JetBrains Mono"/>
              </a:rPr>
              <a:t>    fun greet(){</a:t>
            </a:r>
            <a:br>
              <a:rPr lang="en-US" sz="1800">
                <a:effectLst/>
                <a:latin typeface="JetBrains Mono"/>
              </a:rPr>
            </a:br>
            <a:r>
              <a:rPr lang="en-US" sz="1800">
                <a:effectLst/>
                <a:latin typeface="JetBrains Mono"/>
              </a:rPr>
              <a:t>        </a:t>
            </a:r>
            <a:r>
              <a:rPr lang="en-US" sz="1800">
                <a:solidFill>
                  <a:srgbClr val="92D050"/>
                </a:solidFill>
                <a:effectLst/>
                <a:latin typeface="JetBrains Mono"/>
              </a:rPr>
              <a:t>for(i in 1..repeats)</a:t>
            </a:r>
            <a:r>
              <a:rPr lang="en-US" sz="1800">
                <a:effectLst/>
                <a:latin typeface="JetBrains Mono"/>
              </a:rPr>
              <a:t>{</a:t>
            </a:r>
            <a:br>
              <a:rPr lang="en-US" sz="1800">
                <a:effectLst/>
                <a:latin typeface="JetBrains Mono"/>
              </a:rPr>
            </a:br>
            <a:r>
              <a:rPr lang="en-US" sz="1800">
                <a:effectLst/>
                <a:latin typeface="JetBrains Mono"/>
              </a:rPr>
              <a:t>            print("Greetings and ")</a:t>
            </a:r>
            <a:br>
              <a:rPr lang="en-US" sz="1800">
                <a:effectLst/>
                <a:latin typeface="JetBrains Mono"/>
              </a:rPr>
            </a:br>
            <a:r>
              <a:rPr lang="en-US" sz="1800">
                <a:effectLst/>
                <a:latin typeface="JetBrains Mono"/>
              </a:rPr>
              <a:t>            println("Hello, $name!")</a:t>
            </a:r>
            <a:br>
              <a:rPr lang="en-US" sz="1800">
                <a:effectLst/>
                <a:latin typeface="JetBrains Mono"/>
              </a:rPr>
            </a:br>
            <a:r>
              <a:rPr lang="en-US" sz="1800">
                <a:effectLst/>
                <a:latin typeface="JetBrains Mono"/>
              </a:rPr>
              <a:t>        }</a:t>
            </a:r>
            <a:br>
              <a:rPr lang="en-US" sz="1800">
                <a:effectLst/>
                <a:latin typeface="JetBrains Mono"/>
              </a:rPr>
            </a:br>
            <a:r>
              <a:rPr lang="en-US" sz="1800">
                <a:effectLst/>
                <a:latin typeface="JetBrains Mono"/>
              </a:rPr>
              <a:t>    }</a:t>
            </a:r>
            <a:br>
              <a:rPr lang="en-US" sz="1800">
                <a:effectLst/>
                <a:latin typeface="JetBrains Mono"/>
              </a:rPr>
            </a:br>
            <a:r>
              <a:rPr lang="en-US" sz="1800">
                <a:effectLst/>
                <a:latin typeface="JetBrains Mono"/>
              </a:rPr>
              <a:t>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4E4092-1FF3-5AC6-56BD-9168D20A7D9B}"/>
              </a:ext>
            </a:extLst>
          </p:cNvPr>
          <p:cNvSpPr txBox="1"/>
          <p:nvPr/>
        </p:nvSpPr>
        <p:spPr>
          <a:xfrm>
            <a:off x="1200726" y="4851240"/>
            <a:ext cx="500611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Class with </a:t>
            </a:r>
            <a:r>
              <a:rPr lang="en-US">
                <a:solidFill>
                  <a:srgbClr val="00B0F0"/>
                </a:solidFill>
              </a:rPr>
              <a:t>primary</a:t>
            </a:r>
            <a:r>
              <a:rPr lang="en-US"/>
              <a:t> and </a:t>
            </a: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secondary</a:t>
            </a:r>
            <a:r>
              <a:rPr lang="en-US"/>
              <a:t> constructor (executed after primary)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FFF00"/>
                </a:solidFill>
              </a:rPr>
              <a:t>Properties</a:t>
            </a:r>
            <a:r>
              <a:rPr lang="en-US"/>
              <a:t> declared in constructor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2DD8C3-FCAA-39D4-CDAA-1841A3590396}"/>
              </a:ext>
            </a:extLst>
          </p:cNvPr>
          <p:cNvSpPr txBox="1"/>
          <p:nvPr/>
        </p:nvSpPr>
        <p:spPr>
          <a:xfrm>
            <a:off x="6470071" y="4851240"/>
            <a:ext cx="4521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2"/>
                </a:solidFill>
              </a:rPr>
              <a:t>val</a:t>
            </a:r>
            <a:r>
              <a:rPr lang="en-US"/>
              <a:t> : read-only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1"/>
                </a:solidFill>
              </a:rPr>
              <a:t>var</a:t>
            </a:r>
            <a:r>
              <a:rPr lang="en-US">
                <a:solidFill>
                  <a:srgbClr val="CF8E6D"/>
                </a:solidFill>
              </a:rPr>
              <a:t> </a:t>
            </a:r>
            <a:r>
              <a:rPr lang="en-US"/>
              <a:t>: read-write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solidFill>
                <a:srgbClr val="92D0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92D050"/>
                </a:solidFill>
              </a:rPr>
              <a:t>for</a:t>
            </a:r>
            <a:r>
              <a:rPr lang="en-US"/>
              <a:t> loop (only existing variation)</a:t>
            </a:r>
          </a:p>
        </p:txBody>
      </p:sp>
    </p:spTree>
    <p:extLst>
      <p:ext uri="{BB962C8B-B14F-4D97-AF65-F5344CB8AC3E}">
        <p14:creationId xmlns:p14="http://schemas.microsoft.com/office/powerpoint/2010/main" val="434223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B4CE09-68D0-6975-4639-C5380265C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2BEF325-94E4-2962-2BB0-4FD361DD79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AAEDFD2-66C9-E185-2563-BB0E4E43F36D}"/>
              </a:ext>
            </a:extLst>
          </p:cNvPr>
          <p:cNvGrpSpPr/>
          <p:nvPr/>
        </p:nvGrpSpPr>
        <p:grpSpPr>
          <a:xfrm>
            <a:off x="85444" y="101035"/>
            <a:ext cx="3562920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AF90C77-2AF3-F8D5-5F29-CC9F8B03C9FC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8E3DE4E-59AB-6C20-4160-2028380FB89A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effectLst/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Curiosity: when expression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90438C2C-BEB3-EA8C-FC1B-D3E12A7F4D40}"/>
              </a:ext>
            </a:extLst>
          </p:cNvPr>
          <p:cNvSpPr txBox="1"/>
          <p:nvPr/>
        </p:nvSpPr>
        <p:spPr>
          <a:xfrm>
            <a:off x="5523344" y="2991258"/>
            <a:ext cx="50061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3"/>
                </a:solidFill>
              </a:rPr>
              <a:t>when</a:t>
            </a:r>
            <a:r>
              <a:rPr lang="en-US"/>
              <a:t> expression (equivalent to switch case) with </a:t>
            </a:r>
            <a:r>
              <a:rPr lang="en-US">
                <a:solidFill>
                  <a:srgbClr val="00B0F0"/>
                </a:solidFill>
              </a:rPr>
              <a:t>cases</a:t>
            </a:r>
            <a:r>
              <a:rPr lang="en-US"/>
              <a:t> and </a:t>
            </a:r>
            <a:r>
              <a:rPr lang="en-US">
                <a:solidFill>
                  <a:srgbClr val="92D050"/>
                </a:solidFill>
              </a:rPr>
              <a:t>default case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8C2C276-A41D-2478-3521-2D6DD196BF0C}"/>
              </a:ext>
            </a:extLst>
          </p:cNvPr>
          <p:cNvGrpSpPr/>
          <p:nvPr/>
        </p:nvGrpSpPr>
        <p:grpSpPr>
          <a:xfrm>
            <a:off x="1878584" y="1606264"/>
            <a:ext cx="2770910" cy="3920057"/>
            <a:chOff x="665018" y="954266"/>
            <a:chExt cx="2770910" cy="3920057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722633E-E22C-D5F7-657E-B6E109A0B165}"/>
                </a:ext>
              </a:extLst>
            </p:cNvPr>
            <p:cNvSpPr txBox="1"/>
            <p:nvPr/>
          </p:nvSpPr>
          <p:spPr>
            <a:xfrm>
              <a:off x="665018" y="954266"/>
              <a:ext cx="2770910" cy="3693319"/>
            </a:xfrm>
            <a:prstGeom prst="rect">
              <a:avLst/>
            </a:prstGeom>
            <a:noFill/>
            <a:ln>
              <a:solidFill>
                <a:schemeClr val="tx1">
                  <a:lumMod val="6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sz="1800">
                  <a:effectLst/>
                  <a:latin typeface="JetBrains Mono"/>
                </a:rPr>
                <a:t>val day = 4</a:t>
              </a:r>
            </a:p>
            <a:p>
              <a:pPr>
                <a:buNone/>
              </a:pPr>
              <a:endParaRPr lang="en-US" sz="1800">
                <a:effectLst/>
                <a:latin typeface="JetBrains Mono"/>
              </a:endParaRPr>
            </a:p>
            <a:p>
              <a:pPr>
                <a:buNone/>
              </a:pPr>
              <a:r>
                <a:rPr lang="en-US" sz="1800">
                  <a:effectLst/>
                  <a:latin typeface="JetBrains Mono"/>
                </a:rPr>
                <a:t>val result = </a:t>
              </a:r>
              <a:r>
                <a:rPr lang="en-US" sz="1800">
                  <a:solidFill>
                    <a:schemeClr val="accent3"/>
                  </a:solidFill>
                  <a:effectLst/>
                  <a:latin typeface="JetBrains Mono"/>
                </a:rPr>
                <a:t>when (day) </a:t>
              </a:r>
              <a:r>
                <a:rPr lang="en-US" sz="1800">
                  <a:effectLst/>
                  <a:latin typeface="JetBrains Mono"/>
                </a:rPr>
                <a:t>{</a:t>
              </a:r>
            </a:p>
            <a:p>
              <a:pPr>
                <a:buNone/>
              </a:pPr>
              <a:r>
                <a:rPr lang="en-US" sz="1800">
                  <a:effectLst/>
                  <a:latin typeface="JetBrains Mono"/>
                </a:rPr>
                <a:t>  </a:t>
              </a:r>
              <a:r>
                <a:rPr lang="en-US" sz="1800">
                  <a:solidFill>
                    <a:srgbClr val="00B0F0"/>
                  </a:solidFill>
                  <a:effectLst/>
                  <a:latin typeface="JetBrains Mono"/>
                </a:rPr>
                <a:t>1 -&gt; "Monday"</a:t>
              </a:r>
            </a:p>
            <a:p>
              <a:pPr>
                <a:buNone/>
              </a:pPr>
              <a:r>
                <a:rPr lang="en-US" sz="1800">
                  <a:effectLst/>
                  <a:latin typeface="JetBrains Mono"/>
                </a:rPr>
                <a:t>  2 -&gt; "Tuesday"</a:t>
              </a:r>
            </a:p>
            <a:p>
              <a:pPr>
                <a:buNone/>
              </a:pPr>
              <a:r>
                <a:rPr lang="en-US" sz="1800">
                  <a:effectLst/>
                  <a:latin typeface="JetBrains Mono"/>
                </a:rPr>
                <a:t>  3 -&gt; "Wednesday"</a:t>
              </a:r>
            </a:p>
            <a:p>
              <a:pPr>
                <a:buNone/>
              </a:pPr>
              <a:r>
                <a:rPr lang="en-US" sz="1800">
                  <a:effectLst/>
                  <a:latin typeface="JetBrains Mono"/>
                </a:rPr>
                <a:t>  4 -&gt; "Thursday"</a:t>
              </a:r>
            </a:p>
            <a:p>
              <a:pPr>
                <a:buNone/>
              </a:pPr>
              <a:r>
                <a:rPr lang="en-US" sz="1800">
                  <a:effectLst/>
                  <a:latin typeface="JetBrains Mono"/>
                </a:rPr>
                <a:t>  5 -&gt; "Friday"</a:t>
              </a:r>
            </a:p>
            <a:p>
              <a:pPr>
                <a:buNone/>
              </a:pPr>
              <a:r>
                <a:rPr lang="en-US" sz="1800">
                  <a:effectLst/>
                  <a:latin typeface="JetBrains Mono"/>
                </a:rPr>
                <a:t>  6 -&gt; "Saturday"</a:t>
              </a:r>
            </a:p>
            <a:p>
              <a:pPr>
                <a:buNone/>
              </a:pPr>
              <a:r>
                <a:rPr lang="en-US" sz="1800">
                  <a:effectLst/>
                  <a:latin typeface="JetBrains Mono"/>
                </a:rPr>
                <a:t>  7 -&gt; "Sunday"</a:t>
              </a:r>
            </a:p>
            <a:p>
              <a:pPr>
                <a:buNone/>
              </a:pPr>
              <a:r>
                <a:rPr lang="en-US" sz="1800">
                  <a:effectLst/>
                  <a:latin typeface="JetBrains Mono"/>
                </a:rPr>
                <a:t>  </a:t>
              </a:r>
              <a:r>
                <a:rPr lang="en-US" sz="1800">
                  <a:solidFill>
                    <a:srgbClr val="92D050"/>
                  </a:solidFill>
                  <a:effectLst/>
                  <a:latin typeface="JetBrains Mono"/>
                </a:rPr>
                <a:t>else -&gt; "Invalid day."</a:t>
              </a:r>
            </a:p>
            <a:p>
              <a:pPr>
                <a:buNone/>
              </a:pPr>
              <a:r>
                <a:rPr lang="en-US" sz="1800">
                  <a:effectLst/>
                  <a:latin typeface="JetBrains Mono"/>
                </a:rPr>
                <a:t>}</a:t>
              </a:r>
            </a:p>
            <a:p>
              <a:pPr>
                <a:buNone/>
              </a:pPr>
              <a:r>
                <a:rPr lang="en-US" sz="1800">
                  <a:effectLst/>
                  <a:latin typeface="JetBrains Mono"/>
                </a:rPr>
                <a:t>println(result)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A7E5A45B-4B9C-CADC-65AB-F1482AFACB4A}"/>
                </a:ext>
              </a:extLst>
            </p:cNvPr>
            <p:cNvSpPr txBox="1"/>
            <p:nvPr/>
          </p:nvSpPr>
          <p:spPr>
            <a:xfrm>
              <a:off x="665018" y="4681963"/>
              <a:ext cx="2770910" cy="1923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50"/>
                <a:t>Source:  https://www.w3schools.com/kotlin/kotlin_when.php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87285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8664B0"/>
      </a:accent1>
      <a:accent2>
        <a:srgbClr val="D75BCD"/>
      </a:accent2>
      <a:accent3>
        <a:srgbClr val="E54D86"/>
      </a:accent3>
      <a:accent4>
        <a:srgbClr val="DE4547"/>
      </a:accent4>
      <a:accent5>
        <a:srgbClr val="F16E40"/>
      </a:accent5>
      <a:accent6>
        <a:srgbClr val="EB9C5A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7AF46513-5B0D-4B03-9323-32F3F0BFC9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Quotable</Template>
  <TotalTime>906</TotalTime>
  <Words>490</Words>
  <Application>Microsoft Office PowerPoint</Application>
  <PresentationFormat>Widescreen</PresentationFormat>
  <Paragraphs>65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Cascadia Code</vt:lpstr>
      <vt:lpstr>JetBrains Mono</vt:lpstr>
      <vt:lpstr>Wingdings 2</vt:lpstr>
      <vt:lpstr>Quotable</vt:lpstr>
      <vt:lpstr>Programmiersprache Kotlin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 Ihrenberger</dc:creator>
  <cp:lastModifiedBy>Ihrenberger, Julia</cp:lastModifiedBy>
  <cp:revision>809</cp:revision>
  <dcterms:created xsi:type="dcterms:W3CDTF">2025-03-21T16:11:25Z</dcterms:created>
  <dcterms:modified xsi:type="dcterms:W3CDTF">2025-11-25T18:07:18Z</dcterms:modified>
</cp:coreProperties>
</file>