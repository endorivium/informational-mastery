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9"/>
  </p:notesMasterIdLst>
  <p:sldIdLst>
    <p:sldId id="256" r:id="rId2"/>
    <p:sldId id="299" r:id="rId3"/>
    <p:sldId id="301" r:id="rId4"/>
    <p:sldId id="294" r:id="rId5"/>
    <p:sldId id="296" r:id="rId6"/>
    <p:sldId id="298" r:id="rId7"/>
    <p:sldId id="30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8E6D"/>
    <a:srgbClr val="00AAE6"/>
    <a:srgbClr val="212121"/>
    <a:srgbClr val="EB8F91"/>
    <a:srgbClr val="A17CB6"/>
    <a:srgbClr val="C46EB2"/>
    <a:srgbClr val="C96994"/>
    <a:srgbClr val="D01E62"/>
    <a:srgbClr val="825FAD"/>
    <a:srgbClr val="8664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943" autoAdjust="0"/>
  </p:normalViewPr>
  <p:slideViewPr>
    <p:cSldViewPr snapToGrid="0">
      <p:cViewPr varScale="1">
        <p:scale>
          <a:sx n="76" d="100"/>
          <a:sy n="76" d="100"/>
        </p:scale>
        <p:origin x="94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27C79-C440-023F-7C7D-A439550D7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5C1FA-20A7-AE9F-30E8-F2FFDC6DDF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DD766-9F66-6986-1F21-846703EC7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E267F-5FF6-6EBA-0694-504E21C85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156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842CE-4EA8-590C-A4D8-D3F8246AF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8A85BB-EBE9-4E79-8F7F-B5D4ABCBB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80A000-5DA9-46F1-E965-DC9073FBD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E94DE-ED02-0768-7550-F1A829CFA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865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279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2A265-A38E-0B4D-77D8-81CDCAD39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16410C-3FE3-30BB-D3E8-B98BCED56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49B70-3E17-A615-9E3E-AF4BB1A1F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259A8-2457-D62C-E3C0-E6673BABDA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02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DE60D-87A9-10C3-D7E3-A3B06C485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464C4-BAF7-DEE2-43BC-5C2029634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71ED67-F8AA-DEEA-9714-3A94F8C23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8F45D-6C44-5E1A-42C9-9CA982B79D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18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EA9-6E82-74D0-E4E3-82D41F09C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DFF5B-AE5B-3E2D-76FE-D16B1719B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41DAD-61C0-2A8C-235D-E6D7DA9C5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BB196-7B58-4B76-2D00-77BFF281E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03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5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6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1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57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81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95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7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11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42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58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873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19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45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90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482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F72D-82E1-A086-9B1A-97D7D97534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Programmiersprache</a:t>
            </a:r>
            <a:br>
              <a:rPr lang="en-US"/>
            </a:br>
            <a:r>
              <a:rPr lang="en-US">
                <a:solidFill>
                  <a:schemeClr val="accent3"/>
                </a:solidFill>
              </a:rPr>
              <a:t>Kotlin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D11D3-0A40-FDB6-3126-FE39A5160C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General Purpose Language von </a:t>
            </a:r>
            <a:r>
              <a:rPr lang="en-US" err="1"/>
              <a:t>Jetbrains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06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8AF9D2-45AA-BD93-D83F-01C230513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937EDF-7CC0-B3DB-D785-CC442F9C585A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6CDF7C-2104-57EE-CAC3-8AA190C3847C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209032-21B6-2D3E-2790-436326768A6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AE6F6E2-D0B7-4949-301A-1CDAD8DBBA2F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General Information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B21F944-9749-C432-F935-AFD7E0E22075}"/>
              </a:ext>
            </a:extLst>
          </p:cNvPr>
          <p:cNvSpPr txBox="1"/>
          <p:nvPr/>
        </p:nvSpPr>
        <p:spPr>
          <a:xfrm>
            <a:off x="1728175" y="2419568"/>
            <a:ext cx="87356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Kotlin was developed by </a:t>
            </a:r>
            <a:r>
              <a:rPr lang="en-US" dirty="0" err="1">
                <a:solidFill>
                  <a:schemeClr val="accent3"/>
                </a:solidFill>
              </a:rPr>
              <a:t>Jetbrains</a:t>
            </a:r>
            <a:r>
              <a:rPr lang="en-US" dirty="0"/>
              <a:t> (</a:t>
            </a:r>
            <a:r>
              <a:rPr lang="en-US" dirty="0" err="1"/>
              <a:t>Intellj</a:t>
            </a:r>
            <a:r>
              <a:rPr lang="en-US" dirty="0"/>
              <a:t> Idea, Rider, Goland) and released in 2011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Goal: </a:t>
            </a:r>
            <a:r>
              <a:rPr lang="en-US" dirty="0">
                <a:solidFill>
                  <a:srgbClr val="00B0F0"/>
                </a:solidFill>
              </a:rPr>
              <a:t>concise and expressive</a:t>
            </a:r>
            <a:r>
              <a:rPr lang="en-US" dirty="0"/>
              <a:t>, interoperable with Java (previous language used), introduction of new constructs such as higher order function</a:t>
            </a:r>
          </a:p>
          <a:p>
            <a:r>
              <a:rPr lang="en-US" dirty="0"/>
              <a:t>	&gt; a </a:t>
            </a:r>
            <a:r>
              <a:rPr lang="en-US" dirty="0">
                <a:solidFill>
                  <a:srgbClr val="92D050"/>
                </a:solidFill>
              </a:rPr>
              <a:t>better Java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DBA887-6443-C102-72C3-7222849D934E}"/>
              </a:ext>
            </a:extLst>
          </p:cNvPr>
          <p:cNvSpPr txBox="1"/>
          <p:nvPr/>
        </p:nvSpPr>
        <p:spPr>
          <a:xfrm>
            <a:off x="3326004" y="6360049"/>
            <a:ext cx="8617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Source: https://www.oreilly.com/library/view/kotlin-for-enterprise/9781788997270/ea4ec584-db64-4026-89a8-2086301eb9c5.xhtml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14009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1BED8-265B-44EF-5F7D-1B4EFF28C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8AE886-48C3-0C6B-2E82-9C8523AC0ABA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03D769-1785-182A-4205-86B63AADB261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26377DD-AE0A-97EB-20F7-D68096ABD130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083FA88-D270-0384-DB0E-2E2EDBC3CD70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Data Types</a:t>
              </a:r>
              <a:endParaRPr lang="en-US" sz="1400" dirty="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361B9F9-BB8D-CE33-D2AF-D4B3D919087E}"/>
              </a:ext>
            </a:extLst>
          </p:cNvPr>
          <p:cNvSpPr txBox="1"/>
          <p:nvPr/>
        </p:nvSpPr>
        <p:spPr>
          <a:xfrm>
            <a:off x="1728175" y="1997839"/>
            <a:ext cx="87356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types as expected: numbers (signed, unsigned), Boolean, Character, </a:t>
            </a:r>
          </a:p>
          <a:p>
            <a:r>
              <a:rPr lang="en-US" dirty="0"/>
              <a:t>							String, Array (also Collections)</a:t>
            </a:r>
          </a:p>
          <a:p>
            <a:r>
              <a:rPr lang="en-US" dirty="0"/>
              <a:t>							</a:t>
            </a:r>
            <a:r>
              <a:rPr lang="en-US" u="sng" dirty="0"/>
              <a:t>additionally</a:t>
            </a:r>
            <a:r>
              <a:rPr lang="en-US" dirty="0"/>
              <a:t>: </a:t>
            </a:r>
            <a:r>
              <a:rPr lang="en-US" dirty="0">
                <a:solidFill>
                  <a:schemeClr val="accent3"/>
                </a:solidFill>
              </a:rPr>
              <a:t>Any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Nothing</a:t>
            </a:r>
            <a:r>
              <a:rPr lang="en-US" dirty="0"/>
              <a:t>, </a:t>
            </a:r>
            <a:r>
              <a:rPr lang="en-US" dirty="0">
                <a:solidFill>
                  <a:srgbClr val="0070C0"/>
                </a:solidFill>
              </a:rPr>
              <a:t>Unit</a:t>
            </a:r>
          </a:p>
          <a:p>
            <a:endParaRPr lang="en-US" dirty="0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Any:</a:t>
            </a:r>
            <a:r>
              <a:rPr lang="en-US" dirty="0">
                <a:solidFill>
                  <a:srgbClr val="92D050"/>
                </a:solidFill>
              </a:rPr>
              <a:t> </a:t>
            </a:r>
            <a:r>
              <a:rPr lang="en-US" dirty="0"/>
              <a:t>superclass of all classes, like </a:t>
            </a:r>
            <a:r>
              <a:rPr lang="en-US" dirty="0" err="1"/>
              <a:t>golang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any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Nothing: </a:t>
            </a:r>
            <a:r>
              <a:rPr lang="en-US" dirty="0"/>
              <a:t>class with </a:t>
            </a:r>
            <a:r>
              <a:rPr lang="en-US" dirty="0">
                <a:solidFill>
                  <a:schemeClr val="accent1"/>
                </a:solidFill>
              </a:rPr>
              <a:t>no instances</a:t>
            </a:r>
            <a:r>
              <a:rPr lang="en-US" dirty="0"/>
              <a:t>, will always </a:t>
            </a:r>
            <a:r>
              <a:rPr lang="en-US" dirty="0">
                <a:solidFill>
                  <a:schemeClr val="accent1"/>
                </a:solidFill>
              </a:rPr>
              <a:t>throw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exception</a:t>
            </a:r>
            <a:r>
              <a:rPr lang="en-US" dirty="0"/>
              <a:t> as return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</a:rPr>
              <a:t>Unit: </a:t>
            </a:r>
            <a:r>
              <a:rPr lang="en-US" dirty="0"/>
              <a:t>corresponds to </a:t>
            </a:r>
            <a:r>
              <a:rPr lang="en-US" dirty="0">
                <a:solidFill>
                  <a:srgbClr val="0070C0"/>
                </a:solidFill>
              </a:rPr>
              <a:t>void</a:t>
            </a:r>
            <a:r>
              <a:rPr lang="en-US" dirty="0"/>
              <a:t>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semicolons at end of code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1E40CA-947B-88D5-96C6-7A6FA1A5A1F4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Source: https://kotlinlang.org/docs/types-overview.html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14004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12AE7C-02F8-840A-3AF6-5351880ED870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8F8327-F2B6-7348-5001-D90FEB4FC220}"/>
              </a:ext>
            </a:extLst>
          </p:cNvPr>
          <p:cNvSpPr txBox="1"/>
          <p:nvPr/>
        </p:nvSpPr>
        <p:spPr>
          <a:xfrm>
            <a:off x="1246908" y="2136339"/>
            <a:ext cx="5006110" cy="2585323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package 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packageName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import 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otherPackage.*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fun </a:t>
            </a:r>
            <a:r>
              <a:rPr lang="en-US" sz="1800">
                <a:solidFill>
                  <a:srgbClr val="FFC000"/>
                </a:solidFill>
                <a:effectLst/>
                <a:latin typeface="JetBrains Mono"/>
              </a:rPr>
              <a:t>main() 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val </a:t>
            </a:r>
            <a:r>
              <a:rPr lang="en-US" sz="1800">
                <a:solidFill>
                  <a:srgbClr val="00B050"/>
                </a:solidFill>
                <a:effectLst/>
                <a:latin typeface="JetBrains Mono"/>
              </a:rPr>
              <a:t>name</a:t>
            </a:r>
            <a:r>
              <a:rPr lang="en-US">
                <a:solidFill>
                  <a:srgbClr val="00B050"/>
                </a:solidFill>
                <a:latin typeface="JetBrains Mono"/>
              </a:rPr>
              <a:t> </a:t>
            </a:r>
            <a:r>
              <a:rPr lang="en-US" sz="1800">
                <a:effectLst/>
                <a:latin typeface="JetBrains Mono"/>
              </a:rPr>
              <a:t>= "World" </a:t>
            </a:r>
            <a:r>
              <a:rPr lang="en-US" sz="1800">
                <a:solidFill>
                  <a:schemeClr val="tx1">
                    <a:lumMod val="50000"/>
                  </a:schemeClr>
                </a:solidFill>
                <a:effectLst/>
                <a:latin typeface="JetBrains Mono"/>
              </a:rPr>
              <a:t>//infers String data type 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println</a:t>
            </a:r>
            <a:r>
              <a:rPr lang="en-US" sz="1800">
                <a:effectLst/>
                <a:latin typeface="JetBrains Mono"/>
              </a:rPr>
              <a:t>("Hello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$</a:t>
            </a:r>
            <a:r>
              <a:rPr lang="en-US" sz="1800">
                <a:solidFill>
                  <a:srgbClr val="00B050"/>
                </a:solidFill>
                <a:effectLst/>
                <a:latin typeface="JetBrains Mono"/>
              </a:rPr>
              <a:t>name</a:t>
            </a:r>
            <a:r>
              <a:rPr lang="en-US" sz="1800">
                <a:effectLst/>
                <a:latin typeface="JetBrains Mono"/>
              </a:rPr>
              <a:t>!") </a:t>
            </a:r>
            <a:r>
              <a:rPr lang="en-US" sz="1800">
                <a:solidFill>
                  <a:schemeClr val="bg1">
                    <a:lumMod val="50000"/>
                    <a:lumOff val="50000"/>
                  </a:schemeClr>
                </a:solidFill>
                <a:effectLst/>
                <a:latin typeface="JetBrains Mono"/>
              </a:rPr>
              <a:t>//output: Hello, World!</a:t>
            </a:r>
          </a:p>
          <a:p>
            <a:pPr>
              <a:buNone/>
            </a:pPr>
            <a:r>
              <a:rPr lang="en-US">
                <a:latin typeface="JetBrains Mono"/>
              </a:rPr>
              <a:t>}</a:t>
            </a:r>
            <a:endParaRPr lang="en-US" sz="1800">
              <a:effectLst/>
              <a:latin typeface="JetBrains Mono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C24E50-DEAC-A23F-8F91-EF3C078E3FD0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4C0DE72-604F-30FA-B910-CF2F07D4403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800467-565F-782E-6B99-BAD5A870A37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Basic Syntax and File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31F0D5A-E101-7B35-E486-13DAFD474EEC}"/>
              </a:ext>
            </a:extLst>
          </p:cNvPr>
          <p:cNvSpPr txBox="1"/>
          <p:nvPr/>
        </p:nvSpPr>
        <p:spPr>
          <a:xfrm>
            <a:off x="6789455" y="1720840"/>
            <a:ext cx="424409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Declaration of own </a:t>
            </a:r>
            <a:r>
              <a:rPr lang="en-US">
                <a:solidFill>
                  <a:srgbClr val="00B0F0"/>
                </a:solidFill>
              </a:rPr>
              <a:t>packageName</a:t>
            </a:r>
            <a:r>
              <a:rPr lang="en-US"/>
              <a:t> (must be in folder of the same name)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Declaration of </a:t>
            </a:r>
            <a:r>
              <a:rPr lang="en-US">
                <a:solidFill>
                  <a:schemeClr val="accent3"/>
                </a:solidFill>
              </a:rPr>
              <a:t>otherPackage</a:t>
            </a:r>
            <a:r>
              <a:rPr lang="en-US"/>
              <a:t> (allows </a:t>
            </a:r>
            <a:r>
              <a:rPr lang="en-US">
                <a:solidFill>
                  <a:schemeClr val="accent3"/>
                </a:solidFill>
              </a:rPr>
              <a:t>usage</a:t>
            </a:r>
            <a:r>
              <a:rPr lang="en-US"/>
              <a:t> of code without </a:t>
            </a:r>
            <a:r>
              <a:rPr lang="en-US">
                <a:solidFill>
                  <a:schemeClr val="accent3"/>
                </a:solidFill>
              </a:rPr>
              <a:t>qualification</a:t>
            </a:r>
            <a:r>
              <a:rPr lang="en-US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main() </a:t>
            </a:r>
            <a:r>
              <a:rPr lang="en-US"/>
              <a:t>as program entry point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println() </a:t>
            </a:r>
            <a:r>
              <a:rPr lang="en-US"/>
              <a:t>with </a:t>
            </a:r>
            <a:r>
              <a:rPr lang="en-US">
                <a:solidFill>
                  <a:srgbClr val="92D050"/>
                </a:solidFill>
                <a:latin typeface="JetBrains Mono"/>
              </a:rPr>
              <a:t>$</a:t>
            </a:r>
            <a:r>
              <a:rPr lang="en-US"/>
              <a:t> to insert value of name variable into text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625AFA-6793-29BD-BAAA-06F356746C5C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Source: https://kotlinlang.org/docs/basic-syntax.html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555253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C5AE1B-0A42-D2DA-76E4-E19714852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80E9C3C-072C-7890-F121-CC494C567E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BE3D08-AF08-46D4-40B8-D7E6DAE43626}"/>
              </a:ext>
            </a:extLst>
          </p:cNvPr>
          <p:cNvSpPr txBox="1"/>
          <p:nvPr/>
        </p:nvSpPr>
        <p:spPr>
          <a:xfrm>
            <a:off x="1778017" y="2055303"/>
            <a:ext cx="3736092" cy="1477328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fun sum(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a: Int </a:t>
            </a:r>
            <a:r>
              <a:rPr lang="en-US" sz="1800">
                <a:solidFill>
                  <a:schemeClr val="accent1"/>
                </a:solidFill>
                <a:effectLst/>
                <a:latin typeface="JetBrains Mono"/>
              </a:rPr>
              <a:t>= 5</a:t>
            </a:r>
            <a:r>
              <a:rPr lang="en-US" sz="1800">
                <a:effectLst/>
                <a:latin typeface="JetBrains Mono"/>
              </a:rPr>
              <a:t>, 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b: Int</a:t>
            </a:r>
            <a:r>
              <a:rPr lang="en-US" sz="1800">
                <a:effectLst/>
                <a:latin typeface="JetBrains Mono"/>
              </a:rPr>
              <a:t>): </a:t>
            </a:r>
            <a:r>
              <a:rPr lang="en-US" sz="1800">
                <a:solidFill>
                  <a:schemeClr val="accent6">
                    <a:lumMod val="75000"/>
                  </a:schemeClr>
                </a:solidFill>
                <a:effectLst/>
                <a:latin typeface="JetBrains Mono"/>
              </a:rPr>
              <a:t>Int</a:t>
            </a:r>
            <a:r>
              <a:rPr lang="en-US" sz="1800">
                <a:effectLst/>
                <a:latin typeface="JetBrains Mono"/>
              </a:rPr>
              <a:t> 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return a + b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}</a:t>
            </a:r>
          </a:p>
          <a:p>
            <a:pPr>
              <a:buNone/>
            </a:pPr>
            <a:endParaRPr lang="en-US">
              <a:latin typeface="JetBrains Mono"/>
            </a:endParaRPr>
          </a:p>
          <a:p>
            <a:pPr>
              <a:buNone/>
            </a:pPr>
            <a:r>
              <a:rPr lang="en-US">
                <a:latin typeface="JetBrains Mono"/>
              </a:rPr>
              <a:t>s</a:t>
            </a:r>
            <a:r>
              <a:rPr lang="en-US" sz="1800">
                <a:effectLst/>
                <a:latin typeface="JetBrains Mono"/>
              </a:rPr>
              <a:t>um(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b = 10</a:t>
            </a:r>
            <a:r>
              <a:rPr lang="en-US" sz="1800">
                <a:effectLst/>
                <a:latin typeface="JetBrains Mono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AA3C4F-72E4-B4D4-230F-C29FB20B3A7E}"/>
              </a:ext>
            </a:extLst>
          </p:cNvPr>
          <p:cNvSpPr txBox="1"/>
          <p:nvPr/>
        </p:nvSpPr>
        <p:spPr>
          <a:xfrm>
            <a:off x="1778017" y="4138104"/>
            <a:ext cx="3736092" cy="369332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fun sum(a: Int, b: Int)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= a + 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9C7699-068F-3B8E-D26C-49ECBB424CF0}"/>
              </a:ext>
            </a:extLst>
          </p:cNvPr>
          <p:cNvSpPr txBox="1"/>
          <p:nvPr/>
        </p:nvSpPr>
        <p:spPr>
          <a:xfrm>
            <a:off x="6188364" y="3999604"/>
            <a:ext cx="4663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body as </a:t>
            </a:r>
            <a:r>
              <a:rPr lang="en-US" dirty="0">
                <a:solidFill>
                  <a:srgbClr val="92D050"/>
                </a:solidFill>
              </a:rPr>
              <a:t>single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Return</a:t>
            </a:r>
            <a:r>
              <a:rPr lang="en-US" dirty="0"/>
              <a:t> type is inferred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8715C7-D378-37EC-F29F-7E339802C34C}"/>
              </a:ext>
            </a:extLst>
          </p:cNvPr>
          <p:cNvSpPr txBox="1"/>
          <p:nvPr/>
        </p:nvSpPr>
        <p:spPr>
          <a:xfrm>
            <a:off x="6188363" y="2055303"/>
            <a:ext cx="42440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Function with </a:t>
            </a:r>
            <a:r>
              <a:rPr lang="en-US">
                <a:solidFill>
                  <a:schemeClr val="accent3"/>
                </a:solidFill>
              </a:rPr>
              <a:t>multiple parameters </a:t>
            </a:r>
            <a:r>
              <a:rPr lang="en-US"/>
              <a:t>with </a:t>
            </a:r>
            <a:r>
              <a:rPr lang="en-US">
                <a:solidFill>
                  <a:schemeClr val="accent1"/>
                </a:solidFill>
              </a:rPr>
              <a:t>default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Function call with </a:t>
            </a:r>
            <a:r>
              <a:rPr lang="en-US">
                <a:solidFill>
                  <a:srgbClr val="00B0F0"/>
                </a:solidFill>
              </a:rPr>
              <a:t>named argument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1C4A419-E98A-A097-E0E0-1BD9E9F4B4AF}"/>
              </a:ext>
            </a:extLst>
          </p:cNvPr>
          <p:cNvGrpSpPr/>
          <p:nvPr/>
        </p:nvGrpSpPr>
        <p:grpSpPr>
          <a:xfrm>
            <a:off x="85444" y="101035"/>
            <a:ext cx="3027212" cy="406964"/>
            <a:chOff x="689746" y="1254252"/>
            <a:chExt cx="10812505" cy="141531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C6C102F-0591-D9ED-F2F8-FCE0A7EE56DD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5937C8-FE24-79E9-32AC-B7E25D245C9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Functions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1E2831-DE8E-089F-80F5-E8EE17C54F6D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Source: https://kotlinlang.org/docs/functions.html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89058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FBF719-6EA4-D9AD-4F43-6CC0A05D3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FD3C562-1D62-118F-12D4-838543223C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359E50-A80B-7136-4A4F-D56BE0FAA837}"/>
              </a:ext>
            </a:extLst>
          </p:cNvPr>
          <p:cNvGrpSpPr/>
          <p:nvPr/>
        </p:nvGrpSpPr>
        <p:grpSpPr>
          <a:xfrm>
            <a:off x="85444" y="101035"/>
            <a:ext cx="3027212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D417D9-5825-08C3-4C80-C8EEB2C4D321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2194C8D-4F1D-8F09-9F17-9A0FDC4D5843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Class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1CDBADC-8F81-FCB7-967A-9B17328F2DF5}"/>
              </a:ext>
            </a:extLst>
          </p:cNvPr>
          <p:cNvSpPr txBox="1"/>
          <p:nvPr/>
        </p:nvSpPr>
        <p:spPr>
          <a:xfrm>
            <a:off x="1200726" y="861903"/>
            <a:ext cx="9790545" cy="3693319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class Greeting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(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val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 </a:t>
            </a:r>
            <a:r>
              <a:rPr lang="en-US" sz="1800">
                <a:solidFill>
                  <a:srgbClr val="FFFF00"/>
                </a:solidFill>
                <a:effectLst/>
                <a:latin typeface="JetBrains Mono"/>
              </a:rPr>
              <a:t>name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: String = "World", </a:t>
            </a:r>
            <a:r>
              <a:rPr lang="en-US" sz="1800">
                <a:solidFill>
                  <a:schemeClr val="accent1"/>
                </a:solidFill>
                <a:effectLst/>
                <a:latin typeface="JetBrains Mono"/>
              </a:rPr>
              <a:t>var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 </a:t>
            </a:r>
            <a:r>
              <a:rPr lang="en-US" sz="1800">
                <a:solidFill>
                  <a:srgbClr val="FFFF00"/>
                </a:solidFill>
                <a:effectLst/>
                <a:latin typeface="JetBrains Mono"/>
              </a:rPr>
              <a:t>repeats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: Int = 5)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chemeClr val="accent6">
                    <a:lumMod val="75000"/>
                  </a:schemeClr>
                </a:solidFill>
                <a:effectLst/>
                <a:latin typeface="JetBrains Mono"/>
              </a:rPr>
              <a:t>constructor(): 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this("World", 5)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println("\"Greeting\" instance created with \"$name\", configured to repeat $repeats times")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}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fun greet(){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for(i in 1..repeats)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    print("Greetings and ")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    println("Hello, $name!")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}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}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4E4092-1FF3-5AC6-56BD-9168D20A7D9B}"/>
              </a:ext>
            </a:extLst>
          </p:cNvPr>
          <p:cNvSpPr txBox="1"/>
          <p:nvPr/>
        </p:nvSpPr>
        <p:spPr>
          <a:xfrm>
            <a:off x="1200726" y="4851240"/>
            <a:ext cx="50061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Class with </a:t>
            </a:r>
            <a:r>
              <a:rPr lang="en-US">
                <a:solidFill>
                  <a:srgbClr val="00B0F0"/>
                </a:solidFill>
              </a:rPr>
              <a:t>primary</a:t>
            </a:r>
            <a:r>
              <a:rPr lang="en-US"/>
              <a:t> and </a:t>
            </a: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secondary</a:t>
            </a:r>
            <a:r>
              <a:rPr lang="en-US"/>
              <a:t> constructor (executed after primary)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FF00"/>
                </a:solidFill>
              </a:rPr>
              <a:t>Properties</a:t>
            </a:r>
            <a:r>
              <a:rPr lang="en-US"/>
              <a:t> declared in constructor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DD8C3-FCAA-39D4-CDAA-1841A3590396}"/>
              </a:ext>
            </a:extLst>
          </p:cNvPr>
          <p:cNvSpPr txBox="1"/>
          <p:nvPr/>
        </p:nvSpPr>
        <p:spPr>
          <a:xfrm>
            <a:off x="6470071" y="4851240"/>
            <a:ext cx="4521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2"/>
                </a:solidFill>
              </a:rPr>
              <a:t>val</a:t>
            </a:r>
            <a:r>
              <a:rPr lang="en-US"/>
              <a:t> : read-only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</a:rPr>
              <a:t>var</a:t>
            </a:r>
            <a:r>
              <a:rPr lang="en-US">
                <a:solidFill>
                  <a:srgbClr val="CF8E6D"/>
                </a:solidFill>
              </a:rPr>
              <a:t> </a:t>
            </a:r>
            <a:r>
              <a:rPr lang="en-US"/>
              <a:t>: read-write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for</a:t>
            </a:r>
            <a:r>
              <a:rPr lang="en-US"/>
              <a:t> loop (only existing variation)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C5DACD-8C73-5B32-2ACA-AA2E804DE2F4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Source: https://kotlinlang.org/docs/basic-syntax.html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34223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4CE09-68D0-6975-4639-C5380265C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BEF325-94E4-2962-2BB0-4FD361DD79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AEDFD2-66C9-E185-2563-BB0E4E43F36D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AF90C77-2AF3-F8D5-5F29-CC9F8B03C9FC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E3DE4E-59AB-6C20-4160-2028380FB89A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Curiosity: when expression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0438C2C-BEB3-EA8C-FC1B-D3E12A7F4D40}"/>
              </a:ext>
            </a:extLst>
          </p:cNvPr>
          <p:cNvSpPr txBox="1"/>
          <p:nvPr/>
        </p:nvSpPr>
        <p:spPr>
          <a:xfrm>
            <a:off x="5523344" y="2991258"/>
            <a:ext cx="5006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when</a:t>
            </a:r>
            <a:r>
              <a:rPr lang="en-US"/>
              <a:t> expression (equivalent to switch case) with </a:t>
            </a:r>
            <a:r>
              <a:rPr lang="en-US">
                <a:solidFill>
                  <a:srgbClr val="00B0F0"/>
                </a:solidFill>
              </a:rPr>
              <a:t>cases</a:t>
            </a:r>
            <a:r>
              <a:rPr lang="en-US"/>
              <a:t> and </a:t>
            </a:r>
            <a:r>
              <a:rPr lang="en-US">
                <a:solidFill>
                  <a:srgbClr val="92D050"/>
                </a:solidFill>
              </a:rPr>
              <a:t>default case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22633E-E22C-D5F7-657E-B6E109A0B165}"/>
              </a:ext>
            </a:extLst>
          </p:cNvPr>
          <p:cNvSpPr txBox="1"/>
          <p:nvPr/>
        </p:nvSpPr>
        <p:spPr>
          <a:xfrm>
            <a:off x="1878584" y="1606264"/>
            <a:ext cx="2770910" cy="3693319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 err="1">
                <a:effectLst/>
                <a:latin typeface="JetBrains Mono"/>
              </a:rPr>
              <a:t>val</a:t>
            </a:r>
            <a:r>
              <a:rPr lang="en-US" sz="1800" dirty="0">
                <a:effectLst/>
                <a:latin typeface="JetBrains Mono"/>
              </a:rPr>
              <a:t> day = 4</a:t>
            </a:r>
          </a:p>
          <a:p>
            <a:pPr>
              <a:buNone/>
            </a:pPr>
            <a:endParaRPr lang="en-US" sz="1800" dirty="0">
              <a:effectLst/>
              <a:latin typeface="JetBrains Mono"/>
            </a:endParaRPr>
          </a:p>
          <a:p>
            <a:pPr>
              <a:buNone/>
            </a:pPr>
            <a:r>
              <a:rPr lang="en-US" sz="1800" dirty="0" err="1">
                <a:effectLst/>
                <a:latin typeface="JetBrains Mono"/>
              </a:rPr>
              <a:t>val</a:t>
            </a:r>
            <a:r>
              <a:rPr lang="en-US" sz="1800" dirty="0">
                <a:effectLst/>
                <a:latin typeface="JetBrains Mono"/>
              </a:rPr>
              <a:t> result = </a:t>
            </a:r>
            <a:r>
              <a:rPr lang="en-US" sz="1800" dirty="0">
                <a:solidFill>
                  <a:schemeClr val="accent3"/>
                </a:solidFill>
                <a:effectLst/>
                <a:latin typeface="JetBrains Mono"/>
              </a:rPr>
              <a:t>when (day) </a:t>
            </a:r>
            <a:r>
              <a:rPr lang="en-US" sz="1800" dirty="0">
                <a:effectLst/>
                <a:latin typeface="JetBrains Mono"/>
              </a:rPr>
              <a:t>{</a:t>
            </a:r>
          </a:p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  </a:t>
            </a:r>
            <a:r>
              <a:rPr lang="en-US" sz="1800" dirty="0">
                <a:solidFill>
                  <a:srgbClr val="00B0F0"/>
                </a:solidFill>
                <a:effectLst/>
                <a:latin typeface="JetBrains Mono"/>
              </a:rPr>
              <a:t>1 -&gt; "Monday"</a:t>
            </a:r>
          </a:p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  2 -&gt; "Tuesday"</a:t>
            </a:r>
          </a:p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  3 -&gt; "Wednesday"</a:t>
            </a:r>
          </a:p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  4 -&gt; "Thursday"</a:t>
            </a:r>
          </a:p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  5 -&gt; "Friday"</a:t>
            </a:r>
          </a:p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  6 -&gt; "Saturday"</a:t>
            </a:r>
          </a:p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  7 -&gt; "Sunday"</a:t>
            </a:r>
          </a:p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  </a:t>
            </a:r>
            <a:r>
              <a:rPr lang="en-US" sz="1800" dirty="0">
                <a:solidFill>
                  <a:srgbClr val="92D050"/>
                </a:solidFill>
                <a:effectLst/>
                <a:latin typeface="JetBrains Mono"/>
              </a:rPr>
              <a:t>else -&gt; "Invalid day."</a:t>
            </a:r>
          </a:p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}</a:t>
            </a:r>
          </a:p>
          <a:p>
            <a:pPr>
              <a:buNone/>
            </a:pPr>
            <a:r>
              <a:rPr lang="en-US" sz="1800" dirty="0" err="1">
                <a:effectLst/>
                <a:latin typeface="JetBrains Mono"/>
              </a:rPr>
              <a:t>println</a:t>
            </a:r>
            <a:r>
              <a:rPr lang="en-US" sz="1800" dirty="0">
                <a:effectLst/>
                <a:latin typeface="JetBrains Mono"/>
              </a:rPr>
              <a:t>(result)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020C8F-DBA9-7DC8-D534-D588EDCC328E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000" dirty="0"/>
              <a:t>Source:  https://www.w3schools.com/kotlin/kotlin_when.php</a:t>
            </a:r>
          </a:p>
        </p:txBody>
      </p:sp>
    </p:spTree>
    <p:extLst>
      <p:ext uri="{BB962C8B-B14F-4D97-AF65-F5344CB8AC3E}">
        <p14:creationId xmlns:p14="http://schemas.microsoft.com/office/powerpoint/2010/main" val="36872854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914</TotalTime>
  <Words>595</Words>
  <Application>Microsoft Office PowerPoint</Application>
  <PresentationFormat>Widescreen</PresentationFormat>
  <Paragraphs>74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Cascadia Code</vt:lpstr>
      <vt:lpstr>JetBrains Mono</vt:lpstr>
      <vt:lpstr>Wingdings 2</vt:lpstr>
      <vt:lpstr>Quotable</vt:lpstr>
      <vt:lpstr>Programmiersprache Kotlin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Ihrenberger, Julia</cp:lastModifiedBy>
  <cp:revision>825</cp:revision>
  <dcterms:created xsi:type="dcterms:W3CDTF">2025-03-21T16:11:25Z</dcterms:created>
  <dcterms:modified xsi:type="dcterms:W3CDTF">2025-11-25T21:07:37Z</dcterms:modified>
</cp:coreProperties>
</file>