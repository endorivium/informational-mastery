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3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4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theme/theme5.xml" ContentType="application/vnd.openxmlformats-officedocument.theme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6.xml" ContentType="application/vnd.openxmlformats-officedocument.theme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theme/theme7.xml" ContentType="application/vnd.openxmlformats-officedocument.theme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theme/theme8.xml" ContentType="application/vnd.openxmlformats-officedocument.theme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5" r:id="rId1"/>
    <p:sldMasterId id="2147483795" r:id="rId2"/>
    <p:sldMasterId id="2147483810" r:id="rId3"/>
    <p:sldMasterId id="2147483825" r:id="rId4"/>
    <p:sldMasterId id="2147483840" r:id="rId5"/>
    <p:sldMasterId id="2147483855" r:id="rId6"/>
    <p:sldMasterId id="2147483870" r:id="rId7"/>
    <p:sldMasterId id="2147483885" r:id="rId8"/>
    <p:sldMasterId id="2147483900" r:id="rId9"/>
  </p:sldMasterIdLst>
  <p:notesMasterIdLst>
    <p:notesMasterId r:id="rId42"/>
  </p:notesMasterIdLst>
  <p:sldIdLst>
    <p:sldId id="302" r:id="rId10"/>
    <p:sldId id="256" r:id="rId11"/>
    <p:sldId id="294" r:id="rId12"/>
    <p:sldId id="325" r:id="rId13"/>
    <p:sldId id="315" r:id="rId14"/>
    <p:sldId id="336" r:id="rId15"/>
    <p:sldId id="337" r:id="rId16"/>
    <p:sldId id="338" r:id="rId17"/>
    <p:sldId id="310" r:id="rId18"/>
    <p:sldId id="300" r:id="rId19"/>
    <p:sldId id="308" r:id="rId20"/>
    <p:sldId id="307" r:id="rId21"/>
    <p:sldId id="322" r:id="rId22"/>
    <p:sldId id="323" r:id="rId23"/>
    <p:sldId id="311" r:id="rId24"/>
    <p:sldId id="304" r:id="rId25"/>
    <p:sldId id="318" r:id="rId26"/>
    <p:sldId id="316" r:id="rId27"/>
    <p:sldId id="317" r:id="rId28"/>
    <p:sldId id="328" r:id="rId29"/>
    <p:sldId id="329" r:id="rId30"/>
    <p:sldId id="313" r:id="rId31"/>
    <p:sldId id="330" r:id="rId32"/>
    <p:sldId id="339" r:id="rId33"/>
    <p:sldId id="312" r:id="rId34"/>
    <p:sldId id="319" r:id="rId35"/>
    <p:sldId id="335" r:id="rId36"/>
    <p:sldId id="303" r:id="rId37"/>
    <p:sldId id="332" r:id="rId38"/>
    <p:sldId id="333" r:id="rId39"/>
    <p:sldId id="334" r:id="rId40"/>
    <p:sldId id="331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FF5801A-0917-4FCF-AC78-CE2C16060E21}">
          <p14:sldIdLst>
            <p14:sldId id="302"/>
            <p14:sldId id="256"/>
          </p14:sldIdLst>
        </p14:section>
        <p14:section name="General Information" id="{468C66B0-856B-4FB9-AE65-9EA4E755F8AA}">
          <p14:sldIdLst>
            <p14:sldId id="294"/>
            <p14:sldId id="325"/>
            <p14:sldId id="315"/>
            <p14:sldId id="336"/>
            <p14:sldId id="337"/>
            <p14:sldId id="338"/>
          </p14:sldIdLst>
        </p14:section>
        <p14:section name="Bit Boards" id="{7EAD9504-4BAE-4A00-B443-1B0D0174D085}">
          <p14:sldIdLst>
            <p14:sldId id="310"/>
            <p14:sldId id="300"/>
            <p14:sldId id="308"/>
            <p14:sldId id="307"/>
            <p14:sldId id="322"/>
            <p14:sldId id="323"/>
            <p14:sldId id="311"/>
            <p14:sldId id="304"/>
          </p14:sldIdLst>
        </p14:section>
        <p14:section name="Implementation" id="{56146EDF-9FE7-47BE-BE3C-0047B938BFCE}">
          <p14:sldIdLst>
            <p14:sldId id="318"/>
            <p14:sldId id="316"/>
            <p14:sldId id="317"/>
            <p14:sldId id="328"/>
            <p14:sldId id="329"/>
            <p14:sldId id="313"/>
            <p14:sldId id="330"/>
            <p14:sldId id="339"/>
            <p14:sldId id="312"/>
          </p14:sldIdLst>
        </p14:section>
        <p14:section name="Review" id="{202DC2D8-EB8C-42DC-9E34-0AB69358D194}">
          <p14:sldIdLst>
            <p14:sldId id="319"/>
            <p14:sldId id="335"/>
            <p14:sldId id="303"/>
            <p14:sldId id="332"/>
            <p14:sldId id="333"/>
          </p14:sldIdLst>
        </p14:section>
        <p14:section name="Conclusion" id="{9C3170B7-8AFF-4630-B383-0643320633C4}">
          <p14:sldIdLst>
            <p14:sldId id="334"/>
            <p14:sldId id="33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4D86"/>
    <a:srgbClr val="C46EB2"/>
    <a:srgbClr val="212121"/>
    <a:srgbClr val="644689"/>
    <a:srgbClr val="00AAE6"/>
    <a:srgbClr val="EEEEEE"/>
    <a:srgbClr val="CF8E6D"/>
    <a:srgbClr val="EB8F91"/>
    <a:srgbClr val="A17CB6"/>
    <a:srgbClr val="C969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991" autoAdjust="0"/>
  </p:normalViewPr>
  <p:slideViewPr>
    <p:cSldViewPr snapToGrid="0">
      <p:cViewPr varScale="1">
        <p:scale>
          <a:sx n="93" d="100"/>
          <a:sy n="93" d="100"/>
        </p:scale>
        <p:origin x="1272" y="72"/>
      </p:cViewPr>
      <p:guideLst/>
    </p:cSldViewPr>
  </p:slideViewPr>
  <p:notesTextViewPr>
    <p:cViewPr>
      <p:scale>
        <a:sx n="1" d="1"/>
        <a:sy n="1" d="1"/>
      </p:scale>
      <p:origin x="0" y="-16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9" Type="http://schemas.openxmlformats.org/officeDocument/2006/relationships/slide" Target="slides/slide30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7.xml"/><Relationship Id="rId29" Type="http://schemas.openxmlformats.org/officeDocument/2006/relationships/slide" Target="slides/slide20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slide" Target="slides/slide2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tableStyles" Target="tableStyles.xml"/><Relationship Id="rId20" Type="http://schemas.openxmlformats.org/officeDocument/2006/relationships/slide" Target="slides/slide11.xml"/><Relationship Id="rId41" Type="http://schemas.openxmlformats.org/officeDocument/2006/relationships/slide" Target="slides/slide3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3DAD76-3859-4D52-8B81-C27FCE0A7D18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D61062-E9D8-4DAB-8118-1CF0D558F9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90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36126-EF57-F334-2A2C-B38B0AC12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5B86D-8D9B-FDC7-85EA-EE6D3D483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F71E6-A417-9636-9295-CEDAE34A6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EFFD6-BE77-DFCA-C1BA-36E4F13FCC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547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279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87747-CE2B-BB50-32B4-7AD944F8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ED8AA3-9C4E-7B01-282B-0DD7CFDA09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28E3E6-59E1-3408-1704-14DCEB756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120D14-A8F5-41A2-FEAA-E0A0E0A379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2998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0A07F-7E56-FDAC-79F6-E72405BC4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B439DA-FE43-56ED-B004-8DF35ABC8F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15F63-236C-6F67-87BE-D62E869D6D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B85CF-0FC7-28D7-35A1-F24ADDFC2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4FDB0-4E43-9AF3-6BD8-314163AD2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D2EFA3-DC77-D442-F07B-324410F9F0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C59D65-A2CB-DB5A-8B17-9345B485A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88CCB1-7CD0-CA48-AC8B-44C3C9FD2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4254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78433-9306-8DFE-904B-479CF5484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A7908-5F0F-BDB7-879F-AAFBCED7C8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BC4E15-9EC2-634D-5381-9A49CB3917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34D81-43EA-E4EA-052E-5A3E9F828E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8762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8847D-8547-CDD7-7154-3A65B4130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4839E1-5FD2-A1E9-2D81-8B717180D3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62EFF8-1A65-9D86-3F25-0DD659D5AB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91E36-1DB3-3367-7065-AE5D10F637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352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C1BB7-FBEA-890A-9586-731A66043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1A5C39-F128-2AC5-3F2F-9DB34FD0E7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FE3524-6C75-860E-31D9-FA15367875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81E108-FC00-D97D-6708-43534D8458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2671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6EA9-6E82-74D0-E4E3-82D41F09C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DFF5B-AE5B-3E2D-76FE-D16B1719B4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741DAD-61C0-2A8C-235D-E6D7DA9C59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klassische herangehensweise: arrays</a:t>
            </a:r>
          </a:p>
          <a:p>
            <a:r>
              <a:rPr lang="en-US"/>
              <a:t>aber ganze disziplin (in hinsicht auf Schach Kis) und nutzung von bitboards</a:t>
            </a:r>
          </a:p>
          <a:p>
            <a:r>
              <a:rPr lang="en-US"/>
              <a:t>darstellung in 64 bits, jedes bit ein feld</a:t>
            </a:r>
          </a:p>
          <a:p>
            <a:r>
              <a:rPr lang="en-US"/>
              <a:t>volles board würde so aussehen [click]</a:t>
            </a:r>
          </a:p>
          <a:p>
            <a:r>
              <a:rPr lang="en-US"/>
              <a:t>dartstellung in hexadezimal</a:t>
            </a:r>
          </a:p>
          <a:p>
            <a:r>
              <a:rPr lang="en-US"/>
              <a:t>index anschauen, dann gibt es verschiedene darstellungen [click]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BB196-7B58-4B76-2D00-77BFF281E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2033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386D0-1451-DA04-A404-96BCFC03E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21F5F3-6A88-ED79-EAA1-B33BB0FC97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69F4B-17F8-D859-CDB2-7E7643FC5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nicht ideal, wegen overflow links und rechts</a:t>
            </a:r>
          </a:p>
          <a:p>
            <a:r>
              <a:rPr lang="en-US"/>
              <a:t>gibt boards die 90° links/rechts gedreht sind</a:t>
            </a:r>
          </a:p>
          <a:p>
            <a:r>
              <a:rPr lang="en-US"/>
              <a:t>in der darstellung geflipped damit weiß perspective gegeben ist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D6A57-56EF-0DE6-FDFB-B6B9376C15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6539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D97D6-6214-21DA-AF45-DDF3D256C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7785A-0108-E98E-5CF2-25FFE2758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900E3-F651-82E2-D8AC-4E6BD80BB9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auffächern in einzelne figuren</a:t>
            </a:r>
          </a:p>
          <a:p>
            <a:r>
              <a:rPr lang="en-US"/>
              <a:t>wie erwähnt, 12 bitboards für jede figure in jeder farbe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E4265-1FA0-725A-9C60-ECC5AF6177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9706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37554-CD9C-25AC-B4E1-BF313D5DB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114564-10B1-48E4-7009-A3EB9F13FD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72C499-D9EC-1A65-7DAB-FB2CD30A3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vorteil sind die berechnungen</a:t>
            </a:r>
          </a:p>
          <a:p>
            <a:r>
              <a:rPr lang="en-US"/>
              <a:t>bit operations schnell und einfach wenn verstanden</a:t>
            </a:r>
          </a:p>
          <a:p>
            <a:r>
              <a:rPr lang="en-US"/>
              <a:t>beispiel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17BFD-A11A-C221-94D5-78D98D905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8269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70D80-9B2E-A23F-6F9E-749731E0A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76686-1566-ED43-61F3-7266DF36A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116F8B-DB4C-5FF3-946D-C89BF2D695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gefiltert dann so</a:t>
            </a:r>
          </a:p>
          <a:p>
            <a:r>
              <a:rPr lang="en-US"/>
              <a:t>player input auch als bit board, and operation gibt zurück ob erfolgreich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7D8E2-5F28-9759-83D1-5F146EF0DA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4748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085EA-AEC1-8BF3-9BAD-077E1ACF9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E4C3F4-BBD9-1BEF-756D-D9EF519CD6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33C49C-014F-2346-3430-4412787500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implementierung nicht richtige bitboards</a:t>
            </a:r>
          </a:p>
          <a:p>
            <a:r>
              <a:rPr lang="en-US"/>
              <a:t>mix aus bitboards ansatz und arrays</a:t>
            </a:r>
          </a:p>
          <a:p>
            <a:r>
              <a:rPr lang="en-US"/>
              <a:t>zwei hilffunktionen und gegebene bit operations reichen aus für alle berechnungen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52092-EE40-570C-103E-3CC8A349CC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339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1C79B-1A86-5FA9-88E7-558BFAF7C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14816-597D-762A-A8CC-B273BEBE2B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DAA06-AFE2-58CF-C575-F6E5CE652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reine bitboards sind genial aber gehen sehr weit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978A3-39BD-E177-37DE-B357FB3F3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2462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62AB9-B2C5-B14D-9E68-74E653AEC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D350A-CC8F-AE4A-9402-A028870C0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06B27E-EFEC-049D-36F0-21122F1FD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784FA-535D-6A7D-FA61-511D64F4E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4410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4FBC1-E4EC-D055-40FC-72728AA98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F61813-E6D4-5454-7D62-46961572E2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0423C2-3C24-D30F-D9ED-EED34BAC61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wollte kurz anmerken: vergleichsmethode nicht ideal aber wegen zeitmangel und zum test</a:t>
            </a:r>
          </a:p>
          <a:p>
            <a:r>
              <a:rPr lang="en-US"/>
              <a:t>copy paste code und anpassung, um herauszufinden wie große differenz</a:t>
            </a:r>
          </a:p>
          <a:p>
            <a:r>
              <a:rPr lang="en-US"/>
              <a:t>keine ausschöpfung von go potential und seltsame circular dependencies</a:t>
            </a:r>
          </a:p>
          <a:p>
            <a:r>
              <a:rPr lang="en-US"/>
              <a:t>vllt nicht da wenn architektur angepasst worden wäre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3B7C7-8850-87B0-BA6B-775205119D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1294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456BE-FFA2-09B7-00F4-7E22AD48A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50B79-8B1E-D7A0-E975-23A8F86CA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868081-DEF5-EF97-FA69-2BE8E427E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alles gemanaged vom game manager</a:t>
            </a:r>
          </a:p>
          <a:p>
            <a:r>
              <a:rPr lang="en-US"/>
              <a:t>architektur beeinflusst von games engineering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5283F-6862-084F-21F2-951BDB8A4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0146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1501A-6EAA-BD2A-40CA-F6EBAED89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A877C3-8D47-C239-93D0-E8850F998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1CCE0-5911-9A0D-8156-1B07827408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game manager hat referenz zu input handler, rendering, board state and controls game state</a:t>
            </a:r>
          </a:p>
          <a:p>
            <a:r>
              <a:rPr lang="en-US"/>
              <a:t>board state manager hat noch regelwerk zu figuren</a:t>
            </a:r>
          </a:p>
          <a:p>
            <a:r>
              <a:rPr lang="en-US"/>
              <a:t>Ulong für 64 bits (eig unsigned int 64)</a:t>
            </a:r>
          </a:p>
          <a:p>
            <a:r>
              <a:rPr lang="en-US"/>
              <a:t>in go sieht es ziemlich ähnlich aus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F7D2A3-3777-B65A-EADD-BE05B94AB2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3912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7490B-9183-4A84-2F8C-E3936A623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0B815D-6D0B-4C8B-4E87-5C9E37D34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49178D-B036-2C46-78D9-77B31E909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initialisierung der variable über konstruktor mimik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958C8D-C23F-F614-5C65-A78074FCE5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8322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CB8AD-7821-EAF1-F395-95A7D4861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1E1E9-08F0-2C27-771A-8EAAC79082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EE884E-E59B-639D-A307-4225973A7F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base implementation durch chess piece</a:t>
            </a:r>
          </a:p>
          <a:p>
            <a:r>
              <a:rPr lang="en-US"/>
              <a:t>annahme ist weiße schachfigur dass unendlich in richtung seines bewegungsmusters geht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1D155-3BF0-DF3A-FA0A-723A1DF86A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0950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F82EB-2F3B-4F02-54F8-DF978BFE9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7358AC-660B-A11F-998B-CFED697C7C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65EC45-2B3A-88B1-88DE-340D085FE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keine vererbung (aber später noch anmerkung dazu) stattdessen interfaces</a:t>
            </a:r>
          </a:p>
          <a:p>
            <a:r>
              <a:rPr lang="en-US"/>
              <a:t>eig nicht neu, auch oft vertreten und genutzt in unreal engine, object unwichtig und nur ausführung der function wichtig</a:t>
            </a:r>
          </a:p>
          <a:p>
            <a:r>
              <a:rPr lang="en-US"/>
              <a:t>problem beim implementieren von bauer und könig regeln, mussten ausgelassen werden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3141A-DB04-0B53-633C-1C1F17E631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68666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44502-7F21-184C-66EC-8DF9C4FBE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D3D2F1-2AC3-E257-F84D-0E6A2A85E8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81D3FA-223B-D71D-5C72-273FF9832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kurze demo der jeweiligen programme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B2E9D-CAC5-6135-F835-886F4E9673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133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1BD38-C9C0-6342-E65A-EE0243B45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2965CD-3EBA-2042-0616-2CA2DD6E5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64EFC-CF9C-A98C-49F2-83B7AB869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go struktur verwirrend aber dann grundsätzlich nicht allzu anders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A63FD2-0D9E-07F0-88A2-1C2C3B1D7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3283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2B1FA-B530-E872-FEE1-A88B33C19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872EA7-5056-D0BB-D528-37FB349514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E98CAC-5675-0A59-309C-E4C433BF0A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0C755-12FB-8C86-E318-470AF8B98E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953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BCA13-9FB6-0315-8AAF-8E4E83C3D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BCF74-8320-FA43-0165-66FC3B156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126FCF-CAE6-A38E-5DAC-CCEA0D84ED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rausgefunden bei präsentationsfolien erstellen und nachbereiten (weil natürlich)</a:t>
            </a:r>
          </a:p>
          <a:p>
            <a:r>
              <a:rPr lang="en-US"/>
              <a:t>overriding möglich oder zumindest so etwas ähnliches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C72B6-0D15-0554-6F99-A1E700461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1177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8BA1B-E844-22CF-D2DF-590C9D5F9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F0E856-91E1-39AC-2B49-34BFFD1029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6AB8E-7821-0D55-4A06-2CA4DF706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automatische erkennung ganz nett aber klassischer cast fehler, der nicht aufgefallen ist</a:t>
            </a:r>
          </a:p>
          <a:p>
            <a:r>
              <a:rPr lang="en-US"/>
              <a:t>unnötig zeit gefressen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3D59-120D-EB84-CE2F-C79A7103CB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9630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91299-CB64-46BA-D301-C0578E249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6C8A45-2596-6682-C3DB-55D3EB587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6269F1-ECF8-A90D-AA6F-16256FDE61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go packages sind nervig in hinsicht auf ständiger referenzierung des receivers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8F88DA-33E0-24F0-9C64-A202A9B780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FAD2-D13E-176A-47FA-226327180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9750E1-558C-5469-CD31-B5BFB2203B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B1E36-2721-820A-8E99-7AA3744027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seltsamste von allem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0F636-932E-CD5E-D245-2B1C087B4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977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02C83-8E62-7938-0698-01E57AA4D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B81BD8-65CE-90FD-B15A-E80A148D7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3A51BD-38DB-6326-B21D-E5668745E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zum abschluss: go zeigt präferenz zu composition und interface usage</a:t>
            </a:r>
          </a:p>
          <a:p>
            <a:r>
              <a:rPr lang="en-US"/>
              <a:t>macht das ganze modular und Leicht zu testen, aber nervig zu benutzen, seltsame konstrukte und ordnerstruktur etwas durcheinander, da namen so kurz wir möglich sein sollten</a:t>
            </a:r>
          </a:p>
          <a:p>
            <a:endParaRPr lang="en-US"/>
          </a:p>
          <a:p>
            <a:r>
              <a:rPr lang="en-US"/>
              <a:t>Kotlin hat gute strukturen die klarheit im code einbringen, v.a. for loop und range comparison</a:t>
            </a:r>
          </a:p>
          <a:p>
            <a:r>
              <a:rPr lang="en-US"/>
              <a:t>testen so einfach wie in go bis auf das testen von Klassen mit dependencies über mocking (hat nicht funktioniert)</a:t>
            </a:r>
          </a:p>
          <a:p>
            <a:r>
              <a:rPr lang="en-US"/>
              <a:t>aber primary constructor separiert member variable seltsam</a:t>
            </a:r>
          </a:p>
          <a:p>
            <a:r>
              <a:rPr lang="en-US"/>
              <a:t>unveränderlichkeit von daten und explizite markierung zur erbung und testen macht alles unnötig schwer</a:t>
            </a:r>
          </a:p>
          <a:p>
            <a:endParaRPr lang="en-US"/>
          </a:p>
          <a:p>
            <a:r>
              <a:rPr lang="en-US"/>
              <a:t>fazit: beide stärken und schwächen</a:t>
            </a:r>
          </a:p>
          <a:p>
            <a:r>
              <a:rPr lang="en-US"/>
              <a:t>go nicht als erste wahl um ein object orientiertes project umzusetzen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1BA91-F2C0-1913-1763-E883A2B25F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2980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EC73C-F0F2-6EC7-FF2A-0CE89BC76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DCB0E3-AE31-5042-096D-0130DE4ED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38EC90-9356-4D61-F9E9-1BADB41EE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1458B0-D648-6479-389D-E7682EEB18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831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30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2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488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740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237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221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985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196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962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4391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8114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7824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9338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2002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9377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731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93083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6875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0789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460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7510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715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903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0663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65281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7228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191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17040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506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81651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2410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2776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814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80232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51233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2744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76784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01583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35208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26703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24931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43701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90099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54234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43334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49336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4482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46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50872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00782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84903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71710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42526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01026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37144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66674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79402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48798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90041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06535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32346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05641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2557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57632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965095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3203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393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46457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89586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93118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42278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212597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70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02482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2964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456270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56645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392820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348976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22642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76492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676518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86302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264341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47306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191571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95915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1616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040873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2205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54715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085332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4417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098326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23388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442056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161706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144210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2834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045803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875130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68527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42405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90257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3301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15711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734904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408172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186296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531691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053649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068306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405024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054936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309648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358236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96134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979417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5509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556889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386477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5000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482339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56528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95434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268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40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4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0.xml"/><Relationship Id="rId13" Type="http://schemas.openxmlformats.org/officeDocument/2006/relationships/slideLayout" Target="../slideLayouts/slideLayout55.xml"/><Relationship Id="rId3" Type="http://schemas.openxmlformats.org/officeDocument/2006/relationships/slideLayout" Target="../slideLayouts/slideLayout45.xml"/><Relationship Id="rId7" Type="http://schemas.openxmlformats.org/officeDocument/2006/relationships/slideLayout" Target="../slideLayouts/slideLayout49.xml"/><Relationship Id="rId12" Type="http://schemas.openxmlformats.org/officeDocument/2006/relationships/slideLayout" Target="../slideLayouts/slideLayout54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11" Type="http://schemas.openxmlformats.org/officeDocument/2006/relationships/slideLayout" Target="../slideLayouts/slideLayout53.xml"/><Relationship Id="rId5" Type="http://schemas.openxmlformats.org/officeDocument/2006/relationships/slideLayout" Target="../slideLayouts/slideLayout47.xml"/><Relationship Id="rId15" Type="http://schemas.openxmlformats.org/officeDocument/2006/relationships/theme" Target="../theme/theme4.xml"/><Relationship Id="rId10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6.xml"/><Relationship Id="rId9" Type="http://schemas.openxmlformats.org/officeDocument/2006/relationships/slideLayout" Target="../slideLayouts/slideLayout51.xml"/><Relationship Id="rId14" Type="http://schemas.openxmlformats.org/officeDocument/2006/relationships/slideLayout" Target="../slideLayouts/slideLayout56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9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70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3.xml"/><Relationship Id="rId3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82.xml"/><Relationship Id="rId2" Type="http://schemas.openxmlformats.org/officeDocument/2006/relationships/slideLayout" Target="../slideLayouts/slideLayout72.xml"/><Relationship Id="rId1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81.xml"/><Relationship Id="rId5" Type="http://schemas.openxmlformats.org/officeDocument/2006/relationships/slideLayout" Target="../slideLayouts/slideLayout75.xml"/><Relationship Id="rId15" Type="http://schemas.openxmlformats.org/officeDocument/2006/relationships/theme" Target="../theme/theme6.xml"/><Relationship Id="rId10" Type="http://schemas.openxmlformats.org/officeDocument/2006/relationships/slideLayout" Target="../slideLayouts/slideLayout80.xml"/><Relationship Id="rId4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4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2.xml"/><Relationship Id="rId13" Type="http://schemas.openxmlformats.org/officeDocument/2006/relationships/slideLayout" Target="../slideLayouts/slideLayout97.xml"/><Relationship Id="rId3" Type="http://schemas.openxmlformats.org/officeDocument/2006/relationships/slideLayout" Target="../slideLayouts/slideLayout87.xml"/><Relationship Id="rId7" Type="http://schemas.openxmlformats.org/officeDocument/2006/relationships/slideLayout" Target="../slideLayouts/slideLayout91.xml"/><Relationship Id="rId12" Type="http://schemas.openxmlformats.org/officeDocument/2006/relationships/slideLayout" Target="../slideLayouts/slideLayout96.xml"/><Relationship Id="rId2" Type="http://schemas.openxmlformats.org/officeDocument/2006/relationships/slideLayout" Target="../slideLayouts/slideLayout86.xml"/><Relationship Id="rId1" Type="http://schemas.openxmlformats.org/officeDocument/2006/relationships/slideLayout" Target="../slideLayouts/slideLayout85.xml"/><Relationship Id="rId6" Type="http://schemas.openxmlformats.org/officeDocument/2006/relationships/slideLayout" Target="../slideLayouts/slideLayout90.xml"/><Relationship Id="rId11" Type="http://schemas.openxmlformats.org/officeDocument/2006/relationships/slideLayout" Target="../slideLayouts/slideLayout95.xml"/><Relationship Id="rId5" Type="http://schemas.openxmlformats.org/officeDocument/2006/relationships/slideLayout" Target="../slideLayouts/slideLayout89.xml"/><Relationship Id="rId15" Type="http://schemas.openxmlformats.org/officeDocument/2006/relationships/theme" Target="../theme/theme7.xml"/><Relationship Id="rId10" Type="http://schemas.openxmlformats.org/officeDocument/2006/relationships/slideLayout" Target="../slideLayouts/slideLayout94.xml"/><Relationship Id="rId4" Type="http://schemas.openxmlformats.org/officeDocument/2006/relationships/slideLayout" Target="../slideLayouts/slideLayout88.xml"/><Relationship Id="rId9" Type="http://schemas.openxmlformats.org/officeDocument/2006/relationships/slideLayout" Target="../slideLayouts/slideLayout93.xml"/><Relationship Id="rId14" Type="http://schemas.openxmlformats.org/officeDocument/2006/relationships/slideLayout" Target="../slideLayouts/slideLayout98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6.xml"/><Relationship Id="rId13" Type="http://schemas.openxmlformats.org/officeDocument/2006/relationships/slideLayout" Target="../slideLayouts/slideLayout111.xml"/><Relationship Id="rId3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5.xml"/><Relationship Id="rId12" Type="http://schemas.openxmlformats.org/officeDocument/2006/relationships/slideLayout" Target="../slideLayouts/slideLayout110.xml"/><Relationship Id="rId2" Type="http://schemas.openxmlformats.org/officeDocument/2006/relationships/slideLayout" Target="../slideLayouts/slideLayout100.xml"/><Relationship Id="rId1" Type="http://schemas.openxmlformats.org/officeDocument/2006/relationships/slideLayout" Target="../slideLayouts/slideLayout99.xml"/><Relationship Id="rId6" Type="http://schemas.openxmlformats.org/officeDocument/2006/relationships/slideLayout" Target="../slideLayouts/slideLayout104.xml"/><Relationship Id="rId11" Type="http://schemas.openxmlformats.org/officeDocument/2006/relationships/slideLayout" Target="../slideLayouts/slideLayout109.xml"/><Relationship Id="rId5" Type="http://schemas.openxmlformats.org/officeDocument/2006/relationships/slideLayout" Target="../slideLayouts/slideLayout103.xml"/><Relationship Id="rId15" Type="http://schemas.openxmlformats.org/officeDocument/2006/relationships/theme" Target="../theme/theme8.xml"/><Relationship Id="rId10" Type="http://schemas.openxmlformats.org/officeDocument/2006/relationships/slideLayout" Target="../slideLayouts/slideLayout108.xml"/><Relationship Id="rId4" Type="http://schemas.openxmlformats.org/officeDocument/2006/relationships/slideLayout" Target="../slideLayouts/slideLayout102.xml"/><Relationship Id="rId9" Type="http://schemas.openxmlformats.org/officeDocument/2006/relationships/slideLayout" Target="../slideLayouts/slideLayout107.xml"/><Relationship Id="rId14" Type="http://schemas.openxmlformats.org/officeDocument/2006/relationships/slideLayout" Target="../slideLayouts/slideLayout112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0.xml"/><Relationship Id="rId13" Type="http://schemas.openxmlformats.org/officeDocument/2006/relationships/slideLayout" Target="../slideLayouts/slideLayout125.xml"/><Relationship Id="rId3" Type="http://schemas.openxmlformats.org/officeDocument/2006/relationships/slideLayout" Target="../slideLayouts/slideLayout115.xml"/><Relationship Id="rId7" Type="http://schemas.openxmlformats.org/officeDocument/2006/relationships/slideLayout" Target="../slideLayouts/slideLayout119.xml"/><Relationship Id="rId12" Type="http://schemas.openxmlformats.org/officeDocument/2006/relationships/slideLayout" Target="../slideLayouts/slideLayout124.xml"/><Relationship Id="rId2" Type="http://schemas.openxmlformats.org/officeDocument/2006/relationships/slideLayout" Target="../slideLayouts/slideLayout114.xml"/><Relationship Id="rId1" Type="http://schemas.openxmlformats.org/officeDocument/2006/relationships/slideLayout" Target="../slideLayouts/slideLayout113.xml"/><Relationship Id="rId6" Type="http://schemas.openxmlformats.org/officeDocument/2006/relationships/slideLayout" Target="../slideLayouts/slideLayout118.xml"/><Relationship Id="rId11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17.xml"/><Relationship Id="rId15" Type="http://schemas.openxmlformats.org/officeDocument/2006/relationships/theme" Target="../theme/theme9.xml"/><Relationship Id="rId10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16.xml"/><Relationship Id="rId9" Type="http://schemas.openxmlformats.org/officeDocument/2006/relationships/slideLayout" Target="../slideLayouts/slideLayout121.xml"/><Relationship Id="rId14" Type="http://schemas.openxmlformats.org/officeDocument/2006/relationships/slideLayout" Target="../slideLayouts/slideLayout1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67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  <p:sldLayoutId id="2147483778" r:id="rId13"/>
    <p:sldLayoutId id="214748377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0261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6" r:id="rId1"/>
    <p:sldLayoutId id="2147483797" r:id="rId2"/>
    <p:sldLayoutId id="2147483798" r:id="rId3"/>
    <p:sldLayoutId id="2147483799" r:id="rId4"/>
    <p:sldLayoutId id="2147483800" r:id="rId5"/>
    <p:sldLayoutId id="2147483801" r:id="rId6"/>
    <p:sldLayoutId id="2147483802" r:id="rId7"/>
    <p:sldLayoutId id="2147483803" r:id="rId8"/>
    <p:sldLayoutId id="2147483804" r:id="rId9"/>
    <p:sldLayoutId id="2147483805" r:id="rId10"/>
    <p:sldLayoutId id="2147483806" r:id="rId11"/>
    <p:sldLayoutId id="2147483807" r:id="rId12"/>
    <p:sldLayoutId id="2147483808" r:id="rId13"/>
    <p:sldLayoutId id="214748380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8961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814" r:id="rId4"/>
    <p:sldLayoutId id="2147483815" r:id="rId5"/>
    <p:sldLayoutId id="2147483816" r:id="rId6"/>
    <p:sldLayoutId id="2147483817" r:id="rId7"/>
    <p:sldLayoutId id="2147483818" r:id="rId8"/>
    <p:sldLayoutId id="2147483819" r:id="rId9"/>
    <p:sldLayoutId id="2147483820" r:id="rId10"/>
    <p:sldLayoutId id="2147483821" r:id="rId11"/>
    <p:sldLayoutId id="2147483822" r:id="rId12"/>
    <p:sldLayoutId id="2147483823" r:id="rId13"/>
    <p:sldLayoutId id="2147483824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78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  <p:sldLayoutId id="2147483838" r:id="rId13"/>
    <p:sldLayoutId id="214748383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1376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  <p:sldLayoutId id="2147483852" r:id="rId12"/>
    <p:sldLayoutId id="2147483853" r:id="rId13"/>
    <p:sldLayoutId id="2147483854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1941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  <p:sldLayoutId id="214748386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6289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883" r:id="rId13"/>
    <p:sldLayoutId id="2147483884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2004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6" r:id="rId1"/>
    <p:sldLayoutId id="2147483887" r:id="rId2"/>
    <p:sldLayoutId id="2147483888" r:id="rId3"/>
    <p:sldLayoutId id="2147483889" r:id="rId4"/>
    <p:sldLayoutId id="2147483890" r:id="rId5"/>
    <p:sldLayoutId id="2147483891" r:id="rId6"/>
    <p:sldLayoutId id="2147483892" r:id="rId7"/>
    <p:sldLayoutId id="2147483893" r:id="rId8"/>
    <p:sldLayoutId id="2147483894" r:id="rId9"/>
    <p:sldLayoutId id="2147483895" r:id="rId10"/>
    <p:sldLayoutId id="2147483896" r:id="rId11"/>
    <p:sldLayoutId id="2147483897" r:id="rId12"/>
    <p:sldLayoutId id="2147483898" r:id="rId13"/>
    <p:sldLayoutId id="214748389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5623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  <p:sldLayoutId id="2147483912" r:id="rId12"/>
    <p:sldLayoutId id="2147483913" r:id="rId13"/>
    <p:sldLayoutId id="2147483914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g"/><Relationship Id="rId13" Type="http://schemas.openxmlformats.org/officeDocument/2006/relationships/image" Target="../media/image19.png"/><Relationship Id="rId3" Type="http://schemas.openxmlformats.org/officeDocument/2006/relationships/image" Target="../media/image9.jpg"/><Relationship Id="rId7" Type="http://schemas.openxmlformats.org/officeDocument/2006/relationships/image" Target="../media/image13.png"/><Relationship Id="rId12" Type="http://schemas.openxmlformats.org/officeDocument/2006/relationships/image" Target="../media/image18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2.jp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jpg"/><Relationship Id="rId4" Type="http://schemas.openxmlformats.org/officeDocument/2006/relationships/image" Target="../media/image10.jpg"/><Relationship Id="rId9" Type="http://schemas.openxmlformats.org/officeDocument/2006/relationships/image" Target="../media/image15.png"/><Relationship Id="rId14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3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5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8.jpg"/><Relationship Id="rId5" Type="http://schemas.openxmlformats.org/officeDocument/2006/relationships/image" Target="../media/image27.jpg"/><Relationship Id="rId4" Type="http://schemas.openxmlformats.org/officeDocument/2006/relationships/image" Target="../media/image26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2.png"/><Relationship Id="rId5" Type="http://schemas.openxmlformats.org/officeDocument/2006/relationships/image" Target="../media/image31.gif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3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dsa/what-is-bitmasking/" TargetMode="External"/><Relationship Id="rId3" Type="http://schemas.openxmlformats.org/officeDocument/2006/relationships/hyperlink" Target="https://gekomad.github.io/Cinnamon/BitboardCalculator/" TargetMode="External"/><Relationship Id="rId7" Type="http://schemas.openxmlformats.org/officeDocument/2006/relationships/hyperlink" Target="https://healeycodes.com/visualizing-chess-bitboards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9.xml"/><Relationship Id="rId6" Type="http://schemas.openxmlformats.org/officeDocument/2006/relationships/hyperlink" Target="https://johns.codes/blog/making-a-chess-engine-in-zig" TargetMode="External"/><Relationship Id="rId5" Type="http://schemas.openxmlformats.org/officeDocument/2006/relationships/hyperlink" Target="https://medium.com/@kacper.wojciechowski/kotlin-unit-testing-guide-part-1-introduction-and-basics-c190c66988e9" TargetMode="External"/><Relationship Id="rId4" Type="http://schemas.openxmlformats.org/officeDocument/2006/relationships/hyperlink" Target="https://www.chessprogramming.org/Bitboards#General_Bitboard_Techniqu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2D5E-789E-474C-70AE-A01E47420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3834BC-5ECC-DBE5-570B-3FCA9E1B6B4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990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6F72D-82E1-A086-9B1A-97D7D97534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2826" y="1660529"/>
            <a:ext cx="11269720" cy="2859849"/>
          </a:xfrm>
        </p:spPr>
        <p:txBody>
          <a:bodyPr/>
          <a:lstStyle/>
          <a:p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</a:rPr>
              <a:t>Object Oriented Programming</a:t>
            </a:r>
            <a:br>
              <a:rPr lang="en-US"/>
            </a:br>
            <a:r>
              <a:rPr lang="en-US"/>
              <a:t>Kotlin und Go</a:t>
            </a:r>
            <a:br>
              <a:rPr lang="en-US"/>
            </a:br>
            <a:r>
              <a:rPr lang="en-US"/>
              <a:t>im Vergleich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2D11D3-0A40-FDB6-3126-FE39A5160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650" y="5408853"/>
            <a:ext cx="10572000" cy="1099856"/>
          </a:xfrm>
        </p:spPr>
        <p:txBody>
          <a:bodyPr>
            <a:normAutofit fontScale="92500" lnSpcReduction="10000"/>
          </a:bodyPr>
          <a:lstStyle/>
          <a:p>
            <a:r>
              <a:rPr lang="en-US" err="1">
                <a:solidFill>
                  <a:schemeClr val="tx1">
                    <a:lumMod val="85000"/>
                  </a:schemeClr>
                </a:solidFill>
              </a:rPr>
              <a:t>Konzepte</a:t>
            </a:r>
            <a:r>
              <a:rPr lang="en-US">
                <a:solidFill>
                  <a:schemeClr val="tx1">
                    <a:lumMod val="85000"/>
                  </a:schemeClr>
                </a:solidFill>
              </a:rPr>
              <a:t> der </a:t>
            </a:r>
            <a:r>
              <a:rPr lang="en-US" err="1">
                <a:solidFill>
                  <a:schemeClr val="tx1">
                    <a:lumMod val="85000"/>
                  </a:schemeClr>
                </a:solidFill>
              </a:rPr>
              <a:t>Programmiersprachen</a:t>
            </a:r>
            <a:endParaRPr lang="en-US">
              <a:solidFill>
                <a:schemeClr val="tx1">
                  <a:lumMod val="85000"/>
                </a:schemeClr>
              </a:solidFill>
            </a:endParaRPr>
          </a:p>
          <a:p>
            <a:r>
              <a:rPr lang="en-US">
                <a:solidFill>
                  <a:schemeClr val="tx1">
                    <a:lumMod val="85000"/>
                  </a:schemeClr>
                </a:solidFill>
              </a:rPr>
              <a:t>Julia Ihrenberger</a:t>
            </a:r>
          </a:p>
          <a:p>
            <a:r>
              <a:rPr lang="en-US">
                <a:solidFill>
                  <a:schemeClr val="tx1">
                    <a:lumMod val="85000"/>
                  </a:schemeClr>
                </a:solidFill>
              </a:rPr>
              <a:t>07.01.26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A3A0FC-678B-DFE0-2819-6538FE8B97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2" r="2990"/>
          <a:stretch>
            <a:fillRect/>
          </a:stretch>
        </p:blipFill>
        <p:spPr>
          <a:xfrm>
            <a:off x="9014692" y="3228301"/>
            <a:ext cx="2807854" cy="2971051"/>
          </a:xfrm>
          <a:prstGeom prst="roundRect">
            <a:avLst>
              <a:gd name="adj" fmla="val 20285"/>
            </a:avLst>
          </a:prstGeom>
          <a:solidFill>
            <a:schemeClr val="bg2"/>
          </a:solidFill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7D46FA9-35F5-2E6A-A57D-433BDC650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6214492" y="3347181"/>
            <a:ext cx="2068709" cy="2061672"/>
          </a:xfrm>
          <a:prstGeom prst="roundRect">
            <a:avLst>
              <a:gd name="adj" fmla="val 20699"/>
            </a:avLst>
          </a:prstGeom>
          <a:solidFill>
            <a:schemeClr val="bg2"/>
          </a:solidFill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2B35DA1-DBCC-A009-97BB-0DCAF214595F}"/>
              </a:ext>
            </a:extLst>
          </p:cNvPr>
          <p:cNvCxnSpPr>
            <a:cxnSpLocks/>
          </p:cNvCxnSpPr>
          <p:nvPr/>
        </p:nvCxnSpPr>
        <p:spPr>
          <a:xfrm>
            <a:off x="6034088" y="4900612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DFB2DC-4624-75B1-4C78-1AB616CEAE17}"/>
              </a:ext>
            </a:extLst>
          </p:cNvPr>
          <p:cNvCxnSpPr>
            <a:cxnSpLocks/>
          </p:cNvCxnSpPr>
          <p:nvPr/>
        </p:nvCxnSpPr>
        <p:spPr>
          <a:xfrm>
            <a:off x="7935538" y="4900612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6CD9042-2838-3786-0989-76F29F796DCD}"/>
              </a:ext>
            </a:extLst>
          </p:cNvPr>
          <p:cNvSpPr txBox="1"/>
          <p:nvPr/>
        </p:nvSpPr>
        <p:spPr>
          <a:xfrm>
            <a:off x="4823313" y="6349170"/>
            <a:ext cx="73010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>
                <a:solidFill>
                  <a:schemeClr val="tx1">
                    <a:lumMod val="75000"/>
                  </a:schemeClr>
                </a:solidFill>
              </a:rPr>
              <a:t>Source: https://go.googlesource.com/website/+/refs/heads/master/_content/doc/gopher/modelsheet.jpg</a:t>
            </a:r>
          </a:p>
          <a:p>
            <a:pPr algn="r"/>
            <a:r>
              <a:rPr lang="en-US" sz="1000">
                <a:solidFill>
                  <a:schemeClr val="tx1">
                    <a:lumMod val="75000"/>
                  </a:schemeClr>
                </a:solidFill>
              </a:rPr>
              <a:t>https://kotlinlang.org/docs/kotlin-brand-assets.html#kotlin-logo</a:t>
            </a:r>
          </a:p>
        </p:txBody>
      </p:sp>
    </p:spTree>
    <p:extLst>
      <p:ext uri="{BB962C8B-B14F-4D97-AF65-F5344CB8AC3E}">
        <p14:creationId xmlns:p14="http://schemas.microsoft.com/office/powerpoint/2010/main" val="374906590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12AE7C-02F8-840A-3AF6-5351880ED870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C24E50-DEAC-A23F-8F91-EF3C078E3FD0}"/>
              </a:ext>
            </a:extLst>
          </p:cNvPr>
          <p:cNvGrpSpPr/>
          <p:nvPr/>
        </p:nvGrpSpPr>
        <p:grpSpPr>
          <a:xfrm>
            <a:off x="85444" y="101035"/>
            <a:ext cx="2949987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4C0DE72-604F-30FA-B910-CF2F07D4403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800467-565F-782E-6B99-BAD5A870A37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Content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431F0D5A-E101-7B35-E486-13DAFD474EEC}"/>
              </a:ext>
            </a:extLst>
          </p:cNvPr>
          <p:cNvSpPr txBox="1"/>
          <p:nvPr/>
        </p:nvSpPr>
        <p:spPr>
          <a:xfrm>
            <a:off x="3135753" y="1581134"/>
            <a:ext cx="592049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Kotlin Refresher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Packages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Class Code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Chess Excursion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Chessboard Representation</a:t>
            </a:r>
            <a:r>
              <a:rPr lang="en-US"/>
              <a:t>: Bitboards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Implementation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Code Flow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Code Structure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Bitboard Usage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Addendum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625AFA-6793-29BD-BAAA-06F356746C5C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>
                <a:solidFill>
                  <a:schemeClr val="tx1">
                    <a:lumMod val="75000"/>
                  </a:schemeClr>
                </a:solidFill>
              </a:rPr>
              <a:t>Source: https://kotlinlang.org/docs/basic-syntax.html</a:t>
            </a:r>
            <a:endParaRPr lang="en-US" sz="100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5253152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9AA565-FD31-1535-AB5F-39D113827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9F1857-0B31-E803-D97E-302BF96E5141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3461F2-D776-08EA-51E1-D0C727D8D036}"/>
              </a:ext>
            </a:extLst>
          </p:cNvPr>
          <p:cNvSpPr txBox="1"/>
          <p:nvPr/>
        </p:nvSpPr>
        <p:spPr>
          <a:xfrm>
            <a:off x="1246908" y="2136339"/>
            <a:ext cx="5006110" cy="2862322"/>
          </a:xfrm>
          <a:prstGeom prst="rect">
            <a:avLst/>
          </a:prstGeom>
          <a:noFill/>
          <a:ln>
            <a:solidFill>
              <a:schemeClr val="tx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>
                <a:effectLst/>
                <a:latin typeface="JetBrains Mono"/>
              </a:rPr>
              <a:t>package 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packageName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import </a:t>
            </a:r>
            <a:r>
              <a:rPr lang="en-US" sz="1800">
                <a:solidFill>
                  <a:schemeClr val="accent3"/>
                </a:solidFill>
                <a:effectLst/>
                <a:latin typeface="JetBrains Mono"/>
              </a:rPr>
              <a:t>otherPackage.*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open class </a:t>
            </a:r>
            <a:r>
              <a:rPr lang="en-US" sz="1800">
                <a:effectLst/>
                <a:latin typeface="JetBrains Mono"/>
              </a:rPr>
              <a:t>InheritableClass(</a:t>
            </a:r>
          </a:p>
          <a:p>
            <a:pPr>
              <a:buNone/>
            </a:pPr>
            <a:r>
              <a:rPr lang="en-US" sz="1800">
                <a:effectLst/>
                <a:latin typeface="JetBrains Mono"/>
              </a:rPr>
              <a:t>    </a:t>
            </a:r>
            <a:r>
              <a:rPr lang="en-US" sz="1800">
                <a:solidFill>
                  <a:schemeClr val="accent6">
                    <a:lumMod val="75000"/>
                  </a:schemeClr>
                </a:solidFill>
                <a:effectLst/>
                <a:latin typeface="JetBrains Mono"/>
              </a:rPr>
              <a:t>val</a:t>
            </a:r>
            <a:r>
              <a:rPr lang="en-US" sz="1800">
                <a:effectLst/>
                <a:latin typeface="JetBrains Mono"/>
              </a:rPr>
              <a:t> Immutable: </a:t>
            </a:r>
            <a:r>
              <a:rPr lang="en-US" sz="1800">
                <a:solidFill>
                  <a:srgbClr val="0070C0"/>
                </a:solidFill>
                <a:effectLst/>
                <a:latin typeface="JetBrains Mono"/>
              </a:rPr>
              <a:t>DataType</a:t>
            </a:r>
            <a:r>
              <a:rPr lang="en-US" sz="1800">
                <a:effectLst/>
                <a:latin typeface="JetBrains Mono"/>
              </a:rPr>
              <a:t>,</a:t>
            </a:r>
          </a:p>
          <a:p>
            <a:pPr>
              <a:buNone/>
            </a:pPr>
            <a:r>
              <a:rPr lang="en-US" sz="1800"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FFC000"/>
                </a:solidFill>
                <a:effectLst/>
                <a:latin typeface="JetBrains Mono"/>
              </a:rPr>
              <a:t>var</a:t>
            </a:r>
            <a:r>
              <a:rPr lang="en-US" sz="1800">
                <a:effectLst/>
                <a:latin typeface="JetBrains Mono"/>
              </a:rPr>
              <a:t> Mutable: DataType = </a:t>
            </a:r>
            <a:r>
              <a:rPr lang="en-US" sz="1800">
                <a:solidFill>
                  <a:srgbClr val="C46EB2"/>
                </a:solidFill>
                <a:effectLst/>
                <a:latin typeface="JetBrains Mono"/>
              </a:rPr>
              <a:t>DefaultValue</a:t>
            </a:r>
            <a:r>
              <a:rPr lang="en-US" sz="1800">
                <a:effectLst/>
                <a:latin typeface="JetBrains Mono"/>
              </a:rPr>
              <a:t>){</a:t>
            </a:r>
          </a:p>
          <a:p>
            <a:pPr>
              <a:buNone/>
            </a:pPr>
            <a:endParaRPr lang="en-US">
              <a:solidFill>
                <a:schemeClr val="bg1">
                  <a:lumMod val="50000"/>
                  <a:lumOff val="50000"/>
                </a:schemeClr>
              </a:solidFill>
              <a:latin typeface="JetBrains Mono"/>
            </a:endParaRPr>
          </a:p>
          <a:p>
            <a:pPr>
              <a:buNone/>
            </a:pPr>
            <a:r>
              <a:rPr lang="en-US" sz="1800">
                <a:solidFill>
                  <a:schemeClr val="bg1">
                    <a:lumMod val="50000"/>
                    <a:lumOff val="50000"/>
                  </a:schemeClr>
                </a:solidFill>
                <a:effectLst/>
                <a:latin typeface="JetBrains Mono"/>
              </a:rPr>
              <a:t>	</a:t>
            </a:r>
            <a:r>
              <a:rPr lang="en-US">
                <a:solidFill>
                  <a:schemeClr val="bg1">
                    <a:lumMod val="50000"/>
                    <a:lumOff val="50000"/>
                  </a:schemeClr>
                </a:solidFill>
                <a:latin typeface="JetBrains Mono"/>
              </a:rPr>
              <a:t>//Code Block</a:t>
            </a:r>
            <a:endParaRPr lang="en-US" sz="1800">
              <a:solidFill>
                <a:schemeClr val="bg1">
                  <a:lumMod val="50000"/>
                  <a:lumOff val="50000"/>
                </a:schemeClr>
              </a:solidFill>
              <a:effectLst/>
              <a:latin typeface="JetBrains Mono"/>
            </a:endParaRPr>
          </a:p>
          <a:p>
            <a:pPr>
              <a:buNone/>
            </a:pPr>
            <a:r>
              <a:rPr lang="en-US">
                <a:latin typeface="JetBrains Mono"/>
              </a:rPr>
              <a:t>}</a:t>
            </a:r>
            <a:endParaRPr lang="en-US" sz="1800">
              <a:effectLst/>
              <a:latin typeface="JetBrains Mono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61BD11-886E-748D-9256-FC7DA1084E4D}"/>
              </a:ext>
            </a:extLst>
          </p:cNvPr>
          <p:cNvGrpSpPr/>
          <p:nvPr/>
        </p:nvGrpSpPr>
        <p:grpSpPr>
          <a:xfrm>
            <a:off x="85444" y="101035"/>
            <a:ext cx="3710701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3407BA8-6D04-B600-F1EA-796517842A08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3CC02D1-3DD5-87E6-0C4B-B0CDE495C27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Refresh: Packages and Classes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160E9B0C-2A5B-2FA5-B1B7-F37EF203CE1F}"/>
              </a:ext>
            </a:extLst>
          </p:cNvPr>
          <p:cNvSpPr txBox="1"/>
          <p:nvPr/>
        </p:nvSpPr>
        <p:spPr>
          <a:xfrm>
            <a:off x="6807928" y="2413337"/>
            <a:ext cx="42440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similar structure </a:t>
            </a:r>
            <a:r>
              <a:rPr lang="en-US"/>
              <a:t>to Go with packages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Kotlin values </a:t>
            </a:r>
            <a:r>
              <a:rPr lang="en-US">
                <a:solidFill>
                  <a:srgbClr val="92D050"/>
                </a:solidFill>
              </a:rPr>
              <a:t>Immutability</a:t>
            </a:r>
            <a:r>
              <a:rPr lang="en-US"/>
              <a:t> over all else, so classes and function need to be </a:t>
            </a:r>
            <a:r>
              <a:rPr lang="en-US">
                <a:solidFill>
                  <a:srgbClr val="92D050"/>
                </a:solidFill>
              </a:rPr>
              <a:t>marked as open </a:t>
            </a:r>
            <a:r>
              <a:rPr lang="en-US"/>
              <a:t>for </a:t>
            </a:r>
            <a:r>
              <a:rPr lang="en-US">
                <a:solidFill>
                  <a:srgbClr val="92D050"/>
                </a:solidFill>
              </a:rPr>
              <a:t>inherit</a:t>
            </a:r>
            <a:r>
              <a:rPr lang="en-US"/>
              <a:t> and </a:t>
            </a:r>
            <a:r>
              <a:rPr lang="en-US">
                <a:solidFill>
                  <a:srgbClr val="92D050"/>
                </a:solidFill>
              </a:rPr>
              <a:t>override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3B9A5A-4A35-41E8-8F93-F5CF3933DA59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>
                <a:solidFill>
                  <a:schemeClr val="tx1">
                    <a:lumMod val="75000"/>
                  </a:schemeClr>
                </a:solidFill>
              </a:rPr>
              <a:t>Source: https://kotlinlang.org/docs/basic-syntax.html</a:t>
            </a:r>
            <a:endParaRPr lang="en-US" sz="100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742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16F64A-B5A0-AFD6-30F4-73F34902C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7090FFF-8117-C31E-99C2-BE38B09DEF4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3218612-B101-09F7-89BE-CE314E441F8F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EFB60EC-29DB-2D97-29F0-A2868D72ED38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327A502-2FE0-2C0E-E1F0-1F7BF15BD8AD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Excursion: Chess Rules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30D91E4-E49E-8A5E-FC08-A5FA793B8909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https://computerchess.com/Schach-lernen/Schachregeln-einfach-erklaert/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8F33F4-3CF6-2897-0E57-F75AC580A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04" y="1275662"/>
            <a:ext cx="4313866" cy="4306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948F6F-9C3D-D8C8-5967-A9B2913F32FE}"/>
              </a:ext>
            </a:extLst>
          </p:cNvPr>
          <p:cNvSpPr txBox="1"/>
          <p:nvPr/>
        </p:nvSpPr>
        <p:spPr>
          <a:xfrm>
            <a:off x="6014603" y="1859339"/>
            <a:ext cx="500611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King</a:t>
            </a:r>
            <a:r>
              <a:rPr lang="en-US"/>
              <a:t>: one step in each direction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C000"/>
                </a:solidFill>
              </a:rPr>
              <a:t>Queen</a:t>
            </a:r>
            <a:r>
              <a:rPr lang="en-US"/>
              <a:t>: omni-directional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Bishop</a:t>
            </a:r>
            <a:r>
              <a:rPr lang="en-US"/>
              <a:t>: omni-diagonal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Knight</a:t>
            </a:r>
            <a:r>
              <a:rPr lang="en-US"/>
              <a:t>: jumps in L shape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Rook</a:t>
            </a:r>
            <a:r>
              <a:rPr lang="en-US"/>
              <a:t>: cardinal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Pawn</a:t>
            </a:r>
            <a:r>
              <a:rPr lang="en-US"/>
              <a:t>: &gt;:c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Extras: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En Passant </a:t>
            </a:r>
            <a:r>
              <a:rPr lang="en-US"/>
              <a:t>Capture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Castling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Pawn</a:t>
            </a:r>
            <a:r>
              <a:rPr lang="en-US">
                <a:solidFill>
                  <a:srgbClr val="00AAE6"/>
                </a:solidFill>
              </a:rPr>
              <a:t> </a:t>
            </a: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Promotion</a:t>
            </a:r>
          </a:p>
        </p:txBody>
      </p:sp>
    </p:spTree>
    <p:extLst>
      <p:ext uri="{BB962C8B-B14F-4D97-AF65-F5344CB8AC3E}">
        <p14:creationId xmlns:p14="http://schemas.microsoft.com/office/powerpoint/2010/main" val="3896265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6D8D1B-421D-A9AC-5C82-77D84A95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6CD1E8B-5B48-5380-7F65-F8B1265B0E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10C40D8-2776-A6FB-B71C-06972EC32DD0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DABF9B-02A0-3C8F-DA30-50FBC9246CF6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8705630-28D8-D960-0755-E6BECFF040F6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Excursion: Chess Rules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148CBE0-9C71-CA9F-102C-E31031765272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https://computerchess.com/Schach-lernen/Schachregeln-einfach-erklaert/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8D71955-7551-8DFC-EAA6-9E15F278B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78104" y="1282852"/>
            <a:ext cx="4313866" cy="4292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A98AF97-0365-D94B-6D6C-DCC8878DC7CE}"/>
              </a:ext>
            </a:extLst>
          </p:cNvPr>
          <p:cNvSpPr txBox="1"/>
          <p:nvPr/>
        </p:nvSpPr>
        <p:spPr>
          <a:xfrm>
            <a:off x="6014603" y="2835066"/>
            <a:ext cx="50061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En Passant </a:t>
            </a:r>
            <a:r>
              <a:rPr lang="en-US"/>
              <a:t>Capture: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captures enemy pawn during double step</a:t>
            </a:r>
          </a:p>
        </p:txBody>
      </p:sp>
    </p:spTree>
    <p:extLst>
      <p:ext uri="{BB962C8B-B14F-4D97-AF65-F5344CB8AC3E}">
        <p14:creationId xmlns:p14="http://schemas.microsoft.com/office/powerpoint/2010/main" val="361717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AB91E2-A5E4-5A8C-24A8-0F9B9D8C7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FEF374B-9047-C7E5-F90E-076FA87E2B3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C84DEEE-E8F1-BAF0-5F72-F7B9F23407F5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43FF092-65D7-930C-65E4-FB5E863E47B4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0631444-2CAE-FE7D-3FB5-A6F5629E6840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Excursion: Chess Rules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7409C76-92C9-233B-1D1E-C77267E1CC36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https://computerchess.com/Schach-lernen/Schachregeln-einfach-erklaert/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F9B81C6-D70C-72FA-8C3C-FC88CF2E8C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88889" y="1282852"/>
            <a:ext cx="4292296" cy="4292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F4D0865-04BB-07E5-6796-E3B1E6308E75}"/>
              </a:ext>
            </a:extLst>
          </p:cNvPr>
          <p:cNvSpPr txBox="1"/>
          <p:nvPr/>
        </p:nvSpPr>
        <p:spPr>
          <a:xfrm>
            <a:off x="6009211" y="2690336"/>
            <a:ext cx="500611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Castling</a:t>
            </a:r>
            <a:r>
              <a:rPr lang="en-US"/>
              <a:t>:</a:t>
            </a:r>
            <a:endParaRPr lang="en-US">
              <a:solidFill>
                <a:srgbClr val="92D05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if the involved Rook and King have not moved, then they can execute a Castle maneuver, semi-swapping places</a:t>
            </a:r>
          </a:p>
        </p:txBody>
      </p:sp>
    </p:spTree>
    <p:extLst>
      <p:ext uri="{BB962C8B-B14F-4D97-AF65-F5344CB8AC3E}">
        <p14:creationId xmlns:p14="http://schemas.microsoft.com/office/powerpoint/2010/main" val="4222291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A998EE-7F60-3F26-24DA-1B98D923E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44D44DA-F985-171F-4CE6-08087A3E0C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CC99F5E-D5EF-8341-EAC7-53755A9544D8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C2AA1C4-5071-10D1-AB84-B2BE3B5812AE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FEB27D-B95A-A27C-3939-7918E933F6DE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Excursion: Chess Rules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5DFF1EA-88EE-7DC6-1B0F-3E45C4B797D1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https://computerchess.com/Schach-lernen/Schachregeln-einfach-erklaert/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625A7-8C33-2C75-4D30-AAD49F8C2213}"/>
              </a:ext>
            </a:extLst>
          </p:cNvPr>
          <p:cNvSpPr txBox="1"/>
          <p:nvPr/>
        </p:nvSpPr>
        <p:spPr>
          <a:xfrm>
            <a:off x="6009211" y="2690336"/>
            <a:ext cx="50061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Pawn</a:t>
            </a:r>
            <a:r>
              <a:rPr lang="en-US">
                <a:solidFill>
                  <a:srgbClr val="00AAE6"/>
                </a:solidFill>
              </a:rPr>
              <a:t> </a:t>
            </a: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Promotion</a:t>
            </a:r>
            <a:r>
              <a:rPr lang="en-US"/>
              <a:t>:</a:t>
            </a:r>
            <a:endParaRPr lang="en-US">
              <a:solidFill>
                <a:srgbClr val="92D05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if a pawn reaches the other edge of the board, it gets promoted to another piece (all expect King)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B79CEB-FC0C-E1CA-727D-E5B4B5AC36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1094929" y="1988224"/>
            <a:ext cx="4234454" cy="140989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DB73C9-1962-1230-EBC8-FAD4212945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152" t="-2148" r="-152" b="2148"/>
          <a:stretch>
            <a:fillRect/>
          </a:stretch>
        </p:blipFill>
        <p:spPr>
          <a:xfrm>
            <a:off x="1094929" y="3734464"/>
            <a:ext cx="4234454" cy="140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159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69150-E2E7-4CD4-C71C-6531FE134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469BD45-AA7F-B599-C0CE-41793C2E391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FD8585-572D-46CF-790C-495F54078E76}"/>
              </a:ext>
            </a:extLst>
          </p:cNvPr>
          <p:cNvSpPr/>
          <p:nvPr/>
        </p:nvSpPr>
        <p:spPr>
          <a:xfrm>
            <a:off x="3282098" y="2392051"/>
            <a:ext cx="5627802" cy="2073897"/>
          </a:xfrm>
          <a:prstGeom prst="rect">
            <a:avLst/>
          </a:prstGeom>
          <a:pattFill prst="wdDn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977E88-DCAB-6E1B-FA90-E60A760D48B9}"/>
              </a:ext>
            </a:extLst>
          </p:cNvPr>
          <p:cNvSpPr/>
          <p:nvPr/>
        </p:nvSpPr>
        <p:spPr>
          <a:xfrm>
            <a:off x="3470830" y="2563991"/>
            <a:ext cx="5250533" cy="1728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How to represent the Chessboard?</a:t>
            </a:r>
            <a:endParaRPr lang="en-US" sz="36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6376319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4CE09-68D0-6975-4639-C5380265C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BEF325-94E4-2962-2BB0-4FD361DD79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AEDFD2-66C9-E185-2563-BB0E4E43F36D}"/>
              </a:ext>
            </a:extLst>
          </p:cNvPr>
          <p:cNvGrpSpPr/>
          <p:nvPr/>
        </p:nvGrpSpPr>
        <p:grpSpPr>
          <a:xfrm>
            <a:off x="85444" y="101035"/>
            <a:ext cx="2365525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AF90C77-2AF3-F8D5-5F29-CC9F8B03C9FC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8E3DE4E-59AB-6C20-4160-2028380FB89A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Bit Boards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5020C8F-DBA9-7DC8-D534-D588EDCC328E}"/>
              </a:ext>
            </a:extLst>
          </p:cNvPr>
          <p:cNvSpPr txBox="1"/>
          <p:nvPr/>
        </p:nvSpPr>
        <p:spPr>
          <a:xfrm>
            <a:off x="4642338" y="6378366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all bitboard presentations made with https://gekomad.github.io/Cinnamon/BitboardCalculator/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7329E2E-5368-1081-6DEA-A82B1CBA51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1242072"/>
              </p:ext>
            </p:extLst>
          </p:nvPr>
        </p:nvGraphicFramePr>
        <p:xfrm>
          <a:off x="3721100" y="900627"/>
          <a:ext cx="4749800" cy="474979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3725">
                  <a:extLst>
                    <a:ext uri="{9D8B030D-6E8A-4147-A177-3AD203B41FA5}">
                      <a16:colId xmlns:a16="http://schemas.microsoft.com/office/drawing/2014/main" val="205539190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4047848743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4036580238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458009771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3454389896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1927319008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2069793804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136760837"/>
                    </a:ext>
                  </a:extLst>
                </a:gridCol>
              </a:tblGrid>
              <a:tr h="57518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626716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5295873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703314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081147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964231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337996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5172070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3677287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D98E1EC-9C2D-58A0-9771-39F5BF06C7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21098" y="900627"/>
            <a:ext cx="4749798" cy="4749798"/>
          </a:xfrm>
          <a:prstGeom prst="roundRect">
            <a:avLst>
              <a:gd name="adj" fmla="val 10851"/>
            </a:avLst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94370E5-2DAC-21DD-7170-3881FCFECC0E}"/>
              </a:ext>
            </a:extLst>
          </p:cNvPr>
          <p:cNvSpPr txBox="1"/>
          <p:nvPr/>
        </p:nvSpPr>
        <p:spPr>
          <a:xfrm>
            <a:off x="643037" y="1997839"/>
            <a:ext cx="268367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AAE6"/>
                </a:solidFill>
              </a:rPr>
              <a:t>chessboard representation </a:t>
            </a:r>
            <a:r>
              <a:rPr lang="en-US"/>
              <a:t>via </a:t>
            </a:r>
            <a:r>
              <a:rPr lang="en-US">
                <a:solidFill>
                  <a:srgbClr val="00B0F0"/>
                </a:solidFill>
              </a:rPr>
              <a:t>64 bits </a:t>
            </a:r>
            <a:r>
              <a:rPr lang="en-US"/>
              <a:t>(one for each square)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faster</a:t>
            </a:r>
            <a:r>
              <a:rPr lang="en-US"/>
              <a:t> and </a:t>
            </a:r>
            <a:r>
              <a:rPr lang="en-US">
                <a:solidFill>
                  <a:srgbClr val="92D050"/>
                </a:solidFill>
              </a:rPr>
              <a:t>easier</a:t>
            </a:r>
            <a:r>
              <a:rPr lang="en-US"/>
              <a:t> computation via </a:t>
            </a:r>
            <a:r>
              <a:rPr lang="en-US">
                <a:solidFill>
                  <a:srgbClr val="92D050"/>
                </a:solidFill>
              </a:rPr>
              <a:t>bit operations </a:t>
            </a:r>
            <a:r>
              <a:rPr lang="en-US"/>
              <a:t>(optimized for chess AI implementation)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72A36C-99DC-3E40-D75C-7FB00BA1B7A1}"/>
              </a:ext>
            </a:extLst>
          </p:cNvPr>
          <p:cNvSpPr txBox="1"/>
          <p:nvPr/>
        </p:nvSpPr>
        <p:spPr>
          <a:xfrm>
            <a:off x="8865283" y="2274838"/>
            <a:ext cx="26836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each chess piece </a:t>
            </a:r>
            <a:r>
              <a:rPr lang="en-US"/>
              <a:t>type gets its own bit board in </a:t>
            </a:r>
            <a:r>
              <a:rPr lang="en-US">
                <a:solidFill>
                  <a:srgbClr val="E54D86"/>
                </a:solidFill>
              </a:rPr>
              <a:t>each 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meaning a bit board solution consists of </a:t>
            </a:r>
            <a:r>
              <a:rPr lang="en-US">
                <a:solidFill>
                  <a:srgbClr val="FFC000"/>
                </a:solidFill>
              </a:rPr>
              <a:t>12 bit boards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A7463D-6358-C8EB-D21F-4BFEC275CADF}"/>
              </a:ext>
            </a:extLst>
          </p:cNvPr>
          <p:cNvSpPr txBox="1"/>
          <p:nvPr/>
        </p:nvSpPr>
        <p:spPr>
          <a:xfrm>
            <a:off x="3676647" y="5782802"/>
            <a:ext cx="4838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hex: ffff00000000ffff</a:t>
            </a:r>
          </a:p>
        </p:txBody>
      </p:sp>
    </p:spTree>
    <p:extLst>
      <p:ext uri="{BB962C8B-B14F-4D97-AF65-F5344CB8AC3E}">
        <p14:creationId xmlns:p14="http://schemas.microsoft.com/office/powerpoint/2010/main" val="3687285452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B44604-1D75-3FA0-DD2C-63759B977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32FDF2A-BB5E-D65D-EDEC-D3EB7069B9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480767C-8D9F-5249-E86C-1C00FD2F1D28}"/>
              </a:ext>
            </a:extLst>
          </p:cNvPr>
          <p:cNvGrpSpPr/>
          <p:nvPr/>
        </p:nvGrpSpPr>
        <p:grpSpPr>
          <a:xfrm>
            <a:off x="113725" y="101035"/>
            <a:ext cx="3081962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339B0DC-CFB3-C364-5F0D-691B2EE1AED1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7C0007F-DE8A-D837-CE66-251689C23F17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Bit Boards: Indices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FE041C3-689D-0B3A-D1B8-7EB395F0C9C5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https://gekomad.github.io/Cinnamon/BitboardCalculator/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D133C19-C653-64FD-EF35-B75123F964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6945" y="2034247"/>
            <a:ext cx="2567892" cy="2567892"/>
          </a:xfrm>
          <a:prstGeom prst="roundRect">
            <a:avLst>
              <a:gd name="adj" fmla="val 10732"/>
            </a:avLst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7B4DEAB-1737-E3B0-BF80-E2823B37A2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519078"/>
              </p:ext>
            </p:extLst>
          </p:nvPr>
        </p:nvGraphicFramePr>
        <p:xfrm>
          <a:off x="5175320" y="1147580"/>
          <a:ext cx="4572000" cy="456283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205539190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4047848743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4036580238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458009771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3454389896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1927319008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2069793804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136760837"/>
                    </a:ext>
                  </a:extLst>
                </a:gridCol>
              </a:tblGrid>
              <a:tr h="552546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9626716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295873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703314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81147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64231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337996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48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5172070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61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62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367728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5D2D8EA-988C-F8A9-8B85-8E8359A6AE97}"/>
              </a:ext>
            </a:extLst>
          </p:cNvPr>
          <p:cNvSpPr txBox="1"/>
          <p:nvPr/>
        </p:nvSpPr>
        <p:spPr>
          <a:xfrm>
            <a:off x="616069" y="4928058"/>
            <a:ext cx="27696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AAE6"/>
                </a:solidFill>
              </a:rPr>
              <a:t>flipped</a:t>
            </a:r>
            <a:r>
              <a:rPr lang="en-US"/>
              <a:t> in the rendering to have view from </a:t>
            </a:r>
            <a:r>
              <a:rPr lang="en-US">
                <a:solidFill>
                  <a:srgbClr val="00AAE6"/>
                </a:solidFill>
              </a:rPr>
              <a:t>White Player’s perspective</a:t>
            </a:r>
          </a:p>
        </p:txBody>
      </p:sp>
    </p:spTree>
    <p:extLst>
      <p:ext uri="{BB962C8B-B14F-4D97-AF65-F5344CB8AC3E}">
        <p14:creationId xmlns:p14="http://schemas.microsoft.com/office/powerpoint/2010/main" val="3785234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B1771-34B9-A6A1-B85D-96F276122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A6019D1-6304-AE36-F759-EC32D74FFF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E1D3F05-8892-A9C0-5C2B-2DC3FA17463B}"/>
              </a:ext>
            </a:extLst>
          </p:cNvPr>
          <p:cNvGrpSpPr/>
          <p:nvPr/>
        </p:nvGrpSpPr>
        <p:grpSpPr>
          <a:xfrm>
            <a:off x="85444" y="101035"/>
            <a:ext cx="3199393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B2CB8A1-C6B6-2B17-BACD-985D77C0517E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E34F22-E7C6-C775-2EA8-53E9BC01B2D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Bit Boards: Chess Pieces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7CC8944-D4F2-9A2E-C1C8-B6AE38F45679}"/>
              </a:ext>
            </a:extLst>
          </p:cNvPr>
          <p:cNvSpPr txBox="1"/>
          <p:nvPr/>
        </p:nvSpPr>
        <p:spPr>
          <a:xfrm>
            <a:off x="4642338" y="6180515"/>
            <a:ext cx="73010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https://staging.svgrepo.com/collection/chess-vectors/</a:t>
            </a:r>
          </a:p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https://gekomad.github.io/Cinnamon/BitboardCalculator/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6BC016-FE38-DB24-322F-FBF97B75D0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945" y="2034247"/>
            <a:ext cx="2567892" cy="2567892"/>
          </a:xfrm>
          <a:prstGeom prst="roundRect">
            <a:avLst>
              <a:gd name="adj" fmla="val 9990"/>
            </a:avLst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E3CF14F5-8088-227D-F116-6700397CC00C}"/>
              </a:ext>
            </a:extLst>
          </p:cNvPr>
          <p:cNvGrpSpPr/>
          <p:nvPr/>
        </p:nvGrpSpPr>
        <p:grpSpPr>
          <a:xfrm>
            <a:off x="4104289" y="783013"/>
            <a:ext cx="1991711" cy="1991711"/>
            <a:chOff x="4070854" y="1180177"/>
            <a:chExt cx="1991711" cy="199171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066B894-035C-1143-6B8E-C4E690DD5B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70854" y="1180177"/>
              <a:ext cx="1991711" cy="1991711"/>
            </a:xfrm>
            <a:prstGeom prst="roundRect">
              <a:avLst>
                <a:gd name="adj" fmla="val 10928"/>
              </a:avLst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7ABDBD8C-C8B5-8AB8-E787-7C8AB43322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49784" y="1654739"/>
              <a:ext cx="1033849" cy="1033849"/>
            </a:xfrm>
            <a:prstGeom prst="round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393FEE1-CEFB-D679-5C5B-A807B267A5CE}"/>
              </a:ext>
            </a:extLst>
          </p:cNvPr>
          <p:cNvGrpSpPr/>
          <p:nvPr/>
        </p:nvGrpSpPr>
        <p:grpSpPr>
          <a:xfrm>
            <a:off x="9195247" y="778643"/>
            <a:ext cx="1991711" cy="1991711"/>
            <a:chOff x="4070854" y="3925395"/>
            <a:chExt cx="1991711" cy="199171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C9F01DD-D741-3249-8AED-7D2B353AF2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70854" y="3925395"/>
              <a:ext cx="1991711" cy="1991711"/>
            </a:xfrm>
            <a:prstGeom prst="roundRect">
              <a:avLst>
                <a:gd name="adj" fmla="val 9015"/>
              </a:avLst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D55DFF66-9795-7BEB-9535-F633E59B7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49783" y="4404325"/>
              <a:ext cx="1033850" cy="1033850"/>
            </a:xfrm>
            <a:prstGeom prst="round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6B686BB-E3C8-ADB4-4C81-A553CA4BB19D}"/>
              </a:ext>
            </a:extLst>
          </p:cNvPr>
          <p:cNvGrpSpPr/>
          <p:nvPr/>
        </p:nvGrpSpPr>
        <p:grpSpPr>
          <a:xfrm>
            <a:off x="6631162" y="783012"/>
            <a:ext cx="1991711" cy="1991711"/>
            <a:chOff x="6597727" y="1180176"/>
            <a:chExt cx="1991711" cy="199171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0A3EDB6-EBAE-F45B-AA2F-A02BA5772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597727" y="1180176"/>
              <a:ext cx="1991711" cy="1991711"/>
            </a:xfrm>
            <a:prstGeom prst="roundRect">
              <a:avLst>
                <a:gd name="adj" fmla="val 9972"/>
              </a:avLst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6B0CFC8D-3761-6FC0-17AE-70CA7E471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6656" y="1654739"/>
              <a:ext cx="1033849" cy="1033849"/>
            </a:xfrm>
            <a:prstGeom prst="round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5078521-84CC-CEE0-B7A0-1F432B1A287C}"/>
              </a:ext>
            </a:extLst>
          </p:cNvPr>
          <p:cNvGrpSpPr/>
          <p:nvPr/>
        </p:nvGrpSpPr>
        <p:grpSpPr>
          <a:xfrm>
            <a:off x="9195244" y="3477651"/>
            <a:ext cx="1991711" cy="1991711"/>
            <a:chOff x="9223361" y="2433144"/>
            <a:chExt cx="1991711" cy="1991711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6A589FE4-8393-FFC6-5EA8-43AB8C4B84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223361" y="2433144"/>
              <a:ext cx="1991711" cy="1991711"/>
            </a:xfrm>
            <a:prstGeom prst="roundRect">
              <a:avLst>
                <a:gd name="adj" fmla="val 9972"/>
              </a:avLst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B67EB0F8-1EBE-CEC4-00B6-C4B828A7E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02291" y="2912074"/>
              <a:ext cx="1033850" cy="1033850"/>
            </a:xfrm>
            <a:prstGeom prst="round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23AE663-7602-DC91-50BD-E4D7D7B2BCFE}"/>
              </a:ext>
            </a:extLst>
          </p:cNvPr>
          <p:cNvGrpSpPr/>
          <p:nvPr/>
        </p:nvGrpSpPr>
        <p:grpSpPr>
          <a:xfrm>
            <a:off x="4104287" y="3481507"/>
            <a:ext cx="1991711" cy="1991711"/>
            <a:chOff x="6597726" y="3925395"/>
            <a:chExt cx="1991711" cy="1991711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D569202-0976-24A7-BFA1-F3D2515EA4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597726" y="3925395"/>
              <a:ext cx="1991711" cy="1991711"/>
            </a:xfrm>
            <a:prstGeom prst="roundRect">
              <a:avLst>
                <a:gd name="adj" fmla="val 10450"/>
              </a:avLst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3C8018C6-C4CC-B493-5F1F-48FB21B01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6656" y="4404325"/>
              <a:ext cx="1033850" cy="1033850"/>
            </a:xfrm>
            <a:prstGeom prst="round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CF506DE6-A611-AD47-DEE5-67A50189AE7E}"/>
              </a:ext>
            </a:extLst>
          </p:cNvPr>
          <p:cNvSpPr txBox="1"/>
          <p:nvPr/>
        </p:nvSpPr>
        <p:spPr>
          <a:xfrm>
            <a:off x="4641069" y="5614074"/>
            <a:ext cx="918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0x24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70968B-E3E0-1CA5-9EC5-66611EA05EB5}"/>
              </a:ext>
            </a:extLst>
          </p:cNvPr>
          <p:cNvSpPr txBox="1"/>
          <p:nvPr/>
        </p:nvSpPr>
        <p:spPr>
          <a:xfrm>
            <a:off x="7164429" y="5614074"/>
            <a:ext cx="918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0xFF00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1C4FFC-CAE9-015D-01AE-10F10E05D797}"/>
              </a:ext>
            </a:extLst>
          </p:cNvPr>
          <p:cNvSpPr txBox="1"/>
          <p:nvPr/>
        </p:nvSpPr>
        <p:spPr>
          <a:xfrm>
            <a:off x="4641069" y="2884661"/>
            <a:ext cx="918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0x81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7290DD-89E2-6AD8-B213-452370A54963}"/>
              </a:ext>
            </a:extLst>
          </p:cNvPr>
          <p:cNvSpPr txBox="1"/>
          <p:nvPr/>
        </p:nvSpPr>
        <p:spPr>
          <a:xfrm>
            <a:off x="7164429" y="2884661"/>
            <a:ext cx="918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0x42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45BC82-A00F-C03B-DABB-D2FA287F31E0}"/>
              </a:ext>
            </a:extLst>
          </p:cNvPr>
          <p:cNvSpPr txBox="1"/>
          <p:nvPr/>
        </p:nvSpPr>
        <p:spPr>
          <a:xfrm>
            <a:off x="9694817" y="2879952"/>
            <a:ext cx="918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0x10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EEEB1B7-4B7E-3B78-CED0-36030301ABE6}"/>
              </a:ext>
            </a:extLst>
          </p:cNvPr>
          <p:cNvGrpSpPr/>
          <p:nvPr/>
        </p:nvGrpSpPr>
        <p:grpSpPr>
          <a:xfrm>
            <a:off x="6639806" y="3479579"/>
            <a:ext cx="1991711" cy="1991711"/>
            <a:chOff x="9158031" y="3481507"/>
            <a:chExt cx="1991711" cy="199171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9B49C39C-F5C8-8C15-7D9F-5E07D48365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58031" y="3481507"/>
              <a:ext cx="1991711" cy="1991711"/>
            </a:xfrm>
            <a:prstGeom prst="roundRect">
              <a:avLst>
                <a:gd name="adj" fmla="val 9972"/>
              </a:avLst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7755943-A1F9-2616-453D-CCB9F542B9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36965" y="3960437"/>
              <a:ext cx="1033850" cy="1033850"/>
            </a:xfrm>
            <a:prstGeom prst="roundRect">
              <a:avLst/>
            </a:prstGeom>
          </p:spPr>
        </p:pic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D2BEF4AE-BCB4-857E-6B0C-EDAB1B6ADCB3}"/>
              </a:ext>
            </a:extLst>
          </p:cNvPr>
          <p:cNvSpPr txBox="1"/>
          <p:nvPr/>
        </p:nvSpPr>
        <p:spPr>
          <a:xfrm>
            <a:off x="9694817" y="5611050"/>
            <a:ext cx="918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0x8</a:t>
            </a:r>
          </a:p>
        </p:txBody>
      </p:sp>
    </p:spTree>
    <p:extLst>
      <p:ext uri="{BB962C8B-B14F-4D97-AF65-F5344CB8AC3E}">
        <p14:creationId xmlns:p14="http://schemas.microsoft.com/office/powerpoint/2010/main" val="712089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3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3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25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750"/>
                            </p:stCondLst>
                            <p:childTnLst>
                              <p:par>
                                <p:cTn id="32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250"/>
                            </p:stCondLst>
                            <p:childTnLst>
                              <p:par>
                                <p:cTn id="4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3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3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750"/>
                            </p:stCondLst>
                            <p:childTnLst>
                              <p:par>
                                <p:cTn id="50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3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3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B0F5E-3C2F-B8D2-543D-F7C392DF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28355F7-D3D6-0168-8FFC-676D0979DD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FC9264F-DEB0-C23D-46A9-6D8FAF879F2A}"/>
              </a:ext>
            </a:extLst>
          </p:cNvPr>
          <p:cNvGrpSpPr/>
          <p:nvPr/>
        </p:nvGrpSpPr>
        <p:grpSpPr>
          <a:xfrm>
            <a:off x="113725" y="101035"/>
            <a:ext cx="3081962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3A9C5DA-3C0F-4D55-066B-638D21CF804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66D859F-7961-DF57-7708-84D7BB6F3A8C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Bit Boards</a:t>
              </a:r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 Calculations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F698824-8632-6607-4970-CCED353BDDAC}"/>
              </a:ext>
            </a:extLst>
          </p:cNvPr>
          <p:cNvSpPr txBox="1"/>
          <p:nvPr/>
        </p:nvSpPr>
        <p:spPr>
          <a:xfrm>
            <a:off x="3311116" y="3290500"/>
            <a:ext cx="15863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00B0F0"/>
                </a:solidFill>
              </a:rPr>
              <a:t>AND</a:t>
            </a:r>
          </a:p>
          <a:p>
            <a:pPr algn="ctr"/>
            <a:r>
              <a:rPr lang="en-US"/>
              <a:t>operation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FC16C3DB-E1A7-CEFF-15A8-2504409CD4B0}"/>
              </a:ext>
            </a:extLst>
          </p:cNvPr>
          <p:cNvSpPr/>
          <p:nvPr/>
        </p:nvSpPr>
        <p:spPr>
          <a:xfrm>
            <a:off x="7705835" y="3244334"/>
            <a:ext cx="809625" cy="5370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E466EF-590C-321D-F4DE-68F4CF815E91}"/>
              </a:ext>
            </a:extLst>
          </p:cNvPr>
          <p:cNvSpPr txBox="1"/>
          <p:nvPr/>
        </p:nvSpPr>
        <p:spPr>
          <a:xfrm>
            <a:off x="660523" y="1858013"/>
            <a:ext cx="2709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Example: </a:t>
            </a:r>
          </a:p>
          <a:p>
            <a:pPr algn="ctr"/>
            <a:r>
              <a:rPr lang="en-US">
                <a:solidFill>
                  <a:srgbClr val="92D050"/>
                </a:solidFill>
              </a:rPr>
              <a:t>WQueen on E4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7616A9-196B-4FBF-2661-B1D31744461F}"/>
              </a:ext>
            </a:extLst>
          </p:cNvPr>
          <p:cNvSpPr txBox="1"/>
          <p:nvPr/>
        </p:nvSpPr>
        <p:spPr>
          <a:xfrm>
            <a:off x="8673207" y="4774878"/>
            <a:ext cx="27098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result: all possible </a:t>
            </a:r>
            <a:r>
              <a:rPr lang="en-US">
                <a:solidFill>
                  <a:srgbClr val="FFC000"/>
                </a:solidFill>
              </a:rPr>
              <a:t>attacks</a:t>
            </a:r>
            <a:r>
              <a:rPr lang="en-US"/>
              <a:t> on all other pieces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6AF6B5E-2896-3308-9E88-1B3B4D1621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712"/>
          <a:stretch>
            <a:fillRect/>
          </a:stretch>
        </p:blipFill>
        <p:spPr>
          <a:xfrm>
            <a:off x="929359" y="2570533"/>
            <a:ext cx="2172143" cy="2086266"/>
          </a:xfrm>
          <a:prstGeom prst="roundRect">
            <a:avLst>
              <a:gd name="adj" fmla="val 9362"/>
            </a:avLst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3F9B069-CE0E-DD53-3E0F-B30CBB61B5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130" t="802" r="32582" b="-802"/>
          <a:stretch>
            <a:fillRect/>
          </a:stretch>
        </p:blipFill>
        <p:spPr>
          <a:xfrm>
            <a:off x="5107109" y="2570533"/>
            <a:ext cx="2172143" cy="2086266"/>
          </a:xfrm>
          <a:prstGeom prst="roundRect">
            <a:avLst>
              <a:gd name="adj" fmla="val 9362"/>
            </a:avLst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18CD479-35B8-BD4B-C9DB-B43F0DDD85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7" b="1977"/>
          <a:stretch/>
        </p:blipFill>
        <p:spPr>
          <a:xfrm>
            <a:off x="8942043" y="2556234"/>
            <a:ext cx="2172143" cy="2086266"/>
          </a:xfrm>
          <a:prstGeom prst="roundRect">
            <a:avLst>
              <a:gd name="adj" fmla="val 11188"/>
            </a:avLst>
          </a:prstGeom>
        </p:spPr>
      </p:pic>
    </p:spTree>
    <p:extLst>
      <p:ext uri="{BB962C8B-B14F-4D97-AF65-F5344CB8AC3E}">
        <p14:creationId xmlns:p14="http://schemas.microsoft.com/office/powerpoint/2010/main" val="1262601886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93F4ED-3CB6-3AF9-F3BA-8E3390DC4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ACCEA17-8F14-185A-ED39-3711278963B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21601EA-C946-967C-E573-4D8DFDD4C333}"/>
              </a:ext>
            </a:extLst>
          </p:cNvPr>
          <p:cNvGrpSpPr/>
          <p:nvPr/>
        </p:nvGrpSpPr>
        <p:grpSpPr>
          <a:xfrm>
            <a:off x="113725" y="101035"/>
            <a:ext cx="3081962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EE22B9C-9934-D323-7879-F0F259B22E94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E1A5A4D-A3C9-88BF-DB75-2E9AFC7351B7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Bit Boards</a:t>
              </a:r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 Calculations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D6A2769-CD82-82B8-94F9-422A432D60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5025" y="1168194"/>
            <a:ext cx="4181426" cy="4181426"/>
          </a:xfrm>
          <a:prstGeom prst="roundRect">
            <a:avLst>
              <a:gd name="adj" fmla="val 11883"/>
            </a:avLst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02AF749-F0D4-473B-D6F3-4BDF65BC4C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2724" y="1168194"/>
            <a:ext cx="4181427" cy="4181427"/>
          </a:xfrm>
          <a:prstGeom prst="roundRect">
            <a:avLst>
              <a:gd name="adj" fmla="val 11200"/>
            </a:avLst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A2C4181-1ED7-1395-3226-23DEAC7B0EF0}"/>
              </a:ext>
            </a:extLst>
          </p:cNvPr>
          <p:cNvSpPr txBox="1"/>
          <p:nvPr/>
        </p:nvSpPr>
        <p:spPr>
          <a:xfrm>
            <a:off x="2140831" y="5505140"/>
            <a:ext cx="2709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Filtered </a:t>
            </a:r>
            <a:r>
              <a:rPr lang="en-US">
                <a:solidFill>
                  <a:srgbClr val="E54D86"/>
                </a:solidFill>
              </a:rPr>
              <a:t>Movement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5E8CF4-8055-A75B-3453-577236F365DE}"/>
              </a:ext>
            </a:extLst>
          </p:cNvPr>
          <p:cNvSpPr txBox="1"/>
          <p:nvPr/>
        </p:nvSpPr>
        <p:spPr>
          <a:xfrm>
            <a:off x="7341358" y="5494905"/>
            <a:ext cx="2709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Filtered </a:t>
            </a:r>
            <a:r>
              <a:rPr lang="en-US">
                <a:solidFill>
                  <a:srgbClr val="FFC000"/>
                </a:solidFill>
              </a:rPr>
              <a:t>Attack</a:t>
            </a:r>
          </a:p>
        </p:txBody>
      </p:sp>
    </p:spTree>
    <p:extLst>
      <p:ext uri="{BB962C8B-B14F-4D97-AF65-F5344CB8AC3E}">
        <p14:creationId xmlns:p14="http://schemas.microsoft.com/office/powerpoint/2010/main" val="284966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A7B751-82B4-DF70-DC6C-115DC9296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87A0BE55-ABFB-0775-DE99-C4C56B04DC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80A2BF5-BD9F-CDE5-8DF2-55CF00492DE6}"/>
              </a:ext>
            </a:extLst>
          </p:cNvPr>
          <p:cNvGrpSpPr/>
          <p:nvPr/>
        </p:nvGrpSpPr>
        <p:grpSpPr>
          <a:xfrm>
            <a:off x="85444" y="101035"/>
            <a:ext cx="4143656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BAAB89-3AD7-F957-BDA4-759C1B8FA9AA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9434D11-AE2F-591C-32BD-9836E0CCA0FC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Not True Bitboards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F22759E4-8F40-68D3-5FBB-8AB5E64EFFAB}"/>
              </a:ext>
            </a:extLst>
          </p:cNvPr>
          <p:cNvSpPr txBox="1"/>
          <p:nvPr/>
        </p:nvSpPr>
        <p:spPr>
          <a:xfrm>
            <a:off x="765618" y="1442634"/>
            <a:ext cx="346348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not a proper </a:t>
            </a:r>
            <a:r>
              <a:rPr lang="en-US"/>
              <a:t>bitboard implementation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more like an </a:t>
            </a:r>
            <a:r>
              <a:rPr lang="en-US">
                <a:solidFill>
                  <a:srgbClr val="00B0F0"/>
                </a:solidFill>
              </a:rPr>
              <a:t>amalgamation</a:t>
            </a:r>
            <a:r>
              <a:rPr lang="en-US"/>
              <a:t> of both </a:t>
            </a:r>
            <a:r>
              <a:rPr lang="en-US">
                <a:solidFill>
                  <a:srgbClr val="00B0F0"/>
                </a:solidFill>
              </a:rPr>
              <a:t>bitboards</a:t>
            </a:r>
            <a:r>
              <a:rPr lang="en-US"/>
              <a:t> and normal </a:t>
            </a:r>
            <a:r>
              <a:rPr lang="en-US">
                <a:solidFill>
                  <a:srgbClr val="00B0F0"/>
                </a:solidFill>
              </a:rPr>
              <a:t>array</a:t>
            </a:r>
            <a:r>
              <a:rPr lang="en-US"/>
              <a:t> handling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has the added </a:t>
            </a:r>
            <a:r>
              <a:rPr lang="en-US">
                <a:solidFill>
                  <a:srgbClr val="92D050"/>
                </a:solidFill>
              </a:rPr>
              <a:t>speedboost</a:t>
            </a:r>
            <a:r>
              <a:rPr lang="en-US"/>
              <a:t> and </a:t>
            </a:r>
            <a:r>
              <a:rPr lang="en-US">
                <a:solidFill>
                  <a:srgbClr val="92D050"/>
                </a:solidFill>
              </a:rPr>
              <a:t>simplicity</a:t>
            </a:r>
            <a:r>
              <a:rPr lang="en-US"/>
              <a:t> from bit operations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helper functions: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C000"/>
                </a:solidFill>
              </a:rPr>
              <a:t>FlipBit()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SwapBit()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CA586D-FDBD-4853-DF1E-2039B89000B1}"/>
              </a:ext>
            </a:extLst>
          </p:cNvPr>
          <p:cNvSpPr txBox="1"/>
          <p:nvPr/>
        </p:nvSpPr>
        <p:spPr>
          <a:xfrm>
            <a:off x="4967475" y="593843"/>
            <a:ext cx="4010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C000"/>
                </a:solidFill>
              </a:rPr>
              <a:t>FlipBit(board, index)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4535B7-924C-D255-F6CC-9601ADAD1757}"/>
              </a:ext>
            </a:extLst>
          </p:cNvPr>
          <p:cNvSpPr txBox="1"/>
          <p:nvPr/>
        </p:nvSpPr>
        <p:spPr>
          <a:xfrm>
            <a:off x="4967474" y="3675437"/>
            <a:ext cx="4010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SwapBit(board, index, index)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B59DC8E-DECD-A759-72B8-93C1C22ED8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1178" y="4209626"/>
            <a:ext cx="2189639" cy="21896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509A9BF-49B6-7360-C13A-FF9927016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7476" y="1085856"/>
            <a:ext cx="2257044" cy="225704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A317451-A2E5-EB12-0D96-E5D0D919F9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6325" y="4209627"/>
            <a:ext cx="2189638" cy="21896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0685AD-61AE-E82C-DFFD-4AFE44D583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76325" y="1085856"/>
            <a:ext cx="2257044" cy="2257044"/>
          </a:xfrm>
          <a:prstGeom prst="rect">
            <a:avLst/>
          </a:prstGeom>
        </p:spPr>
      </p:pic>
      <p:sp>
        <p:nvSpPr>
          <p:cNvPr id="17" name="Arrow: Right 16">
            <a:extLst>
              <a:ext uri="{FF2B5EF4-FFF2-40B4-BE49-F238E27FC236}">
                <a16:creationId xmlns:a16="http://schemas.microsoft.com/office/drawing/2014/main" id="{A181A1EF-5523-C5B2-7653-DA98099936F3}"/>
              </a:ext>
            </a:extLst>
          </p:cNvPr>
          <p:cNvSpPr/>
          <p:nvPr/>
        </p:nvSpPr>
        <p:spPr>
          <a:xfrm>
            <a:off x="7674172" y="1923865"/>
            <a:ext cx="952500" cy="5810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20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F3D19E4C-CCF4-41E9-08AB-313E5D7423CC}"/>
              </a:ext>
            </a:extLst>
          </p:cNvPr>
          <p:cNvSpPr/>
          <p:nvPr/>
        </p:nvSpPr>
        <p:spPr>
          <a:xfrm>
            <a:off x="7674172" y="5009155"/>
            <a:ext cx="952500" cy="5810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13, 29</a:t>
            </a:r>
          </a:p>
        </p:txBody>
      </p:sp>
    </p:spTree>
    <p:extLst>
      <p:ext uri="{BB962C8B-B14F-4D97-AF65-F5344CB8AC3E}">
        <p14:creationId xmlns:p14="http://schemas.microsoft.com/office/powerpoint/2010/main" val="27193566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7" grpId="0" animBg="1"/>
      <p:bldP spid="1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1D1D0C-9335-FC24-D4DC-6F604784F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A7A1FAD-6319-047F-7C00-1983A911834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9DE3694-7642-8E2E-DEF4-4194AF077CEE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8481927-A4D7-69E9-4269-E93DE7A4158B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CCC914F-ECFC-3CEB-0C20-3724AB28C1BB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A deep deep rabbit hole to fall into...</a:t>
              </a:r>
              <a:endParaRPr lang="en-US" sz="11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4F8A22C-7147-7F8C-B72F-9F9F1EAF11E8}"/>
              </a:ext>
            </a:extLst>
          </p:cNvPr>
          <p:cNvSpPr txBox="1"/>
          <p:nvPr/>
        </p:nvSpPr>
        <p:spPr>
          <a:xfrm>
            <a:off x="7580982" y="338216"/>
            <a:ext cx="3725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https://www.chessprogramming.org/Bitboards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B4931C-69BB-B29E-E33F-B994AB62F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21" y="634096"/>
            <a:ext cx="10935634" cy="40466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20F514-3B5F-4120-11FE-B6F7DCC4A2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324" y="1213267"/>
            <a:ext cx="2547194" cy="465212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C34BB43-6970-F3DA-2806-64C0132F5D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7352" y="1846361"/>
            <a:ext cx="4387667" cy="465212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13D374D-8E21-4D32-2BDB-9407556CD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174" y="4901165"/>
            <a:ext cx="4041657" cy="75151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3FD4856-AC71-3F62-BBAF-B8836C78E62E}"/>
              </a:ext>
            </a:extLst>
          </p:cNvPr>
          <p:cNvSpPr txBox="1"/>
          <p:nvPr/>
        </p:nvSpPr>
        <p:spPr>
          <a:xfrm>
            <a:off x="4657352" y="6564525"/>
            <a:ext cx="41368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https://healeycodes.com/visualizing-chess-bitboards</a:t>
            </a:r>
          </a:p>
        </p:txBody>
      </p:sp>
    </p:spTree>
    <p:extLst>
      <p:ext uri="{BB962C8B-B14F-4D97-AF65-F5344CB8AC3E}">
        <p14:creationId xmlns:p14="http://schemas.microsoft.com/office/powerpoint/2010/main" val="78209242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3CE9D-FF83-2BE5-9867-C773900A4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0BC0A9-20AC-60E3-00EC-119843D134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E17A4D-B67F-3A7F-D14D-446375C9E425}"/>
              </a:ext>
            </a:extLst>
          </p:cNvPr>
          <p:cNvSpPr/>
          <p:nvPr/>
        </p:nvSpPr>
        <p:spPr>
          <a:xfrm>
            <a:off x="3282098" y="2392051"/>
            <a:ext cx="5627802" cy="2073897"/>
          </a:xfrm>
          <a:prstGeom prst="rect">
            <a:avLst/>
          </a:prstGeom>
          <a:pattFill prst="wdDn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0A7E1A-8307-AAEB-259E-0C763441BE73}"/>
              </a:ext>
            </a:extLst>
          </p:cNvPr>
          <p:cNvSpPr/>
          <p:nvPr/>
        </p:nvSpPr>
        <p:spPr>
          <a:xfrm>
            <a:off x="3470830" y="2563991"/>
            <a:ext cx="5250533" cy="1728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  <a:endParaRPr lang="en-US" sz="36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D18F47-9099-99AB-DBCE-C32150772126}"/>
              </a:ext>
            </a:extLst>
          </p:cNvPr>
          <p:cNvSpPr txBox="1"/>
          <p:nvPr/>
        </p:nvSpPr>
        <p:spPr>
          <a:xfrm>
            <a:off x="8909900" y="6059055"/>
            <a:ext cx="34821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*Code was shortened and adjusted for readability</a:t>
            </a:r>
          </a:p>
        </p:txBody>
      </p:sp>
    </p:spTree>
    <p:extLst>
      <p:ext uri="{BB962C8B-B14F-4D97-AF65-F5344CB8AC3E}">
        <p14:creationId xmlns:p14="http://schemas.microsoft.com/office/powerpoint/2010/main" val="3916084677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651F1E-6273-EEEF-06ED-A63709429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3C2BB1-816F-4B5D-CE7B-48C1649024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3D24585-8010-A3B6-077F-5DFA9A8A0170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1A5AA0A-1B5A-227B-C1B2-4D24A6221B83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ADD40F2-5011-0935-7D7F-C3A24B7BF5ED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Comparison Method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26E8869A-5E88-F838-E910-3A807B1B0A01}"/>
              </a:ext>
            </a:extLst>
          </p:cNvPr>
          <p:cNvSpPr txBox="1"/>
          <p:nvPr/>
        </p:nvSpPr>
        <p:spPr>
          <a:xfrm>
            <a:off x="3396973" y="3815028"/>
            <a:ext cx="50061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used copy paste to see how easy it was to do a </a:t>
            </a:r>
            <a:r>
              <a:rPr lang="en-US">
                <a:solidFill>
                  <a:srgbClr val="00B0F0"/>
                </a:solidFill>
              </a:rPr>
              <a:t>one-to-one implementation </a:t>
            </a:r>
            <a:r>
              <a:rPr lang="en-US"/>
              <a:t>of the same code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problems: unused </a:t>
            </a:r>
            <a:r>
              <a:rPr lang="en-US">
                <a:solidFill>
                  <a:srgbClr val="E54D86"/>
                </a:solidFill>
              </a:rPr>
              <a:t>Go potential</a:t>
            </a:r>
            <a:r>
              <a:rPr lang="en-US"/>
              <a:t>, circular </a:t>
            </a:r>
            <a:r>
              <a:rPr lang="en-US">
                <a:solidFill>
                  <a:srgbClr val="E54D86"/>
                </a:solidFill>
              </a:rPr>
              <a:t>dependencies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8E82C85-2E53-3F54-81EC-CA90466BD933}"/>
              </a:ext>
            </a:extLst>
          </p:cNvPr>
          <p:cNvGrpSpPr/>
          <p:nvPr/>
        </p:nvGrpSpPr>
        <p:grpSpPr>
          <a:xfrm>
            <a:off x="1662010" y="1000644"/>
            <a:ext cx="2590195" cy="2590195"/>
            <a:chOff x="1666874" y="1264187"/>
            <a:chExt cx="2590195" cy="2590195"/>
          </a:xfrm>
        </p:grpSpPr>
        <p:pic>
          <p:nvPicPr>
            <p:cNvPr id="3" name="Graphic 2" descr="Open folder with solid fill">
              <a:extLst>
                <a:ext uri="{FF2B5EF4-FFF2-40B4-BE49-F238E27FC236}">
                  <a16:creationId xmlns:a16="http://schemas.microsoft.com/office/drawing/2014/main" id="{98BDE792-63BA-8F5B-EB78-EB8511052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66874" y="1264187"/>
              <a:ext cx="2590195" cy="2590195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516E831-59BE-4E08-908A-F1C5125DC4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745875" y="2419568"/>
              <a:ext cx="712307" cy="712307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5E036D2-37A5-5181-31EE-F69317A217ED}"/>
              </a:ext>
            </a:extLst>
          </p:cNvPr>
          <p:cNvGrpSpPr/>
          <p:nvPr/>
        </p:nvGrpSpPr>
        <p:grpSpPr>
          <a:xfrm>
            <a:off x="7939797" y="1000645"/>
            <a:ext cx="2590194" cy="2590194"/>
            <a:chOff x="7246108" y="1124471"/>
            <a:chExt cx="2590194" cy="2590194"/>
          </a:xfrm>
        </p:grpSpPr>
        <p:pic>
          <p:nvPicPr>
            <p:cNvPr id="11" name="Graphic 10" descr="Open folder with solid fill">
              <a:extLst>
                <a:ext uri="{FF2B5EF4-FFF2-40B4-BE49-F238E27FC236}">
                  <a16:creationId xmlns:a16="http://schemas.microsoft.com/office/drawing/2014/main" id="{43DD1C1F-03A9-70DD-6FF0-B474026D06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46108" y="1124471"/>
              <a:ext cx="2590194" cy="2590194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B8A811D-90A3-83E0-B11B-0DDB1D876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709394" y="1962150"/>
              <a:ext cx="1659198" cy="1466849"/>
            </a:xfrm>
            <a:prstGeom prst="rect">
              <a:avLst/>
            </a:prstGeom>
          </p:spPr>
        </p:pic>
      </p:grp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554B9ED4-6232-AF62-6471-E159AD1BA160}"/>
              </a:ext>
            </a:extLst>
          </p:cNvPr>
          <p:cNvSpPr/>
          <p:nvPr/>
        </p:nvSpPr>
        <p:spPr>
          <a:xfrm>
            <a:off x="5162552" y="1925357"/>
            <a:ext cx="1733550" cy="942975"/>
          </a:xfrm>
          <a:prstGeom prst="rightArrow">
            <a:avLst/>
          </a:prstGeom>
          <a:solidFill>
            <a:srgbClr val="21212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700103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3714FC-992B-C6C4-CA74-EA436B2FF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8052B65-240C-991F-7476-49F1D3479EA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24A334-3F97-E20E-D7D9-81B9E3182CAB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6C2446E-BB71-9098-F925-4CF70F19EB00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5DFA048-E2B3-7D01-0BDF-5E3F81928A8E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Chess Engine Flow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93E766D-D503-0ACA-93D5-EBDB9285A8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59521" y="885631"/>
            <a:ext cx="7672955" cy="5086738"/>
          </a:xfrm>
          <a:prstGeom prst="roundRect">
            <a:avLst>
              <a:gd name="adj" fmla="val 8990"/>
            </a:avLst>
          </a:prstGeom>
        </p:spPr>
      </p:pic>
    </p:spTree>
    <p:extLst>
      <p:ext uri="{BB962C8B-B14F-4D97-AF65-F5344CB8AC3E}">
        <p14:creationId xmlns:p14="http://schemas.microsoft.com/office/powerpoint/2010/main" val="2947200339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B2B073-303D-4BF1-9679-615FF2007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7D7F386-6204-CEC8-B2E2-4145028E873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33903AC-9FEE-2EF6-5A75-C8AB2A529E51}"/>
              </a:ext>
            </a:extLst>
          </p:cNvPr>
          <p:cNvGrpSpPr/>
          <p:nvPr/>
        </p:nvGrpSpPr>
        <p:grpSpPr>
          <a:xfrm>
            <a:off x="85444" y="101035"/>
            <a:ext cx="1505231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EF2FDA2-183D-5409-8A5C-1DB253F5127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F8111F-9B32-F7BA-6969-82047D5B122D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Kotlin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68A936F3-FFAF-FC7F-A503-398C44CA2E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11" y="821352"/>
            <a:ext cx="5001323" cy="1991003"/>
          </a:xfrm>
          <a:prstGeom prst="roundRect">
            <a:avLst>
              <a:gd name="adj" fmla="val 4707"/>
            </a:avLst>
          </a:prstGeom>
          <a:ln>
            <a:solidFill>
              <a:schemeClr val="accent1">
                <a:lumMod val="75000"/>
              </a:schemeClr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5AE0C8C-7EE4-ADE4-227E-681B372E7A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79" y="3590785"/>
            <a:ext cx="2905530" cy="2629267"/>
          </a:xfrm>
          <a:prstGeom prst="roundRect">
            <a:avLst>
              <a:gd name="adj" fmla="val 6523"/>
            </a:avLst>
          </a:prstGeom>
          <a:ln>
            <a:solidFill>
              <a:schemeClr val="accent1">
                <a:lumMod val="75000"/>
              </a:schemeClr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C74D487-674F-B754-19B3-148AD6354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2799" y="912533"/>
            <a:ext cx="4096322" cy="1991003"/>
          </a:xfrm>
          <a:prstGeom prst="roundRect">
            <a:avLst>
              <a:gd name="adj" fmla="val 5664"/>
            </a:avLst>
          </a:prstGeom>
          <a:ln>
            <a:solidFill>
              <a:schemeClr val="accent1">
                <a:lumMod val="75000"/>
              </a:schemeClr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B491E8-1B44-5788-AFBA-795F792D2B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8424" y="3143048"/>
            <a:ext cx="4906060" cy="3077004"/>
          </a:xfrm>
          <a:prstGeom prst="roundRect">
            <a:avLst>
              <a:gd name="adj" fmla="val 5523"/>
            </a:avLst>
          </a:prstGeom>
          <a:ln>
            <a:solidFill>
              <a:schemeClr val="accent1">
                <a:lumMod val="75000"/>
              </a:schemeClr>
            </a:solidFill>
          </a:ln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C566817-7A07-B96A-4E01-79535D4AFE84}"/>
              </a:ext>
            </a:extLst>
          </p:cNvPr>
          <p:cNvCxnSpPr>
            <a:cxnSpLocks/>
          </p:cNvCxnSpPr>
          <p:nvPr/>
        </p:nvCxnSpPr>
        <p:spPr>
          <a:xfrm>
            <a:off x="5890609" y="1390650"/>
            <a:ext cx="1072166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477636-4ADD-1627-7DBC-26B36FF34CC8}"/>
              </a:ext>
            </a:extLst>
          </p:cNvPr>
          <p:cNvCxnSpPr>
            <a:cxnSpLocks/>
          </p:cNvCxnSpPr>
          <p:nvPr/>
        </p:nvCxnSpPr>
        <p:spPr>
          <a:xfrm>
            <a:off x="5859561" y="2812355"/>
            <a:ext cx="431098" cy="34021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0EBEADE-1B3D-9C0A-5AF6-4C62A92308CF}"/>
              </a:ext>
            </a:extLst>
          </p:cNvPr>
          <p:cNvCxnSpPr>
            <a:cxnSpLocks/>
          </p:cNvCxnSpPr>
          <p:nvPr/>
        </p:nvCxnSpPr>
        <p:spPr>
          <a:xfrm>
            <a:off x="4437844" y="2944733"/>
            <a:ext cx="32734" cy="49055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47050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DD7377-5C76-69AA-15C1-4D176100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E58FB19-DCA7-0472-E777-C9646EF25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4C01A21-6C7C-50E2-DB41-273296F01B11}"/>
              </a:ext>
            </a:extLst>
          </p:cNvPr>
          <p:cNvGrpSpPr/>
          <p:nvPr/>
        </p:nvGrpSpPr>
        <p:grpSpPr>
          <a:xfrm>
            <a:off x="85444" y="101035"/>
            <a:ext cx="1505231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9E73A36-3CAD-34B4-1858-C7F1F6AADE3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236B78B-61BD-1441-EC58-4F02EFF37715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Go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8242A3B-4434-4471-D4FE-019A07433E3C}"/>
              </a:ext>
            </a:extLst>
          </p:cNvPr>
          <p:cNvCxnSpPr>
            <a:cxnSpLocks/>
          </p:cNvCxnSpPr>
          <p:nvPr/>
        </p:nvCxnSpPr>
        <p:spPr>
          <a:xfrm>
            <a:off x="4581525" y="1419225"/>
            <a:ext cx="184785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1DBBA2-1A8E-E159-C3F9-87DAB98AC510}"/>
              </a:ext>
            </a:extLst>
          </p:cNvPr>
          <p:cNvCxnSpPr>
            <a:cxnSpLocks/>
          </p:cNvCxnSpPr>
          <p:nvPr/>
        </p:nvCxnSpPr>
        <p:spPr>
          <a:xfrm>
            <a:off x="4544517" y="2225610"/>
            <a:ext cx="1285240" cy="1035082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9123CDA-6ACC-5D08-F6E8-AAC2A7D0A72B}"/>
              </a:ext>
            </a:extLst>
          </p:cNvPr>
          <p:cNvCxnSpPr>
            <a:cxnSpLocks/>
          </p:cNvCxnSpPr>
          <p:nvPr/>
        </p:nvCxnSpPr>
        <p:spPr>
          <a:xfrm>
            <a:off x="3048000" y="2600325"/>
            <a:ext cx="332684" cy="504982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720FF17-901F-A614-44B9-A55DC8244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344" y="720516"/>
            <a:ext cx="3467584" cy="1733792"/>
          </a:xfrm>
          <a:prstGeom prst="roundRect">
            <a:avLst>
              <a:gd name="adj" fmla="val 10075"/>
            </a:avLst>
          </a:prstGeom>
          <a:ln>
            <a:solidFill>
              <a:srgbClr val="00B0F0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AEE654-5706-AE7A-2486-BCF24D5D11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757" y="3661607"/>
            <a:ext cx="5417692" cy="2461874"/>
          </a:xfrm>
          <a:prstGeom prst="roundRect">
            <a:avLst>
              <a:gd name="adj" fmla="val 3899"/>
            </a:avLst>
          </a:prstGeom>
          <a:ln>
            <a:solidFill>
              <a:srgbClr val="00B0F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B3110C3-6691-D22D-457A-F30EB2D83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0531" y="3260692"/>
            <a:ext cx="3467583" cy="2897158"/>
          </a:xfrm>
          <a:prstGeom prst="roundRect">
            <a:avLst>
              <a:gd name="adj" fmla="val 3845"/>
            </a:avLst>
          </a:prstGeom>
          <a:ln>
            <a:solidFill>
              <a:srgbClr val="00B0F0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B3F5EAB-90F8-5608-9183-C27182C35D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3276" y="734519"/>
            <a:ext cx="4234173" cy="2380156"/>
          </a:xfrm>
          <a:prstGeom prst="roundRect">
            <a:avLst>
              <a:gd name="adj" fmla="val 4261"/>
            </a:avLst>
          </a:prstGeom>
          <a:ln>
            <a:solidFill>
              <a:srgbClr val="00B0F0"/>
            </a:solidFill>
          </a:ln>
        </p:spPr>
      </p:pic>
    </p:spTree>
    <p:extLst>
      <p:ext uri="{BB962C8B-B14F-4D97-AF65-F5344CB8AC3E}">
        <p14:creationId xmlns:p14="http://schemas.microsoft.com/office/powerpoint/2010/main" val="792808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FC0784-656A-4F83-293A-B2ECA1948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6787F12-E3E2-FF53-12D2-AAE78406A5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79B0A42-5617-B67C-F4B6-4D0A4D161DA5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F50527D-4472-78E7-8DE2-19CF81C4B60B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218BA19-F38B-6797-2B7F-D7443FE55EDC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Kotlin: Code Structure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ABD889E3-BBD4-8A7B-87B2-FC0AEC7A7D20}"/>
              </a:ext>
            </a:extLst>
          </p:cNvPr>
          <p:cNvSpPr txBox="1"/>
          <p:nvPr/>
        </p:nvSpPr>
        <p:spPr>
          <a:xfrm>
            <a:off x="773001" y="1443841"/>
            <a:ext cx="500611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ChessPiece</a:t>
            </a:r>
            <a:r>
              <a:rPr lang="en-US"/>
              <a:t> as default/ base implementation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assumes the default piece is 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white</a:t>
            </a:r>
            <a:r>
              <a:rPr lang="en-US"/>
              <a:t> and can </a:t>
            </a:r>
            <a:r>
              <a:rPr lang="en-US">
                <a:solidFill>
                  <a:srgbClr val="E54D86"/>
                </a:solidFill>
              </a:rPr>
              <a:t>move indefinitely </a:t>
            </a:r>
            <a:r>
              <a:rPr lang="en-US"/>
              <a:t>according to its </a:t>
            </a:r>
            <a:r>
              <a:rPr lang="en-US">
                <a:solidFill>
                  <a:srgbClr val="E54D86"/>
                </a:solidFill>
              </a:rPr>
              <a:t>movePattern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SingleStep</a:t>
            </a:r>
            <a:r>
              <a:rPr lang="en-US"/>
              <a:t> only moves </a:t>
            </a:r>
            <a:r>
              <a:rPr lang="en-US">
                <a:solidFill>
                  <a:srgbClr val="E54D86"/>
                </a:solidFill>
              </a:rPr>
              <a:t>one step </a:t>
            </a:r>
            <a:r>
              <a:rPr lang="en-US"/>
              <a:t>in any given direction (according to movePattern)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C000"/>
                </a:solidFill>
              </a:rPr>
              <a:t>King</a:t>
            </a:r>
            <a:r>
              <a:rPr lang="en-US"/>
              <a:t> implements </a:t>
            </a:r>
            <a:r>
              <a:rPr lang="en-US">
                <a:solidFill>
                  <a:srgbClr val="E54D86"/>
                </a:solidFill>
              </a:rPr>
              <a:t>Castling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Pawn</a:t>
            </a:r>
            <a:r>
              <a:rPr lang="en-US"/>
              <a:t> implements </a:t>
            </a:r>
            <a:r>
              <a:rPr lang="en-US">
                <a:solidFill>
                  <a:srgbClr val="E54D86"/>
                </a:solidFill>
              </a:rPr>
              <a:t>En Passant </a:t>
            </a:r>
            <a:r>
              <a:rPr lang="en-US"/>
              <a:t>and </a:t>
            </a:r>
            <a:r>
              <a:rPr lang="en-US">
                <a:solidFill>
                  <a:srgbClr val="E54D86"/>
                </a:solidFill>
              </a:rPr>
              <a:t>Promotion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CF4300D-430D-798C-D2B8-7A40BDED1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2499" y="3186003"/>
            <a:ext cx="2513877" cy="781558"/>
          </a:xfrm>
          <a:prstGeom prst="roundRect">
            <a:avLst>
              <a:gd name="adj" fmla="val 10758"/>
            </a:avLst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6C1DCF-7C01-9BD1-0028-A4417EADD5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7117"/>
          <a:stretch>
            <a:fillRect/>
          </a:stretch>
        </p:blipFill>
        <p:spPr>
          <a:xfrm>
            <a:off x="5950328" y="4454041"/>
            <a:ext cx="2413066" cy="1515407"/>
          </a:xfrm>
          <a:prstGeom prst="roundRect">
            <a:avLst>
              <a:gd name="adj" fmla="val 6306"/>
            </a:avLst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CC5911B-3CBE-C349-C06A-ECA274806D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0608"/>
          <a:stretch>
            <a:fillRect/>
          </a:stretch>
        </p:blipFill>
        <p:spPr>
          <a:xfrm>
            <a:off x="8675570" y="4454040"/>
            <a:ext cx="2743429" cy="1515408"/>
          </a:xfrm>
          <a:prstGeom prst="roundRect">
            <a:avLst>
              <a:gd name="adj" fmla="val 5696"/>
            </a:avLst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1B482C4-11EC-E298-AB45-D0952E563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1152" y="655781"/>
            <a:ext cx="2436570" cy="2193570"/>
          </a:xfrm>
          <a:prstGeom prst="roundRect">
            <a:avLst>
              <a:gd name="adj" fmla="val 4456"/>
            </a:avLst>
          </a:prstGeom>
          <a:ln>
            <a:solidFill>
              <a:schemeClr val="tx1"/>
            </a:solidFill>
          </a:ln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31BD99F-DC3E-713E-493A-E15BA7385453}"/>
              </a:ext>
            </a:extLst>
          </p:cNvPr>
          <p:cNvCxnSpPr>
            <a:stCxn id="9" idx="0"/>
            <a:endCxn id="18" idx="2"/>
          </p:cNvCxnSpPr>
          <p:nvPr/>
        </p:nvCxnSpPr>
        <p:spPr>
          <a:xfrm flipH="1" flipV="1">
            <a:off x="8559437" y="2849351"/>
            <a:ext cx="1" cy="3366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EC25981-F666-52DF-DB97-86E8486F5219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7156861" y="3967561"/>
            <a:ext cx="184291" cy="4864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546C214-C21F-4756-CF5D-55B25FAE300F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9777722" y="3967561"/>
            <a:ext cx="269563" cy="486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8985458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43BD20-C52F-7775-6727-27C619911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E91CA3A-1A39-B47B-CE14-DB25F7D79D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704B8BD-699E-A24E-6ED6-54020549F736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55C0AF7-34B4-7B9B-EAC6-BE3BCEAFC3DB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C9A0E0B-EE07-F410-679A-77F1A1CCA679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Go: Code Structure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14DD159F-5F2C-AD4A-AE86-4D528DF41F57}"/>
              </a:ext>
            </a:extLst>
          </p:cNvPr>
          <p:cNvSpPr txBox="1"/>
          <p:nvPr/>
        </p:nvSpPr>
        <p:spPr>
          <a:xfrm>
            <a:off x="644160" y="3287656"/>
            <a:ext cx="50061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2"/>
                </a:solidFill>
              </a:rPr>
              <a:t>Mover</a:t>
            </a:r>
            <a:r>
              <a:rPr lang="en-US">
                <a:solidFill>
                  <a:srgbClr val="00B0F0"/>
                </a:solidFill>
              </a:rPr>
              <a:t> </a:t>
            </a:r>
            <a:r>
              <a:rPr lang="en-US"/>
              <a:t>as interface to allow polymorphism</a:t>
            </a:r>
            <a:endParaRPr lang="en-US">
              <a:solidFill>
                <a:srgbClr val="E54D8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Multi</a:t>
            </a:r>
            <a:r>
              <a:rPr lang="en-US">
                <a:solidFill>
                  <a:srgbClr val="92D050"/>
                </a:solidFill>
              </a:rPr>
              <a:t> </a:t>
            </a:r>
            <a:r>
              <a:rPr lang="en-US"/>
              <a:t>is equivalent to </a:t>
            </a:r>
            <a:r>
              <a:rPr lang="en-US">
                <a:solidFill>
                  <a:srgbClr val="00B0F0"/>
                </a:solidFill>
              </a:rPr>
              <a:t>ChessPiece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Single</a:t>
            </a:r>
            <a:r>
              <a:rPr lang="en-US"/>
              <a:t> is the same as </a:t>
            </a:r>
            <a:r>
              <a:rPr lang="en-US">
                <a:solidFill>
                  <a:srgbClr val="92D050"/>
                </a:solidFill>
              </a:rPr>
              <a:t>SingleStep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No Castling, En Passant or Promotion because of time and </a:t>
            </a:r>
            <a:r>
              <a:rPr lang="en-US">
                <a:solidFill>
                  <a:srgbClr val="E54D86"/>
                </a:solidFill>
              </a:rPr>
              <a:t>strange circular dependencies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7835E-3B88-BE59-1C2C-A2B494EF9B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3667" y="1117361"/>
            <a:ext cx="2419688" cy="1533739"/>
          </a:xfrm>
          <a:prstGeom prst="roundRect">
            <a:avLst>
              <a:gd name="adj" fmla="val 9440"/>
            </a:avLst>
          </a:prstGeom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1A50017-9668-7635-A5D7-85C4F0A1EF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085" y="3998477"/>
            <a:ext cx="2553056" cy="2191056"/>
          </a:xfrm>
          <a:prstGeom prst="roundRect">
            <a:avLst>
              <a:gd name="adj" fmla="val 6971"/>
            </a:avLst>
          </a:prstGeom>
          <a:ln>
            <a:solidFill>
              <a:schemeClr val="tx1"/>
            </a:solidFill>
          </a:ln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A83136F-0D3E-D215-A52C-055389D4E2F8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7233823" y="2651100"/>
            <a:ext cx="1294527" cy="11092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275D6DA-BB42-4639-1336-6426B77EF696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10400145" y="2651100"/>
            <a:ext cx="67468" cy="13473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121D44C-C9D3-D2CB-A0D2-C567F0C5BB11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6289869" y="1884230"/>
            <a:ext cx="2153798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66A15DD8-FD1C-D5A0-FCCD-12BFEB82C6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3979" y="3760319"/>
            <a:ext cx="2419688" cy="2429214"/>
          </a:xfrm>
          <a:prstGeom prst="roundRect">
            <a:avLst>
              <a:gd name="adj" fmla="val 9796"/>
            </a:avLst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E0CDF2C-4E50-7EF8-2D56-838B415BE0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9075" y="955413"/>
            <a:ext cx="3000794" cy="1857634"/>
          </a:xfrm>
          <a:prstGeom prst="roundRect">
            <a:avLst>
              <a:gd name="adj" fmla="val 6723"/>
            </a:avLst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8012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7F409-E1A0-1E33-751C-3DD56035E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4105E6-D856-9FCD-30A9-AA3F342193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19E680-2AB9-C60D-7AA4-88B60FB7F8B2}"/>
              </a:ext>
            </a:extLst>
          </p:cNvPr>
          <p:cNvSpPr/>
          <p:nvPr/>
        </p:nvSpPr>
        <p:spPr>
          <a:xfrm>
            <a:off x="3282098" y="2392051"/>
            <a:ext cx="5627802" cy="2073897"/>
          </a:xfrm>
          <a:prstGeom prst="rect">
            <a:avLst/>
          </a:prstGeom>
          <a:pattFill prst="wdDn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6E07AC-C858-92FA-E8B9-78A3D8CCC100}"/>
              </a:ext>
            </a:extLst>
          </p:cNvPr>
          <p:cNvSpPr/>
          <p:nvPr/>
        </p:nvSpPr>
        <p:spPr>
          <a:xfrm>
            <a:off x="3470830" y="2563991"/>
            <a:ext cx="5250533" cy="1728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Demo Break</a:t>
            </a:r>
            <a:endParaRPr lang="en-US" sz="36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7256167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3262BA-FFCE-39D1-8BE3-4277451F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DCC530D-2A33-429D-C3C8-099016B283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CBEA712-32F5-5D65-CEA8-D7EC0631B770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1AA232A-F9F8-AFAA-7FA6-AAE4C8DFDB31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CF13BCF-E2CE-41A2-F6B6-E84C4961D431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Thoughts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7A444794-9D45-0BF1-D618-D65D95F4A15E}"/>
              </a:ext>
            </a:extLst>
          </p:cNvPr>
          <p:cNvSpPr txBox="1"/>
          <p:nvPr/>
        </p:nvSpPr>
        <p:spPr>
          <a:xfrm>
            <a:off x="2406418" y="1536112"/>
            <a:ext cx="67643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initially </a:t>
            </a:r>
            <a:r>
              <a:rPr lang="en-US">
                <a:solidFill>
                  <a:srgbClr val="E54D86"/>
                </a:solidFill>
              </a:rPr>
              <a:t>confusing</a:t>
            </a:r>
            <a:r>
              <a:rPr lang="en-US"/>
              <a:t> but ultimately not that difficult to do a </a:t>
            </a:r>
            <a:r>
              <a:rPr lang="en-US">
                <a:solidFill>
                  <a:srgbClr val="E54D86"/>
                </a:solidFill>
              </a:rPr>
              <a:t>one-to-one implementation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however, could not get Pawn and King implementations to work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needed: reference to board state manager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but: introduced </a:t>
            </a:r>
            <a:r>
              <a:rPr lang="en-US">
                <a:solidFill>
                  <a:srgbClr val="E54D86"/>
                </a:solidFill>
              </a:rPr>
              <a:t>circular dependency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could </a:t>
            </a:r>
            <a:r>
              <a:rPr lang="en-US">
                <a:solidFill>
                  <a:srgbClr val="E54D86"/>
                </a:solidFill>
              </a:rPr>
              <a:t>not fix it in time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B63608-3A99-0FB6-9ECB-8A938C8C7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430" y="4350580"/>
            <a:ext cx="3666314" cy="130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86429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FB719-41A7-319E-C2C0-DC15E0908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17A7317-D6F5-3B90-6953-BA9A811AA4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7C9643-4C0E-5F00-FE2F-B7E14C77C393}"/>
              </a:ext>
            </a:extLst>
          </p:cNvPr>
          <p:cNvSpPr/>
          <p:nvPr/>
        </p:nvSpPr>
        <p:spPr>
          <a:xfrm>
            <a:off x="3282098" y="2392051"/>
            <a:ext cx="5627802" cy="2073897"/>
          </a:xfrm>
          <a:prstGeom prst="rect">
            <a:avLst/>
          </a:prstGeom>
          <a:pattFill prst="wdDn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DF69A9D-2504-A520-0F8A-68D932EAAF9D}"/>
              </a:ext>
            </a:extLst>
          </p:cNvPr>
          <p:cNvSpPr/>
          <p:nvPr/>
        </p:nvSpPr>
        <p:spPr>
          <a:xfrm>
            <a:off x="3470830" y="2563991"/>
            <a:ext cx="5250533" cy="1728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Addendum</a:t>
            </a:r>
          </a:p>
          <a:p>
            <a:pPr algn="ctr"/>
            <a:r>
              <a:rPr lang="en-US" sz="3600" b="1"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(Annoyances/ Improvements)</a:t>
            </a:r>
            <a:endParaRPr lang="en-US" sz="36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013037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52FF6B-E538-98BB-83F2-1B703F05D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EEA995A-F8DF-0FDF-17AC-3E6F7CE90E9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B6EFEBA-D969-6EEC-1A9F-971BCE1CD317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07D131E-ED13-28EC-3907-FBD709BEC0DB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3E5703F-1A3C-9D27-7AA0-78AF0B7E6D9D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Method Overriding in Go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0BC65CB-45CB-2F86-9460-37E981A6B6D4}"/>
              </a:ext>
            </a:extLst>
          </p:cNvPr>
          <p:cNvSpPr txBox="1"/>
          <p:nvPr/>
        </p:nvSpPr>
        <p:spPr>
          <a:xfrm>
            <a:off x="1277578" y="1720840"/>
            <a:ext cx="378949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function overriding </a:t>
            </a:r>
            <a:r>
              <a:rPr lang="en-US"/>
              <a:t>(or at least a mimicry of it) is actually possible in Go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override is even marked in Goland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u="sng"/>
              <a:t>but</a:t>
            </a:r>
            <a:r>
              <a:rPr lang="en-US"/>
              <a:t>: will raise </a:t>
            </a:r>
            <a:r>
              <a:rPr lang="en-US">
                <a:solidFill>
                  <a:srgbClr val="E54D86"/>
                </a:solidFill>
              </a:rPr>
              <a:t>error</a:t>
            </a:r>
            <a:r>
              <a:rPr lang="en-US"/>
              <a:t> </a:t>
            </a:r>
            <a:r>
              <a:rPr lang="en-US">
                <a:solidFill>
                  <a:srgbClr val="E54D86"/>
                </a:solidFill>
              </a:rPr>
              <a:t>if</a:t>
            </a:r>
            <a:r>
              <a:rPr lang="en-US"/>
              <a:t> there is </a:t>
            </a:r>
            <a:r>
              <a:rPr lang="en-US">
                <a:solidFill>
                  <a:srgbClr val="E54D86"/>
                </a:solidFill>
              </a:rPr>
              <a:t>ambiguity</a:t>
            </a:r>
            <a:r>
              <a:rPr lang="en-US"/>
              <a:t> due to </a:t>
            </a:r>
            <a:r>
              <a:rPr lang="en-US">
                <a:solidFill>
                  <a:srgbClr val="E54D86"/>
                </a:solidFill>
              </a:rPr>
              <a:t>composition</a:t>
            </a:r>
            <a:r>
              <a:rPr lang="en-US"/>
              <a:t> (struct has both Baz and Foo and then calls Call())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51144F-E9F7-F2A0-56FA-55D3261D07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166497"/>
            <a:ext cx="4763165" cy="4525006"/>
          </a:xfrm>
          <a:prstGeom prst="roundRect">
            <a:avLst>
              <a:gd name="adj" fmla="val 9115"/>
            </a:avLst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E5C041E-F7A7-76E9-5909-9E2AC2A292C5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/>
              <a:t>Source:  https://medium.com/random-go-tips/method-overriding-680cfd51ce40</a:t>
            </a:r>
          </a:p>
        </p:txBody>
      </p:sp>
    </p:spTree>
    <p:extLst>
      <p:ext uri="{BB962C8B-B14F-4D97-AF65-F5344CB8AC3E}">
        <p14:creationId xmlns:p14="http://schemas.microsoft.com/office/powerpoint/2010/main" val="540822123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179E3C-A14E-334F-3F92-04D8DAD8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BF3C64-2CFA-6E7B-CA80-357FBE752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0C45E83-2F81-3D12-7863-D04BE5278E07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448A4B5-CB01-8E57-7196-0ADF6803C33F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BA00079-3230-E130-DF00-751AE9C22B04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otlin Bit Operations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788ED034-AF43-7A32-A6D7-92CD8A343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461" y="1027165"/>
            <a:ext cx="3743847" cy="3381847"/>
          </a:xfrm>
          <a:prstGeom prst="roundRect">
            <a:avLst>
              <a:gd name="adj" fmla="val 3993"/>
            </a:avLst>
          </a:prstGeom>
          <a:ln>
            <a:solidFill>
              <a:srgbClr val="644689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93CA222-5616-E60E-E28F-24E6D21358DF}"/>
              </a:ext>
            </a:extLst>
          </p:cNvPr>
          <p:cNvSpPr txBox="1"/>
          <p:nvPr/>
        </p:nvSpPr>
        <p:spPr>
          <a:xfrm>
            <a:off x="1461307" y="4608172"/>
            <a:ext cx="31721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inferred data type ruined bit operation in Kotlin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did not catch it in time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9258A8E-293B-072B-5BC2-3B2F63AA2D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836" y="5131621"/>
            <a:ext cx="3729850" cy="368731"/>
          </a:xfrm>
          <a:prstGeom prst="roundRect">
            <a:avLst>
              <a:gd name="adj" fmla="val 34201"/>
            </a:avLst>
          </a:prstGeom>
          <a:ln>
            <a:solidFill>
              <a:schemeClr val="accent6">
                <a:lumMod val="75000"/>
              </a:schemeClr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79E2A19-AD64-8316-04BD-76789B433C37}"/>
              </a:ext>
            </a:extLst>
          </p:cNvPr>
          <p:cNvSpPr txBox="1"/>
          <p:nvPr/>
        </p:nvSpPr>
        <p:spPr>
          <a:xfrm>
            <a:off x="6140683" y="5660286"/>
            <a:ext cx="3172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did not happen in Go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FC7B1E6-8D6F-D4EC-9664-8CD0B7218A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3556" y="809259"/>
            <a:ext cx="5277587" cy="2619741"/>
          </a:xfrm>
          <a:prstGeom prst="roundRect">
            <a:avLst>
              <a:gd name="adj" fmla="val 6443"/>
            </a:avLst>
          </a:prstGeom>
          <a:ln>
            <a:solidFill>
              <a:srgbClr val="644689"/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488CBBA-B937-DE0E-84A0-C3ED020E4F9B}"/>
              </a:ext>
            </a:extLst>
          </p:cNvPr>
          <p:cNvSpPr txBox="1"/>
          <p:nvPr/>
        </p:nvSpPr>
        <p:spPr>
          <a:xfrm>
            <a:off x="5860117" y="3818645"/>
            <a:ext cx="49881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thought I had to compensate for language deficit and wrote own function (time waste)</a:t>
            </a:r>
          </a:p>
        </p:txBody>
      </p:sp>
    </p:spTree>
    <p:extLst>
      <p:ext uri="{BB962C8B-B14F-4D97-AF65-F5344CB8AC3E}">
        <p14:creationId xmlns:p14="http://schemas.microsoft.com/office/powerpoint/2010/main" val="3794644920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CBECE6-7AB1-5DCC-4C9F-CD5355370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8AE6183-41A1-3242-E648-5EBCD6AC0FB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1D24315-077D-9A02-3E45-41CEB81D0C4A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0CA0DDC-0270-8484-24D0-1134DE0DA1B4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DE027A-4612-D835-AFE3-105478FD0844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Go Packages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DEA665B-A05E-3665-1F7D-F2FF4C947FBA}"/>
              </a:ext>
            </a:extLst>
          </p:cNvPr>
          <p:cNvSpPr txBox="1"/>
          <p:nvPr/>
        </p:nvSpPr>
        <p:spPr>
          <a:xfrm>
            <a:off x="591127" y="2413336"/>
            <a:ext cx="50153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package usage </a:t>
            </a:r>
            <a:r>
              <a:rPr lang="en-US"/>
              <a:t>in Go is </a:t>
            </a:r>
            <a:r>
              <a:rPr lang="en-US">
                <a:solidFill>
                  <a:srgbClr val="E54D86"/>
                </a:solidFill>
              </a:rPr>
              <a:t>annoying</a:t>
            </a:r>
            <a:r>
              <a:rPr lang="en-US"/>
              <a:t> (take a shot every time </a:t>
            </a:r>
            <a:r>
              <a:rPr lang="en-US">
                <a:solidFill>
                  <a:schemeClr val="accent6"/>
                </a:solidFill>
              </a:rPr>
              <a:t>gs</a:t>
            </a:r>
            <a:r>
              <a:rPr lang="en-US"/>
              <a:t> is references here)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need to reference package </a:t>
            </a:r>
            <a:r>
              <a:rPr lang="en-US">
                <a:solidFill>
                  <a:srgbClr val="E54D86"/>
                </a:solidFill>
              </a:rPr>
              <a:t>usage via name </a:t>
            </a:r>
            <a:r>
              <a:rPr lang="en-US"/>
              <a:t>clashes with local variable and parameter naming, can even lead to </a:t>
            </a:r>
            <a:r>
              <a:rPr lang="en-US">
                <a:solidFill>
                  <a:srgbClr val="E54D86"/>
                </a:solidFill>
              </a:rPr>
              <a:t>strange errors </a:t>
            </a:r>
            <a:r>
              <a:rPr lang="en-US"/>
              <a:t>in the code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55E5E6-D2BD-8293-E861-1E7134CD8C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191"/>
          <a:stretch>
            <a:fillRect/>
          </a:stretch>
        </p:blipFill>
        <p:spPr>
          <a:xfrm>
            <a:off x="5948948" y="1104691"/>
            <a:ext cx="5639389" cy="4648617"/>
          </a:xfrm>
          <a:prstGeom prst="roundRect">
            <a:avLst>
              <a:gd name="adj" fmla="val 2759"/>
            </a:avLst>
          </a:prstGeom>
          <a:ln>
            <a:solidFill>
              <a:srgbClr val="00B0F0"/>
            </a:solidFill>
          </a:ln>
        </p:spPr>
      </p:pic>
    </p:spTree>
    <p:extLst>
      <p:ext uri="{BB962C8B-B14F-4D97-AF65-F5344CB8AC3E}">
        <p14:creationId xmlns:p14="http://schemas.microsoft.com/office/powerpoint/2010/main" val="2971750462"/>
      </p:ext>
    </p:extLst>
  </p:cSld>
  <p:clrMapOvr>
    <a:masterClrMapping/>
  </p:clrMapOvr>
  <p:transition spd="slow">
    <p:push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8B2E23-A109-70C9-87B3-775DB53C9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4CDAEC8-69A4-5B1E-5C9C-56BEC1CBE5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D208CB1-AF17-C9EF-D92F-CB0BC2B0C6EC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701B61-A73A-7F96-3BAB-5C677B0BB8D7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7CE53A6-C0BE-DDB6-E7C0-D9037B20D5C3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Kotlin Function Naming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FC7F485-49EE-55DA-9775-2D2A46593C92}"/>
              </a:ext>
            </a:extLst>
          </p:cNvPr>
          <p:cNvSpPr txBox="1"/>
          <p:nvPr/>
        </p:nvSpPr>
        <p:spPr>
          <a:xfrm>
            <a:off x="2977433" y="2065434"/>
            <a:ext cx="62371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Autogenerated getters </a:t>
            </a:r>
            <a:r>
              <a:rPr lang="en-US"/>
              <a:t>and </a:t>
            </a:r>
            <a:r>
              <a:rPr lang="en-US">
                <a:solidFill>
                  <a:srgbClr val="00B0F0"/>
                </a:solidFill>
              </a:rPr>
              <a:t>setters</a:t>
            </a:r>
            <a:r>
              <a:rPr lang="en-US"/>
              <a:t> are named Get&lt;VariableName&gt;() and Set&lt;VariableName&gt;(), accidentally creating functions with the </a:t>
            </a:r>
            <a:r>
              <a:rPr lang="en-US">
                <a:solidFill>
                  <a:srgbClr val="E54D86"/>
                </a:solidFill>
              </a:rPr>
              <a:t>same name leads to errors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also: renaming those with F2 also </a:t>
            </a:r>
            <a:r>
              <a:rPr lang="en-US">
                <a:solidFill>
                  <a:srgbClr val="FFC000"/>
                </a:solidFill>
              </a:rPr>
              <a:t>renames all VariableName instances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DA71DC-E37A-226E-5CC8-E796B0D82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768" y="4080808"/>
            <a:ext cx="1886166" cy="986344"/>
          </a:xfrm>
          <a:prstGeom prst="round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383526-0E0D-C134-39FF-050BB16FBA93}"/>
              </a:ext>
            </a:extLst>
          </p:cNvPr>
          <p:cNvSpPr txBox="1"/>
          <p:nvPr/>
        </p:nvSpPr>
        <p:spPr>
          <a:xfrm>
            <a:off x="3596548" y="4250814"/>
            <a:ext cx="24333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these two are the same to Kotlin:</a:t>
            </a:r>
          </a:p>
        </p:txBody>
      </p:sp>
    </p:spTree>
    <p:extLst>
      <p:ext uri="{BB962C8B-B14F-4D97-AF65-F5344CB8AC3E}">
        <p14:creationId xmlns:p14="http://schemas.microsoft.com/office/powerpoint/2010/main" val="3489209"/>
      </p:ext>
    </p:extLst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9D5801-B122-40D8-7B1F-496A57A6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BCB4176-A961-9F34-9510-144CADD71E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1EA809B-CB44-CE20-62EA-D568C09C2803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FB9F764-C32B-39CF-E300-8DD7B8D3BAE6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5446294-3CBF-8414-98D3-991CE5F21AE1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Conclusion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A66AE1C-E62E-5980-86CA-999675C9283E}"/>
              </a:ext>
            </a:extLst>
          </p:cNvPr>
          <p:cNvSpPr txBox="1"/>
          <p:nvPr/>
        </p:nvSpPr>
        <p:spPr>
          <a:xfrm>
            <a:off x="2506378" y="1720840"/>
            <a:ext cx="717924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Go encourages </a:t>
            </a:r>
            <a:r>
              <a:rPr lang="en-US">
                <a:solidFill>
                  <a:srgbClr val="00B0F0"/>
                </a:solidFill>
              </a:rPr>
              <a:t>composition</a:t>
            </a:r>
            <a:r>
              <a:rPr lang="en-US"/>
              <a:t> and </a:t>
            </a:r>
            <a:r>
              <a:rPr lang="en-US">
                <a:solidFill>
                  <a:srgbClr val="00B0F0"/>
                </a:solidFill>
              </a:rPr>
              <a:t>interface usage </a:t>
            </a:r>
            <a:r>
              <a:rPr lang="en-US"/>
              <a:t>for </a:t>
            </a:r>
            <a:r>
              <a:rPr lang="en-US">
                <a:solidFill>
                  <a:srgbClr val="00B0F0"/>
                </a:solidFill>
              </a:rPr>
              <a:t>modular</a:t>
            </a:r>
            <a:r>
              <a:rPr lang="en-US"/>
              <a:t> and </a:t>
            </a:r>
            <a:r>
              <a:rPr lang="en-US">
                <a:solidFill>
                  <a:srgbClr val="00B0F0"/>
                </a:solidFill>
              </a:rPr>
              <a:t>easily testable </a:t>
            </a:r>
            <a:r>
              <a:rPr lang="en-US"/>
              <a:t>code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u="sng"/>
              <a:t>but</a:t>
            </a:r>
            <a:r>
              <a:rPr lang="en-US"/>
              <a:t>: </a:t>
            </a:r>
            <a:r>
              <a:rPr lang="en-US">
                <a:solidFill>
                  <a:srgbClr val="E54D86"/>
                </a:solidFill>
              </a:rPr>
              <a:t>annoying</a:t>
            </a:r>
            <a:r>
              <a:rPr lang="en-US"/>
              <a:t> to use due to package references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strange architectures </a:t>
            </a:r>
            <a:r>
              <a:rPr lang="en-US"/>
              <a:t>to circumvent limitations and achieve OOP concepts (and enums)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test files </a:t>
            </a:r>
            <a:r>
              <a:rPr lang="en-US"/>
              <a:t>are forced to be in same folder as class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Kotlin has </a:t>
            </a:r>
            <a:r>
              <a:rPr lang="en-US">
                <a:solidFill>
                  <a:srgbClr val="00B0F0"/>
                </a:solidFill>
              </a:rPr>
              <a:t>good structures </a:t>
            </a:r>
            <a:r>
              <a:rPr lang="en-US"/>
              <a:t>that help with </a:t>
            </a:r>
            <a:r>
              <a:rPr lang="en-US">
                <a:solidFill>
                  <a:srgbClr val="00B0F0"/>
                </a:solidFill>
              </a:rPr>
              <a:t>code clarity       </a:t>
            </a:r>
            <a:r>
              <a:rPr lang="en-US"/>
              <a:t>(e.g. range comparison, for loop) and </a:t>
            </a:r>
            <a:r>
              <a:rPr lang="en-US">
                <a:solidFill>
                  <a:srgbClr val="00B0F0"/>
                </a:solidFill>
              </a:rPr>
              <a:t>testing is fairly easy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u="sng"/>
              <a:t>but</a:t>
            </a:r>
            <a:r>
              <a:rPr lang="en-US"/>
              <a:t>: primary constructor </a:t>
            </a:r>
            <a:r>
              <a:rPr lang="en-US">
                <a:solidFill>
                  <a:srgbClr val="E54D86"/>
                </a:solidFill>
              </a:rPr>
              <a:t>strangely separates </a:t>
            </a:r>
            <a:r>
              <a:rPr lang="en-US"/>
              <a:t>class members if lateinit is needed and has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immutability</a:t>
            </a:r>
            <a:r>
              <a:rPr lang="en-US"/>
              <a:t> makes inheritance and testing a chore</a:t>
            </a:r>
          </a:p>
        </p:txBody>
      </p:sp>
    </p:spTree>
    <p:extLst>
      <p:ext uri="{BB962C8B-B14F-4D97-AF65-F5344CB8AC3E}">
        <p14:creationId xmlns:p14="http://schemas.microsoft.com/office/powerpoint/2010/main" val="1256480275"/>
      </p:ext>
    </p:extLst>
  </p:cSld>
  <p:clrMapOvr>
    <a:masterClrMapping/>
  </p:clrMapOvr>
  <p:transition spd="slow">
    <p:cover dir="r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820CD4-94CE-82DD-5EF2-6D14710BC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26C505F-BEDF-772F-E48D-32C5105173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BBFDACA-6A6D-EFE6-22E6-17E22BB2AFAB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09C46B2-7C59-AF46-04C1-6665F8A9AAE6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5B1E9E7-54BF-B4E5-29D5-243BAC56FD2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Sources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2159D84-8C88-9D4C-D0E0-D37CF0306B03}"/>
              </a:ext>
            </a:extLst>
          </p:cNvPr>
          <p:cNvSpPr txBox="1"/>
          <p:nvPr/>
        </p:nvSpPr>
        <p:spPr>
          <a:xfrm>
            <a:off x="3049912" y="1859339"/>
            <a:ext cx="609217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BitBoard Calculator</a:t>
            </a:r>
            <a:r>
              <a:rPr lang="en-US">
                <a:solidFill>
                  <a:schemeClr val="accent1"/>
                </a:solidFill>
              </a:rPr>
              <a:t> </a:t>
            </a:r>
            <a:r>
              <a:rPr lang="en-US"/>
              <a:t>by gekomad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Bitboards</a:t>
            </a:r>
            <a:r>
              <a:rPr lang="en-US"/>
              <a:t> by ChessProgramming Wiki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Kotlin Unit Testing guide</a:t>
            </a:r>
            <a:r>
              <a:rPr lang="en-US">
                <a:solidFill>
                  <a:schemeClr val="accent1"/>
                </a:solidFill>
              </a:rPr>
              <a:t> </a:t>
            </a:r>
            <a:r>
              <a:rPr lang="en-US"/>
              <a:t>by Kacper Wojciechowski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Making a Chess Engine in Zig</a:t>
            </a:r>
            <a:r>
              <a:rPr lang="en-US">
                <a:solidFill>
                  <a:schemeClr val="accent1"/>
                </a:solidFill>
              </a:rPr>
              <a:t> </a:t>
            </a:r>
            <a:r>
              <a:rPr lang="en-US"/>
              <a:t>by John Murray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Visualizing Chess Bitboards</a:t>
            </a:r>
            <a:r>
              <a:rPr lang="en-US">
                <a:solidFill>
                  <a:schemeClr val="accent1"/>
                </a:solidFill>
              </a:rPr>
              <a:t> </a:t>
            </a:r>
            <a:r>
              <a:rPr lang="en-US"/>
              <a:t>by Andrew Healey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Bitmasking?</a:t>
            </a:r>
            <a:r>
              <a:rPr lang="en-US">
                <a:solidFill>
                  <a:schemeClr val="accent1"/>
                </a:solidFill>
              </a:rPr>
              <a:t> </a:t>
            </a:r>
            <a:r>
              <a:rPr lang="en-US"/>
              <a:t>by GeeksforGeeks</a:t>
            </a:r>
          </a:p>
        </p:txBody>
      </p:sp>
    </p:spTree>
    <p:extLst>
      <p:ext uri="{BB962C8B-B14F-4D97-AF65-F5344CB8AC3E}">
        <p14:creationId xmlns:p14="http://schemas.microsoft.com/office/powerpoint/2010/main" val="2950853064"/>
      </p:ext>
    </p:extLst>
  </p:cSld>
  <p:clrMapOvr>
    <a:masterClrMapping/>
  </p:clrMapOvr>
  <p:transition spd="slow">
    <p:cover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echSlides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" id="{E131E7AC-6A5A-47A3-BC07-535846CA79D2}" vid="{B365FB12-0593-437B-B6B3-61F8AE07FA9C}"/>
    </a:ext>
  </a:extLst>
</a:theme>
</file>

<file path=ppt/theme/theme2.xml><?xml version="1.0" encoding="utf-8"?>
<a:theme xmlns:a="http://schemas.openxmlformats.org/drawingml/2006/main" name="TechSlides_Blue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_Blue" id="{F501957D-EB7E-4391-97B4-6B277DDA6470}" vid="{672D1F88-41D2-4B86-9E5C-D04C15D24BE6}"/>
    </a:ext>
  </a:extLst>
</a:theme>
</file>

<file path=ppt/theme/theme3.xml><?xml version="1.0" encoding="utf-8"?>
<a:theme xmlns:a="http://schemas.openxmlformats.org/drawingml/2006/main" name="2_TechSlides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" id="{E131E7AC-6A5A-47A3-BC07-535846CA79D2}" vid="{B365FB12-0593-437B-B6B3-61F8AE07FA9C}"/>
    </a:ext>
  </a:extLst>
</a:theme>
</file>

<file path=ppt/theme/theme4.xml><?xml version="1.0" encoding="utf-8"?>
<a:theme xmlns:a="http://schemas.openxmlformats.org/drawingml/2006/main" name="TechSlides_Green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_Green" id="{83531939-08A7-42B4-80FA-29C370B13574}" vid="{7655FE23-853F-4595-B4D8-8528338C0357}"/>
    </a:ext>
  </a:extLst>
</a:theme>
</file>

<file path=ppt/theme/theme5.xml><?xml version="1.0" encoding="utf-8"?>
<a:theme xmlns:a="http://schemas.openxmlformats.org/drawingml/2006/main" name="1_TechSlides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" id="{E131E7AC-6A5A-47A3-BC07-535846CA79D2}" vid="{B365FB12-0593-437B-B6B3-61F8AE07FA9C}"/>
    </a:ext>
  </a:extLst>
</a:theme>
</file>

<file path=ppt/theme/theme6.xml><?xml version="1.0" encoding="utf-8"?>
<a:theme xmlns:a="http://schemas.openxmlformats.org/drawingml/2006/main" name="1_TechSlides_Blu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_Blue" id="{F4381058-0A18-4AB1-A655-F32281D5B429}" vid="{85051BEF-A3E3-4357-A49F-7CA25772D5B2}"/>
    </a:ext>
  </a:extLst>
</a:theme>
</file>

<file path=ppt/theme/theme7.xml><?xml version="1.0" encoding="utf-8"?>
<a:theme xmlns:a="http://schemas.openxmlformats.org/drawingml/2006/main" name="3_TechSlides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" id="{E131E7AC-6A5A-47A3-BC07-535846CA79D2}" vid="{B365FB12-0593-437B-B6B3-61F8AE07FA9C}"/>
    </a:ext>
  </a:extLst>
</a:theme>
</file>

<file path=ppt/theme/theme8.xml><?xml version="1.0" encoding="utf-8"?>
<a:theme xmlns:a="http://schemas.openxmlformats.org/drawingml/2006/main" name="2_TechSlides_Blu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_Blue" id="{F501957D-EB7E-4391-97B4-6B277DDA6470}" vid="{672D1F88-41D2-4B86-9E5C-D04C15D24BE6}"/>
    </a:ext>
  </a:extLst>
</a:theme>
</file>

<file path=ppt/theme/theme9.xml><?xml version="1.0" encoding="utf-8"?>
<a:theme xmlns:a="http://schemas.openxmlformats.org/drawingml/2006/main" name="4_TechSlides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" id="{E131E7AC-6A5A-47A3-BC07-535846CA79D2}" vid="{B365FB12-0593-437B-B6B3-61F8AE07FA9C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1667</TotalTime>
  <Words>1708</Words>
  <Application>Microsoft Office PowerPoint</Application>
  <PresentationFormat>Widescreen</PresentationFormat>
  <Paragraphs>398</Paragraphs>
  <Slides>32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9</vt:i4>
      </vt:variant>
      <vt:variant>
        <vt:lpstr>Slide Titles</vt:lpstr>
      </vt:variant>
      <vt:variant>
        <vt:i4>32</vt:i4>
      </vt:variant>
    </vt:vector>
  </HeadingPairs>
  <TitlesOfParts>
    <vt:vector size="47" baseType="lpstr">
      <vt:lpstr>Aptos</vt:lpstr>
      <vt:lpstr>Arial</vt:lpstr>
      <vt:lpstr>Cascadia Code</vt:lpstr>
      <vt:lpstr>Century Gothic</vt:lpstr>
      <vt:lpstr>JetBrains Mono</vt:lpstr>
      <vt:lpstr>Wingdings 2</vt:lpstr>
      <vt:lpstr>TechSlides</vt:lpstr>
      <vt:lpstr>TechSlides_Blue</vt:lpstr>
      <vt:lpstr>2_TechSlides</vt:lpstr>
      <vt:lpstr>TechSlides_Green</vt:lpstr>
      <vt:lpstr>1_TechSlides</vt:lpstr>
      <vt:lpstr>1_TechSlides_Blue</vt:lpstr>
      <vt:lpstr>3_TechSlides</vt:lpstr>
      <vt:lpstr>2_TechSlides_Blue</vt:lpstr>
      <vt:lpstr>4_TechSlides</vt:lpstr>
      <vt:lpstr>PowerPoint Presentation</vt:lpstr>
      <vt:lpstr>Object Oriented Programming Kotlin und Go im Vergleich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Ihrenberger</dc:creator>
  <cp:lastModifiedBy>Edison Scriven</cp:lastModifiedBy>
  <cp:revision>1221</cp:revision>
  <dcterms:created xsi:type="dcterms:W3CDTF">2025-03-21T16:11:25Z</dcterms:created>
  <dcterms:modified xsi:type="dcterms:W3CDTF">2026-01-06T17:27:23Z</dcterms:modified>
</cp:coreProperties>
</file>