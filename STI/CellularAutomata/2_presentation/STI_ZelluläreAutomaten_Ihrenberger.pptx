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notesMasterIdLst>
    <p:notesMasterId r:id="rId33"/>
  </p:notesMasterIdLst>
  <p:sldIdLst>
    <p:sldId id="302" r:id="rId2"/>
    <p:sldId id="256" r:id="rId3"/>
    <p:sldId id="303" r:id="rId4"/>
    <p:sldId id="304" r:id="rId5"/>
    <p:sldId id="315" r:id="rId6"/>
    <p:sldId id="319" r:id="rId7"/>
    <p:sldId id="321" r:id="rId8"/>
    <p:sldId id="305" r:id="rId9"/>
    <p:sldId id="322" r:id="rId10"/>
    <p:sldId id="326" r:id="rId11"/>
    <p:sldId id="327" r:id="rId12"/>
    <p:sldId id="329" r:id="rId13"/>
    <p:sldId id="330" r:id="rId14"/>
    <p:sldId id="331" r:id="rId15"/>
    <p:sldId id="332" r:id="rId16"/>
    <p:sldId id="310" r:id="rId17"/>
    <p:sldId id="334" r:id="rId18"/>
    <p:sldId id="333" r:id="rId19"/>
    <p:sldId id="306" r:id="rId20"/>
    <p:sldId id="335" r:id="rId21"/>
    <p:sldId id="307" r:id="rId22"/>
    <p:sldId id="308" r:id="rId23"/>
    <p:sldId id="309" r:id="rId24"/>
    <p:sldId id="336" r:id="rId25"/>
    <p:sldId id="311" r:id="rId26"/>
    <p:sldId id="340" r:id="rId27"/>
    <p:sldId id="339" r:id="rId28"/>
    <p:sldId id="341" r:id="rId29"/>
    <p:sldId id="313" r:id="rId30"/>
    <p:sldId id="338" r:id="rId31"/>
    <p:sldId id="314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CFA9E"/>
    <a:srgbClr val="002060"/>
    <a:srgbClr val="4597CF"/>
    <a:srgbClr val="8664B0"/>
    <a:srgbClr val="CC66FF"/>
    <a:srgbClr val="CF8E6D"/>
    <a:srgbClr val="00AAE6"/>
    <a:srgbClr val="212121"/>
    <a:srgbClr val="EB8F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126" autoAdjust="0"/>
  </p:normalViewPr>
  <p:slideViewPr>
    <p:cSldViewPr snapToGrid="0">
      <p:cViewPr>
        <p:scale>
          <a:sx n="100" d="100"/>
          <a:sy n="100" d="100"/>
        </p:scale>
        <p:origin x="432" y="22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3DAD76-3859-4D52-8B81-C27FCE0A7D18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61062-E9D8-4DAB-8118-1CF0D558F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90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36126-EF57-F334-2A2C-B38B0AC12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35B86D-8D9B-FDC7-85EA-EE6D3D483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EF71E6-A417-9636-9295-CEDAE34A6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EFFD6-BE77-DFCA-C1BA-36E4F13FCC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547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Kurz umrissen, ziel meiner arbeit war [rechts] und darstellen anhand von [links]</a:t>
            </a:r>
          </a:p>
          <a:p>
            <a:r>
              <a:rPr lang="de-DE"/>
              <a:t>Ausgewählte algorithmen effektiv aber v.a. Gut dokumentiert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845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Verschiedene arten von bildrauschen, aber hier nur SPN in graubildern abgehandelt</a:t>
            </a:r>
          </a:p>
          <a:p>
            <a:r>
              <a:rPr lang="de-DE"/>
              <a:t>[text]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40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10% noch teils erkennbar, aber schon erschwert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5481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50% details verschwinden (für mensch. Auge) teils komplett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978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90% nichts mehr zu erkennen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5090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/>
              <a:t>Dementsprechend für unsaubere datensätze, rauschunterdrückungsverfahren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/>
              <a:t>Ziel: rauschunterdrückung und zugleich erhalt von bilddetail, meist abtausch zwischen den beiden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/>
              <a:t>Hier kurz median vorgestellt, welcher sehr effektiv gegenüber SPN ist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971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Hierfür wird ein fenster an pixeln betrachtet, bspw 3x3, muss nich quadratisch sein, aber meistens so vertreten</a:t>
            </a:r>
          </a:p>
          <a:p>
            <a:r>
              <a:rPr lang="de-DE"/>
              <a:t>Standard 3x3, je größer das fenster desto effektiver in rauschunterdrückung aber desto mehr verlust von bilddetail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9625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Wenn man sich dann die performance davon anschaut [click]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0309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Sehr gut bei niedrigen rauschdichten</a:t>
            </a:r>
          </a:p>
          <a:p>
            <a:r>
              <a:rPr lang="de-DE"/>
              <a:t>Aber dennoch verlust von bildschärfe und kantendefinition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9025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Ab 40% bis 50% zu wenig saubere pixel als referenz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7962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Leistung degradiert dann einfach nur, je höher rauschdichte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6187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Anderer teil meiner arbeit und zwar [click]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4091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Zelluläre automaten, auch kurz CA</a:t>
            </a:r>
          </a:p>
          <a:p>
            <a:r>
              <a:rPr lang="de-DE"/>
              <a:t>Werden nur sehr kurz abhandeln, nicht hoch-theoretisch da nicht nötig für anwendung, v.a. Konzepte vertreten</a:t>
            </a:r>
          </a:p>
          <a:p>
            <a:r>
              <a:rPr lang="de-DE"/>
              <a:t>In beispiel unten wiederholte ordnung, aber auch möglichkeit zu zufälligem erscheinungsbild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5389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Nachbarschaften betrachtet man Moore und Von Neumann</a:t>
            </a:r>
          </a:p>
          <a:p>
            <a:r>
              <a:rPr lang="de-DE"/>
              <a:t>Maßgebend für den neuen Wert der Zelle gemäß Übergangsfunktion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3730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Lokale unabhängige regeln anstatt komplexe globale berechnungen &gt; parallelisierung</a:t>
            </a:r>
          </a:p>
          <a:p>
            <a:r>
              <a:rPr lang="de-DE"/>
              <a:t>Iterativ und kleinschrittig</a:t>
            </a:r>
          </a:p>
          <a:p>
            <a:r>
              <a:rPr lang="de-DE"/>
              <a:t>Dadurch schnell, akkurat dabei erhalt von kanten</a:t>
            </a:r>
          </a:p>
          <a:p>
            <a:endParaRPr lang="de-DE"/>
          </a:p>
          <a:p>
            <a:endParaRPr lang="de-DE"/>
          </a:p>
          <a:p>
            <a:r>
              <a:rPr lang="en-US"/>
              <a:t>peak signal to noise ratio: abgeleitet vom RMSE, root mean squared error, gibt bildtreue von rekonstruierten bild im vergleich zum original wieder, Unterschied von 3dB bedeutet Halbierung der Fehler</a:t>
            </a:r>
          </a:p>
          <a:p>
            <a:r>
              <a:rPr lang="en-US"/>
              <a:t>structural similarity index: luminanz, kontrast, struktur, gibt ähnlichkeit von diesen werten zwischen rekon. bild und org. bild wieder, -1 und 1, vereinfachte dar</a:t>
            </a:r>
            <a:endParaRPr lang="de-DE"/>
          </a:p>
          <a:p>
            <a:endParaRPr lang="de-DE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6985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Erstes verfahren, reduzierte betrachtung der nachbarschaft</a:t>
            </a:r>
          </a:p>
          <a:p>
            <a:r>
              <a:rPr lang="de-DE"/>
              <a:t>Sofortige besserung des median durch identifikation der verrauschten pixel</a:t>
            </a:r>
          </a:p>
          <a:p>
            <a:r>
              <a:rPr lang="de-DE"/>
              <a:t>Algorithmus iterativ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0298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9534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Gegensatz zu vorherigem verfahren, adaptiv</a:t>
            </a:r>
          </a:p>
          <a:p>
            <a:r>
              <a:rPr lang="de-DE"/>
              <a:t>Zweifache moore nachbarschaft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9331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Relative Abweichung vom standardwert</a:t>
            </a:r>
          </a:p>
          <a:p>
            <a:r>
              <a:rPr lang="de-DE"/>
              <a:t>Stable state angegeben über grenzwert, wie viel verbessern sich pixel von einem durchlauf zum nächsten</a:t>
            </a:r>
          </a:p>
          <a:p>
            <a:r>
              <a:rPr lang="de-DE"/>
              <a:t>Aber keine angabe wie dieser grenzwert angesetzt ist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6456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Letztes verfahren hat einfachste restaurationsphase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2369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Übergehen zur analyse</a:t>
            </a:r>
          </a:p>
          <a:p>
            <a:r>
              <a:rPr lang="de-DE"/>
              <a:t>Gegenüberstellung KCA und MERIG</a:t>
            </a:r>
          </a:p>
          <a:p>
            <a:r>
              <a:rPr lang="de-DE"/>
              <a:t>Gegensätzlicher ansatz bei betrachtung der nachbarschaft</a:t>
            </a:r>
          </a:p>
          <a:p>
            <a:r>
              <a:rPr lang="de-DE"/>
              <a:t>Aber später sichtbar, nahezu identische leistung, KCA minimal besser als MERIG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7907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Gegensätzlichen ansatz bei SRKA und JQA</a:t>
            </a:r>
          </a:p>
          <a:p>
            <a:r>
              <a:rPr lang="de-DE"/>
              <a:t>Bei PSNR später sichtbar, sehr ähnliche leistung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3852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Hier wertetabellen, basierend auf jeweilige arbeiten, JQA skala von 5% bis 95%</a:t>
            </a:r>
          </a:p>
          <a:p>
            <a:r>
              <a:rPr lang="de-DE"/>
              <a:t>Insgesamt KCA am besten, halbiert teils pixelfehler in bilder, aber visuell für menschen nicht erkennbar</a:t>
            </a:r>
          </a:p>
          <a:p>
            <a:r>
              <a:rPr lang="de-DE"/>
              <a:t>Halb fehler nicht gleich doppelte visuelle bildqualität</a:t>
            </a:r>
          </a:p>
          <a:p>
            <a:r>
              <a:rPr lang="de-DE"/>
              <a:t>Sichtbar in SSIM, KCA und JQA ähnlich am anfang</a:t>
            </a:r>
          </a:p>
          <a:p>
            <a:r>
              <a:rPr lang="de-DE"/>
              <a:t>KCA und MERIG fast identische leistung bis auf besonders hohe rauschdichten, aber differenz nicht signifikant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2948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794-C44E-2B3B-FC5B-752C22B43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2A3AEA-16D9-82A1-BEB3-9D19454900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57F20B-7A71-6542-F153-95C6495137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5C5DA-1CF3-FC7D-0490-F24D6C53D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0380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34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5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67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015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570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819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995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57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911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740BD348-92FB-45D5-94E3-8A197772B7D9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942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>
                <a:latin typeface="Cascadia Code" panose="020B0609020000020004" pitchFamily="49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584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5873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3196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5457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090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fld id="{740BD348-92FB-45D5-94E3-8A197772B7D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  <a:latin typeface="Cascadia Code" panose="020B0609020000020004" pitchFamily="49" charset="0"/>
              </a:defRPr>
            </a:lvl1pPr>
          </a:lstStyle>
          <a:p>
            <a:fld id="{05A7E34D-6B37-4BA6-A354-C6C091B434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482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Cascadia Code" panose="020B0609020000020004" pitchFamily="49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8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jpg"/><Relationship Id="rId4" Type="http://schemas.openxmlformats.org/officeDocument/2006/relationships/image" Target="../media/image30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gif"/><Relationship Id="rId5" Type="http://schemas.openxmlformats.org/officeDocument/2006/relationships/image" Target="../media/image38.jp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jpg"/><Relationship Id="rId4" Type="http://schemas.openxmlformats.org/officeDocument/2006/relationships/image" Target="../media/image5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57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9" Type="http://schemas.openxmlformats.org/officeDocument/2006/relationships/image" Target="../media/image5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48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jpg"/><Relationship Id="rId5" Type="http://schemas.openxmlformats.org/officeDocument/2006/relationships/image" Target="../media/image46.png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60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20.png"/><Relationship Id="rId9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cocoshot.net/image-tools/add-noise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52D5E-789E-474C-70AE-A01E47420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41910ED3-E5DB-2209-0331-FFF3980C8E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EE8B3F9-6E8E-E6D1-6DAB-86FB3E069D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31" y="0"/>
            <a:ext cx="11824138" cy="68580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91990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F1B66C45-9D65-E3CB-B31F-50EE886C0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C72F755-8CF2-94D1-32B5-A92AF4D446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31" y="0"/>
            <a:ext cx="11824138" cy="68580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4906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84CC04F4-D459-62DA-88E5-5E0360272EAA}"/>
              </a:ext>
            </a:extLst>
          </p:cNvPr>
          <p:cNvGrpSpPr/>
          <p:nvPr/>
        </p:nvGrpSpPr>
        <p:grpSpPr>
          <a:xfrm rot="170144">
            <a:off x="1166352" y="650152"/>
            <a:ext cx="4541070" cy="5457825"/>
            <a:chOff x="1292604" y="581024"/>
            <a:chExt cx="4541070" cy="545782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F499918-DDC1-A15B-C604-2E4D66F782D9}"/>
                </a:ext>
              </a:extLst>
            </p:cNvPr>
            <p:cNvSpPr/>
            <p:nvPr/>
          </p:nvSpPr>
          <p:spPr>
            <a:xfrm rot="404989">
              <a:off x="1578255" y="1020540"/>
              <a:ext cx="4014441" cy="3910118"/>
            </a:xfrm>
            <a:prstGeom prst="rect">
              <a:avLst/>
            </a:prstGeom>
            <a:solidFill>
              <a:srgbClr val="4597CF">
                <a:alpha val="21961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0A5E276-143D-DA37-54A3-9584CECE15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362250">
              <a:off x="1292604" y="581024"/>
              <a:ext cx="4541070" cy="5457825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CF106D6-6093-18F9-A191-020901E5BE9E}"/>
                </a:ext>
              </a:extLst>
            </p:cNvPr>
            <p:cNvSpPr txBox="1"/>
            <p:nvPr/>
          </p:nvSpPr>
          <p:spPr>
            <a:xfrm rot="406309">
              <a:off x="1885278" y="2118036"/>
              <a:ext cx="3761963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>
                  <a:solidFill>
                    <a:srgbClr val="00B0F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Analyse</a:t>
              </a:r>
              <a:r>
                <a:rPr lang="en-US" sz="2400" b="1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 und </a:t>
              </a:r>
              <a:r>
                <a:rPr lang="en-US" sz="2400" b="1">
                  <a:solidFill>
                    <a:srgbClr val="92D05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Vergleich</a:t>
              </a:r>
              <a:r>
                <a:rPr lang="en-US" sz="2400" b="1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 von </a:t>
              </a:r>
              <a:r>
                <a:rPr lang="en-US" sz="2400" b="1">
                  <a:solidFill>
                    <a:schemeClr val="accent3">
                      <a:lumMod val="60000"/>
                      <a:lumOff val="40000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vier Algorithmen</a:t>
              </a:r>
              <a:r>
                <a:rPr lang="en-US" sz="2400" b="1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, welche auf </a:t>
              </a:r>
              <a:r>
                <a:rPr lang="en-US" sz="2400" b="1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zelluläre Automaten </a:t>
              </a:r>
              <a:r>
                <a:rPr lang="en-US" sz="2400" b="1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basieren</a:t>
              </a:r>
              <a:endParaRPr lang="de-DE" sz="24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7043169-F6E6-ECE6-526E-A30EFA06BA75}"/>
              </a:ext>
            </a:extLst>
          </p:cNvPr>
          <p:cNvGrpSpPr/>
          <p:nvPr/>
        </p:nvGrpSpPr>
        <p:grpSpPr>
          <a:xfrm>
            <a:off x="6096000" y="700087"/>
            <a:ext cx="4541070" cy="5457825"/>
            <a:chOff x="6067197" y="763413"/>
            <a:chExt cx="4541070" cy="545782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E7485EC-927A-2176-2763-E196DAE7BA59}"/>
                </a:ext>
              </a:extLst>
            </p:cNvPr>
            <p:cNvSpPr/>
            <p:nvPr/>
          </p:nvSpPr>
          <p:spPr>
            <a:xfrm rot="20541932">
              <a:off x="6270226" y="1220564"/>
              <a:ext cx="4014441" cy="3910118"/>
            </a:xfrm>
            <a:prstGeom prst="rect">
              <a:avLst/>
            </a:prstGeom>
            <a:solidFill>
              <a:srgbClr val="FCFA9E">
                <a:alpha val="10196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DB1F24A-C2E4-C5DE-403F-2FA0510B1A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545185">
              <a:off x="6067197" y="763413"/>
              <a:ext cx="4541070" cy="545782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B4CD6F4-4C92-DF4D-763E-38F143A252AD}"/>
                </a:ext>
              </a:extLst>
            </p:cNvPr>
            <p:cNvSpPr txBox="1"/>
            <p:nvPr/>
          </p:nvSpPr>
          <p:spPr>
            <a:xfrm rot="20589244">
              <a:off x="6473584" y="2390793"/>
              <a:ext cx="3607726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>
                  <a:solidFill>
                    <a:srgbClr val="FFC0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Einstiegs-</a:t>
              </a:r>
              <a:r>
                <a:rPr lang="en-US" sz="2400" b="1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 und </a:t>
              </a:r>
              <a:r>
                <a:rPr lang="en-US" sz="2400" b="1">
                  <a:solidFill>
                    <a:schemeClr val="accent6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Ansatzpunkt</a:t>
              </a:r>
              <a:r>
                <a:rPr lang="en-US" sz="2400" b="1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 für weiter-führende </a:t>
              </a:r>
              <a:r>
                <a:rPr lang="en-US" sz="2400" b="1">
                  <a:solidFill>
                    <a:srgbClr val="FFFF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Forschung</a:t>
              </a:r>
              <a:r>
                <a:rPr lang="en-US" sz="2400" b="1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 in diesem Bereich</a:t>
              </a:r>
              <a:endParaRPr lang="de-DE" sz="24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9812541"/>
      </p:ext>
    </p:extLst>
  </p:cSld>
  <p:clrMapOvr>
    <a:masterClrMapping/>
  </p:clrMapOvr>
  <p:transition spd="slow">
    <p:cover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23F750-ED65-89C1-AD9E-6ADCB7C52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5B63AC1-64C1-03D3-B4B9-5B0C6669A973}"/>
              </a:ext>
            </a:extLst>
          </p:cNvPr>
          <p:cNvSpPr txBox="1"/>
          <p:nvPr/>
        </p:nvSpPr>
        <p:spPr>
          <a:xfrm>
            <a:off x="791602" y="1934969"/>
            <a:ext cx="4640965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Salt and Pepper Noise (SPN)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verursacht durch </a:t>
            </a:r>
            <a:r>
              <a:rPr lang="en-US">
                <a:solidFill>
                  <a:schemeClr val="accent2"/>
                </a:solidFill>
              </a:rPr>
              <a:t>defekte</a:t>
            </a:r>
            <a:r>
              <a:rPr lang="en-US"/>
              <a:t> Kamera-sensoren, </a:t>
            </a:r>
            <a:r>
              <a:rPr lang="en-US">
                <a:solidFill>
                  <a:schemeClr val="accent2"/>
                </a:solidFill>
              </a:rPr>
              <a:t>Übertragungsfehler</a:t>
            </a:r>
            <a:r>
              <a:rPr lang="en-US"/>
              <a:t> bei Datentransfer, </a:t>
            </a:r>
            <a:r>
              <a:rPr lang="en-US">
                <a:solidFill>
                  <a:schemeClr val="accent2"/>
                </a:solidFill>
              </a:rPr>
              <a:t>Bildfehler</a:t>
            </a:r>
            <a:r>
              <a:rPr lang="en-US"/>
              <a:t> nach Aufbewahrung/Abruf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Zufällige Korruption von Pixelwerten durch </a:t>
            </a:r>
            <a:r>
              <a:rPr lang="en-US">
                <a:solidFill>
                  <a:srgbClr val="00B0F0"/>
                </a:solidFill>
              </a:rPr>
              <a:t>Min (0) </a:t>
            </a:r>
            <a:r>
              <a:rPr lang="en-US"/>
              <a:t>oder </a:t>
            </a:r>
            <a:r>
              <a:rPr lang="en-US">
                <a:solidFill>
                  <a:srgbClr val="00B0F0"/>
                </a:solidFill>
              </a:rPr>
              <a:t>Max (255)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führt zu </a:t>
            </a:r>
            <a:r>
              <a:rPr lang="de-DE">
                <a:solidFill>
                  <a:schemeClr val="accent4"/>
                </a:solidFill>
              </a:rPr>
              <a:t>Informationsverlust</a:t>
            </a:r>
            <a:r>
              <a:rPr lang="de-DE"/>
              <a:t> oder -</a:t>
            </a:r>
            <a:r>
              <a:rPr lang="de-DE">
                <a:solidFill>
                  <a:schemeClr val="accent4"/>
                </a:solidFill>
              </a:rPr>
              <a:t>verfälschung</a:t>
            </a:r>
            <a:r>
              <a:rPr lang="de-DE"/>
              <a:t> im Bild</a:t>
            </a:r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E3C76D9-485E-756A-05D9-2EDE712625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3598" y="1250896"/>
            <a:ext cx="4876800" cy="4876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A539BB8-8C72-A576-4C10-5039E8F4AB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3598" y="1250896"/>
            <a:ext cx="4876800" cy="48768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517E214-AB6D-758D-A187-922FA8470F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8251847" cy="67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634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2.96296E-6 L -0.47409 -0.00046 " pathEditMode="relative" rAng="0" ptsTypes="AA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711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98BA9C-2225-D5F8-D173-B6928D7DF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FC3A2EA-8B26-30D4-D18F-742EA5BBF8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23" y="1250896"/>
            <a:ext cx="4876800" cy="4876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E21FD7-7A4A-2FA9-ED61-88A5E8B9B1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50897"/>
            <a:ext cx="4876799" cy="48767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BAD828-539B-F5ED-1337-521CBCBE2E2C}"/>
              </a:ext>
            </a:extLst>
          </p:cNvPr>
          <p:cNvSpPr txBox="1"/>
          <p:nvPr/>
        </p:nvSpPr>
        <p:spPr>
          <a:xfrm>
            <a:off x="9320990" y="778837"/>
            <a:ext cx="1790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Rauschdichte:</a:t>
            </a:r>
            <a:endParaRPr lang="de-DE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65475C7-5501-22EF-5D6B-ADB6662DEA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212468" y="1250896"/>
            <a:ext cx="585216" cy="487679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AE60B9F-ABDF-2845-D282-B97D020866FF}"/>
              </a:ext>
            </a:extLst>
          </p:cNvPr>
          <p:cNvSpPr txBox="1"/>
          <p:nvPr/>
        </p:nvSpPr>
        <p:spPr>
          <a:xfrm>
            <a:off x="11181226" y="778837"/>
            <a:ext cx="647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/>
              <a:t>10%</a:t>
            </a:r>
            <a:endParaRPr lang="de-DE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69BD8B-7723-DB5C-4F0E-C49DEA6665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8251847" cy="67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481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9B9A8F-A137-A79C-8AAF-319E465AC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2E0B15-7DCF-61FE-418E-559BB64E4B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23" y="1250896"/>
            <a:ext cx="4876800" cy="4876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B3C18B-E5EE-0C45-C40F-D0FFBC3F15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1250897"/>
            <a:ext cx="4876799" cy="48767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5DDD3B-5D97-886D-B6DB-BCA5E100CD09}"/>
              </a:ext>
            </a:extLst>
          </p:cNvPr>
          <p:cNvSpPr txBox="1"/>
          <p:nvPr/>
        </p:nvSpPr>
        <p:spPr>
          <a:xfrm>
            <a:off x="9320990" y="778837"/>
            <a:ext cx="1790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Rauschdichte:</a:t>
            </a:r>
            <a:endParaRPr lang="de-DE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922FC2A-A94A-C0AD-DF00-4F019E8DBE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11212468" y="1250901"/>
            <a:ext cx="585215" cy="487678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8EF77CB-753F-DBC6-4E7A-F9F3A4B577DC}"/>
              </a:ext>
            </a:extLst>
          </p:cNvPr>
          <p:cNvSpPr txBox="1"/>
          <p:nvPr/>
        </p:nvSpPr>
        <p:spPr>
          <a:xfrm>
            <a:off x="11181226" y="778837"/>
            <a:ext cx="6164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5</a:t>
            </a:r>
            <a:r>
              <a:rPr lang="en-US" sz="1800"/>
              <a:t>0%</a:t>
            </a:r>
            <a:endParaRPr lang="de-D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96374A-6630-5CC2-8204-F0D2056924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8251847" cy="67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048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550DB9-FBC0-51DA-B078-A1CA98567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D7762C1-29B1-104A-95E3-444B24A9F3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23" y="1250896"/>
            <a:ext cx="4876800" cy="4876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602353-DCA7-7A58-808E-ABD13AD428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1250897"/>
            <a:ext cx="4876799" cy="48767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8532A8-5DC1-D69E-0BA8-4A9394E520E4}"/>
              </a:ext>
            </a:extLst>
          </p:cNvPr>
          <p:cNvSpPr txBox="1"/>
          <p:nvPr/>
        </p:nvSpPr>
        <p:spPr>
          <a:xfrm>
            <a:off x="9320990" y="778837"/>
            <a:ext cx="1790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Rauschdichte:</a:t>
            </a:r>
            <a:endParaRPr lang="de-DE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018601E-8FE8-BB83-073C-D81AE29F7C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11212468" y="1250901"/>
            <a:ext cx="585215" cy="487678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E72A8FF-37DC-DBAD-026B-94CCED34355A}"/>
              </a:ext>
            </a:extLst>
          </p:cNvPr>
          <p:cNvSpPr txBox="1"/>
          <p:nvPr/>
        </p:nvSpPr>
        <p:spPr>
          <a:xfrm>
            <a:off x="11181226" y="778837"/>
            <a:ext cx="6164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9</a:t>
            </a:r>
            <a:r>
              <a:rPr lang="en-US" sz="1800"/>
              <a:t>0%</a:t>
            </a:r>
            <a:endParaRPr lang="de-D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BE82FC-E839-530C-C6AD-2A271805D7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8251847" cy="67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948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30A65A-F531-84EB-260C-AA0CDEB38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79A7906-87F1-39E8-02A6-1CEEDE612D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1250897"/>
            <a:ext cx="4876799" cy="48767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9865D23-951D-604B-4D5D-6608C119E737}"/>
              </a:ext>
            </a:extLst>
          </p:cNvPr>
          <p:cNvSpPr txBox="1"/>
          <p:nvPr/>
        </p:nvSpPr>
        <p:spPr>
          <a:xfrm>
            <a:off x="9320990" y="778837"/>
            <a:ext cx="1790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Rauschdichte:</a:t>
            </a:r>
            <a:endParaRPr lang="de-DE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4ACE3FE-E133-EDD6-D72C-14C965ACC8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11212468" y="1250897"/>
            <a:ext cx="585216" cy="487679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0E37DEE-93B4-CAB1-7246-95450D3BD618}"/>
              </a:ext>
            </a:extLst>
          </p:cNvPr>
          <p:cNvSpPr txBox="1"/>
          <p:nvPr/>
        </p:nvSpPr>
        <p:spPr>
          <a:xfrm>
            <a:off x="11181226" y="778837"/>
            <a:ext cx="647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2</a:t>
            </a:r>
            <a:r>
              <a:rPr lang="en-US" sz="1800"/>
              <a:t>0%</a:t>
            </a:r>
            <a:endParaRPr lang="de-DE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45155A-C0AB-4356-59E0-FE7BAAEF420A}"/>
              </a:ext>
            </a:extLst>
          </p:cNvPr>
          <p:cNvSpPr txBox="1"/>
          <p:nvPr/>
        </p:nvSpPr>
        <p:spPr>
          <a:xfrm>
            <a:off x="1219201" y="2119634"/>
            <a:ext cx="3893366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/>
              <a:t>Rauschunterdrückung von SPN:</a:t>
            </a:r>
          </a:p>
          <a:p>
            <a:endParaRPr lang="en-US"/>
          </a:p>
          <a:p>
            <a:pPr algn="ctr"/>
            <a:r>
              <a:rPr lang="en-US" sz="2400">
                <a:solidFill>
                  <a:srgbClr val="92D050"/>
                </a:solidFill>
              </a:rPr>
              <a:t>Median Filter</a:t>
            </a:r>
          </a:p>
          <a:p>
            <a:endParaRPr lang="en-US"/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3"/>
                </a:solidFill>
              </a:rPr>
              <a:t>jeder Pixel </a:t>
            </a:r>
            <a:r>
              <a:rPr lang="en-US"/>
              <a:t>im Bild wird durch den </a:t>
            </a:r>
            <a:r>
              <a:rPr lang="en-US">
                <a:solidFill>
                  <a:srgbClr val="00B0F0"/>
                </a:solidFill>
              </a:rPr>
              <a:t>Median</a:t>
            </a:r>
            <a:r>
              <a:rPr lang="en-US"/>
              <a:t> seiner </a:t>
            </a:r>
            <a:r>
              <a:rPr lang="en-US">
                <a:solidFill>
                  <a:schemeClr val="accent3"/>
                </a:solidFill>
              </a:rPr>
              <a:t>Nachbarschaft</a:t>
            </a:r>
            <a:r>
              <a:rPr lang="en-US"/>
              <a:t> ersetzt</a:t>
            </a: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dient oft als </a:t>
            </a:r>
            <a:r>
              <a:rPr lang="en-US">
                <a:solidFill>
                  <a:schemeClr val="accent5"/>
                </a:solidFill>
              </a:rPr>
              <a:t>Vergleichsverfahren</a:t>
            </a:r>
            <a:r>
              <a:rPr lang="en-US"/>
              <a:t> für SPN Entrauschen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1F10613-CF91-EF0C-EAA4-E7D0F7AA98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8251847" cy="67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719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6FD8AC-366F-4653-E099-FC990C804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19B55C6-F65F-4730-09E1-E14FD5FFD3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1250897"/>
            <a:ext cx="4876799" cy="48767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DB13CF0-EE3C-0B06-0A87-5EF77C0F9AE2}"/>
              </a:ext>
            </a:extLst>
          </p:cNvPr>
          <p:cNvSpPr txBox="1"/>
          <p:nvPr/>
        </p:nvSpPr>
        <p:spPr>
          <a:xfrm>
            <a:off x="1219201" y="3273797"/>
            <a:ext cx="38933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Betrachtung von </a:t>
            </a:r>
            <a:r>
              <a:rPr lang="en-US" sz="2400">
                <a:solidFill>
                  <a:srgbClr val="00B0F0"/>
                </a:solidFill>
              </a:rPr>
              <a:t>3x3 Fenster </a:t>
            </a:r>
            <a:r>
              <a:rPr lang="en-US" sz="2400"/>
              <a:t>um Zentrum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1F1E69B-8449-AEF4-8EEC-18BC567C12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8251847" cy="67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641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22EB0E-2A09-1158-01A8-228DF5FE7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F3A3FE-DC4C-24FC-B97A-CDA4A653FA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1250897"/>
            <a:ext cx="4876799" cy="487679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F1FAA7-FF11-2FB4-6A18-EF99225E290F}"/>
              </a:ext>
            </a:extLst>
          </p:cNvPr>
          <p:cNvCxnSpPr>
            <a:cxnSpLocks/>
          </p:cNvCxnSpPr>
          <p:nvPr/>
        </p:nvCxnSpPr>
        <p:spPr>
          <a:xfrm>
            <a:off x="7708900" y="1257247"/>
            <a:ext cx="0" cy="4876795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2592FE-E227-567A-E690-24849CC0339D}"/>
              </a:ext>
            </a:extLst>
          </p:cNvPr>
          <p:cNvCxnSpPr>
            <a:cxnSpLocks/>
          </p:cNvCxnSpPr>
          <p:nvPr/>
        </p:nvCxnSpPr>
        <p:spPr>
          <a:xfrm>
            <a:off x="9334500" y="1250897"/>
            <a:ext cx="0" cy="4876795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EAA4AE6-2176-34E9-9D08-282A22BB69FC}"/>
              </a:ext>
            </a:extLst>
          </p:cNvPr>
          <p:cNvCxnSpPr>
            <a:cxnSpLocks/>
          </p:cNvCxnSpPr>
          <p:nvPr/>
        </p:nvCxnSpPr>
        <p:spPr>
          <a:xfrm>
            <a:off x="6102350" y="2873131"/>
            <a:ext cx="4876795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86958E1-0987-524B-B4FF-D97A9BB388ED}"/>
              </a:ext>
            </a:extLst>
          </p:cNvPr>
          <p:cNvCxnSpPr>
            <a:cxnSpLocks/>
          </p:cNvCxnSpPr>
          <p:nvPr/>
        </p:nvCxnSpPr>
        <p:spPr>
          <a:xfrm>
            <a:off x="6096000" y="4502639"/>
            <a:ext cx="4876795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2D11F26-1A2E-6C59-F111-5C72A583C2A8}"/>
              </a:ext>
            </a:extLst>
          </p:cNvPr>
          <p:cNvSpPr txBox="1"/>
          <p:nvPr/>
        </p:nvSpPr>
        <p:spPr>
          <a:xfrm>
            <a:off x="7854266" y="3458463"/>
            <a:ext cx="13837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</a:rPr>
              <a:t>Zentrum</a:t>
            </a:r>
            <a:endParaRPr lang="de-DE" sz="2400" b="1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F25129-0ED4-0408-C291-3846B96646A2}"/>
              </a:ext>
            </a:extLst>
          </p:cNvPr>
          <p:cNvSpPr/>
          <p:nvPr/>
        </p:nvSpPr>
        <p:spPr>
          <a:xfrm>
            <a:off x="6096000" y="1250897"/>
            <a:ext cx="4876795" cy="4876795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8A09A1-51F7-1E2F-674B-FEB7E64A5751}"/>
              </a:ext>
            </a:extLst>
          </p:cNvPr>
          <p:cNvSpPr txBox="1"/>
          <p:nvPr/>
        </p:nvSpPr>
        <p:spPr>
          <a:xfrm>
            <a:off x="1219201" y="3273797"/>
            <a:ext cx="38933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Betrachtung von </a:t>
            </a:r>
            <a:r>
              <a:rPr lang="en-US" sz="2400">
                <a:solidFill>
                  <a:srgbClr val="00B0F0"/>
                </a:solidFill>
              </a:rPr>
              <a:t>3x3 Fenster</a:t>
            </a:r>
            <a:r>
              <a:rPr lang="en-US" sz="2400"/>
              <a:t> um Zentrum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098C10E-98E9-2315-4D18-610D8D841C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8251847" cy="67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18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C68BE9-D2CA-D18A-870A-1BA931321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BD3CDA0-3347-FFD3-5DAC-3C9DEA7850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40311" y="1041348"/>
            <a:ext cx="1711378" cy="17113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515F6B-4918-664A-4114-0A6605D6B877}"/>
              </a:ext>
            </a:extLst>
          </p:cNvPr>
          <p:cNvSpPr txBox="1"/>
          <p:nvPr/>
        </p:nvSpPr>
        <p:spPr>
          <a:xfrm>
            <a:off x="1017951" y="2600226"/>
            <a:ext cx="402671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sortiert Pixelwerte der Größe nach </a:t>
            </a:r>
            <a:r>
              <a:rPr lang="en-US" sz="2400">
                <a:solidFill>
                  <a:schemeClr val="accent5"/>
                </a:solidFill>
              </a:rPr>
              <a:t>absteigend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ersetzt </a:t>
            </a:r>
            <a:r>
              <a:rPr lang="en-US" sz="2400">
                <a:solidFill>
                  <a:schemeClr val="accent3"/>
                </a:solidFill>
              </a:rPr>
              <a:t>Zentrum</a:t>
            </a:r>
            <a:r>
              <a:rPr lang="en-US" sz="2400"/>
              <a:t> durch </a:t>
            </a:r>
            <a:r>
              <a:rPr lang="en-US" sz="2400">
                <a:solidFill>
                  <a:srgbClr val="00B0F0"/>
                </a:solidFill>
              </a:rPr>
              <a:t>Median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793D49-721B-2E30-49ED-E29463ACD4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7333" y="1828799"/>
            <a:ext cx="4635091" cy="463509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AC9309F-7EEA-4635-D5B9-F96CE4740AC8}"/>
              </a:ext>
            </a:extLst>
          </p:cNvPr>
          <p:cNvSpPr/>
          <p:nvPr/>
        </p:nvSpPr>
        <p:spPr>
          <a:xfrm>
            <a:off x="8699500" y="3365500"/>
            <a:ext cx="1530350" cy="1543050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6BE9B9D-572B-DB3D-ED85-892F1DA1DD99}"/>
              </a:ext>
            </a:extLst>
          </p:cNvPr>
          <p:cNvCxnSpPr/>
          <p:nvPr/>
        </p:nvCxnSpPr>
        <p:spPr>
          <a:xfrm flipH="1" flipV="1">
            <a:off x="6229350" y="2038350"/>
            <a:ext cx="2470150" cy="132715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7C26EE9C-3740-EC59-EDE4-14B30DD779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8251847" cy="67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4995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61B26B-DC67-A91E-FDE5-A4410064B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1C82CF0-8653-64A3-5868-EEDE678939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87455" y="1249988"/>
            <a:ext cx="4876800" cy="4876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30A27C-6E71-5C71-FB64-AE0E06999D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41532" y="1249989"/>
            <a:ext cx="4876799" cy="48767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AECD27-8BE5-91A1-6205-59CDF3C7808F}"/>
              </a:ext>
            </a:extLst>
          </p:cNvPr>
          <p:cNvSpPr txBox="1"/>
          <p:nvPr/>
        </p:nvSpPr>
        <p:spPr>
          <a:xfrm>
            <a:off x="1587455" y="614362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Verrauscht</a:t>
            </a:r>
            <a:endParaRPr lang="de-DE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50CB08C-670C-E429-E370-FF791CFE1D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633986" y="1250901"/>
            <a:ext cx="585214" cy="487678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69577E9-C047-09D1-85B4-D35E96E2C174}"/>
              </a:ext>
            </a:extLst>
          </p:cNvPr>
          <p:cNvSpPr txBox="1"/>
          <p:nvPr/>
        </p:nvSpPr>
        <p:spPr>
          <a:xfrm>
            <a:off x="618364" y="6143625"/>
            <a:ext cx="6164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/>
              <a:t>10%</a:t>
            </a:r>
            <a:endParaRPr lang="de-D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8EBB1D-2C2C-F9C5-876D-8E11F86782D6}"/>
              </a:ext>
            </a:extLst>
          </p:cNvPr>
          <p:cNvSpPr txBox="1"/>
          <p:nvPr/>
        </p:nvSpPr>
        <p:spPr>
          <a:xfrm>
            <a:off x="7988203" y="6185416"/>
            <a:ext cx="3860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restauriert über Digimizer Median</a:t>
            </a:r>
            <a:endParaRPr lang="de-D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5E251A-0737-A4EF-EA1C-B406F414BB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8251847" cy="67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94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B31CB-CC0A-8043-8FE4-56DD5C183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2CC1D02-5FE2-1899-1E33-18848D27D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87455" y="1249988"/>
            <a:ext cx="4876800" cy="4876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A6C038-D471-361B-A416-266708ECFB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41532" y="1249989"/>
            <a:ext cx="4876799" cy="48767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BD2AB9-7268-4D19-607E-150B19BF1E25}"/>
              </a:ext>
            </a:extLst>
          </p:cNvPr>
          <p:cNvSpPr txBox="1"/>
          <p:nvPr/>
        </p:nvSpPr>
        <p:spPr>
          <a:xfrm>
            <a:off x="1587455" y="614362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Verrauscht</a:t>
            </a:r>
            <a:endParaRPr lang="de-DE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AFC575E-D04C-DF1E-2C83-790C6220C7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633986" y="1250905"/>
            <a:ext cx="585214" cy="487678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204EE6D-EE16-F35A-7FD4-EEEF789AD4A5}"/>
              </a:ext>
            </a:extLst>
          </p:cNvPr>
          <p:cNvSpPr txBox="1"/>
          <p:nvPr/>
        </p:nvSpPr>
        <p:spPr>
          <a:xfrm>
            <a:off x="618364" y="6143625"/>
            <a:ext cx="6164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5</a:t>
            </a:r>
            <a:r>
              <a:rPr lang="en-US" sz="1800"/>
              <a:t>0%</a:t>
            </a:r>
            <a:endParaRPr lang="de-D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8A46CE-5544-1FA8-24C8-AF1EC1FC3E79}"/>
              </a:ext>
            </a:extLst>
          </p:cNvPr>
          <p:cNvSpPr txBox="1"/>
          <p:nvPr/>
        </p:nvSpPr>
        <p:spPr>
          <a:xfrm>
            <a:off x="7988203" y="6185416"/>
            <a:ext cx="3860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restauriert über Digimizer Median</a:t>
            </a:r>
            <a:endParaRPr lang="de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2F0A14-DAE6-2AB1-302A-B52066F570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8251847" cy="67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996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457F24-BA81-C4EA-D6F0-B580B7E31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DD61DFA-146D-45FA-2756-7657537B07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87455" y="1249988"/>
            <a:ext cx="4876800" cy="4876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B230F9-A03E-951C-6061-D818922906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41532" y="1249989"/>
            <a:ext cx="4876799" cy="48767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4076CE-72B7-B2E4-759E-DF9C5A0A60A6}"/>
              </a:ext>
            </a:extLst>
          </p:cNvPr>
          <p:cNvSpPr txBox="1"/>
          <p:nvPr/>
        </p:nvSpPr>
        <p:spPr>
          <a:xfrm>
            <a:off x="1587455" y="614362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Verrauscht</a:t>
            </a:r>
            <a:endParaRPr lang="de-DE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FEEDDCF-B7E1-1556-D12C-B2CCCE3857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633986" y="1250905"/>
            <a:ext cx="585213" cy="487678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D977F32-9994-8B0F-8629-30136B3FEC27}"/>
              </a:ext>
            </a:extLst>
          </p:cNvPr>
          <p:cNvSpPr txBox="1"/>
          <p:nvPr/>
        </p:nvSpPr>
        <p:spPr>
          <a:xfrm>
            <a:off x="618364" y="6143625"/>
            <a:ext cx="6164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/>
              <a:t>70%</a:t>
            </a:r>
            <a:endParaRPr lang="de-D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6C2D2E-EE1D-4DFF-EAF9-517249091E8D}"/>
              </a:ext>
            </a:extLst>
          </p:cNvPr>
          <p:cNvSpPr txBox="1"/>
          <p:nvPr/>
        </p:nvSpPr>
        <p:spPr>
          <a:xfrm>
            <a:off x="7988203" y="6185416"/>
            <a:ext cx="3860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restauriert über Digimizer Median</a:t>
            </a:r>
            <a:endParaRPr lang="de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D5998F-9081-5BA5-599A-087F8F6767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8251847" cy="67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682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FE9C11-AFEA-557D-F7C0-A71F069D5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CA686A4-BFE2-7017-63A4-2C936E030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87455" y="1249988"/>
            <a:ext cx="4876800" cy="4876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B9F4FA-6343-C0D4-41E9-BA2D05E5F0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41532" y="1249989"/>
            <a:ext cx="4876799" cy="48767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3DB5D4-E564-192B-E23E-964F6E0AE2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8251847" cy="6761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5E19D1-6A0A-6188-D27E-7F16163C3C8E}"/>
              </a:ext>
            </a:extLst>
          </p:cNvPr>
          <p:cNvSpPr txBox="1"/>
          <p:nvPr/>
        </p:nvSpPr>
        <p:spPr>
          <a:xfrm>
            <a:off x="1587455" y="614362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Verrauscht</a:t>
            </a:r>
            <a:endParaRPr lang="de-DE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66DF935-A9B0-CFF8-FC01-F186B7B730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633986" y="1250909"/>
            <a:ext cx="585213" cy="487677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B23818A-0E48-9ACA-D93F-659DC7598810}"/>
              </a:ext>
            </a:extLst>
          </p:cNvPr>
          <p:cNvSpPr txBox="1"/>
          <p:nvPr/>
        </p:nvSpPr>
        <p:spPr>
          <a:xfrm>
            <a:off x="618364" y="6143625"/>
            <a:ext cx="6164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9</a:t>
            </a:r>
            <a:r>
              <a:rPr lang="en-US" sz="1800"/>
              <a:t>0%</a:t>
            </a:r>
            <a:endParaRPr lang="de-D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77349E-F86D-6DB2-E2F5-E1889649BFAB}"/>
              </a:ext>
            </a:extLst>
          </p:cNvPr>
          <p:cNvSpPr txBox="1"/>
          <p:nvPr/>
        </p:nvSpPr>
        <p:spPr>
          <a:xfrm>
            <a:off x="7988203" y="6185416"/>
            <a:ext cx="3860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restauriert über Digimizer Median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6056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1A3603-B876-FF73-BE5C-9D43BB43B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76AE1D-6675-A8D7-CB34-A0B2E7640C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8251847" cy="6761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31F1C6A-4008-C9CB-D115-0CE26EC6CB01}"/>
              </a:ext>
            </a:extLst>
          </p:cNvPr>
          <p:cNvSpPr txBox="1"/>
          <p:nvPr/>
        </p:nvSpPr>
        <p:spPr>
          <a:xfrm>
            <a:off x="618619" y="1107840"/>
            <a:ext cx="519189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Grundlegende Charakteristika</a:t>
            </a:r>
          </a:p>
          <a:p>
            <a:pPr algn="ctr"/>
            <a:r>
              <a:rPr lang="en-US"/>
              <a:t>von zellulären Automaten (CA)</a:t>
            </a:r>
          </a:p>
          <a:p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3"/>
                </a:solidFill>
              </a:rPr>
              <a:t>Betrachtung von Zellen </a:t>
            </a:r>
            <a:r>
              <a:rPr lang="en-US"/>
              <a:t>in einem </a:t>
            </a:r>
            <a:r>
              <a:rPr lang="en-US">
                <a:solidFill>
                  <a:srgbClr val="00B0F0"/>
                </a:solidFill>
              </a:rPr>
              <a:t>Raum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Jede Zelle in einem </a:t>
            </a:r>
            <a:r>
              <a:rPr lang="en-US">
                <a:solidFill>
                  <a:schemeClr val="accent2"/>
                </a:solidFill>
              </a:rPr>
              <a:t>Zustand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Jede Zelle besitzt eine </a:t>
            </a:r>
            <a:r>
              <a:rPr lang="en-US">
                <a:solidFill>
                  <a:srgbClr val="92D050"/>
                </a:solidFill>
              </a:rPr>
              <a:t>Nachbarschaft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solidFill>
                  <a:schemeClr val="accent5"/>
                </a:solidFill>
              </a:rPr>
              <a:t>Übergangsfunktion</a:t>
            </a:r>
            <a:r>
              <a:rPr lang="de-DE"/>
              <a:t> zur Änderung der Zelle bei </a:t>
            </a:r>
            <a:r>
              <a:rPr lang="de-DE">
                <a:solidFill>
                  <a:schemeClr val="accent6"/>
                </a:solidFill>
              </a:rPr>
              <a:t>Generationsschritt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Ausgabe vom CA wird beeinflusst von </a:t>
            </a:r>
            <a:r>
              <a:rPr lang="de-DE">
                <a:solidFill>
                  <a:srgbClr val="00B0F0"/>
                </a:solidFill>
              </a:rPr>
              <a:t>Ausgangssituation</a:t>
            </a:r>
            <a:r>
              <a:rPr lang="de-DE"/>
              <a:t> und </a:t>
            </a:r>
            <a:r>
              <a:rPr lang="de-DE">
                <a:solidFill>
                  <a:schemeClr val="accent5"/>
                </a:solidFill>
              </a:rPr>
              <a:t>Übergangsfunktion</a:t>
            </a:r>
          </a:p>
          <a:p>
            <a:endParaRPr lang="de-DE"/>
          </a:p>
        </p:txBody>
      </p:sp>
      <p:pic>
        <p:nvPicPr>
          <p:cNvPr id="13" name="Picture 12" descr="Figure 7.6: The state of a cell at generation 1 is a function of the previous generation’s neighborhood.">
            <a:extLst>
              <a:ext uri="{FF2B5EF4-FFF2-40B4-BE49-F238E27FC236}">
                <a16:creationId xmlns:a16="http://schemas.microsoft.com/office/drawing/2014/main" id="{BED47C0F-9F9D-2BFA-C89E-32D5655770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783" r="4156"/>
          <a:stretch>
            <a:fillRect/>
          </a:stretch>
        </p:blipFill>
        <p:spPr>
          <a:xfrm>
            <a:off x="6862411" y="2705079"/>
            <a:ext cx="5044345" cy="1183905"/>
          </a:xfrm>
          <a:prstGeom prst="rect">
            <a:avLst/>
          </a:prstGeom>
        </p:spPr>
      </p:pic>
      <p:pic>
        <p:nvPicPr>
          <p:cNvPr id="14" name="Picture 13" descr="Figure 7.8: A ruleset shows the outcome for each possible configuration of three cells.">
            <a:extLst>
              <a:ext uri="{FF2B5EF4-FFF2-40B4-BE49-F238E27FC236}">
                <a16:creationId xmlns:a16="http://schemas.microsoft.com/office/drawing/2014/main" id="{EF04F210-2121-8ACC-C2A4-9D96D0BE061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108" r="10666"/>
          <a:stretch>
            <a:fillRect/>
          </a:stretch>
        </p:blipFill>
        <p:spPr>
          <a:xfrm>
            <a:off x="6862411" y="1139234"/>
            <a:ext cx="5044345" cy="1148892"/>
          </a:xfrm>
          <a:prstGeom prst="rect">
            <a:avLst/>
          </a:prstGeom>
        </p:spPr>
      </p:pic>
      <p:pic>
        <p:nvPicPr>
          <p:cNvPr id="15" name="Picture 14" descr="Figure 7.12: Translating a grid of 0s and 1s to white and black squares">
            <a:extLst>
              <a:ext uri="{FF2B5EF4-FFF2-40B4-BE49-F238E27FC236}">
                <a16:creationId xmlns:a16="http://schemas.microsoft.com/office/drawing/2014/main" id="{C019779A-14DE-7FFA-13A8-30921921A5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2411" y="4305937"/>
            <a:ext cx="5044345" cy="198796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03E7F1A-E27A-DF96-9D1E-912AE86F08D3}"/>
              </a:ext>
            </a:extLst>
          </p:cNvPr>
          <p:cNvSpPr txBox="1"/>
          <p:nvPr/>
        </p:nvSpPr>
        <p:spPr>
          <a:xfrm>
            <a:off x="7765879" y="6347126"/>
            <a:ext cx="414087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/>
              <a:t>Daniel Shiffman – The Nature of Code | 7. Cellular Automata</a:t>
            </a:r>
            <a:endParaRPr lang="de-DE" sz="1050"/>
          </a:p>
        </p:txBody>
      </p:sp>
      <p:pic>
        <p:nvPicPr>
          <p:cNvPr id="17" name="Picture 16" descr="Figure 7.10: Determining a state for generation 1 by using the CA ruleset">
            <a:extLst>
              <a:ext uri="{FF2B5EF4-FFF2-40B4-BE49-F238E27FC236}">
                <a16:creationId xmlns:a16="http://schemas.microsoft.com/office/drawing/2014/main" id="{959B3E01-53A3-C968-A7A5-552FA7A18B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244" y="4581965"/>
            <a:ext cx="6206166" cy="1672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65532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FC70BB-9CE6-01B1-8C15-4A50C1A78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52842B-01FB-071F-906F-211DBFCEAE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8251847" cy="6761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DBE9920-F06F-7DDB-EB24-4055051428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78984" y="1540679"/>
            <a:ext cx="1954996" cy="19549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1DD687-9AB6-324C-A09C-C44668F8B0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78984" y="3829049"/>
            <a:ext cx="1954997" cy="19549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9E1F61-6437-36CC-5B4E-E4883DC2DEAE}"/>
              </a:ext>
            </a:extLst>
          </p:cNvPr>
          <p:cNvSpPr txBox="1"/>
          <p:nvPr/>
        </p:nvSpPr>
        <p:spPr>
          <a:xfrm>
            <a:off x="9247993" y="2849344"/>
            <a:ext cx="18742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Moore</a:t>
            </a:r>
          </a:p>
          <a:p>
            <a:r>
              <a:rPr lang="en-US"/>
              <a:t>Nachbarschaft</a:t>
            </a:r>
            <a:endParaRPr lang="de-D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0D32E5-0AEB-903C-050D-8D2EBA524C87}"/>
              </a:ext>
            </a:extLst>
          </p:cNvPr>
          <p:cNvSpPr txBox="1"/>
          <p:nvPr/>
        </p:nvSpPr>
        <p:spPr>
          <a:xfrm>
            <a:off x="9247993" y="5137715"/>
            <a:ext cx="18854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Von Neumann</a:t>
            </a:r>
          </a:p>
          <a:p>
            <a:r>
              <a:rPr lang="en-US"/>
              <a:t>Nachbarschaft</a:t>
            </a:r>
            <a:endParaRPr lang="de-DE"/>
          </a:p>
        </p:txBody>
      </p:sp>
      <p:pic>
        <p:nvPicPr>
          <p:cNvPr id="16" name="Picture 15" descr="Figure 7.1: A 2D grid of cells, each with a state of on or off. A neighborhood is a subsection of the large grid, usually consisting of all the cells adjacent to a given cell (circled).">
            <a:extLst>
              <a:ext uri="{FF2B5EF4-FFF2-40B4-BE49-F238E27FC236}">
                <a16:creationId xmlns:a16="http://schemas.microsoft.com/office/drawing/2014/main" id="{B1E0B454-932B-D875-7FA4-B5130A22D7E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9809" r="12944"/>
          <a:stretch>
            <a:fillRect/>
          </a:stretch>
        </p:blipFill>
        <p:spPr>
          <a:xfrm>
            <a:off x="704849" y="1540679"/>
            <a:ext cx="5724525" cy="355739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B3C3D33-AC97-B0E5-9309-D27CD3DA26AA}"/>
              </a:ext>
            </a:extLst>
          </p:cNvPr>
          <p:cNvSpPr txBox="1"/>
          <p:nvPr/>
        </p:nvSpPr>
        <p:spPr>
          <a:xfrm>
            <a:off x="704849" y="5193328"/>
            <a:ext cx="38106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Beispiel von Daniel Shiffman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Zweidimensionaler </a:t>
            </a:r>
            <a:r>
              <a:rPr lang="en-US">
                <a:solidFill>
                  <a:srgbClr val="00B0F0"/>
                </a:solidFill>
              </a:rPr>
              <a:t>Gitterraum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Zustände: </a:t>
            </a:r>
            <a:r>
              <a:rPr lang="de-DE">
                <a:solidFill>
                  <a:schemeClr val="accent2"/>
                </a:solidFill>
              </a:rPr>
              <a:t>on (1), off (0)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solidFill>
                  <a:srgbClr val="92D050"/>
                </a:solidFill>
              </a:rPr>
              <a:t>Moore</a:t>
            </a:r>
            <a:r>
              <a:rPr lang="de-DE"/>
              <a:t> Nachbarschaft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9438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  <p:bldP spid="1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A661C9-6A13-27BD-CCC5-CC5E3C723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E15A50-E54E-BC4B-75CA-E8E4A0708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8251847" cy="6761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F0A59D-9201-5FCA-E458-67EEEEBAA6F3}"/>
              </a:ext>
            </a:extLst>
          </p:cNvPr>
          <p:cNvSpPr txBox="1"/>
          <p:nvPr/>
        </p:nvSpPr>
        <p:spPr>
          <a:xfrm>
            <a:off x="887412" y="1662528"/>
            <a:ext cx="504033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92D050"/>
                </a:solidFill>
              </a:rPr>
              <a:t>CA in der Bildverarbeitung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naheliegende Darstellung von </a:t>
            </a:r>
            <a:r>
              <a:rPr lang="en-US">
                <a:solidFill>
                  <a:schemeClr val="accent3"/>
                </a:solidFill>
              </a:rPr>
              <a:t>Bildern als 2D 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Kapazität zu </a:t>
            </a:r>
            <a:r>
              <a:rPr lang="en-US">
                <a:solidFill>
                  <a:schemeClr val="accent1"/>
                </a:solidFill>
              </a:rPr>
              <a:t>komplexen</a:t>
            </a:r>
            <a:r>
              <a:rPr lang="en-US"/>
              <a:t> Verhalten, Kleine Änderungen = große Auswirkung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solidFill>
                  <a:schemeClr val="accent2"/>
                </a:solidFill>
              </a:rPr>
              <a:t>begrenzte Effektivität des Median </a:t>
            </a:r>
            <a:r>
              <a:rPr lang="de-DE"/>
              <a:t>bei hohen Rauschdichten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mehrere Werke mit </a:t>
            </a:r>
            <a:r>
              <a:rPr lang="de-DE">
                <a:solidFill>
                  <a:srgbClr val="00B0F0"/>
                </a:solidFill>
              </a:rPr>
              <a:t>CA-basierten Filtern übertrafen herkömmliche </a:t>
            </a:r>
            <a:r>
              <a:rPr lang="de-DE"/>
              <a:t>Filtermethoden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3B0B51-8841-181B-BD6A-A498FC7AD6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7349" y="2986025"/>
            <a:ext cx="3238952" cy="8859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AE821A-9296-1515-8B66-9E222E36A4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7349" y="2037877"/>
            <a:ext cx="2610214" cy="8097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5436F0-14E4-AF8C-500A-D26F7BE3D1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4974" y="4191383"/>
            <a:ext cx="3581900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3826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EDDD71-B82C-6C51-E2E7-C58188D61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95CE7D-D110-BACE-D3FE-E80A4CBA42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8251847" cy="676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0B5522-4B18-2AE8-003D-D317D8039B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617" y="3405626"/>
            <a:ext cx="6759358" cy="3080214"/>
          </a:xfrm>
          <a:prstGeom prst="roundRect">
            <a:avLst>
              <a:gd name="adj" fmla="val 6462"/>
            </a:avLst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B1C5C5-CC3A-AD9C-B8AF-BA0CC0FA18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268" y="1384710"/>
            <a:ext cx="6754708" cy="1876308"/>
          </a:xfrm>
          <a:prstGeom prst="roundRect">
            <a:avLst>
              <a:gd name="adj" fmla="val 4856"/>
            </a:avLst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4FCC95B-1580-0013-ACAC-43DEE74157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8150" y="957651"/>
            <a:ext cx="3114675" cy="31392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F92E90F-FCC3-AACB-6AAC-BC6C96844404}"/>
              </a:ext>
            </a:extLst>
          </p:cNvPr>
          <p:cNvSpPr txBox="1"/>
          <p:nvPr/>
        </p:nvSpPr>
        <p:spPr>
          <a:xfrm>
            <a:off x="7648574" y="4489804"/>
            <a:ext cx="39338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Identifikation über </a:t>
            </a:r>
            <a:r>
              <a:rPr lang="en-US">
                <a:solidFill>
                  <a:srgbClr val="00B0F0"/>
                </a:solidFill>
              </a:rPr>
              <a:t>Extremwerte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3"/>
                </a:solidFill>
              </a:rPr>
              <a:t>Reduzierte Von Neumann </a:t>
            </a:r>
            <a:r>
              <a:rPr lang="en-US"/>
              <a:t>Nachbarschaft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Zentrum wird ersetzt durch </a:t>
            </a:r>
            <a:r>
              <a:rPr lang="en-US">
                <a:solidFill>
                  <a:schemeClr val="accent5"/>
                </a:solidFill>
              </a:rPr>
              <a:t>Durchschnittswert</a:t>
            </a:r>
            <a:r>
              <a:rPr lang="en-US"/>
              <a:t> aller </a:t>
            </a:r>
            <a:r>
              <a:rPr lang="en-US">
                <a:solidFill>
                  <a:schemeClr val="accent5"/>
                </a:solidFill>
              </a:rPr>
              <a:t>sauberen</a:t>
            </a:r>
            <a:r>
              <a:rPr lang="en-US"/>
              <a:t> Pixel</a:t>
            </a:r>
            <a:endParaRPr lang="de-DE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0E6203-0F2B-635E-8F6A-56C96DF7BA91}"/>
              </a:ext>
            </a:extLst>
          </p:cNvPr>
          <p:cNvSpPr txBox="1"/>
          <p:nvPr/>
        </p:nvSpPr>
        <p:spPr>
          <a:xfrm>
            <a:off x="160582" y="870770"/>
            <a:ext cx="6997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G. Kong, U. Choi: </a:t>
            </a:r>
            <a:r>
              <a:rPr lang="de-DE">
                <a:solidFill>
                  <a:srgbClr val="92D050"/>
                </a:solidFill>
              </a:rPr>
              <a:t>Reduzierte Betrachtung der Nachbarschaft</a:t>
            </a:r>
          </a:p>
        </p:txBody>
      </p:sp>
    </p:spTree>
    <p:extLst>
      <p:ext uri="{BB962C8B-B14F-4D97-AF65-F5344CB8AC3E}">
        <p14:creationId xmlns:p14="http://schemas.microsoft.com/office/powerpoint/2010/main" val="3469428626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EF8578-CC59-CC77-44A0-0FF2CABBF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2A49C0-8A41-C7A3-F63C-789B3612B0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8251847" cy="6761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1DB36A4-5F06-0370-6A06-338E2D9E23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932"/>
          <a:stretch>
            <a:fillRect/>
          </a:stretch>
        </p:blipFill>
        <p:spPr>
          <a:xfrm>
            <a:off x="5143467" y="977574"/>
            <a:ext cx="6698810" cy="30118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721837E-C5CD-1AC8-A6F5-17D4B4F2639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723" y="977574"/>
            <a:ext cx="4537075" cy="2161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B98663C-3AFC-13E1-97D4-915C2602019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9723" y="3421774"/>
            <a:ext cx="4531551" cy="2161783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D645207-9205-C903-88A5-81A96948C470}"/>
              </a:ext>
            </a:extLst>
          </p:cNvPr>
          <p:cNvSpPr txBox="1"/>
          <p:nvPr/>
        </p:nvSpPr>
        <p:spPr>
          <a:xfrm>
            <a:off x="5372100" y="4219575"/>
            <a:ext cx="5994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F0"/>
                </a:solidFill>
              </a:rPr>
              <a:t>signifikante Verbesserung </a:t>
            </a:r>
            <a:r>
              <a:rPr lang="en-US"/>
              <a:t>in Leistung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3"/>
                </a:solidFill>
              </a:rPr>
              <a:t>gezielte Eliminierung </a:t>
            </a:r>
            <a:r>
              <a:rPr lang="en-US"/>
              <a:t>von nur verrauschten Pixel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4"/>
                </a:solidFill>
              </a:rPr>
              <a:t>aber</a:t>
            </a:r>
            <a:r>
              <a:rPr lang="en-US"/>
              <a:t>: keine allgemeingültige Angabe zu </a:t>
            </a:r>
            <a:r>
              <a:rPr lang="en-US">
                <a:solidFill>
                  <a:schemeClr val="accent4"/>
                </a:solidFill>
              </a:rPr>
              <a:t>benötigten Anwendungsdurchläufen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chemeClr val="accent4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gegebene Richtwerte gelten für </a:t>
            </a:r>
            <a:r>
              <a:rPr lang="en-US">
                <a:solidFill>
                  <a:schemeClr val="accent4"/>
                </a:solidFill>
              </a:rPr>
              <a:t>Lena Testbild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F67868E-CA6F-09BF-4475-5FD394886F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723" y="5865974"/>
            <a:ext cx="4896529" cy="55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3341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DEDFDF-AB9D-2B5E-D8B2-4ED822057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1BB62D-03C5-CE5B-16B6-45CBC6C96A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8251847" cy="6761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0CE0CD-7D30-FEBA-CF50-ADBE54BC08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9209"/>
          <a:stretch>
            <a:fillRect/>
          </a:stretch>
        </p:blipFill>
        <p:spPr>
          <a:xfrm>
            <a:off x="443425" y="2488705"/>
            <a:ext cx="5563675" cy="3543795"/>
          </a:xfrm>
          <a:prstGeom prst="roundRect">
            <a:avLst>
              <a:gd name="adj" fmla="val 7708"/>
            </a:avLst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BF3E48-2C46-AF21-750B-B44A82468164}"/>
              </a:ext>
            </a:extLst>
          </p:cNvPr>
          <p:cNvSpPr txBox="1"/>
          <p:nvPr/>
        </p:nvSpPr>
        <p:spPr>
          <a:xfrm>
            <a:off x="729532" y="1362041"/>
            <a:ext cx="48878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K. Angulo-Sogamoso, D. Gil-Sierra </a:t>
            </a:r>
          </a:p>
          <a:p>
            <a:r>
              <a:rPr lang="it-IT"/>
              <a:t>and H. Espitia-Cuchango:</a:t>
            </a:r>
            <a:endParaRPr lang="de-DE"/>
          </a:p>
          <a:p>
            <a:r>
              <a:rPr lang="de-DE">
                <a:solidFill>
                  <a:srgbClr val="92D050"/>
                </a:solidFill>
              </a:rPr>
              <a:t>Adaptive Betrachtung der Nachbarschaft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AA6586B-5E21-621B-0FB0-31F7A89900D1}"/>
              </a:ext>
            </a:extLst>
          </p:cNvPr>
          <p:cNvGrpSpPr/>
          <p:nvPr/>
        </p:nvGrpSpPr>
        <p:grpSpPr>
          <a:xfrm>
            <a:off x="6238897" y="1247677"/>
            <a:ext cx="5600700" cy="3332998"/>
            <a:chOff x="6429397" y="2369302"/>
            <a:chExt cx="5600700" cy="333299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AAC4C11-529A-C444-6816-2E2F808361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1886"/>
            <a:stretch>
              <a:fillRect/>
            </a:stretch>
          </p:blipFill>
          <p:spPr>
            <a:xfrm>
              <a:off x="6429397" y="2369302"/>
              <a:ext cx="3644900" cy="3332998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D3071A0-5148-7709-533A-EB361354F4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549"/>
            <a:stretch>
              <a:fillRect/>
            </a:stretch>
          </p:blipFill>
          <p:spPr>
            <a:xfrm>
              <a:off x="10074297" y="2369302"/>
              <a:ext cx="1955800" cy="3332998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FFFB92F-BBB2-3408-DE5B-5451F778A10D}"/>
              </a:ext>
            </a:extLst>
          </p:cNvPr>
          <p:cNvSpPr txBox="1"/>
          <p:nvPr/>
        </p:nvSpPr>
        <p:spPr>
          <a:xfrm>
            <a:off x="6275922" y="4733160"/>
            <a:ext cx="55636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3"/>
                </a:solidFill>
              </a:rPr>
              <a:t>gegensätzlicher Ansatz </a:t>
            </a:r>
            <a:r>
              <a:rPr lang="en-US"/>
              <a:t>in der Betrachtung der Nachbarschaft (</a:t>
            </a:r>
            <a:r>
              <a:rPr lang="en-US">
                <a:solidFill>
                  <a:schemeClr val="accent3"/>
                </a:solidFill>
              </a:rPr>
              <a:t>adaptiv</a:t>
            </a:r>
            <a:r>
              <a:rPr lang="en-US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F0"/>
                </a:solidFill>
              </a:rPr>
              <a:t>merkliche Auswirkung </a:t>
            </a:r>
            <a:r>
              <a:rPr lang="en-US"/>
              <a:t>auf Leistung zwischen KCA und MERIG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Anzahl Durchläufe </a:t>
            </a:r>
            <a:r>
              <a:rPr lang="en-US">
                <a:solidFill>
                  <a:schemeClr val="accent4"/>
                </a:solidFill>
              </a:rPr>
              <a:t>abhängig von Rauschlevel</a:t>
            </a:r>
          </a:p>
        </p:txBody>
      </p:sp>
    </p:spTree>
    <p:extLst>
      <p:ext uri="{BB962C8B-B14F-4D97-AF65-F5344CB8AC3E}">
        <p14:creationId xmlns:p14="http://schemas.microsoft.com/office/powerpoint/2010/main" val="826015357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F02D5A-862F-A3DB-176E-A55006366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217A4A-55ED-73CB-41FB-95B778FF8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8251847" cy="67610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79D5DBC1-081B-0713-454E-773C23F03A1F}"/>
              </a:ext>
            </a:extLst>
          </p:cNvPr>
          <p:cNvGrpSpPr/>
          <p:nvPr/>
        </p:nvGrpSpPr>
        <p:grpSpPr>
          <a:xfrm>
            <a:off x="865198" y="4781551"/>
            <a:ext cx="3803650" cy="1690131"/>
            <a:chOff x="4521200" y="3886201"/>
            <a:chExt cx="3803650" cy="169013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E65EE69-F25B-13BD-E100-D64D31D19978}"/>
                </a:ext>
              </a:extLst>
            </p:cNvPr>
            <p:cNvGrpSpPr/>
            <p:nvPr/>
          </p:nvGrpSpPr>
          <p:grpSpPr>
            <a:xfrm>
              <a:off x="4521200" y="3886201"/>
              <a:ext cx="3803650" cy="1320799"/>
              <a:chOff x="4521200" y="3886201"/>
              <a:chExt cx="3803650" cy="1320799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DF9FB547-3655-020C-0CB6-D5DA17E773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9167" t="75004"/>
              <a:stretch>
                <a:fillRect/>
              </a:stretch>
            </p:blipFill>
            <p:spPr>
              <a:xfrm>
                <a:off x="6991350" y="3886201"/>
                <a:ext cx="1333500" cy="1320799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091586A8-7261-A563-A94F-4F6EC466AF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97" t="6" r="60341" b="74998"/>
              <a:stretch>
                <a:fillRect/>
              </a:stretch>
            </p:blipFill>
            <p:spPr>
              <a:xfrm>
                <a:off x="4521200" y="3886201"/>
                <a:ext cx="2551113" cy="1320799"/>
              </a:xfrm>
              <a:prstGeom prst="rect">
                <a:avLst/>
              </a:prstGeom>
            </p:spPr>
          </p:pic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820AADA-4822-C0AB-1E2B-4EC4FBF9BB5B}"/>
                </a:ext>
              </a:extLst>
            </p:cNvPr>
            <p:cNvSpPr txBox="1"/>
            <p:nvPr/>
          </p:nvSpPr>
          <p:spPr>
            <a:xfrm>
              <a:off x="6097958" y="5207000"/>
              <a:ext cx="2226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/>
                <a:t>50% Rauschdichte</a:t>
              </a:r>
              <a:endParaRPr lang="de-DE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13D0D233-DE5F-48CC-7289-66130D727118}"/>
              </a:ext>
            </a:extLst>
          </p:cNvPr>
          <p:cNvSpPr txBox="1"/>
          <p:nvPr/>
        </p:nvSpPr>
        <p:spPr>
          <a:xfrm>
            <a:off x="646555" y="991967"/>
            <a:ext cx="43075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S. Sadeghi, A. Rezvanian, E. Kamrani:</a:t>
            </a:r>
          </a:p>
          <a:p>
            <a:r>
              <a:rPr lang="de-DE">
                <a:solidFill>
                  <a:srgbClr val="92D050"/>
                </a:solidFill>
              </a:rPr>
              <a:t>Zelluläre Automaten mit Fuzzy Logic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179230-B0CF-95FC-B620-DA22BA798AD5}"/>
              </a:ext>
            </a:extLst>
          </p:cNvPr>
          <p:cNvSpPr txBox="1"/>
          <p:nvPr/>
        </p:nvSpPr>
        <p:spPr>
          <a:xfrm>
            <a:off x="9096376" y="1291815"/>
            <a:ext cx="29337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Identifikation des Rauschens über </a:t>
            </a:r>
            <a:r>
              <a:rPr lang="en-US">
                <a:solidFill>
                  <a:srgbClr val="00B0F0"/>
                </a:solidFill>
              </a:rPr>
              <a:t>Standardabweichung</a:t>
            </a:r>
            <a:r>
              <a:rPr lang="en-US"/>
              <a:t> der Nachbarpixel in </a:t>
            </a:r>
            <a:r>
              <a:rPr lang="en-US">
                <a:solidFill>
                  <a:srgbClr val="00B0F0"/>
                </a:solidFill>
              </a:rPr>
              <a:t>Relation zum Durchschnitt</a:t>
            </a:r>
            <a:endParaRPr lang="de-DE">
              <a:solidFill>
                <a:srgbClr val="00B0F0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64C30D8-0021-3ACE-E549-32256FAFD8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4775" y="1119036"/>
            <a:ext cx="3219899" cy="2162477"/>
          </a:xfrm>
          <a:prstGeom prst="roundRect">
            <a:avLst>
              <a:gd name="adj" fmla="val 10500"/>
            </a:avLst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545DA3F-D9C2-C665-C9EC-5572650F3D3E}"/>
              </a:ext>
            </a:extLst>
          </p:cNvPr>
          <p:cNvSpPr txBox="1"/>
          <p:nvPr/>
        </p:nvSpPr>
        <p:spPr>
          <a:xfrm>
            <a:off x="5714775" y="3724441"/>
            <a:ext cx="539114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1"/>
                </a:solidFill>
              </a:rPr>
              <a:t>Restauration über Fuzzy Logic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Fuzzy Darstellung der Nachbarn anhand allg. Durchschnittwert (127.5)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Defuzzifizierung durch Berechnung des durchschnittlichen Schwerpunkts der Nachbarn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3"/>
                </a:solidFill>
              </a:rPr>
              <a:t>bessere Leistung </a:t>
            </a:r>
            <a:r>
              <a:rPr lang="en-US"/>
              <a:t>als Median, aber keine Angabe zu </a:t>
            </a:r>
            <a:r>
              <a:rPr lang="en-US">
                <a:solidFill>
                  <a:schemeClr val="accent4"/>
                </a:solidFill>
              </a:rPr>
              <a:t>nötigen Iteration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e-DE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5C93D7C-3354-C1E4-26A4-D20B09C161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858" y="1823843"/>
            <a:ext cx="4772691" cy="2772162"/>
          </a:xfrm>
          <a:prstGeom prst="roundRect">
            <a:avLst>
              <a:gd name="adj" fmla="val 10826"/>
            </a:avLst>
          </a:prstGeom>
        </p:spPr>
      </p:pic>
    </p:spTree>
    <p:extLst>
      <p:ext uri="{BB962C8B-B14F-4D97-AF65-F5344CB8AC3E}">
        <p14:creationId xmlns:p14="http://schemas.microsoft.com/office/powerpoint/2010/main" val="2714226459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722062-1586-0321-DDB2-B054D9A8A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21F258-6CB4-1903-E9F3-0673DE06FD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8251847" cy="676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9DE4CE-A3C6-2485-749E-AEC837D3035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090" y="922124"/>
            <a:ext cx="3286760" cy="3059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EA7C3A-D732-2CCA-BEC6-0C1EC2C8E0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5325" y="922124"/>
            <a:ext cx="3059729" cy="30597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561F75-F84E-97D0-623D-920A104E7F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9911" y="4199294"/>
            <a:ext cx="2832277" cy="2286208"/>
          </a:xfrm>
          <a:prstGeom prst="roundRect">
            <a:avLst>
              <a:gd name="adj" fmla="val 9168"/>
            </a:avLst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A1D2FFC-631F-E5D7-37EA-F67AD33796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529" y="922125"/>
            <a:ext cx="3059729" cy="308033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D18CBE3-ABAD-74B3-7C82-6B66E12ADA89}"/>
              </a:ext>
            </a:extLst>
          </p:cNvPr>
          <p:cNvSpPr txBox="1"/>
          <p:nvPr/>
        </p:nvSpPr>
        <p:spPr>
          <a:xfrm>
            <a:off x="6586183" y="4465235"/>
            <a:ext cx="44100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F0"/>
                </a:solidFill>
              </a:rPr>
              <a:t>Von Neumann </a:t>
            </a:r>
            <a:r>
              <a:rPr lang="en-US"/>
              <a:t>Nachbarschaft mit </a:t>
            </a:r>
            <a:r>
              <a:rPr lang="en-US">
                <a:solidFill>
                  <a:srgbClr val="00B0F0"/>
                </a:solidFill>
              </a:rPr>
              <a:t>zweifacher</a:t>
            </a:r>
            <a:r>
              <a:rPr lang="en-US"/>
              <a:t> Distanz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Suche nach sauberem Pixel in </a:t>
            </a:r>
            <a:r>
              <a:rPr lang="en-US">
                <a:solidFill>
                  <a:schemeClr val="accent3"/>
                </a:solidFill>
              </a:rPr>
              <a:t>geordneter</a:t>
            </a:r>
            <a:r>
              <a:rPr lang="en-US"/>
              <a:t> </a:t>
            </a:r>
            <a:r>
              <a:rPr lang="en-US">
                <a:solidFill>
                  <a:schemeClr val="accent3"/>
                </a:solidFill>
              </a:rPr>
              <a:t>Reihenfolge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Restauration des Zentrums durch </a:t>
            </a:r>
            <a:r>
              <a:rPr lang="en-US">
                <a:solidFill>
                  <a:srgbClr val="92D050"/>
                </a:solidFill>
              </a:rPr>
              <a:t>Übernehmen des Werts</a:t>
            </a:r>
            <a:endParaRPr lang="de-DE">
              <a:solidFill>
                <a:srgbClr val="92D05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F8EFBF-4BF1-7861-AF2F-1CD91E807892}"/>
              </a:ext>
            </a:extLst>
          </p:cNvPr>
          <p:cNvSpPr txBox="1"/>
          <p:nvPr/>
        </p:nvSpPr>
        <p:spPr>
          <a:xfrm>
            <a:off x="875800" y="4880733"/>
            <a:ext cx="23321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Z. Jeelani, F. Qadir</a:t>
            </a:r>
            <a:r>
              <a:rPr lang="de-DE"/>
              <a:t>:</a:t>
            </a:r>
          </a:p>
          <a:p>
            <a:pPr algn="ctr"/>
            <a:r>
              <a:rPr lang="de-DE">
                <a:solidFill>
                  <a:srgbClr val="92D050"/>
                </a:solidFill>
              </a:rPr>
              <a:t>Direktes Ersetzen des Zentrums</a:t>
            </a:r>
            <a:endParaRPr lang="en-US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4426994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3CA6AF-553B-EABC-ED2A-079350D69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8C0267-9A9A-DC53-E101-B9E9EA202F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8251847" cy="6761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20C6842-6AA7-1AA1-A383-5247A0990D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39" y="902589"/>
            <a:ext cx="4812411" cy="5681356"/>
          </a:xfrm>
          <a:prstGeom prst="roundRect">
            <a:avLst>
              <a:gd name="adj" fmla="val 2812"/>
            </a:avLst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26F9A3-112D-D049-AA3A-61BDC6DDE74D}"/>
              </a:ext>
            </a:extLst>
          </p:cNvPr>
          <p:cNvSpPr txBox="1"/>
          <p:nvPr/>
        </p:nvSpPr>
        <p:spPr>
          <a:xfrm>
            <a:off x="5819776" y="1720840"/>
            <a:ext cx="564832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92D050"/>
                </a:solidFill>
              </a:rPr>
              <a:t>Filter 2 </a:t>
            </a:r>
            <a:r>
              <a:rPr lang="en-US"/>
              <a:t>repräsentativ für das Verfahren (höchste Effektivität)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Überraschende </a:t>
            </a:r>
            <a:r>
              <a:rPr lang="en-US">
                <a:solidFill>
                  <a:schemeClr val="accent3"/>
                </a:solidFill>
              </a:rPr>
              <a:t>Leistung</a:t>
            </a:r>
            <a:r>
              <a:rPr lang="en-US"/>
              <a:t> auch bei hohen Rauschdichten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Demonstriert </a:t>
            </a:r>
            <a:r>
              <a:rPr lang="en-US">
                <a:solidFill>
                  <a:srgbClr val="00B0F0"/>
                </a:solidFill>
              </a:rPr>
              <a:t>vorhandene Informationsdichte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starke </a:t>
            </a:r>
            <a:r>
              <a:rPr lang="en-US">
                <a:solidFill>
                  <a:schemeClr val="accent4"/>
                </a:solidFill>
              </a:rPr>
              <a:t>schlieren-ähnliche Artefakte </a:t>
            </a:r>
            <a:r>
              <a:rPr lang="en-US"/>
              <a:t>bei besonders hohem Rauschlevel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keine Angabe zu </a:t>
            </a:r>
            <a:r>
              <a:rPr lang="en-US">
                <a:solidFill>
                  <a:schemeClr val="accent4"/>
                </a:solidFill>
              </a:rPr>
              <a:t>Iterationsanzahl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27728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541F8F-960C-F0BA-4F3A-D4770B96D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42BDD4-3313-FDC0-5C67-8D558BD88B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8251847" cy="67610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7A27E41-2DF6-E842-2589-99D6BFD8AF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4977" b="5057"/>
          <a:stretch>
            <a:fillRect/>
          </a:stretch>
        </p:blipFill>
        <p:spPr>
          <a:xfrm>
            <a:off x="363092" y="1789677"/>
            <a:ext cx="5454474" cy="3629346"/>
          </a:xfrm>
          <a:prstGeom prst="roundRect">
            <a:avLst>
              <a:gd name="adj" fmla="val 6462"/>
            </a:avLst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9B402D-94FF-8D3D-819E-9C621EE97A3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9209"/>
          <a:stretch>
            <a:fillRect/>
          </a:stretch>
        </p:blipFill>
        <p:spPr>
          <a:xfrm>
            <a:off x="6167920" y="1781877"/>
            <a:ext cx="5710234" cy="3637146"/>
          </a:xfrm>
          <a:prstGeom prst="roundRect">
            <a:avLst>
              <a:gd name="adj" fmla="val 7708"/>
            </a:avLst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457F71-A676-EC0F-77FB-547DFB364FD0}"/>
              </a:ext>
            </a:extLst>
          </p:cNvPr>
          <p:cNvSpPr txBox="1"/>
          <p:nvPr/>
        </p:nvSpPr>
        <p:spPr>
          <a:xfrm>
            <a:off x="1529645" y="1412545"/>
            <a:ext cx="3121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Reduzierte Nachbarschaft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7C6BC5-0188-AC76-C4B2-F89B2E81A88B}"/>
              </a:ext>
            </a:extLst>
          </p:cNvPr>
          <p:cNvSpPr txBox="1"/>
          <p:nvPr/>
        </p:nvSpPr>
        <p:spPr>
          <a:xfrm>
            <a:off x="7529679" y="1412545"/>
            <a:ext cx="2986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Adaptive Nachbarschaft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952900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36610D-22ED-D1F3-6C87-A59BF46F2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29996D-7FFC-C917-BB12-887A335F81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8251847" cy="6761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AD5D6D-2BDC-1549-B3BA-F96FF729F3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74" y="1918525"/>
            <a:ext cx="5806547" cy="3372665"/>
          </a:xfrm>
          <a:prstGeom prst="roundRect">
            <a:avLst>
              <a:gd name="adj" fmla="val 10826"/>
            </a:avLst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263596-B051-94CA-EC75-51991EEEAD3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423"/>
          <a:stretch>
            <a:fillRect/>
          </a:stretch>
        </p:blipFill>
        <p:spPr>
          <a:xfrm>
            <a:off x="7026961" y="1915455"/>
            <a:ext cx="4375590" cy="3375735"/>
          </a:xfrm>
          <a:prstGeom prst="roundRect">
            <a:avLst>
              <a:gd name="adj" fmla="val 9168"/>
            </a:avLst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B4DDB6-6B5F-A079-F57B-D28652547A90}"/>
              </a:ext>
            </a:extLst>
          </p:cNvPr>
          <p:cNvSpPr txBox="1"/>
          <p:nvPr/>
        </p:nvSpPr>
        <p:spPr>
          <a:xfrm>
            <a:off x="1979331" y="1546123"/>
            <a:ext cx="3475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Restauration über Fuzzy Logic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144215-E453-6360-0501-BFB1B2395BEE}"/>
              </a:ext>
            </a:extLst>
          </p:cNvPr>
          <p:cNvSpPr txBox="1"/>
          <p:nvPr/>
        </p:nvSpPr>
        <p:spPr>
          <a:xfrm>
            <a:off x="7107448" y="1546123"/>
            <a:ext cx="4214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Restauration durch Wertübernahme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861109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DE35C4-1FA0-1FB2-47FA-03CE6945E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423A29-6E11-81F4-458D-25CFC43933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8251847" cy="6761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01ECF9-B01E-C8EE-38B4-278C1A1B89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72" y="908366"/>
            <a:ext cx="5723367" cy="30497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76DE4D-3CB9-5BAF-9CF7-09076B30FB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963" y="3563749"/>
            <a:ext cx="5723367" cy="30497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E4972D-4A69-9795-325F-A3E894AC567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4977" b="5057"/>
          <a:stretch>
            <a:fillRect/>
          </a:stretch>
        </p:blipFill>
        <p:spPr>
          <a:xfrm>
            <a:off x="6332377" y="1173481"/>
            <a:ext cx="2525160" cy="1680213"/>
          </a:xfrm>
          <a:prstGeom prst="roundRect">
            <a:avLst>
              <a:gd name="adj" fmla="val 6462"/>
            </a:avLst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1D3E3C-B79E-228E-967A-DEEC107BB31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29209"/>
          <a:stretch>
            <a:fillRect/>
          </a:stretch>
        </p:blipFill>
        <p:spPr>
          <a:xfrm>
            <a:off x="9118646" y="1169870"/>
            <a:ext cx="2643564" cy="1683824"/>
          </a:xfrm>
          <a:prstGeom prst="roundRect">
            <a:avLst>
              <a:gd name="adj" fmla="val 7708"/>
            </a:avLst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1C7487-0B83-E68E-497F-AE0F458D7E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1670" y="4313079"/>
            <a:ext cx="3106883" cy="1804597"/>
          </a:xfrm>
          <a:prstGeom prst="roundRect">
            <a:avLst>
              <a:gd name="adj" fmla="val 10826"/>
            </a:avLst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04B176-A8F2-48C9-1983-F08522243FD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4423"/>
          <a:stretch>
            <a:fillRect/>
          </a:stretch>
        </p:blipFill>
        <p:spPr>
          <a:xfrm>
            <a:off x="3465976" y="4313079"/>
            <a:ext cx="2297826" cy="1772756"/>
          </a:xfrm>
          <a:prstGeom prst="roundRect">
            <a:avLst>
              <a:gd name="adj" fmla="val 9168"/>
            </a:avLst>
          </a:prstGeom>
        </p:spPr>
      </p:pic>
    </p:spTree>
    <p:extLst>
      <p:ext uri="{BB962C8B-B14F-4D97-AF65-F5344CB8AC3E}">
        <p14:creationId xmlns:p14="http://schemas.microsoft.com/office/powerpoint/2010/main" val="2923688328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32E8BA-D2B7-F6BE-97D2-DBEF79852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94ABB0-9836-A06A-4490-1BB37F477C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8251847" cy="67610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32A2A46-5E69-6B27-CE06-DE1AF09ADD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480" t="73107"/>
          <a:stretch>
            <a:fillRect/>
          </a:stretch>
        </p:blipFill>
        <p:spPr>
          <a:xfrm>
            <a:off x="3486149" y="3905249"/>
            <a:ext cx="2200276" cy="21609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E6EF7F4-DB60-DAA6-1441-1505FB782B1C}"/>
              </a:ext>
            </a:extLst>
          </p:cNvPr>
          <p:cNvSpPr txBox="1"/>
          <p:nvPr/>
        </p:nvSpPr>
        <p:spPr>
          <a:xfrm>
            <a:off x="6641453" y="6062631"/>
            <a:ext cx="1414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MERIG 90%</a:t>
            </a:r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089238-E4BE-D1FB-0289-9076CDF80E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844" t="50583" r="1494" b="1117"/>
          <a:stretch>
            <a:fillRect/>
          </a:stretch>
        </p:blipFill>
        <p:spPr>
          <a:xfrm>
            <a:off x="6197621" y="3905249"/>
            <a:ext cx="2267381" cy="216099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B8224DE-76B6-9682-6D4E-B95C35EFBCC1}"/>
              </a:ext>
            </a:extLst>
          </p:cNvPr>
          <p:cNvSpPr txBox="1"/>
          <p:nvPr/>
        </p:nvSpPr>
        <p:spPr>
          <a:xfrm>
            <a:off x="3996221" y="6062631"/>
            <a:ext cx="1180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KCA 90%</a:t>
            </a:r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0E71658-9557-9AE3-5D44-005CDB29005F}"/>
              </a:ext>
            </a:extLst>
          </p:cNvPr>
          <p:cNvGrpSpPr/>
          <p:nvPr/>
        </p:nvGrpSpPr>
        <p:grpSpPr>
          <a:xfrm>
            <a:off x="966939" y="3899270"/>
            <a:ext cx="2200276" cy="2532693"/>
            <a:chOff x="571499" y="1135674"/>
            <a:chExt cx="2200276" cy="2532693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BEAC7CB9-44C2-07C3-71C6-498BBD7CAE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7" t="19722" r="80677" b="27409"/>
            <a:stretch>
              <a:fillRect/>
            </a:stretch>
          </p:blipFill>
          <p:spPr>
            <a:xfrm>
              <a:off x="571499" y="1135674"/>
              <a:ext cx="2200276" cy="2165165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ABF2A6D-091F-BA06-B0A0-6ABD170CD0A9}"/>
                </a:ext>
              </a:extLst>
            </p:cNvPr>
            <p:cNvSpPr txBox="1"/>
            <p:nvPr/>
          </p:nvSpPr>
          <p:spPr>
            <a:xfrm>
              <a:off x="1148096" y="3299035"/>
              <a:ext cx="1047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/>
                <a:t>Original</a:t>
              </a:r>
              <a:endParaRPr lang="en-US"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01C3EC55-9351-6670-1B84-7470F823BB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74" t="34563" r="464" b="51318"/>
          <a:stretch>
            <a:fillRect/>
          </a:stretch>
        </p:blipFill>
        <p:spPr>
          <a:xfrm>
            <a:off x="9010650" y="3901640"/>
            <a:ext cx="2095399" cy="216099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DB3796C-38AB-492E-E82B-AA6D7C045E00}"/>
              </a:ext>
            </a:extLst>
          </p:cNvPr>
          <p:cNvSpPr txBox="1"/>
          <p:nvPr/>
        </p:nvSpPr>
        <p:spPr>
          <a:xfrm>
            <a:off x="9474695" y="6062631"/>
            <a:ext cx="1167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JQA 85%</a:t>
            </a:r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E525F91-4770-2D39-8BCD-4812A751DF4E}"/>
              </a:ext>
            </a:extLst>
          </p:cNvPr>
          <p:cNvGrpSpPr/>
          <p:nvPr/>
        </p:nvGrpSpPr>
        <p:grpSpPr>
          <a:xfrm>
            <a:off x="3520821" y="1278095"/>
            <a:ext cx="2147628" cy="2434984"/>
            <a:chOff x="9002545" y="1233383"/>
            <a:chExt cx="2147628" cy="2434984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57F86DC9-0618-C0F8-1185-16DFF46F0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039" t="72947" r="41325" b="559"/>
            <a:stretch>
              <a:fillRect/>
            </a:stretch>
          </p:blipFill>
          <p:spPr>
            <a:xfrm>
              <a:off x="9002545" y="1233383"/>
              <a:ext cx="2147628" cy="2065652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33AAB47-2B31-059D-0913-992056C7B407}"/>
                </a:ext>
              </a:extLst>
            </p:cNvPr>
            <p:cNvSpPr txBox="1"/>
            <p:nvPr/>
          </p:nvSpPr>
          <p:spPr>
            <a:xfrm>
              <a:off x="9507927" y="3299035"/>
              <a:ext cx="11801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/>
                <a:t>KCA 50%</a:t>
              </a:r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B659EFE-4CD1-2CEC-CF11-F411F765E17B}"/>
              </a:ext>
            </a:extLst>
          </p:cNvPr>
          <p:cNvGrpSpPr/>
          <p:nvPr/>
        </p:nvGrpSpPr>
        <p:grpSpPr>
          <a:xfrm>
            <a:off x="1043644" y="1278095"/>
            <a:ext cx="2095399" cy="2530323"/>
            <a:chOff x="9050292" y="3949265"/>
            <a:chExt cx="2095399" cy="2530323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E858C02D-20CD-EB6D-30B3-37BBE06ED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563" t="75004" b="2705"/>
            <a:stretch>
              <a:fillRect/>
            </a:stretch>
          </p:blipFill>
          <p:spPr>
            <a:xfrm>
              <a:off x="9050292" y="3949265"/>
              <a:ext cx="2095399" cy="2091402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B0EE80E-4F12-4ECA-13C4-EE34B37B90F2}"/>
                </a:ext>
              </a:extLst>
            </p:cNvPr>
            <p:cNvSpPr txBox="1"/>
            <p:nvPr/>
          </p:nvSpPr>
          <p:spPr>
            <a:xfrm>
              <a:off x="9507925" y="6110256"/>
              <a:ext cx="12474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/>
                <a:t>SRKA 50%</a:t>
              </a:r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521A5FD-440E-17E8-9851-078E4B01FCB8}"/>
              </a:ext>
            </a:extLst>
          </p:cNvPr>
          <p:cNvGrpSpPr/>
          <p:nvPr/>
        </p:nvGrpSpPr>
        <p:grpSpPr>
          <a:xfrm>
            <a:off x="6197621" y="1279899"/>
            <a:ext cx="2177725" cy="2433180"/>
            <a:chOff x="6096000" y="1413249"/>
            <a:chExt cx="2177725" cy="2433180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54E5E58D-DEB0-297D-9457-A72AEC8364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652" t="860" r="1694" b="51089"/>
            <a:stretch>
              <a:fillRect/>
            </a:stretch>
          </p:blipFill>
          <p:spPr>
            <a:xfrm>
              <a:off x="6096000" y="1413249"/>
              <a:ext cx="2177725" cy="2065652"/>
            </a:xfrm>
            <a:prstGeom prst="rect">
              <a:avLst/>
            </a:prstGeom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29DF8C9-CE06-6479-14E7-72BE87F32883}"/>
                </a:ext>
              </a:extLst>
            </p:cNvPr>
            <p:cNvSpPr txBox="1"/>
            <p:nvPr/>
          </p:nvSpPr>
          <p:spPr>
            <a:xfrm>
              <a:off x="6477777" y="3477097"/>
              <a:ext cx="14141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/>
                <a:t>MERIG 50%</a:t>
              </a:r>
              <a:endParaRPr lang="en-US"/>
            </a:p>
          </p:txBody>
        </p:sp>
      </p:grpSp>
      <p:pic>
        <p:nvPicPr>
          <p:cNvPr id="46" name="Picture 45">
            <a:extLst>
              <a:ext uri="{FF2B5EF4-FFF2-40B4-BE49-F238E27FC236}">
                <a16:creationId xmlns:a16="http://schemas.microsoft.com/office/drawing/2014/main" id="{2879AEC3-1B58-5C00-185E-D6C051F3B3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50" t="34632" r="39253" b="51417"/>
          <a:stretch>
            <a:fillRect/>
          </a:stretch>
        </p:blipFill>
        <p:spPr>
          <a:xfrm>
            <a:off x="9010650" y="1278095"/>
            <a:ext cx="2106752" cy="2065652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832BA1CB-5A5D-AAA3-C6C8-8CEC1E430C0B}"/>
              </a:ext>
            </a:extLst>
          </p:cNvPr>
          <p:cNvSpPr txBox="1"/>
          <p:nvPr/>
        </p:nvSpPr>
        <p:spPr>
          <a:xfrm>
            <a:off x="9474695" y="3295650"/>
            <a:ext cx="1167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JQA 55%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4640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25660F-25F9-F0DA-D331-0BA5C0950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4DEB68-7F5A-02D8-3F87-A0A469FA0B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8251847" cy="6761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D51920-08DF-E9F3-9911-DD2FD802CABC}"/>
              </a:ext>
            </a:extLst>
          </p:cNvPr>
          <p:cNvSpPr txBox="1"/>
          <p:nvPr/>
        </p:nvSpPr>
        <p:spPr>
          <a:xfrm>
            <a:off x="3295309" y="872554"/>
            <a:ext cx="57810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Anwendung von CA in der Bildverarbeitung weist </a:t>
            </a:r>
            <a:r>
              <a:rPr lang="en-US">
                <a:solidFill>
                  <a:schemeClr val="accent1"/>
                </a:solidFill>
              </a:rPr>
              <a:t>hohe Effektivität </a:t>
            </a:r>
            <a:r>
              <a:rPr lang="en-US"/>
              <a:t>auf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Größte Aufwertungen durch </a:t>
            </a:r>
            <a:r>
              <a:rPr lang="en-US">
                <a:solidFill>
                  <a:srgbClr val="00B0F0"/>
                </a:solidFill>
              </a:rPr>
              <a:t>Rausch-Identifikation</a:t>
            </a:r>
            <a:r>
              <a:rPr lang="en-US"/>
              <a:t> und </a:t>
            </a:r>
            <a:r>
              <a:rPr lang="en-US">
                <a:solidFill>
                  <a:srgbClr val="00B0F0"/>
                </a:solidFill>
              </a:rPr>
              <a:t>iterativer Anwendung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vgl. Medianfilter mit 1, 2, 3 und 12 Durchgängen, aber </a:t>
            </a:r>
            <a:r>
              <a:rPr lang="en-US">
                <a:solidFill>
                  <a:schemeClr val="accent4"/>
                </a:solidFill>
              </a:rPr>
              <a:t>Degradierung der Details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Wenig</a:t>
            </a:r>
            <a:r>
              <a:rPr lang="en-US">
                <a:solidFill>
                  <a:schemeClr val="accent4"/>
                </a:solidFill>
              </a:rPr>
              <a:t> farbliche Bildverarbeitung </a:t>
            </a:r>
            <a:r>
              <a:rPr lang="en-US"/>
              <a:t>sowie </a:t>
            </a:r>
            <a:r>
              <a:rPr lang="en-US">
                <a:solidFill>
                  <a:schemeClr val="accent4"/>
                </a:solidFill>
              </a:rPr>
              <a:t>andere Arten von Rauschen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941A13B-F2CB-9DDB-374D-4F736ECDAA51}"/>
              </a:ext>
            </a:extLst>
          </p:cNvPr>
          <p:cNvGrpSpPr/>
          <p:nvPr/>
        </p:nvGrpSpPr>
        <p:grpSpPr>
          <a:xfrm>
            <a:off x="194126" y="3889343"/>
            <a:ext cx="2820342" cy="2820342"/>
            <a:chOff x="194126" y="3889343"/>
            <a:chExt cx="2820342" cy="2820342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E24076F-3FDF-D66E-7701-35E3B6745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126" y="3889343"/>
              <a:ext cx="2820342" cy="2820342"/>
            </a:xfrm>
            <a:prstGeom prst="rect">
              <a:avLst/>
            </a:prstGeom>
          </p:spPr>
        </p:pic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FD39F1C1-5FD9-B4A0-6A11-D0B93F099D49}"/>
                </a:ext>
              </a:extLst>
            </p:cNvPr>
            <p:cNvSpPr/>
            <p:nvPr/>
          </p:nvSpPr>
          <p:spPr>
            <a:xfrm>
              <a:off x="276225" y="3994249"/>
              <a:ext cx="361950" cy="304800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1</a:t>
              </a:r>
              <a:endParaRPr lang="de-DE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1776AF1-6F3C-C6CD-F9AE-ABFBA97CD639}"/>
              </a:ext>
            </a:extLst>
          </p:cNvPr>
          <p:cNvGrpSpPr/>
          <p:nvPr/>
        </p:nvGrpSpPr>
        <p:grpSpPr>
          <a:xfrm>
            <a:off x="3185517" y="3889343"/>
            <a:ext cx="2820342" cy="2820342"/>
            <a:chOff x="3188595" y="3889343"/>
            <a:chExt cx="2820342" cy="2820342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6251DC8C-A9AB-5E81-FDB4-238F0D2C40B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88595" y="3889343"/>
              <a:ext cx="2820342" cy="2820342"/>
            </a:xfrm>
            <a:prstGeom prst="rect">
              <a:avLst/>
            </a:prstGeom>
          </p:spPr>
        </p:pic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F6F9FBE6-0F21-AA7C-79A8-177A7F218D19}"/>
                </a:ext>
              </a:extLst>
            </p:cNvPr>
            <p:cNvSpPr/>
            <p:nvPr/>
          </p:nvSpPr>
          <p:spPr>
            <a:xfrm>
              <a:off x="3295309" y="3994249"/>
              <a:ext cx="361950" cy="304800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2</a:t>
              </a:r>
              <a:endParaRPr lang="de-DE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0FFA9CA-491A-122B-DB2A-B08C0D325E1C}"/>
              </a:ext>
            </a:extLst>
          </p:cNvPr>
          <p:cNvGrpSpPr/>
          <p:nvPr/>
        </p:nvGrpSpPr>
        <p:grpSpPr>
          <a:xfrm>
            <a:off x="6179986" y="3889345"/>
            <a:ext cx="2820340" cy="2820340"/>
            <a:chOff x="6183064" y="3889345"/>
            <a:chExt cx="2820340" cy="2820340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2D3C23C-3467-9E21-C72B-1EA566FBB28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83064" y="3889345"/>
              <a:ext cx="2820340" cy="2820340"/>
            </a:xfrm>
            <a:prstGeom prst="rect">
              <a:avLst/>
            </a:prstGeom>
          </p:spPr>
        </p:pic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3054D2D5-A79B-B05C-B938-18ACCF70A339}"/>
                </a:ext>
              </a:extLst>
            </p:cNvPr>
            <p:cNvSpPr/>
            <p:nvPr/>
          </p:nvSpPr>
          <p:spPr>
            <a:xfrm>
              <a:off x="6285332" y="3994249"/>
              <a:ext cx="361950" cy="304800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3</a:t>
              </a:r>
              <a:endParaRPr lang="de-DE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DC6034B-39E2-0854-C539-1DA5282204A4}"/>
              </a:ext>
            </a:extLst>
          </p:cNvPr>
          <p:cNvGrpSpPr/>
          <p:nvPr/>
        </p:nvGrpSpPr>
        <p:grpSpPr>
          <a:xfrm>
            <a:off x="9171376" y="3889345"/>
            <a:ext cx="2820340" cy="2820340"/>
            <a:chOff x="9171376" y="3889345"/>
            <a:chExt cx="2820340" cy="2820340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5D5068CA-B9DD-3779-F53E-4AB8359F38E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71376" y="3889345"/>
              <a:ext cx="2820340" cy="2820340"/>
            </a:xfrm>
            <a:prstGeom prst="rect">
              <a:avLst/>
            </a:prstGeom>
          </p:spPr>
        </p:pic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D2402433-6F5C-7270-8145-B9E7C1A1D0D6}"/>
                </a:ext>
              </a:extLst>
            </p:cNvPr>
            <p:cNvSpPr/>
            <p:nvPr/>
          </p:nvSpPr>
          <p:spPr>
            <a:xfrm>
              <a:off x="9279799" y="3994249"/>
              <a:ext cx="540476" cy="304800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12</a:t>
              </a:r>
              <a:endParaRPr lang="de-DE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16A8947-0716-0420-6547-FAAB770A4074}"/>
              </a:ext>
            </a:extLst>
          </p:cNvPr>
          <p:cNvGrpSpPr/>
          <p:nvPr/>
        </p:nvGrpSpPr>
        <p:grpSpPr>
          <a:xfrm>
            <a:off x="9171376" y="872555"/>
            <a:ext cx="2820342" cy="2820342"/>
            <a:chOff x="9171376" y="872555"/>
            <a:chExt cx="2820342" cy="2820342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26B9A73E-A563-372C-EDBF-833D7119388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71376" y="872555"/>
              <a:ext cx="2820342" cy="2820342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65AE57C-34B1-3FB5-608D-423D3C2362A2}"/>
                </a:ext>
              </a:extLst>
            </p:cNvPr>
            <p:cNvSpPr txBox="1"/>
            <p:nvPr/>
          </p:nvSpPr>
          <p:spPr>
            <a:xfrm>
              <a:off x="10944634" y="3323564"/>
              <a:ext cx="1047082" cy="369332"/>
            </a:xfrm>
            <a:prstGeom prst="rect">
              <a:avLst/>
            </a:prstGeom>
            <a:solidFill>
              <a:srgbClr val="000000">
                <a:alpha val="32157"/>
              </a:srgbClr>
            </a:solidFill>
          </p:spPr>
          <p:txBody>
            <a:bodyPr wrap="none" rtlCol="0">
              <a:spAutoFit/>
            </a:bodyPr>
            <a:lstStyle/>
            <a:p>
              <a:r>
                <a:rPr lang="en-US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Original</a:t>
              </a:r>
              <a:endParaRPr lang="de-DE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3919278-A30E-2BCF-9001-6F883F37EB30}"/>
              </a:ext>
            </a:extLst>
          </p:cNvPr>
          <p:cNvGrpSpPr/>
          <p:nvPr/>
        </p:nvGrpSpPr>
        <p:grpSpPr>
          <a:xfrm>
            <a:off x="194126" y="872554"/>
            <a:ext cx="2820342" cy="2820342"/>
            <a:chOff x="194126" y="872554"/>
            <a:chExt cx="2820342" cy="2820342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E28B9046-0E81-A984-6402-BD186C772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126" y="872554"/>
              <a:ext cx="2820342" cy="2820342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8AA0B7D-C0C3-8133-1AB4-41C5C999BBCA}"/>
                </a:ext>
              </a:extLst>
            </p:cNvPr>
            <p:cNvSpPr txBox="1"/>
            <p:nvPr/>
          </p:nvSpPr>
          <p:spPr>
            <a:xfrm>
              <a:off x="787576" y="3323564"/>
              <a:ext cx="2226892" cy="369332"/>
            </a:xfrm>
            <a:prstGeom prst="rect">
              <a:avLst/>
            </a:prstGeom>
            <a:solidFill>
              <a:srgbClr val="000000">
                <a:alpha val="30980"/>
              </a:srgbClr>
            </a:solidFill>
          </p:spPr>
          <p:txBody>
            <a:bodyPr wrap="none" rtlCol="0">
              <a:spAutoFit/>
            </a:bodyPr>
            <a:lstStyle/>
            <a:p>
              <a:r>
                <a:rPr lang="en-US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50% Rauschdichte</a:t>
              </a:r>
              <a:endParaRPr lang="de-DE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377816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231EA7-5715-3DCE-951A-2BDE2068E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9DC1AEA1-C736-25C8-128C-F327A5A9FFC2}"/>
              </a:ext>
            </a:extLst>
          </p:cNvPr>
          <p:cNvGrpSpPr/>
          <p:nvPr/>
        </p:nvGrpSpPr>
        <p:grpSpPr>
          <a:xfrm rot="170144">
            <a:off x="1166352" y="650152"/>
            <a:ext cx="4541070" cy="5457825"/>
            <a:chOff x="1292604" y="581024"/>
            <a:chExt cx="4541070" cy="545782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29F2C8C-B07A-BA43-61C9-2B9DB4231B34}"/>
                </a:ext>
              </a:extLst>
            </p:cNvPr>
            <p:cNvSpPr/>
            <p:nvPr/>
          </p:nvSpPr>
          <p:spPr>
            <a:xfrm rot="404989">
              <a:off x="1578255" y="1020540"/>
              <a:ext cx="4014441" cy="3910118"/>
            </a:xfrm>
            <a:prstGeom prst="rect">
              <a:avLst/>
            </a:prstGeom>
            <a:solidFill>
              <a:srgbClr val="4597CF">
                <a:alpha val="21961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87BDB55-78BE-4EBA-ADD9-1BEA367AB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362250">
              <a:off x="1292604" y="581024"/>
              <a:ext cx="4541070" cy="5457825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7DF3BA4-EA50-4958-4C27-16852B84E538}"/>
                </a:ext>
              </a:extLst>
            </p:cNvPr>
            <p:cNvSpPr txBox="1"/>
            <p:nvPr/>
          </p:nvSpPr>
          <p:spPr>
            <a:xfrm rot="406309">
              <a:off x="1885278" y="2487367"/>
              <a:ext cx="376196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>
                  <a:solidFill>
                    <a:srgbClr val="00B0F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Vielen Dank für Eure Aufmerksamkeit!</a:t>
              </a:r>
              <a:endParaRPr lang="de-DE" sz="24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458868E-B2F2-1EA1-9117-A60FA41591EC}"/>
              </a:ext>
            </a:extLst>
          </p:cNvPr>
          <p:cNvGrpSpPr/>
          <p:nvPr/>
        </p:nvGrpSpPr>
        <p:grpSpPr>
          <a:xfrm>
            <a:off x="6096000" y="700087"/>
            <a:ext cx="4541070" cy="5457825"/>
            <a:chOff x="6067197" y="763413"/>
            <a:chExt cx="4541070" cy="545782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D996618-26AE-7492-F48B-85434011EDA6}"/>
                </a:ext>
              </a:extLst>
            </p:cNvPr>
            <p:cNvSpPr/>
            <p:nvPr/>
          </p:nvSpPr>
          <p:spPr>
            <a:xfrm rot="20541932">
              <a:off x="6270226" y="1220564"/>
              <a:ext cx="4014441" cy="3910118"/>
            </a:xfrm>
            <a:prstGeom prst="rect">
              <a:avLst/>
            </a:prstGeom>
            <a:solidFill>
              <a:srgbClr val="FCFA9E">
                <a:alpha val="10196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0224EC6-924C-107B-4141-CF64BE2A19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545185">
              <a:off x="6067197" y="763413"/>
              <a:ext cx="4541070" cy="545782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80F3A2C-3D71-4CF1-9250-8EB4E50D430C}"/>
                </a:ext>
              </a:extLst>
            </p:cNvPr>
            <p:cNvSpPr txBox="1"/>
            <p:nvPr/>
          </p:nvSpPr>
          <p:spPr>
            <a:xfrm rot="20589244">
              <a:off x="6473584" y="2944790"/>
              <a:ext cx="360772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>
                  <a:solidFill>
                    <a:srgbClr val="FFC0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Noch Fragen?</a:t>
              </a:r>
              <a:endParaRPr lang="de-DE" sz="24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2830767"/>
      </p:ext>
    </p:extLst>
  </p:cSld>
  <p:clrMapOvr>
    <a:masterClrMapping/>
  </p:clrMapOvr>
  <p:transition spd="slow">
    <p:cover dir="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5BE3B2-0DE8-09F8-2DE3-019A01B7C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DE922D6A-3F38-D4C7-5CDE-FCB3C7D7DB80}"/>
              </a:ext>
            </a:extLst>
          </p:cNvPr>
          <p:cNvSpPr txBox="1"/>
          <p:nvPr/>
        </p:nvSpPr>
        <p:spPr>
          <a:xfrm>
            <a:off x="385762" y="751344"/>
            <a:ext cx="1142047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>
                <a:solidFill>
                  <a:schemeClr val="accent3"/>
                </a:solidFill>
              </a:rPr>
              <a:t>Babara Testbild</a:t>
            </a:r>
            <a:r>
              <a:rPr lang="de-DE" sz="1200"/>
              <a:t>: https://ccia.ugr.es/cvg/CG/base.htm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>
                <a:solidFill>
                  <a:schemeClr val="accent3"/>
                </a:solidFill>
              </a:rPr>
              <a:t>Camera Frame</a:t>
            </a:r>
            <a:r>
              <a:rPr lang="de-DE" sz="1200"/>
              <a:t>: https://www.magnific.com/free-vector/camera-viewfinder-frame_5093632.htm#fromView=keyword&amp;page=1&amp;position=0&amp;uuid=ffbfb5f1-f8ce-4797-8bcb-c48aa825d9e0&amp;query=Camera+frame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>
                <a:solidFill>
                  <a:schemeClr val="accent3"/>
                </a:solidFill>
              </a:rPr>
              <a:t>Polaroid Frame</a:t>
            </a:r>
            <a:r>
              <a:rPr lang="de-DE" sz="1200"/>
              <a:t>: https://de.vecteezy.com/png/43848068-retro-sammelalbum-polaroid-rahmen-klassisch-sofortig-foto-rand-zum-kreativ-collagen-und-erinnerung-behalten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>
                <a:solidFill>
                  <a:schemeClr val="accent3"/>
                </a:solidFill>
              </a:rPr>
              <a:t>Camera Film</a:t>
            </a:r>
            <a:r>
              <a:rPr lang="de-DE" sz="1200"/>
              <a:t>: https://www.magnific.com/free-vector/realistic-vector-icon-film-tape-strip-with-white-square-isolated-white-cinema-concept_31096470.htm#fromView=keyword&amp;page=1&amp;position=0&amp;uuid=bca25bf4-9748-4eb2-b3af-e9b4a95791b5&amp;query=Camera+film+png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200">
              <a:solidFill>
                <a:schemeClr val="accent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200">
              <a:solidFill>
                <a:schemeClr val="accent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>
                <a:solidFill>
                  <a:schemeClr val="accent3"/>
                </a:solidFill>
              </a:rPr>
              <a:t>Noise</a:t>
            </a:r>
            <a:r>
              <a:rPr lang="de-DE" sz="1200"/>
              <a:t>: </a:t>
            </a:r>
            <a:r>
              <a:rPr lang="en-US" sz="1200"/>
              <a:t>Z. Ansari, "Understanding Image Noise: Exploring Different Kinds of Noises in Image Processing," 4 February 2025. [Online]. Available: https://medium.com/@zar_373/understanding-image-noise-exploring-different-kinds-of-noises-in-image-processing-dcd26c6c9e5a.</a:t>
            </a:r>
            <a:endParaRPr lang="de-DE" sz="1200">
              <a:solidFill>
                <a:schemeClr val="accent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>
                <a:solidFill>
                  <a:schemeClr val="accent3"/>
                </a:solidFill>
              </a:rPr>
              <a:t>Median Filter</a:t>
            </a:r>
            <a:r>
              <a:rPr lang="de-DE" sz="1200"/>
              <a:t>: </a:t>
            </a:r>
            <a:r>
              <a:rPr lang="en-US" sz="1200"/>
              <a:t>University of Edinburgh, "Spatial Filters - Median Filter," 2020. [Online]. Available: https://homepages.inf.ed.ac.uk/rbf/HIPR2/median.htm. [Accessed 24 June 2026].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R. C. Gonzales and R. E. Woods, "Restoration in the Presence of Noise Only - Spatial Filtering," in Digital Image Processing, New Jersey, Prentice Hall, 2008, pp. 322-335.</a:t>
            </a:r>
            <a:endParaRPr lang="de-DE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>
                <a:solidFill>
                  <a:schemeClr val="accent3"/>
                </a:solidFill>
              </a:rPr>
              <a:t>KCA</a:t>
            </a:r>
            <a:r>
              <a:rPr lang="de-DE" sz="1200"/>
              <a:t>: </a:t>
            </a:r>
            <a:r>
              <a:rPr lang="en-US" sz="1200"/>
              <a:t>G. Kong and U. Choi, "A cellular automata-based method for salt-and-pepper noise removal in images," Multimedia Tools and Applications, vol. 85, no. 3, 2026.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accent3"/>
                </a:solidFill>
              </a:rPr>
              <a:t>MERIG</a:t>
            </a:r>
            <a:r>
              <a:rPr lang="en-US" sz="1200"/>
              <a:t>: K. Angulo-Sogamoso, D. Gil-Sierra and H. Espitia-Cuchango, "A NOVEL ALGORITHM BASED ON CELLULAR AUTOMATA TO ELIMINATE NOISE IN DIGITAL IMAGES," ARPN Journal of Engineering and Applied Sciences, vol. 14, no. 18, pp. 3289-3300, 2019. </a:t>
            </a:r>
            <a:endParaRPr lang="de-DE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>
                <a:solidFill>
                  <a:schemeClr val="accent3"/>
                </a:solidFill>
              </a:rPr>
              <a:t>SRKA</a:t>
            </a:r>
            <a:r>
              <a:rPr lang="de-DE" sz="1200"/>
              <a:t>: S. Sadeghi, A. Rezvanian and E. Kamrani, "An efficient method for impulse noise reduction from images using fuzzy cellular automata," AEU - International Journal of Electronics and Communications, vol. 66, no. 9, pp. 772-779, 2012.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>
                <a:solidFill>
                  <a:schemeClr val="accent3"/>
                </a:solidFill>
              </a:rPr>
              <a:t>JQA</a:t>
            </a:r>
            <a:r>
              <a:rPr lang="de-DE" sz="1200"/>
              <a:t>: Z. Jeelani and F. Qadir, "Cellular automata-based approach for salt-and-pepper noise filtration," Journal of King Saud University - Computer and Information Sciences, vol. 34, no. 2, pp. 365-374, December 2018.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/>
              <a:t>Jegliche Graphen und Testwerte aus oder basierend auf angegebenen Quellen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/>
              <a:t>Babara Testbild wurde mit </a:t>
            </a:r>
            <a:r>
              <a:rPr lang="de-DE" sz="1200">
                <a:solidFill>
                  <a:schemeClr val="accent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https://cocoshot.net/image-tools/add-noise/</a:t>
            </a:r>
            <a:r>
              <a:rPr lang="de-DE" sz="1200">
                <a:solidFill>
                  <a:schemeClr val="accent3"/>
                </a:solidFill>
              </a:rPr>
              <a:t> </a:t>
            </a:r>
            <a:r>
              <a:rPr lang="de-DE" sz="1200"/>
              <a:t>verrauscht und mit </a:t>
            </a:r>
            <a:r>
              <a:rPr lang="de-DE" sz="1200">
                <a:solidFill>
                  <a:schemeClr val="accent3"/>
                </a:solidFill>
              </a:rPr>
              <a:t>Digimizer</a:t>
            </a:r>
            <a:r>
              <a:rPr lang="de-DE" sz="1200"/>
              <a:t> (MedCalc Software Ltd) Software restauriert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200"/>
          </a:p>
        </p:txBody>
      </p:sp>
    </p:spTree>
    <p:extLst>
      <p:ext uri="{BB962C8B-B14F-4D97-AF65-F5344CB8AC3E}">
        <p14:creationId xmlns:p14="http://schemas.microsoft.com/office/powerpoint/2010/main" val="1403622347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8664B0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7AF46513-5B0D-4B03-9323-32F3F0BFC9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257</TotalTime>
  <Words>1559</Words>
  <Application>Microsoft Office PowerPoint</Application>
  <PresentationFormat>Widescreen</PresentationFormat>
  <Paragraphs>228</Paragraphs>
  <Slides>31</Slides>
  <Notes>26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Aptos</vt:lpstr>
      <vt:lpstr>Arial</vt:lpstr>
      <vt:lpstr>Cascadia Code</vt:lpstr>
      <vt:lpstr>Wingdings 2</vt:lpstr>
      <vt:lpstr>Quotable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Ihrenberger</dc:creator>
  <cp:lastModifiedBy>Julia I.</cp:lastModifiedBy>
  <cp:revision>1373</cp:revision>
  <dcterms:created xsi:type="dcterms:W3CDTF">2025-03-21T16:11:25Z</dcterms:created>
  <dcterms:modified xsi:type="dcterms:W3CDTF">2026-07-08T09:56:26Z</dcterms:modified>
</cp:coreProperties>
</file>