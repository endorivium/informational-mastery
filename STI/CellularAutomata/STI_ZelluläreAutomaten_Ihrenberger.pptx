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14"/>
  </p:notesMasterIdLst>
  <p:sldIdLst>
    <p:sldId id="302" r:id="rId2"/>
    <p:sldId id="256" r:id="rId3"/>
    <p:sldId id="303" r:id="rId4"/>
    <p:sldId id="304" r:id="rId5"/>
    <p:sldId id="305" r:id="rId6"/>
    <p:sldId id="310" r:id="rId7"/>
    <p:sldId id="306" r:id="rId8"/>
    <p:sldId id="307" r:id="rId9"/>
    <p:sldId id="308" r:id="rId10"/>
    <p:sldId id="309" r:id="rId11"/>
    <p:sldId id="311" r:id="rId12"/>
    <p:sldId id="29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8E6D"/>
    <a:srgbClr val="00AAE6"/>
    <a:srgbClr val="212121"/>
    <a:srgbClr val="EB8F91"/>
    <a:srgbClr val="A17CB6"/>
    <a:srgbClr val="C46EB2"/>
    <a:srgbClr val="C96994"/>
    <a:srgbClr val="D01E62"/>
    <a:srgbClr val="825FAD"/>
    <a:srgbClr val="8664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943" autoAdjust="0"/>
  </p:normalViewPr>
  <p:slideViewPr>
    <p:cSldViewPr snapToGrid="0">
      <p:cViewPr varScale="1">
        <p:scale>
          <a:sx n="102" d="100"/>
          <a:sy n="102" d="100"/>
        </p:scale>
        <p:origin x="2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3DAD76-3859-4D52-8B81-C27FCE0A7D18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1062-E9D8-4DAB-8118-1CF0D558F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90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36126-EF57-F334-2A2C-B38B0AC12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35B86D-8D9B-FDC7-85EA-EE6D3D483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F71E6-A417-9636-9295-CEDAE34A6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EFFD6-BE77-DFCA-C1BA-36E4F13FC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547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27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5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67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15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57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819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95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7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911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42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84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87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19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545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090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482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52D5E-789E-474C-70AE-A01E47420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3834BC-5ECC-DBE5-570B-3FCA9E1B6B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90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6F72D-82E1-A086-9B1A-97D7D97534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Die Anwendung von zellulären Automaten in der Bildverarbeitung</a:t>
            </a:r>
            <a:br>
              <a:rPr lang="en-US"/>
            </a:br>
            <a:r>
              <a:rPr lang="en-US" sz="2000"/>
              <a:t>- Vergleich und Analyse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D11D3-0A40-FDB6-3126-FE39A5160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1099856"/>
          </a:xfrm>
        </p:spPr>
        <p:txBody>
          <a:bodyPr>
            <a:normAutofit lnSpcReduction="10000"/>
          </a:bodyPr>
          <a:lstStyle/>
          <a:p>
            <a:r>
              <a:rPr lang="en-US">
                <a:solidFill>
                  <a:schemeClr val="tx1">
                    <a:lumMod val="85000"/>
                  </a:schemeClr>
                </a:solidFill>
              </a:rPr>
              <a:t>Seminar theoretische Informatik</a:t>
            </a:r>
          </a:p>
          <a:p>
            <a:r>
              <a:rPr lang="en-US">
                <a:solidFill>
                  <a:schemeClr val="tx1">
                    <a:lumMod val="85000"/>
                  </a:schemeClr>
                </a:solidFill>
              </a:rPr>
              <a:t>Julia Ihrenberger</a:t>
            </a:r>
          </a:p>
          <a:p>
            <a:r>
              <a:rPr lang="en-US">
                <a:solidFill>
                  <a:schemeClr val="tx1">
                    <a:lumMod val="85000"/>
                  </a:schemeClr>
                </a:solidFill>
              </a:rPr>
              <a:t>08.07.2026</a:t>
            </a:r>
          </a:p>
        </p:txBody>
      </p:sp>
    </p:spTree>
    <p:extLst>
      <p:ext uri="{BB962C8B-B14F-4D97-AF65-F5344CB8AC3E}">
        <p14:creationId xmlns:p14="http://schemas.microsoft.com/office/powerpoint/2010/main" val="374906590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30039-9E9E-F908-EAD1-5F2E06C1A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Motivation/ziel der arbeit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812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23F750-ED65-89C1-AD9E-6ADCB7C52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6CF69-0D49-E922-1336-975B9D11B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Grundlagen: definition arten von bildrauschen</a:t>
            </a:r>
          </a:p>
          <a:p>
            <a:r>
              <a:rPr lang="de-DE"/>
              <a:t>Warum ist das ein problem?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3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30A65A-F531-84EB-260C-AA0CDEB38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CEC0C-F48F-B3D6-0143-3E6AD9D47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Grundlagen: mean und median filter</a:t>
            </a:r>
          </a:p>
          <a:p>
            <a:r>
              <a:rPr lang="de-DE"/>
              <a:t>Wenn möglich bild, dann an bild ranzoomen zu 3x3 dann berechnung durchführen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719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1A3603-B876-FF73-BE5C-9D43BB43B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6C12D-35F7-ACE7-E061-D24F8F580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Grundlagen: semi-formale definition zelluläre automaten</a:t>
            </a:r>
          </a:p>
          <a:p>
            <a:r>
              <a:rPr lang="de-DE"/>
              <a:t>Warum CA in der bildverarbeitung?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655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EDDD71-B82C-6C51-E2E7-C58188D61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77CB8-586B-4839-5697-54E4A72E2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Verfahren 1: KCA</a:t>
            </a:r>
          </a:p>
          <a:p>
            <a:r>
              <a:rPr lang="de-DE"/>
              <a:t>Funktionsweise erklären</a:t>
            </a:r>
          </a:p>
          <a:p>
            <a:r>
              <a:rPr lang="de-DE"/>
              <a:t>Vergleich mit median</a:t>
            </a:r>
          </a:p>
        </p:txBody>
      </p:sp>
    </p:spTree>
    <p:extLst>
      <p:ext uri="{BB962C8B-B14F-4D97-AF65-F5344CB8AC3E}">
        <p14:creationId xmlns:p14="http://schemas.microsoft.com/office/powerpoint/2010/main" val="3469428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DEDFDF-AB9D-2B5E-D8B2-4ED822057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C5FCE-D44E-A8E5-7810-E6007E36D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Verfahren 2: MERIG</a:t>
            </a:r>
          </a:p>
          <a:p>
            <a:r>
              <a:rPr lang="de-DE"/>
              <a:t>Funktionsweise erklären</a:t>
            </a:r>
          </a:p>
          <a:p>
            <a:r>
              <a:rPr lang="de-DE"/>
              <a:t>Problematik der vorgehensweise</a:t>
            </a:r>
          </a:p>
          <a:p>
            <a:r>
              <a:rPr lang="de-DE"/>
              <a:t>Median vergleich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015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F02D5A-862F-A3DB-176E-A55006366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1C841-80E6-412B-4E59-32C98DE11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Verfahren 3: SRKA</a:t>
            </a:r>
          </a:p>
          <a:p>
            <a:r>
              <a:rPr lang="de-DE"/>
              <a:t>Warum fuzzy logic in CA?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226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722062-1586-0321-DDB2-B054D9A8A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BE1D1-253D-86B4-6E2B-DC9693E09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Verfahren 4: JQA</a:t>
            </a:r>
          </a:p>
          <a:p>
            <a:r>
              <a:rPr lang="de-DE"/>
              <a:t>So einfach dass es dumm ist?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426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541F8F-960C-F0BA-4F3A-D4770B96D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0D3D2-3C7C-4C3B-F4AF-1305BF137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Vergleich aller verfahren</a:t>
            </a:r>
          </a:p>
          <a:p>
            <a:r>
              <a:rPr lang="de-DE"/>
              <a:t>Gegenüberstellung KCA und MERIG</a:t>
            </a:r>
          </a:p>
          <a:p>
            <a:r>
              <a:rPr lang="de-DE"/>
              <a:t>SRKA und JQA</a:t>
            </a:r>
          </a:p>
          <a:p>
            <a:r>
              <a:rPr lang="de-DE"/>
              <a:t>Aufzeigen von anwendung von CA</a:t>
            </a:r>
          </a:p>
        </p:txBody>
      </p:sp>
    </p:spTree>
    <p:extLst>
      <p:ext uri="{BB962C8B-B14F-4D97-AF65-F5344CB8AC3E}">
        <p14:creationId xmlns:p14="http://schemas.microsoft.com/office/powerpoint/2010/main" val="2102952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12AE7C-02F8-840A-3AF6-5351880ED870}"/>
              </a:ext>
            </a:extLst>
          </p:cNvPr>
          <p:cNvSpPr/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8F8327-F2B6-7348-5001-D90FEB4FC220}"/>
              </a:ext>
            </a:extLst>
          </p:cNvPr>
          <p:cNvSpPr txBox="1"/>
          <p:nvPr/>
        </p:nvSpPr>
        <p:spPr>
          <a:xfrm>
            <a:off x="1246908" y="2136339"/>
            <a:ext cx="5006110" cy="2585323"/>
          </a:xfrm>
          <a:prstGeom prst="rect">
            <a:avLst/>
          </a:prstGeom>
          <a:noFill/>
          <a:ln>
            <a:solidFill>
              <a:schemeClr val="tx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>
                <a:effectLst/>
                <a:latin typeface="JetBrains Mono"/>
              </a:rPr>
              <a:t>package </a:t>
            </a:r>
            <a:r>
              <a:rPr lang="en-US" sz="1800">
                <a:solidFill>
                  <a:srgbClr val="00B0F0"/>
                </a:solidFill>
                <a:effectLst/>
                <a:latin typeface="JetBrains Mono"/>
              </a:rPr>
              <a:t>packageName</a:t>
            </a:r>
            <a:br>
              <a:rPr lang="en-US" sz="1800">
                <a:effectLst/>
                <a:latin typeface="JetBrains Mono"/>
              </a:rPr>
            </a:b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import </a:t>
            </a:r>
            <a:r>
              <a:rPr lang="en-US" sz="1800">
                <a:solidFill>
                  <a:schemeClr val="accent3"/>
                </a:solidFill>
                <a:effectLst/>
                <a:latin typeface="JetBrains Mono"/>
              </a:rPr>
              <a:t>otherPackage.*</a:t>
            </a:r>
            <a:br>
              <a:rPr lang="en-US" sz="1800">
                <a:effectLst/>
                <a:latin typeface="JetBrains Mono"/>
              </a:rPr>
            </a:b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fun </a:t>
            </a:r>
            <a:r>
              <a:rPr lang="en-US" sz="1800">
                <a:solidFill>
                  <a:srgbClr val="FFC000"/>
                </a:solidFill>
                <a:effectLst/>
                <a:latin typeface="JetBrains Mono"/>
              </a:rPr>
              <a:t>main() </a:t>
            </a:r>
            <a:r>
              <a:rPr lang="en-US" sz="1800">
                <a:effectLst/>
                <a:latin typeface="JetBrains Mono"/>
              </a:rPr>
              <a:t>{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val </a:t>
            </a:r>
            <a:r>
              <a:rPr lang="en-US" sz="1800">
                <a:solidFill>
                  <a:srgbClr val="00B050"/>
                </a:solidFill>
                <a:effectLst/>
                <a:latin typeface="JetBrains Mono"/>
              </a:rPr>
              <a:t>name</a:t>
            </a:r>
            <a:r>
              <a:rPr lang="en-US">
                <a:solidFill>
                  <a:srgbClr val="00B050"/>
                </a:solidFill>
                <a:latin typeface="JetBrains Mono"/>
              </a:rPr>
              <a:t> </a:t>
            </a:r>
            <a:r>
              <a:rPr lang="en-US" sz="1800">
                <a:effectLst/>
                <a:latin typeface="JetBrains Mono"/>
              </a:rPr>
              <a:t>= "World" </a:t>
            </a:r>
            <a:r>
              <a:rPr lang="en-US" sz="1800">
                <a:solidFill>
                  <a:schemeClr val="tx1">
                    <a:lumMod val="50000"/>
                  </a:schemeClr>
                </a:solidFill>
                <a:effectLst/>
                <a:latin typeface="JetBrains Mono"/>
              </a:rPr>
              <a:t>//infers String data type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</a:t>
            </a: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92D050"/>
                </a:solidFill>
                <a:effectLst/>
                <a:latin typeface="JetBrains Mono"/>
              </a:rPr>
              <a:t>println</a:t>
            </a:r>
            <a:r>
              <a:rPr lang="en-US" sz="1800">
                <a:effectLst/>
                <a:latin typeface="JetBrains Mono"/>
              </a:rPr>
              <a:t>("Hello </a:t>
            </a:r>
            <a:r>
              <a:rPr lang="en-US" sz="1800">
                <a:solidFill>
                  <a:srgbClr val="92D050"/>
                </a:solidFill>
                <a:effectLst/>
                <a:latin typeface="JetBrains Mono"/>
              </a:rPr>
              <a:t>$</a:t>
            </a:r>
            <a:r>
              <a:rPr lang="en-US" sz="1800">
                <a:solidFill>
                  <a:srgbClr val="00B050"/>
                </a:solidFill>
                <a:effectLst/>
                <a:latin typeface="JetBrains Mono"/>
              </a:rPr>
              <a:t>name</a:t>
            </a:r>
            <a:r>
              <a:rPr lang="en-US" sz="1800">
                <a:effectLst/>
                <a:latin typeface="JetBrains Mono"/>
              </a:rPr>
              <a:t>!") </a:t>
            </a:r>
            <a:r>
              <a:rPr lang="en-US" sz="1800"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JetBrains Mono"/>
              </a:rPr>
              <a:t>//output: Hello, World!</a:t>
            </a:r>
          </a:p>
          <a:p>
            <a:pPr>
              <a:buNone/>
            </a:pPr>
            <a:r>
              <a:rPr lang="en-US">
                <a:latin typeface="JetBrains Mono"/>
              </a:rPr>
              <a:t>}</a:t>
            </a:r>
            <a:endParaRPr lang="en-US" sz="1800">
              <a:effectLst/>
              <a:latin typeface="JetBrains Mono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C24E50-DEAC-A23F-8F91-EF3C078E3FD0}"/>
              </a:ext>
            </a:extLst>
          </p:cNvPr>
          <p:cNvGrpSpPr/>
          <p:nvPr/>
        </p:nvGrpSpPr>
        <p:grpSpPr>
          <a:xfrm>
            <a:off x="85444" y="101035"/>
            <a:ext cx="4120648" cy="406964"/>
            <a:chOff x="689746" y="1254252"/>
            <a:chExt cx="10812505" cy="14153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4C0DE72-604F-30FA-B910-CF2F07D44035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A800467-565F-782E-6B99-BAD5A870A378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Title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31F0D5A-E101-7B35-E486-13DAFD474EEC}"/>
              </a:ext>
            </a:extLst>
          </p:cNvPr>
          <p:cNvSpPr txBox="1"/>
          <p:nvPr/>
        </p:nvSpPr>
        <p:spPr>
          <a:xfrm>
            <a:off x="6789455" y="1720840"/>
            <a:ext cx="424409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Declaration of own </a:t>
            </a:r>
            <a:r>
              <a:rPr lang="en-US">
                <a:solidFill>
                  <a:srgbClr val="00B0F0"/>
                </a:solidFill>
              </a:rPr>
              <a:t>packageName</a:t>
            </a:r>
            <a:r>
              <a:rPr lang="en-US"/>
              <a:t> (must be in folder of the same name)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Declaration of </a:t>
            </a:r>
            <a:r>
              <a:rPr lang="en-US">
                <a:solidFill>
                  <a:schemeClr val="accent3"/>
                </a:solidFill>
              </a:rPr>
              <a:t>otherPackage</a:t>
            </a:r>
            <a:r>
              <a:rPr lang="en-US"/>
              <a:t> (allows </a:t>
            </a:r>
            <a:r>
              <a:rPr lang="en-US">
                <a:solidFill>
                  <a:schemeClr val="accent3"/>
                </a:solidFill>
              </a:rPr>
              <a:t>usage</a:t>
            </a:r>
            <a:r>
              <a:rPr lang="en-US"/>
              <a:t> of code without </a:t>
            </a:r>
            <a:r>
              <a:rPr lang="en-US">
                <a:solidFill>
                  <a:schemeClr val="accent3"/>
                </a:solidFill>
              </a:rPr>
              <a:t>qualification</a:t>
            </a:r>
            <a:r>
              <a:rPr lang="en-US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C000"/>
                </a:solidFill>
              </a:rPr>
              <a:t>main() </a:t>
            </a:r>
            <a:r>
              <a:rPr lang="en-US"/>
              <a:t>as program entry point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println() </a:t>
            </a:r>
            <a:r>
              <a:rPr lang="en-US"/>
              <a:t>with </a:t>
            </a:r>
            <a:r>
              <a:rPr lang="en-US">
                <a:solidFill>
                  <a:srgbClr val="92D050"/>
                </a:solidFill>
                <a:latin typeface="JetBrains Mono"/>
              </a:rPr>
              <a:t>$</a:t>
            </a:r>
            <a:r>
              <a:rPr lang="en-US"/>
              <a:t> to insert value of name variable into text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625AFA-6793-29BD-BAAA-06F356746C5C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/>
              <a:t>Source: Source Link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555253152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1004</TotalTime>
  <Words>217</Words>
  <Application>Microsoft Office PowerPoint</Application>
  <PresentationFormat>Widescreen</PresentationFormat>
  <Paragraphs>39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Cascadia Code</vt:lpstr>
      <vt:lpstr>JetBrains Mono</vt:lpstr>
      <vt:lpstr>Wingdings 2</vt:lpstr>
      <vt:lpstr>Quotable</vt:lpstr>
      <vt:lpstr>PowerPoint Presentation</vt:lpstr>
      <vt:lpstr>Die Anwendung von zellulären Automaten in der Bildverarbeitung - Vergleich und Analyse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Ihrenberger</dc:creator>
  <cp:lastModifiedBy>Julia I.</cp:lastModifiedBy>
  <cp:revision>897</cp:revision>
  <dcterms:created xsi:type="dcterms:W3CDTF">2025-03-21T16:11:25Z</dcterms:created>
  <dcterms:modified xsi:type="dcterms:W3CDTF">2026-07-06T09:04:24Z</dcterms:modified>
</cp:coreProperties>
</file>