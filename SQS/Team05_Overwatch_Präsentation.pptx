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22"/>
  </p:notesMasterIdLst>
  <p:sldIdLst>
    <p:sldId id="302" r:id="rId2"/>
    <p:sldId id="256" r:id="rId3"/>
    <p:sldId id="313" r:id="rId4"/>
    <p:sldId id="305" r:id="rId5"/>
    <p:sldId id="303" r:id="rId6"/>
    <p:sldId id="319" r:id="rId7"/>
    <p:sldId id="315" r:id="rId8"/>
    <p:sldId id="309" r:id="rId9"/>
    <p:sldId id="318" r:id="rId10"/>
    <p:sldId id="294" r:id="rId11"/>
    <p:sldId id="316" r:id="rId12"/>
    <p:sldId id="328" r:id="rId13"/>
    <p:sldId id="329" r:id="rId14"/>
    <p:sldId id="330" r:id="rId15"/>
    <p:sldId id="314" r:id="rId16"/>
    <p:sldId id="323" r:id="rId17"/>
    <p:sldId id="325" r:id="rId18"/>
    <p:sldId id="317" r:id="rId19"/>
    <p:sldId id="307" r:id="rId20"/>
    <p:sldId id="32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F834B4-858C-4C98-9420-43154A85F8E4}">
          <p14:sldIdLst>
            <p14:sldId id="302"/>
            <p14:sldId id="256"/>
            <p14:sldId id="313"/>
            <p14:sldId id="305"/>
          </p14:sldIdLst>
        </p14:section>
        <p14:section name="Frontend" id="{E39988C1-AF61-497B-B444-7B544F88ABF2}">
          <p14:sldIdLst>
            <p14:sldId id="303"/>
            <p14:sldId id="319"/>
            <p14:sldId id="315"/>
            <p14:sldId id="309"/>
            <p14:sldId id="318"/>
          </p14:sldIdLst>
        </p14:section>
        <p14:section name="Backend" id="{8BE9A4D8-9251-401F-AB7B-95E2ADFA32E5}">
          <p14:sldIdLst>
            <p14:sldId id="294"/>
            <p14:sldId id="316"/>
            <p14:sldId id="328"/>
            <p14:sldId id="329"/>
            <p14:sldId id="330"/>
          </p14:sldIdLst>
        </p14:section>
        <p14:section name="Testing" id="{02939358-211D-4929-A930-DEA3C0746ECF}">
          <p14:sldIdLst>
            <p14:sldId id="314"/>
            <p14:sldId id="323"/>
            <p14:sldId id="325"/>
            <p14:sldId id="317"/>
            <p14:sldId id="307"/>
            <p14:sldId id="32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E0E"/>
    <a:srgbClr val="008E40"/>
    <a:srgbClr val="005828"/>
    <a:srgbClr val="00AAE6"/>
    <a:srgbClr val="FF3F3F"/>
    <a:srgbClr val="CF8E6D"/>
    <a:srgbClr val="212121"/>
    <a:srgbClr val="EB8F91"/>
    <a:srgbClr val="A17CB6"/>
    <a:srgbClr val="C46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2B106-F7DF-4AAD-87E3-D1A878473296}" v="5785" dt="2026-06-22T19:58:20.689"/>
    <p1510:client id="{4FD5B38E-5885-EB56-8CD5-FEBDD1E7F628}" v="541" dt="2026-06-22T19:54:01.389"/>
    <p1510:client id="{8D28713F-9230-75BD-90BD-D7AD163312BF}" v="121" dt="2026-06-21T21:17:01.034"/>
    <p1510:client id="{9865E35F-6E60-7428-319F-9D6B9DF1D343}" v="37" dt="2026-06-21T21:33:59.077"/>
    <p1510:client id="{A38AA1B1-831A-29F8-9D88-23DFEEBEFBAA}" v="1068" dt="2026-06-21T21:29:07.402"/>
    <p1510:client id="{F400BC77-F8A8-F408-326A-1F23D9145424}" v="163" dt="2026-06-22T08:38:25.648"/>
    <p1510:client id="{F72FB67C-DBB3-EA88-AEB2-252B384C3E56}" v="3" dt="2026-06-22T19:53:11.679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74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8D37-3A7B-9C81-518E-F3B11055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9A528-A00B-B59A-2E4F-1ECFCA7DF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30615-C7A3-5C6E-11F0-CF6214114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arbeitet besser, wenn project interessant und relevant für alle</a:t>
            </a:r>
          </a:p>
          <a:p>
            <a:r>
              <a:rPr lang="en-US"/>
              <a:t>aus game engineer sicht, interesse an produktionsablauf bei einer web application</a:t>
            </a:r>
          </a:p>
          <a:p>
            <a:r>
              <a:rPr lang="en-US"/>
              <a:t>löst theoretisch problem eines freundes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8139E-6959-B9D3-F359-ADA3E8150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74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5871-C0A6-FC8E-2BF6-A82E3671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52FCA-31B0-BECE-2B3D-05B3FABA3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790B1-E197-C6B4-1C65-3EBEDD91B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design philosophy</a:t>
            </a:r>
          </a:p>
          <a:p>
            <a:r>
              <a:rPr lang="en-US"/>
              <a:t>resultierendes design, alles kombiniert auf eine seite [click]</a:t>
            </a:r>
          </a:p>
          <a:p>
            <a:r>
              <a:rPr lang="en-US"/>
              <a:t>mit login und team comp speicher, die sich aufklappen</a:t>
            </a:r>
          </a:p>
          <a:p>
            <a:endParaRPr lang="en-US"/>
          </a:p>
          <a:p>
            <a:r>
              <a:rPr lang="en-US"/>
              <a:t>detailansicht des heroes angelehnt an fanwiki [click]</a:t>
            </a:r>
          </a:p>
          <a:p>
            <a:r>
              <a:rPr lang="en-US"/>
              <a:t>team composition erstellung über in-game ähnliche UI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9223D-6143-4D91-4E46-77372437A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2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betrachtung im c4 modell, container ebene web application</a:t>
            </a:r>
          </a:p>
          <a:p>
            <a:r>
              <a:rPr lang="en-US"/>
              <a:t>ui eingeteilt in hero browser, team composition ui und funktionalität sowie login</a:t>
            </a:r>
          </a:p>
          <a:p>
            <a:r>
              <a:rPr lang="en-US"/>
              <a:t>kommunikation mit backend über fetch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68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spiegelt sich auch in dem component breakdown von frontend wieder [click]</a:t>
            </a:r>
          </a:p>
          <a:p>
            <a:r>
              <a:rPr lang="en-US"/>
              <a:t>funktionalitäten im horizontalen gebündelt</a:t>
            </a:r>
          </a:p>
          <a:p>
            <a:r>
              <a:rPr lang="en-US"/>
              <a:t>oben rechts authentication, account</a:t>
            </a:r>
          </a:p>
          <a:p>
            <a:r>
              <a:rPr lang="en-US"/>
              <a:t>dann hero browser mit view und search table</a:t>
            </a:r>
          </a:p>
          <a:p>
            <a:r>
              <a:rPr lang="en-US"/>
              <a:t>zuletzt team composition funktionalität ganz unten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34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1597-17F4-5942-EC50-1CBE99C8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79281-00F7-19E7-B9DD-917B1175E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DE3C5-4DB0-106D-E4F5-FC218D844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[text lesen] [click] design wurde fast 1:1 übernommen, wenig abgeändert layout technisch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25DC8-9356-2A4E-591C-197AB77C0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0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B9A3-D915-47E6-8327-5507A323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C62FF-9418-5B11-3017-F454AB03D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7DDC4-E671-D5E0-B34C-55CB671F2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21666-40C0-93B4-B329-874FEAA36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34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8B90-CEE3-8079-8D82-2C38F099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136B4-5B8C-AC64-3F9D-4BFCD44C7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AF74F-8058-C83E-A9DB-C9CDCD54B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OverFast</a:t>
            </a:r>
            <a:r>
              <a:rPr lang="en-US"/>
              <a:t> API Adapter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Only Component that contacts external API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3 API Calls per sync /</a:t>
            </a:r>
            <a:r>
              <a:rPr lang="en-US" err="1"/>
              <a:t>heroes</a:t>
            </a:r>
            <a:r>
              <a:rPr lang="en-US"/>
              <a:t> /hero/{key}, /heroes/stats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Map raw JSON to internal </a:t>
            </a:r>
            <a:r>
              <a:rPr lang="en-US" err="1"/>
              <a:t>HeroEntity</a:t>
            </a:r>
            <a:r>
              <a:rPr lang="en-US"/>
              <a:t> Objects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HeroSync</a:t>
            </a:r>
          </a:p>
          <a:p>
            <a:r>
              <a:rPr lang="en-US"/>
              <a:t>Fault Tolerance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Local Cache -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Retry + Timeout 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Graceful Degradation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Last-Synced Timestamp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65A3-37D2-A806-9EBD-07B66631A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32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C717-CE25-1E7C-54CE-3F1C445C6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E2BF9-6DDE-E429-702B-16A320FA3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9B575-3479-3967-22C8-A6FA67319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OverFast</a:t>
            </a:r>
            <a:r>
              <a:rPr lang="en-US"/>
              <a:t> API Adapter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Only Component that contacts external API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3 API Calls per sync /</a:t>
            </a:r>
            <a:r>
              <a:rPr lang="en-US" err="1"/>
              <a:t>heroes</a:t>
            </a:r>
            <a:r>
              <a:rPr lang="en-US"/>
              <a:t> /hero/{key}, /heroes/stats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Map raw JSON to internal </a:t>
            </a:r>
            <a:r>
              <a:rPr lang="en-US" err="1"/>
              <a:t>HeroEntity</a:t>
            </a:r>
            <a:r>
              <a:rPr lang="en-US"/>
              <a:t> Objects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HeroSync</a:t>
            </a:r>
          </a:p>
          <a:p>
            <a:r>
              <a:rPr lang="en-US"/>
              <a:t>Fault Tolerance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Local Cache -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Retry + Timeout 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Graceful Degradation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Last-Synced Timestamp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EF177-C111-45BC-8216-634043717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3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F47E-CA25-A6C8-CEC0-D281DCD6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39E17-7266-1061-DC87-56E18ABE8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2B4BC-3554-53C8-4FB0-419EE04D7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OverFast</a:t>
            </a:r>
            <a:r>
              <a:rPr lang="en-US"/>
              <a:t> API Adapter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Only Component that contacts external API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3 API Calls per sync /</a:t>
            </a:r>
            <a:r>
              <a:rPr lang="en-US" err="1"/>
              <a:t>heroes</a:t>
            </a:r>
            <a:r>
              <a:rPr lang="en-US"/>
              <a:t> /hero/{key}, /heroes/stats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Map raw JSON to internal </a:t>
            </a:r>
            <a:r>
              <a:rPr lang="en-US" err="1"/>
              <a:t>HeroEntity</a:t>
            </a:r>
            <a:r>
              <a:rPr lang="en-US"/>
              <a:t> Objects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HeroSync</a:t>
            </a:r>
          </a:p>
          <a:p>
            <a:r>
              <a:rPr lang="en-US"/>
              <a:t>Fault Tolerance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Local Cache -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Retry + Timeout 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Graceful Degradation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Last-Synced Timestamp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1FCA5-254B-AC95-785B-64CA7F2F2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41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VITEST NOTES: anstatt weit verbreitet jest mit babel (integration nicht möglich), sprung zu Vitest, was nativ zu Vite ist, describe – it struktur &gt; gebündelte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87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78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FBB8B-640F-08E1-6768-17F6C352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F5BE1-6FA4-0D86-AC65-5EDC58A2B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24B2C-3184-D558-8CD7-42A2F425C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ursprünglich jest verwenden, da weit verbreitet und empfohlen und auch anbindung mit typescript über babel, aber integration/setup mit typescript war nicht möglich</a:t>
            </a:r>
          </a:p>
          <a:p>
            <a:r>
              <a:rPr lang="en-US"/>
              <a:t>sprung zu Vitest, was nativ zu Vite 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C2FC2-74BD-C3F5-1957-D11E78F45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20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1662-EC8B-52FB-0987-7EA3CA1A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844D8-3FEB-A060-B6F3-0F249DA14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5718B-8520-34AE-90DE-BBB486076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EE18D-8F50-E020-8034-6FDB32A15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4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2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vgrepo.com/svg/353657/django-icon" TargetMode="External"/><Relationship Id="rId13" Type="http://schemas.openxmlformats.org/officeDocument/2006/relationships/hyperlink" Target="https://techicons.dev/icons/react" TargetMode="External"/><Relationship Id="rId3" Type="http://schemas.openxmlformats.org/officeDocument/2006/relationships/hyperlink" Target="https://interfaceingame.com/screenshots/overwatch-2-character-selection/" TargetMode="External"/><Relationship Id="rId7" Type="http://schemas.openxmlformats.org/officeDocument/2006/relationships/hyperlink" Target="https://overwatch.blizzard.com/en-gb/news/23857518/initializing-systems-updating-competitive-play-for-overwatch-2/" TargetMode="External"/><Relationship Id="rId12" Type="http://schemas.openxmlformats.org/officeDocument/2006/relationships/hyperlink" Target="https://techicons.dev/icons/python" TargetMode="External"/><Relationship Id="rId2" Type="http://schemas.openxmlformats.org/officeDocument/2006/relationships/notesSlide" Target="../notesSlides/notesSlide16.xml"/><Relationship Id="rId16" Type="http://schemas.openxmlformats.org/officeDocument/2006/relationships/hyperlink" Target="https://www.streamlinehq.com/icons/download/vitest--31103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orts.gg/news/overwatch/overwatch-conquest-event-grants-over-90-loot-boxes/" TargetMode="External"/><Relationship Id="rId11" Type="http://schemas.openxmlformats.org/officeDocument/2006/relationships/hyperlink" Target="https://techicons.dev/icons/postgresql" TargetMode="External"/><Relationship Id="rId5" Type="http://schemas.openxmlformats.org/officeDocument/2006/relationships/hyperlink" Target="https://overwatch.fandom.com/wiki/Mizuki" TargetMode="External"/><Relationship Id="rId15" Type="http://schemas.openxmlformats.org/officeDocument/2006/relationships/hyperlink" Target="https://techicons.dev/icons/typescript" TargetMode="External"/><Relationship Id="rId10" Type="http://schemas.openxmlformats.org/officeDocument/2006/relationships/hyperlink" Target="https://techicons.dev/icons/playwright" TargetMode="External"/><Relationship Id="rId4" Type="http://schemas.openxmlformats.org/officeDocument/2006/relationships/hyperlink" Target="https://overwatch.fandom.com/wiki/King%27s_Row" TargetMode="External"/><Relationship Id="rId9" Type="http://schemas.openxmlformats.org/officeDocument/2006/relationships/hyperlink" Target="https://techicons.dev/icons/docker" TargetMode="External"/><Relationship Id="rId14" Type="http://schemas.openxmlformats.org/officeDocument/2006/relationships/hyperlink" Target="https://techicons.dev/icons/sonarqub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Overwatch: Jetzt auf Xbox erhältlich | Xbox">
            <a:extLst>
              <a:ext uri="{FF2B5EF4-FFF2-40B4-BE49-F238E27FC236}">
                <a16:creationId xmlns:a16="http://schemas.microsoft.com/office/drawing/2014/main" id="{AE48CA90-930C-EC09-3454-80B48DF41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36" t="21618" r="16308" b="1192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A804D6E-D8AE-5DC2-A9BB-54133B494D39}"/>
              </a:ext>
            </a:extLst>
          </p:cNvPr>
          <p:cNvSpPr/>
          <p:nvPr/>
        </p:nvSpPr>
        <p:spPr>
          <a:xfrm>
            <a:off x="2918404" y="757385"/>
            <a:ext cx="5997718" cy="5421745"/>
          </a:xfrm>
          <a:prstGeom prst="roundRect">
            <a:avLst>
              <a:gd name="adj" fmla="val 6551"/>
            </a:avLst>
          </a:prstGeom>
          <a:solidFill>
            <a:schemeClr val="accent6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86E046F-7483-C7E4-52A4-98882F05B19E}"/>
              </a:ext>
            </a:extLst>
          </p:cNvPr>
          <p:cNvSpPr/>
          <p:nvPr/>
        </p:nvSpPr>
        <p:spPr>
          <a:xfrm>
            <a:off x="3135459" y="974439"/>
            <a:ext cx="5997718" cy="5421745"/>
          </a:xfrm>
          <a:prstGeom prst="roundRect">
            <a:avLst>
              <a:gd name="adj" fmla="val 6551"/>
            </a:avLst>
          </a:prstGeom>
          <a:solidFill>
            <a:srgbClr val="00B0F0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8E5871-3BE7-39B6-A879-35D68F2A6C65}"/>
              </a:ext>
            </a:extLst>
          </p:cNvPr>
          <p:cNvSpPr/>
          <p:nvPr/>
        </p:nvSpPr>
        <p:spPr>
          <a:xfrm>
            <a:off x="3038475" y="877455"/>
            <a:ext cx="5997718" cy="5421745"/>
          </a:xfrm>
          <a:prstGeom prst="roundRect">
            <a:avLst>
              <a:gd name="adj" fmla="val 6551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1491" y="5910896"/>
            <a:ext cx="3252071" cy="303175"/>
          </a:xfrm>
        </p:spPr>
        <p:txBody>
          <a:bodyPr>
            <a:normAutofit/>
          </a:bodyPr>
          <a:lstStyle/>
          <a:p>
            <a:pPr algn="ctr"/>
            <a:r>
              <a:rPr lang="en-US" sz="1200">
                <a:latin typeface="Cascadia Code"/>
              </a:rPr>
              <a:t>SQS | </a:t>
            </a:r>
            <a:r>
              <a:rPr lang="en-US" sz="1200" err="1">
                <a:latin typeface="Cascadia Code"/>
              </a:rPr>
              <a:t>Projektarbeit</a:t>
            </a:r>
            <a:r>
              <a:rPr lang="en-US" sz="1200">
                <a:latin typeface="Cascadia Code"/>
              </a:rPr>
              <a:t> | 30.06.2026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20B94-158E-9606-A5B3-5265F4A98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3423663" y="1050343"/>
            <a:ext cx="5603294" cy="806658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90EC6B6-1684-78AC-89C0-57F0009B212C}"/>
              </a:ext>
            </a:extLst>
          </p:cNvPr>
          <p:cNvSpPr txBox="1">
            <a:spLocks/>
          </p:cNvSpPr>
          <p:nvPr/>
        </p:nvSpPr>
        <p:spPr>
          <a:xfrm>
            <a:off x="3275879" y="2663659"/>
            <a:ext cx="5603293" cy="53052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Cascadia Code" panose="020B0609020000020004" pitchFamily="49" charset="0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scadia Code" panose="020B0609020000020004" pitchFamily="49" charset="0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scadia Code" panose="020B0609020000020004" pitchFamily="49" charset="0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scadia Code" panose="020B0609020000020004" pitchFamily="49" charset="0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scadia Code" panose="020B0609020000020004" pitchFamily="49" charset="0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A Team Comp Website for Overwatch Player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DCA2D41-AFBB-B095-0C28-FC78BDF8FECB}"/>
              </a:ext>
            </a:extLst>
          </p:cNvPr>
          <p:cNvGrpSpPr/>
          <p:nvPr/>
        </p:nvGrpSpPr>
        <p:grpSpPr>
          <a:xfrm>
            <a:off x="3432899" y="4000838"/>
            <a:ext cx="1706838" cy="1706838"/>
            <a:chOff x="1431267" y="3429000"/>
            <a:chExt cx="1706838" cy="170683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F78A368-3EF2-2CFD-1317-05FDC993E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1267" y="3429000"/>
              <a:ext cx="1706838" cy="170683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377E58-B888-D44A-82E9-F51254AF5A45}"/>
                </a:ext>
              </a:extLst>
            </p:cNvPr>
            <p:cNvSpPr txBox="1"/>
            <p:nvPr/>
          </p:nvSpPr>
          <p:spPr>
            <a:xfrm>
              <a:off x="1865251" y="3931544"/>
              <a:ext cx="9557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Fabian</a:t>
              </a:r>
            </a:p>
            <a:p>
              <a:r>
                <a:rPr lang="en-US"/>
                <a:t>Reinelt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54B27D-BC2C-BD5B-76F9-CC850093BFB1}"/>
              </a:ext>
            </a:extLst>
          </p:cNvPr>
          <p:cNvGrpSpPr/>
          <p:nvPr/>
        </p:nvGrpSpPr>
        <p:grpSpPr>
          <a:xfrm>
            <a:off x="5226081" y="4000838"/>
            <a:ext cx="1706838" cy="1706838"/>
            <a:chOff x="3467301" y="3429000"/>
            <a:chExt cx="1706838" cy="170683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F026D56-0037-7293-5A62-27986F7C5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301" y="3429000"/>
              <a:ext cx="1706838" cy="170683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6D139B-7778-6302-CF8C-896C76D40117}"/>
                </a:ext>
              </a:extLst>
            </p:cNvPr>
            <p:cNvSpPr txBox="1"/>
            <p:nvPr/>
          </p:nvSpPr>
          <p:spPr>
            <a:xfrm>
              <a:off x="3742806" y="3783808"/>
              <a:ext cx="12698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Leonardo</a:t>
              </a:r>
            </a:p>
            <a:p>
              <a:pPr algn="ctr"/>
              <a:r>
                <a:rPr lang="en-US"/>
                <a:t>Kharraz</a:t>
              </a:r>
            </a:p>
            <a:p>
              <a:pPr algn="ctr"/>
              <a:r>
                <a:rPr lang="en-US"/>
                <a:t>Tavakol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5DFBB0-C48F-49BA-7B3B-EA7D6988F246}"/>
              </a:ext>
            </a:extLst>
          </p:cNvPr>
          <p:cNvGrpSpPr/>
          <p:nvPr/>
        </p:nvGrpSpPr>
        <p:grpSpPr>
          <a:xfrm>
            <a:off x="7019263" y="4000838"/>
            <a:ext cx="1706839" cy="1706839"/>
            <a:chOff x="5492635" y="3428999"/>
            <a:chExt cx="1706839" cy="170683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687601-15DA-5FB0-7B83-6CDB59172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2635" y="3428999"/>
              <a:ext cx="1706839" cy="170683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A776BA-38A2-58F3-9484-45DD62E432FD}"/>
                </a:ext>
              </a:extLst>
            </p:cNvPr>
            <p:cNvSpPr txBox="1"/>
            <p:nvPr/>
          </p:nvSpPr>
          <p:spPr>
            <a:xfrm>
              <a:off x="5941840" y="3758775"/>
              <a:ext cx="93647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Julia</a:t>
              </a:r>
            </a:p>
            <a:p>
              <a:pPr algn="ctr"/>
              <a:r>
                <a:rPr lang="en-US"/>
                <a:t>Ihren- </a:t>
              </a:r>
            </a:p>
            <a:p>
              <a:pPr algn="ctr"/>
              <a:r>
                <a:rPr lang="en-US"/>
                <a:t>berger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2729BB5-0DA5-CCE2-89D7-4D8C79FD0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3190720" y="1857001"/>
            <a:ext cx="5603293" cy="80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%20(1).png">
            <a:extLst>
              <a:ext uri="{FF2B5EF4-FFF2-40B4-BE49-F238E27FC236}">
                <a16:creationId xmlns:a16="http://schemas.microsoft.com/office/drawing/2014/main" id="{01008316-84C5-2400-BB2F-542CFF279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9" y="840513"/>
            <a:ext cx="7694848" cy="432835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47AC8E6-FAC0-4421-F991-DA59D69309AA}"/>
              </a:ext>
            </a:extLst>
          </p:cNvPr>
          <p:cNvGrpSpPr/>
          <p:nvPr/>
        </p:nvGrpSpPr>
        <p:grpSpPr>
          <a:xfrm>
            <a:off x="158558" y="185257"/>
            <a:ext cx="3107155" cy="510504"/>
            <a:chOff x="100869" y="175489"/>
            <a:chExt cx="2498131" cy="60960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C825671-9608-FB3E-9FA1-41D8BE61DA97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73B4D9F-BD73-29EF-6D6D-E5238E7D80C1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D9C0585-6488-2813-CB62-5749BEBBE1EC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Overwatch: Overview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7FA835-1C21-66F0-0F9C-7A65D22B3E6D}"/>
              </a:ext>
            </a:extLst>
          </p:cNvPr>
          <p:cNvSpPr txBox="1"/>
          <p:nvPr/>
        </p:nvSpPr>
        <p:spPr>
          <a:xfrm>
            <a:off x="8091172" y="840513"/>
            <a:ext cx="37248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Online Multiplayer First Person Hero Shooter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Team consists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Tank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5"/>
                </a:solidFill>
              </a:rPr>
              <a:t>Damage</a:t>
            </a:r>
            <a:r>
              <a:rPr lang="en-US"/>
              <a:t> (2x)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Support</a:t>
            </a:r>
            <a:r>
              <a:rPr lang="en-US"/>
              <a:t> (2x)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Selection of </a:t>
            </a:r>
            <a:r>
              <a:rPr lang="en-US">
                <a:solidFill>
                  <a:schemeClr val="accent6"/>
                </a:solidFill>
              </a:rPr>
              <a:t>52 heroes </a:t>
            </a:r>
            <a:r>
              <a:rPr lang="en-US"/>
              <a:t>that exhibit different </a:t>
            </a:r>
            <a:r>
              <a:rPr lang="en-US">
                <a:solidFill>
                  <a:schemeClr val="accent3"/>
                </a:solidFill>
              </a:rPr>
              <a:t>synergistic effects </a:t>
            </a:r>
            <a:r>
              <a:rPr lang="en-US"/>
              <a:t>when combined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>
                <a:solidFill>
                  <a:schemeClr val="accent1"/>
                </a:solidFill>
              </a:rPr>
              <a:t>Competitive Play</a:t>
            </a:r>
            <a:r>
              <a:rPr lang="en-US"/>
              <a:t>, a good team comp can strongly influence the game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74B447-46D2-F2CD-1B85-D75FC3579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59" y="5313617"/>
            <a:ext cx="11867186" cy="131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3222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A3059-FCF9-89C0-12D0-C6CD6F79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A93C76E-8867-5FE1-A195-3F26BE607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15"/>
          <a:stretch>
            <a:fillRect/>
          </a:stretch>
        </p:blipFill>
        <p:spPr>
          <a:xfrm>
            <a:off x="0" y="-21771"/>
            <a:ext cx="12192000" cy="687977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0EE6CA-9817-6D29-0B13-82060518AE64}"/>
              </a:ext>
            </a:extLst>
          </p:cNvPr>
          <p:cNvSpPr/>
          <p:nvPr/>
        </p:nvSpPr>
        <p:spPr>
          <a:xfrm>
            <a:off x="362110" y="550023"/>
            <a:ext cx="5044575" cy="397164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0B0F0"/>
                </a:solidFill>
              </a:rPr>
              <a:t>                                        Motivation/ Idea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C2956B-646A-8CA2-6993-BB5CD93CB660}"/>
              </a:ext>
            </a:extLst>
          </p:cNvPr>
          <p:cNvGrpSpPr/>
          <p:nvPr/>
        </p:nvGrpSpPr>
        <p:grpSpPr>
          <a:xfrm>
            <a:off x="341426" y="1039299"/>
            <a:ext cx="5044575" cy="971558"/>
            <a:chOff x="544945" y="1570181"/>
            <a:chExt cx="5044575" cy="9715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831D1BD-9E99-A92E-9A04-78A9EE825DB7}"/>
                </a:ext>
              </a:extLst>
            </p:cNvPr>
            <p:cNvSpPr/>
            <p:nvPr/>
          </p:nvSpPr>
          <p:spPr>
            <a:xfrm>
              <a:off x="544945" y="1570181"/>
              <a:ext cx="4960310" cy="963881"/>
            </a:xfrm>
            <a:prstGeom prst="roundRect">
              <a:avLst>
                <a:gd name="adj" fmla="val 884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a </a:t>
              </a:r>
              <a:r>
                <a:rPr lang="en-US">
                  <a:solidFill>
                    <a:srgbClr val="00B0F0"/>
                  </a:solidFill>
                </a:rPr>
                <a:t>practical application </a:t>
              </a:r>
              <a:r>
                <a:rPr lang="en-US">
                  <a:solidFill>
                    <a:schemeClr val="tx1"/>
                  </a:solidFill>
                </a:rPr>
                <a:t>that relates to </a:t>
              </a:r>
            </a:p>
            <a:p>
              <a:pPr algn="just"/>
              <a:r>
                <a:rPr lang="en-US">
                  <a:solidFill>
                    <a:schemeClr val="tx1"/>
                  </a:solidFill>
                </a:rPr>
                <a:t>a </a:t>
              </a:r>
              <a:r>
                <a:rPr lang="en-US">
                  <a:solidFill>
                    <a:srgbClr val="00B0F0"/>
                  </a:solidFill>
                </a:rPr>
                <a:t>shared interest </a:t>
              </a:r>
              <a:r>
                <a:rPr lang="en-US">
                  <a:solidFill>
                    <a:schemeClr val="tx1"/>
                  </a:solidFill>
                </a:rPr>
                <a:t>within the team</a:t>
              </a:r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E9D59145-9511-77F3-D893-1E819CEEE3FE}"/>
                </a:ext>
              </a:extLst>
            </p:cNvPr>
            <p:cNvSpPr/>
            <p:nvPr/>
          </p:nvSpPr>
          <p:spPr>
            <a:xfrm rot="5400000">
              <a:off x="4854218" y="1820434"/>
              <a:ext cx="971558" cy="471052"/>
            </a:xfrm>
            <a:prstGeom prst="round2Same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1A38CDA-9539-BA82-54F7-32B71F0A4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3458" y="1825914"/>
              <a:ext cx="526062" cy="452413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57E952-FAAC-9CFF-7061-88A059F2C405}"/>
              </a:ext>
            </a:extLst>
          </p:cNvPr>
          <p:cNvGrpSpPr/>
          <p:nvPr/>
        </p:nvGrpSpPr>
        <p:grpSpPr>
          <a:xfrm>
            <a:off x="341426" y="2097072"/>
            <a:ext cx="5065259" cy="979231"/>
            <a:chOff x="544944" y="2652726"/>
            <a:chExt cx="5065259" cy="9792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F67E3A9-3B80-2390-1F7D-08C982C8D48B}"/>
                </a:ext>
              </a:extLst>
            </p:cNvPr>
            <p:cNvSpPr/>
            <p:nvPr/>
          </p:nvSpPr>
          <p:spPr>
            <a:xfrm>
              <a:off x="544944" y="2660402"/>
              <a:ext cx="4719783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learn </a:t>
              </a:r>
              <a:r>
                <a:rPr lang="en-US">
                  <a:solidFill>
                    <a:srgbClr val="00B0F0"/>
                  </a:solidFill>
                </a:rPr>
                <a:t>new tools </a:t>
              </a:r>
              <a:r>
                <a:rPr lang="en-US">
                  <a:solidFill>
                    <a:schemeClr val="tx1"/>
                  </a:solidFill>
                </a:rPr>
                <a:t>and programming </a:t>
              </a:r>
              <a:r>
                <a:rPr lang="en-US">
                  <a:solidFill>
                    <a:srgbClr val="00B0F0"/>
                  </a:solidFill>
                </a:rPr>
                <a:t>languages</a:t>
              </a:r>
            </a:p>
          </p:txBody>
        </p:sp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73AB1D31-55E0-B7DE-33D2-D5584A3014A9}"/>
                </a:ext>
              </a:extLst>
            </p:cNvPr>
            <p:cNvSpPr/>
            <p:nvPr/>
          </p:nvSpPr>
          <p:spPr>
            <a:xfrm rot="5400000">
              <a:off x="4850381" y="2906816"/>
              <a:ext cx="979231" cy="471052"/>
            </a:xfrm>
            <a:prstGeom prst="round2Same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98C5335-F14E-7A31-7636-B220898EF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883" y="2896955"/>
              <a:ext cx="542320" cy="477241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863EC9-2ED8-25C2-9AD5-05EE79653421}"/>
              </a:ext>
            </a:extLst>
          </p:cNvPr>
          <p:cNvGrpSpPr/>
          <p:nvPr/>
        </p:nvGrpSpPr>
        <p:grpSpPr>
          <a:xfrm>
            <a:off x="341426" y="4244684"/>
            <a:ext cx="5075665" cy="963883"/>
            <a:chOff x="558941" y="3779970"/>
            <a:chExt cx="5075665" cy="9638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394ABFA-3B38-6E84-9D53-0110E8EE8BD7}"/>
                </a:ext>
              </a:extLst>
            </p:cNvPr>
            <p:cNvSpPr/>
            <p:nvPr/>
          </p:nvSpPr>
          <p:spPr>
            <a:xfrm>
              <a:off x="558941" y="3779970"/>
              <a:ext cx="4719783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apply learned methods to </a:t>
              </a:r>
              <a:r>
                <a:rPr lang="en-US">
                  <a:solidFill>
                    <a:srgbClr val="00B0F0"/>
                  </a:solidFill>
                </a:rPr>
                <a:t>ensure software quality</a:t>
              </a: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538C8263-B493-D3AF-63B7-83C5A674A268}"/>
                </a:ext>
              </a:extLst>
            </p:cNvPr>
            <p:cNvSpPr/>
            <p:nvPr/>
          </p:nvSpPr>
          <p:spPr>
            <a:xfrm rot="5400000">
              <a:off x="4853199" y="4026386"/>
              <a:ext cx="963882" cy="471052"/>
            </a:xfrm>
            <a:prstGeom prst="round2Same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A1E1CCF-5B72-DC15-7143-67A0F161E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77" y="4007351"/>
              <a:ext cx="599429" cy="51550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1022023-C882-B10D-FF7E-65DF852314E0}"/>
              </a:ext>
            </a:extLst>
          </p:cNvPr>
          <p:cNvGrpSpPr/>
          <p:nvPr/>
        </p:nvGrpSpPr>
        <p:grpSpPr>
          <a:xfrm flipH="1">
            <a:off x="6719493" y="1039299"/>
            <a:ext cx="5089662" cy="971558"/>
            <a:chOff x="544945" y="1570181"/>
            <a:chExt cx="5044575" cy="9715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BF4B747-D460-29AC-F8FB-A201867D115A}"/>
                </a:ext>
              </a:extLst>
            </p:cNvPr>
            <p:cNvSpPr/>
            <p:nvPr/>
          </p:nvSpPr>
          <p:spPr>
            <a:xfrm>
              <a:off x="544945" y="1570181"/>
              <a:ext cx="4636921" cy="963881"/>
            </a:xfrm>
            <a:prstGeom prst="roundRect">
              <a:avLst>
                <a:gd name="adj" fmla="val 884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combination of an </a:t>
              </a:r>
              <a:r>
                <a:rPr lang="en-US">
                  <a:solidFill>
                    <a:srgbClr val="FF3F3F"/>
                  </a:solidFill>
                </a:rPr>
                <a:t>overwatch wiki </a:t>
              </a:r>
              <a:r>
                <a:rPr lang="en-US">
                  <a:solidFill>
                    <a:schemeClr val="tx1"/>
                  </a:solidFill>
                </a:rPr>
                <a:t>for hero lookup and an </a:t>
              </a:r>
              <a:r>
                <a:rPr lang="en-US">
                  <a:solidFill>
                    <a:srgbClr val="FF3F3F"/>
                  </a:solidFill>
                </a:rPr>
                <a:t>excel sheet</a:t>
              </a:r>
            </a:p>
          </p:txBody>
        </p:sp>
        <p:sp>
          <p:nvSpPr>
            <p:cNvPr id="37" name="Rectangle: Top Corners Rounded 36">
              <a:extLst>
                <a:ext uri="{FF2B5EF4-FFF2-40B4-BE49-F238E27FC236}">
                  <a16:creationId xmlns:a16="http://schemas.microsoft.com/office/drawing/2014/main" id="{1CCC4C7B-1C7C-880F-7DD8-8B55E72B7627}"/>
                </a:ext>
              </a:extLst>
            </p:cNvPr>
            <p:cNvSpPr/>
            <p:nvPr/>
          </p:nvSpPr>
          <p:spPr>
            <a:xfrm rot="5400000">
              <a:off x="4854218" y="1820434"/>
              <a:ext cx="971558" cy="471052"/>
            </a:xfrm>
            <a:prstGeom prst="round2SameRect">
              <a:avLst/>
            </a:prstGeom>
            <a:solidFill>
              <a:srgbClr val="FF3F3F"/>
            </a:solidFill>
            <a:ln>
              <a:solidFill>
                <a:srgbClr val="F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AF4AD30-B3DF-3E55-A66E-D592F594C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3458" y="1825914"/>
              <a:ext cx="526062" cy="452413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46B1E01-0823-EEC6-3814-EFBF4E59265E}"/>
              </a:ext>
            </a:extLst>
          </p:cNvPr>
          <p:cNvGrpSpPr/>
          <p:nvPr/>
        </p:nvGrpSpPr>
        <p:grpSpPr>
          <a:xfrm flipH="1">
            <a:off x="6733615" y="2092061"/>
            <a:ext cx="5065258" cy="971558"/>
            <a:chOff x="544945" y="2660402"/>
            <a:chExt cx="5065258" cy="9715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81B7422-9452-BC83-A7F3-7C11279142AC}"/>
                </a:ext>
              </a:extLst>
            </p:cNvPr>
            <p:cNvSpPr/>
            <p:nvPr/>
          </p:nvSpPr>
          <p:spPr>
            <a:xfrm>
              <a:off x="544945" y="2660402"/>
              <a:ext cx="4668084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1" algn="r"/>
              <a:r>
                <a:rPr lang="en-US">
                  <a:solidFill>
                    <a:schemeClr val="tx1"/>
                  </a:solidFill>
                </a:rPr>
                <a:t>browse and view detailed overviews of Overwatch </a:t>
              </a:r>
              <a:r>
                <a:rPr lang="en-US">
                  <a:solidFill>
                    <a:srgbClr val="FF3F3F"/>
                  </a:solidFill>
                </a:rPr>
                <a:t>heroes and their stats</a:t>
              </a:r>
            </a:p>
          </p:txBody>
        </p:sp>
        <p:sp>
          <p:nvSpPr>
            <p:cNvPr id="41" name="Rectangle: Top Corners Rounded 40">
              <a:extLst>
                <a:ext uri="{FF2B5EF4-FFF2-40B4-BE49-F238E27FC236}">
                  <a16:creationId xmlns:a16="http://schemas.microsoft.com/office/drawing/2014/main" id="{51F5B8F8-11CB-C9C8-8506-0AAB1B30D4EA}"/>
                </a:ext>
              </a:extLst>
            </p:cNvPr>
            <p:cNvSpPr/>
            <p:nvPr/>
          </p:nvSpPr>
          <p:spPr>
            <a:xfrm rot="5400000">
              <a:off x="4881899" y="2903658"/>
              <a:ext cx="971555" cy="485049"/>
            </a:xfrm>
            <a:prstGeom prst="round2SameRect">
              <a:avLst/>
            </a:prstGeom>
            <a:solidFill>
              <a:srgbClr val="FF3F3F"/>
            </a:solidFill>
            <a:ln>
              <a:solidFill>
                <a:srgbClr val="F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D86941D-37F5-52A2-2B42-81F91B50F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883" y="2896955"/>
              <a:ext cx="542320" cy="477241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E5382B-4CD0-2725-1AE9-1A2AE9ED2904}"/>
              </a:ext>
            </a:extLst>
          </p:cNvPr>
          <p:cNvGrpSpPr/>
          <p:nvPr/>
        </p:nvGrpSpPr>
        <p:grpSpPr>
          <a:xfrm flipH="1">
            <a:off x="6698783" y="4244683"/>
            <a:ext cx="5131080" cy="963881"/>
            <a:chOff x="558942" y="3779970"/>
            <a:chExt cx="5131080" cy="9638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79DAA70E-80FF-516B-2200-B7E33127127D}"/>
                </a:ext>
              </a:extLst>
            </p:cNvPr>
            <p:cNvSpPr/>
            <p:nvPr/>
          </p:nvSpPr>
          <p:spPr>
            <a:xfrm>
              <a:off x="558942" y="3779970"/>
              <a:ext cx="4699075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an </a:t>
              </a:r>
              <a:r>
                <a:rPr lang="en-US">
                  <a:solidFill>
                    <a:srgbClr val="FF3F3F"/>
                  </a:solidFill>
                </a:rPr>
                <a:t>easy to use </a:t>
              </a:r>
              <a:r>
                <a:rPr lang="en-US">
                  <a:solidFill>
                    <a:schemeClr val="tx1"/>
                  </a:solidFill>
                </a:rPr>
                <a:t>and </a:t>
              </a:r>
              <a:r>
                <a:rPr lang="en-US">
                  <a:solidFill>
                    <a:srgbClr val="FF3F3F"/>
                  </a:solidFill>
                </a:rPr>
                <a:t>intuitive</a:t>
              </a:r>
              <a:r>
                <a:rPr lang="en-US">
                  <a:solidFill>
                    <a:schemeClr val="tx1"/>
                  </a:solidFill>
                </a:rPr>
                <a:t> application for Overwatch players</a:t>
              </a:r>
            </a:p>
          </p:txBody>
        </p:sp>
        <p:sp>
          <p:nvSpPr>
            <p:cNvPr id="45" name="Rectangle: Top Corners Rounded 44">
              <a:extLst>
                <a:ext uri="{FF2B5EF4-FFF2-40B4-BE49-F238E27FC236}">
                  <a16:creationId xmlns:a16="http://schemas.microsoft.com/office/drawing/2014/main" id="{72C2E66C-B66E-5151-80C8-2354BFCC1685}"/>
                </a:ext>
              </a:extLst>
            </p:cNvPr>
            <p:cNvSpPr/>
            <p:nvPr/>
          </p:nvSpPr>
          <p:spPr>
            <a:xfrm rot="5400000">
              <a:off x="4913976" y="4015550"/>
              <a:ext cx="956207" cy="485050"/>
            </a:xfrm>
            <a:prstGeom prst="round2SameRect">
              <a:avLst/>
            </a:prstGeom>
            <a:solidFill>
              <a:srgbClr val="FF3F3F"/>
            </a:solidFill>
            <a:ln>
              <a:solidFill>
                <a:srgbClr val="F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D5E1BB2-79E9-8ADD-DFA2-DB3640D42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0593" y="4007351"/>
              <a:ext cx="599429" cy="515508"/>
            </a:xfrm>
            <a:prstGeom prst="rect">
              <a:avLst/>
            </a:prstGeom>
          </p:spPr>
        </p:pic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BCE98F2-8F8C-AEBB-CF03-2B6715FEE9E4}"/>
              </a:ext>
            </a:extLst>
          </p:cNvPr>
          <p:cNvSpPr/>
          <p:nvPr/>
        </p:nvSpPr>
        <p:spPr>
          <a:xfrm>
            <a:off x="6742037" y="545577"/>
            <a:ext cx="5044575" cy="397164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solidFill>
                  <a:srgbClr val="FF3F3F"/>
                </a:solidFill>
              </a:rPr>
              <a:t>   Concept/ Product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408E50-8851-7C76-D0D9-52CB196E49F5}"/>
              </a:ext>
            </a:extLst>
          </p:cNvPr>
          <p:cNvSpPr txBox="1"/>
          <p:nvPr/>
        </p:nvSpPr>
        <p:spPr>
          <a:xfrm>
            <a:off x="5661713" y="3249887"/>
            <a:ext cx="694421" cy="76944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91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44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haroni" panose="020F0502020204030204" pitchFamily="2" charset="-79"/>
              </a:rPr>
              <a:t>VS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5912D5-F671-6789-3B48-E0795B7F2197}"/>
              </a:ext>
            </a:extLst>
          </p:cNvPr>
          <p:cNvGrpSpPr/>
          <p:nvPr/>
        </p:nvGrpSpPr>
        <p:grpSpPr>
          <a:xfrm>
            <a:off x="346673" y="3162832"/>
            <a:ext cx="5065259" cy="979231"/>
            <a:chOff x="544944" y="2652726"/>
            <a:chExt cx="5065259" cy="9792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68652BD-96F8-CE65-120D-E13940F54F11}"/>
                </a:ext>
              </a:extLst>
            </p:cNvPr>
            <p:cNvSpPr/>
            <p:nvPr/>
          </p:nvSpPr>
          <p:spPr>
            <a:xfrm>
              <a:off x="544944" y="2660402"/>
              <a:ext cx="4719783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experience </a:t>
              </a:r>
              <a:r>
                <a:rPr lang="en-US">
                  <a:solidFill>
                    <a:srgbClr val="00B0F0"/>
                  </a:solidFill>
                </a:rPr>
                <a:t>production</a:t>
              </a:r>
              <a:r>
                <a:rPr lang="en-US">
                  <a:solidFill>
                    <a:schemeClr val="tx1"/>
                  </a:solidFill>
                </a:rPr>
                <a:t> of a website application</a:t>
              </a:r>
            </a:p>
          </p:txBody>
        </p:sp>
        <p:sp>
          <p:nvSpPr>
            <p:cNvPr id="51" name="Rectangle: Top Corners Rounded 50">
              <a:extLst>
                <a:ext uri="{FF2B5EF4-FFF2-40B4-BE49-F238E27FC236}">
                  <a16:creationId xmlns:a16="http://schemas.microsoft.com/office/drawing/2014/main" id="{71EBB4AC-AE00-9497-48C7-016A6296004E}"/>
                </a:ext>
              </a:extLst>
            </p:cNvPr>
            <p:cNvSpPr/>
            <p:nvPr/>
          </p:nvSpPr>
          <p:spPr>
            <a:xfrm rot="5400000">
              <a:off x="4850381" y="2906816"/>
              <a:ext cx="979231" cy="471052"/>
            </a:xfrm>
            <a:prstGeom prst="round2Same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3265BDF-3B7D-8D2D-B004-2C0DAFA92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883" y="2896955"/>
              <a:ext cx="542320" cy="477241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737D29-8217-A04A-3352-7799F1EA5EAF}"/>
              </a:ext>
            </a:extLst>
          </p:cNvPr>
          <p:cNvGrpSpPr/>
          <p:nvPr/>
        </p:nvGrpSpPr>
        <p:grpSpPr>
          <a:xfrm>
            <a:off x="341426" y="5317574"/>
            <a:ext cx="5075665" cy="963883"/>
            <a:chOff x="558941" y="3779970"/>
            <a:chExt cx="5075665" cy="9638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8EB0127-8A5F-A3CB-A7C1-8FEC5CF7A9DC}"/>
                </a:ext>
              </a:extLst>
            </p:cNvPr>
            <p:cNvSpPr/>
            <p:nvPr/>
          </p:nvSpPr>
          <p:spPr>
            <a:xfrm>
              <a:off x="558941" y="3779970"/>
              <a:ext cx="4719783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hypothetical solution to a </a:t>
              </a:r>
              <a:r>
                <a:rPr lang="en-US">
                  <a:solidFill>
                    <a:srgbClr val="00AAE6"/>
                  </a:solidFill>
                </a:rPr>
                <a:t>similar problem </a:t>
              </a:r>
              <a:r>
                <a:rPr lang="en-US">
                  <a:solidFill>
                    <a:schemeClr val="tx1"/>
                  </a:solidFill>
                </a:rPr>
                <a:t>that a friend of ours had</a:t>
              </a:r>
            </a:p>
          </p:txBody>
        </p:sp>
        <p:sp>
          <p:nvSpPr>
            <p:cNvPr id="55" name="Rectangle: Top Corners Rounded 54">
              <a:extLst>
                <a:ext uri="{FF2B5EF4-FFF2-40B4-BE49-F238E27FC236}">
                  <a16:creationId xmlns:a16="http://schemas.microsoft.com/office/drawing/2014/main" id="{3EA4F10E-A16A-F49B-8505-FC399AC2044B}"/>
                </a:ext>
              </a:extLst>
            </p:cNvPr>
            <p:cNvSpPr/>
            <p:nvPr/>
          </p:nvSpPr>
          <p:spPr>
            <a:xfrm rot="5400000">
              <a:off x="4853199" y="4026386"/>
              <a:ext cx="963882" cy="471052"/>
            </a:xfrm>
            <a:prstGeom prst="round2Same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C1F59C0-B310-C65F-9A16-8BD558FB2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5177" y="4007351"/>
              <a:ext cx="599429" cy="515508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5783837-7E14-1F3D-63DC-84FDC1E68556}"/>
              </a:ext>
            </a:extLst>
          </p:cNvPr>
          <p:cNvGrpSpPr/>
          <p:nvPr/>
        </p:nvGrpSpPr>
        <p:grpSpPr>
          <a:xfrm flipH="1">
            <a:off x="6750674" y="3159435"/>
            <a:ext cx="5065258" cy="971558"/>
            <a:chOff x="544945" y="2660402"/>
            <a:chExt cx="5065258" cy="9715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70F5EE8-1F34-58A8-6714-2129B3E450DE}"/>
                </a:ext>
              </a:extLst>
            </p:cNvPr>
            <p:cNvSpPr/>
            <p:nvPr/>
          </p:nvSpPr>
          <p:spPr>
            <a:xfrm>
              <a:off x="544945" y="2660402"/>
              <a:ext cx="4668085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with a </a:t>
              </a:r>
              <a:r>
                <a:rPr lang="en-US">
                  <a:solidFill>
                    <a:srgbClr val="FF3F3F"/>
                  </a:solidFill>
                </a:rPr>
                <a:t>personal account</a:t>
              </a:r>
              <a:r>
                <a:rPr lang="en-US">
                  <a:solidFill>
                    <a:schemeClr val="tx1"/>
                  </a:solidFill>
                </a:rPr>
                <a:t>, </a:t>
              </a:r>
              <a:r>
                <a:rPr lang="en-US">
                  <a:solidFill>
                    <a:srgbClr val="FF3F3F"/>
                  </a:solidFill>
                </a:rPr>
                <a:t>create</a:t>
              </a:r>
              <a:r>
                <a:rPr lang="en-US">
                  <a:solidFill>
                    <a:schemeClr val="tx1"/>
                  </a:solidFill>
                </a:rPr>
                <a:t> new </a:t>
              </a:r>
              <a:r>
                <a:rPr lang="en-US">
                  <a:solidFill>
                    <a:srgbClr val="FF3F3F"/>
                  </a:solidFill>
                </a:rPr>
                <a:t>team comps </a:t>
              </a:r>
              <a:r>
                <a:rPr lang="en-US">
                  <a:solidFill>
                    <a:schemeClr val="tx1"/>
                  </a:solidFill>
                </a:rPr>
                <a:t>and </a:t>
              </a:r>
              <a:r>
                <a:rPr lang="en-US">
                  <a:solidFill>
                    <a:srgbClr val="FF3F3F"/>
                  </a:solidFill>
                </a:rPr>
                <a:t>modify</a:t>
              </a:r>
              <a:r>
                <a:rPr lang="en-US">
                  <a:solidFill>
                    <a:schemeClr val="tx1"/>
                  </a:solidFill>
                </a:rPr>
                <a:t> one of your existing ones</a:t>
              </a:r>
            </a:p>
          </p:txBody>
        </p:sp>
        <p:sp>
          <p:nvSpPr>
            <p:cNvPr id="59" name="Rectangle: Top Corners Rounded 58">
              <a:extLst>
                <a:ext uri="{FF2B5EF4-FFF2-40B4-BE49-F238E27FC236}">
                  <a16:creationId xmlns:a16="http://schemas.microsoft.com/office/drawing/2014/main" id="{B7F977B9-F6EB-C19E-AA1B-018C14260C85}"/>
                </a:ext>
              </a:extLst>
            </p:cNvPr>
            <p:cNvSpPr/>
            <p:nvPr/>
          </p:nvSpPr>
          <p:spPr>
            <a:xfrm rot="5400000">
              <a:off x="4881899" y="2903658"/>
              <a:ext cx="971555" cy="485049"/>
            </a:xfrm>
            <a:prstGeom prst="round2SameRect">
              <a:avLst/>
            </a:prstGeom>
            <a:solidFill>
              <a:srgbClr val="FF3F3F"/>
            </a:solidFill>
            <a:ln>
              <a:solidFill>
                <a:srgbClr val="F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B8DCC5A-3724-660C-1DB6-E7B1D863E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883" y="2896955"/>
              <a:ext cx="542320" cy="477241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4E74AD4-A52B-7C57-72A2-04E169A58728}"/>
              </a:ext>
            </a:extLst>
          </p:cNvPr>
          <p:cNvGrpSpPr/>
          <p:nvPr/>
        </p:nvGrpSpPr>
        <p:grpSpPr>
          <a:xfrm flipH="1">
            <a:off x="6719493" y="5322254"/>
            <a:ext cx="5131080" cy="963881"/>
            <a:chOff x="558942" y="3779970"/>
            <a:chExt cx="5131080" cy="96388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36A0C70-A8F5-1022-504F-73BDA4101D5B}"/>
                </a:ext>
              </a:extLst>
            </p:cNvPr>
            <p:cNvSpPr/>
            <p:nvPr/>
          </p:nvSpPr>
          <p:spPr>
            <a:xfrm>
              <a:off x="558942" y="3779970"/>
              <a:ext cx="4641696" cy="963881"/>
            </a:xfrm>
            <a:prstGeom prst="roundRect">
              <a:avLst>
                <a:gd name="adj" fmla="val 9821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creation and modification of a team composition </a:t>
              </a:r>
              <a:r>
                <a:rPr lang="en-US">
                  <a:solidFill>
                    <a:srgbClr val="FF3F3F"/>
                  </a:solidFill>
                </a:rPr>
                <a:t>within a single application</a:t>
              </a:r>
            </a:p>
          </p:txBody>
        </p:sp>
        <p:sp>
          <p:nvSpPr>
            <p:cNvPr id="63" name="Rectangle: Top Corners Rounded 62">
              <a:extLst>
                <a:ext uri="{FF2B5EF4-FFF2-40B4-BE49-F238E27FC236}">
                  <a16:creationId xmlns:a16="http://schemas.microsoft.com/office/drawing/2014/main" id="{F32A0CDC-ABEB-06D3-3685-BB9BC5105D6A}"/>
                </a:ext>
              </a:extLst>
            </p:cNvPr>
            <p:cNvSpPr/>
            <p:nvPr/>
          </p:nvSpPr>
          <p:spPr>
            <a:xfrm rot="5400000">
              <a:off x="4913976" y="4015550"/>
              <a:ext cx="956207" cy="485050"/>
            </a:xfrm>
            <a:prstGeom prst="round2SameRect">
              <a:avLst/>
            </a:prstGeom>
            <a:solidFill>
              <a:srgbClr val="FF3F3F"/>
            </a:solidFill>
            <a:ln>
              <a:solidFill>
                <a:srgbClr val="FF3F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DEF9FA6-01DD-F4E9-0B13-675978124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0593" y="4007351"/>
              <a:ext cx="599429" cy="515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4123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7" grpId="0" animBg="1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B0457-FAA8-1F65-B273-A9BE0B25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4A9914-2710-32B3-C35A-06338D271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2" t="494" r="4113" b="-494"/>
          <a:stretch>
            <a:fillRect/>
          </a:stretch>
        </p:blipFill>
        <p:spPr>
          <a:xfrm>
            <a:off x="3278909" y="214364"/>
            <a:ext cx="8377382" cy="44876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63DBB8-DC90-E5B8-8FB5-EECCFE346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70" r="11288"/>
          <a:stretch>
            <a:fillRect/>
          </a:stretch>
        </p:blipFill>
        <p:spPr>
          <a:xfrm>
            <a:off x="8721589" y="214364"/>
            <a:ext cx="2263862" cy="446294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04DD963-C084-BA4B-774B-3F0195ABB2D0}"/>
              </a:ext>
            </a:extLst>
          </p:cNvPr>
          <p:cNvGrpSpPr/>
          <p:nvPr/>
        </p:nvGrpSpPr>
        <p:grpSpPr>
          <a:xfrm>
            <a:off x="120459" y="214364"/>
            <a:ext cx="3011786" cy="510504"/>
            <a:chOff x="100869" y="175489"/>
            <a:chExt cx="2498131" cy="60960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8F1F695-F3CC-8240-F050-8DEA15DE3CAB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25F567F-923F-E064-49B1-19856C7C98CD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423C4D7-3ADB-1C5F-11E6-8B3181AF7940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Design/Mockup</a:t>
              </a:r>
            </a:p>
          </p:txBody>
        </p:sp>
      </p:grpSp>
      <p:pic>
        <p:nvPicPr>
          <p:cNvPr id="25" name="Picture 24" descr="Character Selection - Overwatch 2 | Interface In Game">
            <a:extLst>
              <a:ext uri="{FF2B5EF4-FFF2-40B4-BE49-F238E27FC236}">
                <a16:creationId xmlns:a16="http://schemas.microsoft.com/office/drawing/2014/main" id="{CF99F6EA-F445-300C-72A3-55A28FF578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667" t="47216" r="27443" b="26925"/>
          <a:stretch>
            <a:fillRect/>
          </a:stretch>
        </p:blipFill>
        <p:spPr>
          <a:xfrm>
            <a:off x="3160116" y="4960580"/>
            <a:ext cx="4581711" cy="14522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D8EF0D-F5F7-3E67-8999-CBB93F678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41" y="905169"/>
            <a:ext cx="2616540" cy="54356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2C14EE1-7278-07C4-3BB0-F3A22C220904}"/>
              </a:ext>
            </a:extLst>
          </p:cNvPr>
          <p:cNvSpPr txBox="1"/>
          <p:nvPr/>
        </p:nvSpPr>
        <p:spPr>
          <a:xfrm>
            <a:off x="8028938" y="5086526"/>
            <a:ext cx="3906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Design Philosophy: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match in game </a:t>
            </a:r>
            <a:r>
              <a:rPr lang="en-US"/>
              <a:t>conventions and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further inspirations from </a:t>
            </a:r>
            <a:r>
              <a:rPr lang="en-US">
                <a:solidFill>
                  <a:srgbClr val="00B0F0"/>
                </a:solidFill>
              </a:rPr>
              <a:t>fanwiki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E05C66-5724-CBCC-7755-4EB15EEE6BA1}"/>
              </a:ext>
            </a:extLst>
          </p:cNvPr>
          <p:cNvSpPr txBox="1"/>
          <p:nvPr/>
        </p:nvSpPr>
        <p:spPr>
          <a:xfrm>
            <a:off x="369042" y="6356561"/>
            <a:ext cx="26446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https://overwatch.fandom.com/wiki/Mizuki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33E8B9-4391-6BB0-AD9F-28B1ECA32AD5}"/>
              </a:ext>
            </a:extLst>
          </p:cNvPr>
          <p:cNvSpPr txBox="1"/>
          <p:nvPr/>
        </p:nvSpPr>
        <p:spPr>
          <a:xfrm>
            <a:off x="3160116" y="6440529"/>
            <a:ext cx="50534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https://interfaceingame.com/screenshots/overwatch-2-character-selection/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71D97C-BB14-338C-B6AF-9AE31D1941C4}"/>
              </a:ext>
            </a:extLst>
          </p:cNvPr>
          <p:cNvGrpSpPr/>
          <p:nvPr/>
        </p:nvGrpSpPr>
        <p:grpSpPr>
          <a:xfrm>
            <a:off x="3013664" y="665017"/>
            <a:ext cx="5199924" cy="2844801"/>
            <a:chOff x="3013664" y="665017"/>
            <a:chExt cx="5199924" cy="2844801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441401D-FBD4-ACA6-D29B-3C28DB584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3664" y="2313709"/>
              <a:ext cx="2371136" cy="510504"/>
            </a:xfrm>
            <a:prstGeom prst="straightConnector1">
              <a:avLst/>
            </a:prstGeom>
            <a:ln w="38100">
              <a:solidFill>
                <a:srgbClr val="00AAE6"/>
              </a:solidFill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1262B8-AD79-A96F-6D76-CECBAD46F7EB}"/>
                </a:ext>
              </a:extLst>
            </p:cNvPr>
            <p:cNvSpPr/>
            <p:nvPr/>
          </p:nvSpPr>
          <p:spPr>
            <a:xfrm>
              <a:off x="5384800" y="665017"/>
              <a:ext cx="2828788" cy="2844801"/>
            </a:xfrm>
            <a:prstGeom prst="rect">
              <a:avLst/>
            </a:prstGeom>
            <a:noFill/>
            <a:ln w="38100">
              <a:solidFill>
                <a:srgbClr val="00AAE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09E1AAF-C125-39F1-06FD-BB695CF85557}"/>
              </a:ext>
            </a:extLst>
          </p:cNvPr>
          <p:cNvGrpSpPr/>
          <p:nvPr/>
        </p:nvGrpSpPr>
        <p:grpSpPr>
          <a:xfrm>
            <a:off x="4006750" y="3592598"/>
            <a:ext cx="4352160" cy="1367982"/>
            <a:chOff x="4006750" y="3592598"/>
            <a:chExt cx="4352160" cy="136798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6ABA493-734E-B935-1B35-DEE2939C14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9564" y="4544291"/>
              <a:ext cx="0" cy="416289"/>
            </a:xfrm>
            <a:prstGeom prst="straightConnector1">
              <a:avLst/>
            </a:prstGeom>
            <a:ln w="38100">
              <a:solidFill>
                <a:srgbClr val="00AAE6"/>
              </a:solidFill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449D0C2-85AE-34A4-1198-4FB08E5EE577}"/>
                </a:ext>
              </a:extLst>
            </p:cNvPr>
            <p:cNvSpPr/>
            <p:nvPr/>
          </p:nvSpPr>
          <p:spPr>
            <a:xfrm>
              <a:off x="4006750" y="3592598"/>
              <a:ext cx="4352160" cy="951693"/>
            </a:xfrm>
            <a:prstGeom prst="rect">
              <a:avLst/>
            </a:prstGeom>
            <a:noFill/>
            <a:ln w="38100">
              <a:solidFill>
                <a:srgbClr val="00AA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8174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DBD94D-370D-A22A-EC2D-6C501B92187B}"/>
              </a:ext>
            </a:extLst>
          </p:cNvPr>
          <p:cNvSpPr txBox="1"/>
          <p:nvPr/>
        </p:nvSpPr>
        <p:spPr>
          <a:xfrm>
            <a:off x="3050722" y="3244334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6A0A8B7-F56D-D315-94E4-A5A514BAE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3" t="5840" r="4698" b="11358"/>
          <a:stretch>
            <a:fillRect/>
          </a:stretch>
        </p:blipFill>
        <p:spPr>
          <a:xfrm>
            <a:off x="279202" y="641951"/>
            <a:ext cx="11633595" cy="594342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BF737F6-4D57-E84C-44F1-4614D699BB14}"/>
              </a:ext>
            </a:extLst>
          </p:cNvPr>
          <p:cNvGrpSpPr/>
          <p:nvPr/>
        </p:nvGrpSpPr>
        <p:grpSpPr>
          <a:xfrm>
            <a:off x="120458" y="131213"/>
            <a:ext cx="2333031" cy="474526"/>
            <a:chOff x="100869" y="175489"/>
            <a:chExt cx="2498131" cy="60960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2ECE065-799A-A272-905A-27E3971D99F3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FB8A7D7-3B10-1B27-9F7A-AA7561FE2527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A9B5445-5E28-9F9F-603B-A8686C4AC62B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/>
                <a:t>Component 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643423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B291355-BD0C-6A81-D303-FA851AA3D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" r="3849"/>
          <a:stretch>
            <a:fillRect/>
          </a:stretch>
        </p:blipFill>
        <p:spPr>
          <a:xfrm>
            <a:off x="834328" y="972074"/>
            <a:ext cx="10523343" cy="554612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6DC917D-67F4-95BF-FDE7-15803F8AACBB}"/>
              </a:ext>
            </a:extLst>
          </p:cNvPr>
          <p:cNvGrpSpPr/>
          <p:nvPr/>
        </p:nvGrpSpPr>
        <p:grpSpPr>
          <a:xfrm>
            <a:off x="120458" y="214364"/>
            <a:ext cx="3286771" cy="474526"/>
            <a:chOff x="100869" y="175489"/>
            <a:chExt cx="2498131" cy="60960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B47B9EC-9470-9C5F-72B8-4728E7AB968B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E80D1CC-D64D-BE70-546D-1BD45F035FC0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5E44917-49A9-DFED-F3B7-717F8F6A7A32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Component Breakdown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245F244-6A96-806D-1114-208FC8118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199" y="1310659"/>
            <a:ext cx="5962227" cy="38464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E7705ED-F231-4EB8-551E-4F3E0C55F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465" y="2458591"/>
            <a:ext cx="2668677" cy="30067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7D61E8-ECAC-579C-9197-29AEB7AF45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765" y="5433163"/>
            <a:ext cx="2722378" cy="10678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2819F4-B0B7-34B6-F71A-BAFD010267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261" y="1527156"/>
            <a:ext cx="2668678" cy="9897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3ECDE7B-06F4-9316-1C65-D667F91EA5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205" y="5122284"/>
            <a:ext cx="6084803" cy="142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68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1EFC5-272B-B672-E415-3E71777E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7F66E80-6F10-6F33-D823-023A3214BA6A}"/>
              </a:ext>
            </a:extLst>
          </p:cNvPr>
          <p:cNvGrpSpPr/>
          <p:nvPr/>
        </p:nvGrpSpPr>
        <p:grpSpPr>
          <a:xfrm>
            <a:off x="148493" y="161965"/>
            <a:ext cx="3602913" cy="517238"/>
            <a:chOff x="100869" y="175489"/>
            <a:chExt cx="2498131" cy="60960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20B2678-1FC9-4F2D-6C7C-A2B3C7B94348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6F61AE4-BF38-813B-BB30-50AEB6E3415A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CDB9263-8299-7E3B-4461-232416A5FD7C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Frontend: Implementation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FFAF50-D356-382F-CD73-08B545CFB69C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1D065-23A8-512F-8D14-831D7BB94D41}"/>
              </a:ext>
            </a:extLst>
          </p:cNvPr>
          <p:cNvSpPr txBox="1"/>
          <p:nvPr/>
        </p:nvSpPr>
        <p:spPr>
          <a:xfrm>
            <a:off x="3048000" y="32466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1ECF13-4552-1BCD-DF83-B29B19CA9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36" b="5146"/>
          <a:stretch>
            <a:fillRect/>
          </a:stretch>
        </p:blipFill>
        <p:spPr>
          <a:xfrm>
            <a:off x="466127" y="1774782"/>
            <a:ext cx="7765302" cy="3682385"/>
          </a:xfrm>
          <a:prstGeom prst="roundRect">
            <a:avLst>
              <a:gd name="adj" fmla="val 13694"/>
            </a:avLst>
          </a:prstGeom>
          <a:ln>
            <a:solidFill>
              <a:srgbClr val="00B0F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83F6AB-8731-58A1-6394-CD0812837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413" y="4141982"/>
            <a:ext cx="929706" cy="9297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274567-545A-55A2-39EC-47DA02C6E4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952" y="4141981"/>
            <a:ext cx="929707" cy="9297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7C0C9E-536D-2F3C-B554-CBBFD641F5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67" y="4141981"/>
            <a:ext cx="929706" cy="9297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F05649-A58F-3367-8974-3DD770B68A12}"/>
              </a:ext>
            </a:extLst>
          </p:cNvPr>
          <p:cNvSpPr txBox="1"/>
          <p:nvPr/>
        </p:nvSpPr>
        <p:spPr>
          <a:xfrm>
            <a:off x="8560413" y="2085974"/>
            <a:ext cx="30010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Implementierung über </a:t>
            </a:r>
            <a:r>
              <a:rPr lang="en-US">
                <a:solidFill>
                  <a:srgbClr val="00B0F0"/>
                </a:solidFill>
              </a:rPr>
              <a:t>React</a:t>
            </a:r>
            <a:r>
              <a:rPr lang="en-US"/>
              <a:t> mit </a:t>
            </a:r>
            <a:r>
              <a:rPr lang="en-US">
                <a:solidFill>
                  <a:srgbClr val="00B0F0"/>
                </a:solidFill>
              </a:rPr>
              <a:t>Typescript</a:t>
            </a:r>
            <a:r>
              <a:rPr lang="en-US"/>
              <a:t> in Kombination mit </a:t>
            </a:r>
            <a:r>
              <a:rPr lang="en-US">
                <a:solidFill>
                  <a:schemeClr val="accent2"/>
                </a:solidFill>
              </a:rPr>
              <a:t>Vite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Testing über </a:t>
            </a:r>
            <a:r>
              <a:rPr lang="en-US">
                <a:solidFill>
                  <a:schemeClr val="accent2"/>
                </a:solidFill>
              </a:rPr>
              <a:t>Vitest</a:t>
            </a:r>
            <a:r>
              <a:rPr lang="en-US"/>
              <a:t> und </a:t>
            </a:r>
            <a:r>
              <a:rPr lang="en-US">
                <a:solidFill>
                  <a:srgbClr val="00B0F0"/>
                </a:solidFill>
              </a:rPr>
              <a:t>React Testing Library</a:t>
            </a:r>
          </a:p>
        </p:txBody>
      </p:sp>
    </p:spTree>
    <p:extLst>
      <p:ext uri="{BB962C8B-B14F-4D97-AF65-F5344CB8AC3E}">
        <p14:creationId xmlns:p14="http://schemas.microsoft.com/office/powerpoint/2010/main" val="4190226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DA5C8-732B-7B59-EAA2-8131C3E1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C90AAAF-27E1-0AA6-CE6F-0EA87B5633EA}"/>
              </a:ext>
            </a:extLst>
          </p:cNvPr>
          <p:cNvGrpSpPr/>
          <p:nvPr/>
        </p:nvGrpSpPr>
        <p:grpSpPr>
          <a:xfrm>
            <a:off x="2988613" y="2661393"/>
            <a:ext cx="6214773" cy="1535213"/>
            <a:chOff x="2918404" y="2666673"/>
            <a:chExt cx="6214773" cy="153521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A457A43-5942-927F-3AD3-60F8843C6557}"/>
                </a:ext>
              </a:extLst>
            </p:cNvPr>
            <p:cNvSpPr/>
            <p:nvPr/>
          </p:nvSpPr>
          <p:spPr>
            <a:xfrm>
              <a:off x="2918404" y="2666673"/>
              <a:ext cx="5997718" cy="1318159"/>
            </a:xfrm>
            <a:prstGeom prst="roundRect">
              <a:avLst>
                <a:gd name="adj" fmla="val 6551"/>
              </a:avLst>
            </a:prstGeom>
            <a:solidFill>
              <a:schemeClr val="accent6"/>
            </a:solidFill>
            <a:ln>
              <a:solidFill>
                <a:srgbClr val="21212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CB93CCC-CDA2-3C45-80D9-793A713F863B}"/>
                </a:ext>
              </a:extLst>
            </p:cNvPr>
            <p:cNvSpPr/>
            <p:nvPr/>
          </p:nvSpPr>
          <p:spPr>
            <a:xfrm>
              <a:off x="3135459" y="2883727"/>
              <a:ext cx="5997718" cy="1318159"/>
            </a:xfrm>
            <a:prstGeom prst="roundRect">
              <a:avLst>
                <a:gd name="adj" fmla="val 6551"/>
              </a:avLst>
            </a:prstGeom>
            <a:solidFill>
              <a:srgbClr val="00B0F0"/>
            </a:solidFill>
            <a:ln>
              <a:solidFill>
                <a:srgbClr val="21212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BF13907-A8AB-784A-C8CF-5338FB2F55F9}"/>
                </a:ext>
              </a:extLst>
            </p:cNvPr>
            <p:cNvSpPr/>
            <p:nvPr/>
          </p:nvSpPr>
          <p:spPr>
            <a:xfrm>
              <a:off x="3038475" y="2786743"/>
              <a:ext cx="5997718" cy="1318159"/>
            </a:xfrm>
            <a:prstGeom prst="roundRect">
              <a:avLst>
                <a:gd name="adj" fmla="val 6551"/>
              </a:avLst>
            </a:prstGeom>
            <a:solidFill>
              <a:srgbClr val="212121"/>
            </a:solidFill>
            <a:ln>
              <a:solidFill>
                <a:srgbClr val="21212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AD3E45-E568-3B25-2E76-A2CB57FCD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8331" y="2863011"/>
              <a:ext cx="5538006" cy="1210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669978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1D2F761-6AC0-D023-65D5-A7E913EA5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82" y="789227"/>
            <a:ext cx="11007360" cy="340658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26CFF86-1C87-C7DD-9225-284A1411A166}"/>
              </a:ext>
            </a:extLst>
          </p:cNvPr>
          <p:cNvGrpSpPr/>
          <p:nvPr/>
        </p:nvGrpSpPr>
        <p:grpSpPr>
          <a:xfrm>
            <a:off x="4527525" y="3051431"/>
            <a:ext cx="5063759" cy="3317329"/>
            <a:chOff x="1488141" y="3613252"/>
            <a:chExt cx="4607859" cy="239310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1BA4CB3-12E0-7B8B-CAFA-1814E0ECBDC1}"/>
                </a:ext>
              </a:extLst>
            </p:cNvPr>
            <p:cNvSpPr/>
            <p:nvPr/>
          </p:nvSpPr>
          <p:spPr>
            <a:xfrm>
              <a:off x="1488141" y="3613252"/>
              <a:ext cx="4607859" cy="2393101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D6D6AA3D-94B4-D1B1-C5B1-C8170483B072}"/>
                </a:ext>
              </a:extLst>
            </p:cNvPr>
            <p:cNvSpPr txBox="1"/>
            <p:nvPr/>
          </p:nvSpPr>
          <p:spPr>
            <a:xfrm>
              <a:off x="1789394" y="3956117"/>
              <a:ext cx="4236265" cy="196400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/>
                <a:t>Functionality: 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92D050"/>
                  </a:solidFill>
                </a:rPr>
                <a:t>Serves hero data </a:t>
              </a:r>
              <a:r>
                <a:rPr lang="en-US"/>
                <a:t>via </a:t>
              </a:r>
              <a:r>
                <a:rPr lang="en-US">
                  <a:solidFill>
                    <a:srgbClr val="92D050"/>
                  </a:solidFill>
                </a:rPr>
                <a:t>REST API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00B0F0"/>
                  </a:solidFill>
                </a:rPr>
                <a:t>Sync</a:t>
              </a:r>
              <a:r>
                <a:rPr lang="en-US"/>
                <a:t> hero data from </a:t>
              </a:r>
              <a:r>
                <a:rPr lang="en-US">
                  <a:solidFill>
                    <a:srgbClr val="00B0F0"/>
                  </a:solidFill>
                </a:rPr>
                <a:t>external API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00B050"/>
                  </a:solidFill>
                </a:rPr>
                <a:t>Manages user accounts </a:t>
              </a:r>
              <a:r>
                <a:rPr lang="en-US"/>
                <a:t>– registration, login, logout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Allows authenticated users to manage </a:t>
              </a:r>
              <a:r>
                <a:rPr lang="en-US">
                  <a:solidFill>
                    <a:schemeClr val="accent3"/>
                  </a:solidFill>
                </a:rPr>
                <a:t>team compositions</a:t>
              </a:r>
            </a:p>
            <a:p>
              <a:pPr marL="285750" indent="-285750">
                <a:buFont typeface="Calibri"/>
                <a:buChar char="-"/>
              </a:pPr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8DE19C-26EC-4B49-07E8-8D8BE937F467}"/>
              </a:ext>
            </a:extLst>
          </p:cNvPr>
          <p:cNvGrpSpPr/>
          <p:nvPr/>
        </p:nvGrpSpPr>
        <p:grpSpPr>
          <a:xfrm>
            <a:off x="731580" y="4055716"/>
            <a:ext cx="3054878" cy="2313044"/>
            <a:chOff x="7547640" y="4545106"/>
            <a:chExt cx="2807046" cy="198411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23ADD75-50D6-0691-1A15-1E639044E9C5}"/>
                </a:ext>
              </a:extLst>
            </p:cNvPr>
            <p:cNvSpPr/>
            <p:nvPr/>
          </p:nvSpPr>
          <p:spPr>
            <a:xfrm>
              <a:off x="7547640" y="4545106"/>
              <a:ext cx="2807046" cy="1984110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185E1F90-D02C-AFB5-2C00-477BF6AD0026}"/>
                </a:ext>
              </a:extLst>
            </p:cNvPr>
            <p:cNvSpPr txBox="1"/>
            <p:nvPr/>
          </p:nvSpPr>
          <p:spPr>
            <a:xfrm>
              <a:off x="7705195" y="4659998"/>
              <a:ext cx="2491935" cy="175432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>
                  <a:solidFill>
                    <a:schemeClr val="accent6"/>
                  </a:solidFill>
                </a:rPr>
                <a:t>Technology Stack</a:t>
              </a:r>
            </a:p>
            <a:p>
              <a:pPr algn="ctr"/>
              <a:r>
                <a:rPr lang="en-US"/>
                <a:t> </a:t>
              </a:r>
            </a:p>
            <a:p>
              <a:pPr algn="ctr"/>
              <a:r>
                <a:rPr lang="en-US"/>
                <a:t>Python + Django </a:t>
              </a:r>
            </a:p>
            <a:p>
              <a:pPr algn="ctr"/>
              <a:r>
                <a:rPr lang="en-US" err="1"/>
                <a:t>PostgresSQL</a:t>
              </a:r>
              <a:r>
                <a:rPr lang="en-US"/>
                <a:t> 16</a:t>
              </a:r>
            </a:p>
            <a:p>
              <a:pPr algn="ctr"/>
              <a:r>
                <a:rPr lang="en-US"/>
                <a:t>JWT (Simple JWT)</a:t>
              </a:r>
            </a:p>
            <a:p>
              <a:pPr algn="ctr"/>
              <a:r>
                <a:rPr lang="en-US"/>
                <a:t>Docker 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4579E1E-9CB1-632D-D47A-A551AB756A72}"/>
              </a:ext>
            </a:extLst>
          </p:cNvPr>
          <p:cNvGrpSpPr/>
          <p:nvPr/>
        </p:nvGrpSpPr>
        <p:grpSpPr>
          <a:xfrm>
            <a:off x="270963" y="282263"/>
            <a:ext cx="3003742" cy="510504"/>
            <a:chOff x="100869" y="175489"/>
            <a:chExt cx="2498131" cy="60960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6A04523-B684-0A5E-D0F7-0C431E466BD3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615F75B-A2AF-4FD3-99DE-3EE4709E8367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EA4F9CF-F98A-6B16-B6D7-CA70C5AC4387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Backend Overview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C681A8B-C4DC-DDAC-9D42-DB14D9835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86" y="3110499"/>
            <a:ext cx="742013" cy="742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8A2DD7-926A-D36F-D44C-903407375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99" y="3051432"/>
            <a:ext cx="742013" cy="7420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7D073-34D6-C6D6-47D0-BBEC5D8AB4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1" b="15790"/>
          <a:stretch>
            <a:fillRect/>
          </a:stretch>
        </p:blipFill>
        <p:spPr>
          <a:xfrm>
            <a:off x="3076839" y="3051432"/>
            <a:ext cx="1048353" cy="7420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8D8440-AA7A-5406-EE76-6256669407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019" y="3051432"/>
            <a:ext cx="742013" cy="7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2A5CA-1569-2266-532E-A56C4208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3C57BDF9-0AA2-06FE-3DE2-B3A3F1AF8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06" y="984750"/>
            <a:ext cx="8107002" cy="4208782"/>
          </a:xfrm>
          <a:prstGeom prst="roundRect">
            <a:avLst>
              <a:gd name="adj" fmla="val 6772"/>
            </a:avLst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7CFB436-7667-5F40-E593-0ACFCD779C24}"/>
              </a:ext>
            </a:extLst>
          </p:cNvPr>
          <p:cNvGrpSpPr/>
          <p:nvPr/>
        </p:nvGrpSpPr>
        <p:grpSpPr>
          <a:xfrm>
            <a:off x="229316" y="181707"/>
            <a:ext cx="3003742" cy="510504"/>
            <a:chOff x="100869" y="175489"/>
            <a:chExt cx="2498131" cy="60960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9FE5991-DFC4-B890-5B93-50214C22F59A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33596A0-B6D1-E1DB-9B99-089F84793567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3B667EB-EB14-5126-289A-C39816827C54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Django Framework</a:t>
              </a:r>
              <a:endParaRPr lang="de-DE"/>
            </a:p>
          </p:txBody>
        </p:sp>
      </p:grpSp>
      <p:sp>
        <p:nvSpPr>
          <p:cNvPr id="11" name="TextBox 3">
            <a:extLst>
              <a:ext uri="{FF2B5EF4-FFF2-40B4-BE49-F238E27FC236}">
                <a16:creationId xmlns:a16="http://schemas.microsoft.com/office/drawing/2014/main" id="{B4554F1F-A14C-D24F-FB33-D92C3C708675}"/>
              </a:ext>
            </a:extLst>
          </p:cNvPr>
          <p:cNvSpPr txBox="1"/>
          <p:nvPr/>
        </p:nvSpPr>
        <p:spPr>
          <a:xfrm>
            <a:off x="8781861" y="965482"/>
            <a:ext cx="3198929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it as a </a:t>
            </a:r>
            <a:r>
              <a:rPr lang="en-US">
                <a:solidFill>
                  <a:srgbClr val="00B050"/>
                </a:solidFill>
              </a:rPr>
              <a:t>REST API backend with DRF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Talks to PostgreSQL via </a:t>
            </a:r>
            <a:r>
              <a:rPr lang="en-US">
                <a:solidFill>
                  <a:srgbClr val="92D050"/>
                </a:solidFill>
              </a:rPr>
              <a:t>built-in 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Management Commands </a:t>
            </a:r>
            <a:r>
              <a:rPr lang="en-US"/>
              <a:t>(</a:t>
            </a:r>
            <a:r>
              <a:rPr lang="en-US" err="1"/>
              <a:t>e.g</a:t>
            </a:r>
            <a:r>
              <a:rPr lang="en-US"/>
              <a:t> </a:t>
            </a:r>
            <a:r>
              <a:rPr lang="en-US" err="1"/>
              <a:t>sync_heroes</a:t>
            </a:r>
            <a:r>
              <a:rPr lang="en-US"/>
              <a:t> on startup)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DRF includes a </a:t>
            </a:r>
            <a:r>
              <a:rPr lang="en-US">
                <a:solidFill>
                  <a:schemeClr val="accent3"/>
                </a:solidFill>
                <a:ea typeface="+mn-lt"/>
                <a:cs typeface="+mn-lt"/>
              </a:rPr>
              <a:t>browsable API </a:t>
            </a:r>
            <a:r>
              <a:rPr lang="en-US">
                <a:ea typeface="+mn-lt"/>
                <a:cs typeface="+mn-lt"/>
              </a:rPr>
              <a:t>— every endpoint can be viewed and tested directly in the browser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12756-D725-1DC3-6A7C-9DD36EB7AB64}"/>
              </a:ext>
            </a:extLst>
          </p:cNvPr>
          <p:cNvSpPr txBox="1"/>
          <p:nvPr/>
        </p:nvSpPr>
        <p:spPr>
          <a:xfrm>
            <a:off x="464706" y="5486072"/>
            <a:ext cx="6097508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Python</a:t>
            </a:r>
            <a:r>
              <a:rPr lang="en-US"/>
              <a:t> web framework</a:t>
            </a:r>
          </a:p>
          <a:p>
            <a:r>
              <a:rPr lang="en-US"/>
              <a:t>Handles </a:t>
            </a:r>
            <a:r>
              <a:rPr lang="en-US">
                <a:solidFill>
                  <a:srgbClr val="0070C0"/>
                </a:solidFill>
              </a:rPr>
              <a:t>routing, database access, authentication </a:t>
            </a:r>
            <a:r>
              <a:rPr lang="en-US"/>
              <a:t>out of the box</a:t>
            </a:r>
          </a:p>
        </p:txBody>
      </p:sp>
    </p:spTree>
    <p:extLst>
      <p:ext uri="{BB962C8B-B14F-4D97-AF65-F5344CB8AC3E}">
        <p14:creationId xmlns:p14="http://schemas.microsoft.com/office/powerpoint/2010/main" val="1327138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99D28-A674-357D-B336-3FB22493D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1A0B83-38CE-0DFC-C42B-E77B5AA72254}"/>
              </a:ext>
            </a:extLst>
          </p:cNvPr>
          <p:cNvGrpSpPr/>
          <p:nvPr/>
        </p:nvGrpSpPr>
        <p:grpSpPr>
          <a:xfrm>
            <a:off x="196659" y="166739"/>
            <a:ext cx="3200966" cy="510504"/>
            <a:chOff x="100869" y="175489"/>
            <a:chExt cx="2498131" cy="60960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5BFC59-EC36-C06B-709E-0A57F3275F3D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EFD1C2A-7AB6-8225-4C73-586D93E0C839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F1C570E-A625-DB6E-71DC-6A29999F3141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+mn-lt"/>
                  <a:cs typeface="+mn-lt"/>
                </a:rPr>
                <a:t>Backend Architecture</a:t>
              </a:r>
              <a:endParaRPr lang="de-DE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BAA2CD60-170C-CA61-E53D-F78B441FF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34120" y="215247"/>
            <a:ext cx="16271094" cy="707663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2898A7-6E3A-4871-9F08-A4CC33402FB0}"/>
              </a:ext>
            </a:extLst>
          </p:cNvPr>
          <p:cNvSpPr/>
          <p:nvPr/>
        </p:nvSpPr>
        <p:spPr>
          <a:xfrm>
            <a:off x="10808208" y="6099048"/>
            <a:ext cx="1188720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Ports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4B4BE5-8328-F6FD-180B-654D800FA607}"/>
              </a:ext>
            </a:extLst>
          </p:cNvPr>
          <p:cNvSpPr/>
          <p:nvPr/>
        </p:nvSpPr>
        <p:spPr>
          <a:xfrm>
            <a:off x="10808208" y="5529072"/>
            <a:ext cx="1188720" cy="43891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Adapter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5534C9-67DB-0CCF-5734-67F39FA53495}"/>
              </a:ext>
            </a:extLst>
          </p:cNvPr>
          <p:cNvSpPr/>
          <p:nvPr/>
        </p:nvSpPr>
        <p:spPr>
          <a:xfrm>
            <a:off x="10808208" y="4967177"/>
            <a:ext cx="1188720" cy="438912"/>
          </a:xfrm>
          <a:prstGeom prst="roundRect">
            <a:avLst/>
          </a:prstGeom>
          <a:solidFill>
            <a:srgbClr val="008E40"/>
          </a:solidFill>
          <a:ln>
            <a:solidFill>
              <a:srgbClr val="00582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231030470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074FD-88E1-CA38-0BAA-5562F554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5D71380-490B-BD1E-FD5D-FEDCF3BE5329}"/>
              </a:ext>
            </a:extLst>
          </p:cNvPr>
          <p:cNvGrpSpPr/>
          <p:nvPr/>
        </p:nvGrpSpPr>
        <p:grpSpPr>
          <a:xfrm>
            <a:off x="196658" y="166739"/>
            <a:ext cx="4560399" cy="510504"/>
            <a:chOff x="100869" y="175489"/>
            <a:chExt cx="2498131" cy="60960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6AE6D1B-83F6-0F58-65D9-14B93D6BB09D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6455419-F51F-1620-F500-6C800C7A8E10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C2440A1-0FC0-83EA-BE54-46652B78B52C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/>
                <a:t>Hero Data – External API Integration</a:t>
              </a: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DFFBB931-1BD3-6FE8-0244-A707B7CC2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44967" y="-867151"/>
            <a:ext cx="11617933" cy="839324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0B34B9-69D8-E37B-B019-D36B004EB68A}"/>
              </a:ext>
            </a:extLst>
          </p:cNvPr>
          <p:cNvSpPr/>
          <p:nvPr/>
        </p:nvSpPr>
        <p:spPr>
          <a:xfrm>
            <a:off x="10808208" y="6099048"/>
            <a:ext cx="1188720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Ports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C9744D-3FA1-4F5D-67AA-31B9E8FAF6A0}"/>
              </a:ext>
            </a:extLst>
          </p:cNvPr>
          <p:cNvSpPr/>
          <p:nvPr/>
        </p:nvSpPr>
        <p:spPr>
          <a:xfrm>
            <a:off x="10808208" y="5529072"/>
            <a:ext cx="1188720" cy="43891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Adapter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F1E2F2-5090-21F9-1F38-CBE4332E0FF4}"/>
              </a:ext>
            </a:extLst>
          </p:cNvPr>
          <p:cNvSpPr/>
          <p:nvPr/>
        </p:nvSpPr>
        <p:spPr>
          <a:xfrm>
            <a:off x="10808208" y="4967177"/>
            <a:ext cx="1188720" cy="438912"/>
          </a:xfrm>
          <a:prstGeom prst="roundRect">
            <a:avLst/>
          </a:prstGeom>
          <a:solidFill>
            <a:srgbClr val="008E40"/>
          </a:solidFill>
          <a:ln>
            <a:solidFill>
              <a:srgbClr val="00582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19631683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FE986-A3A2-54B0-99E3-E5B024E1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CB40336-B4A4-C42E-8D34-A9484638E040}"/>
              </a:ext>
            </a:extLst>
          </p:cNvPr>
          <p:cNvGrpSpPr/>
          <p:nvPr/>
        </p:nvGrpSpPr>
        <p:grpSpPr>
          <a:xfrm>
            <a:off x="196658" y="166739"/>
            <a:ext cx="4909598" cy="510504"/>
            <a:chOff x="100869" y="175489"/>
            <a:chExt cx="2498131" cy="60960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0A0498A-8976-6CD6-219A-8CFDDBBC72E3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91FAD74-E124-498A-61C0-EBB188F36631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A39B87D-AEE8-CDBA-C905-AA708B5AAA04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/>
                <a:t>Team Composition – Secure CRUD Flow</a:t>
              </a: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01037AB2-29EF-899F-592D-3B6805FFA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95510" y="725751"/>
            <a:ext cx="11851774" cy="652885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177B61-D30B-FDB3-E6AC-BEBE03B3817B}"/>
              </a:ext>
            </a:extLst>
          </p:cNvPr>
          <p:cNvSpPr/>
          <p:nvPr/>
        </p:nvSpPr>
        <p:spPr>
          <a:xfrm>
            <a:off x="10808208" y="6099048"/>
            <a:ext cx="1188720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Ports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562AB2-7772-5221-AE3E-4795A8BD6A75}"/>
              </a:ext>
            </a:extLst>
          </p:cNvPr>
          <p:cNvSpPr/>
          <p:nvPr/>
        </p:nvSpPr>
        <p:spPr>
          <a:xfrm>
            <a:off x="10808208" y="5529072"/>
            <a:ext cx="1188720" cy="43891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Adapter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4C3793-D285-68FB-5E6C-C4416D32BEA2}"/>
              </a:ext>
            </a:extLst>
          </p:cNvPr>
          <p:cNvSpPr/>
          <p:nvPr/>
        </p:nvSpPr>
        <p:spPr>
          <a:xfrm>
            <a:off x="10808208" y="4967177"/>
            <a:ext cx="1188720" cy="438912"/>
          </a:xfrm>
          <a:prstGeom prst="roundRect">
            <a:avLst/>
          </a:prstGeom>
          <a:solidFill>
            <a:srgbClr val="008E40"/>
          </a:solidFill>
          <a:ln>
            <a:solidFill>
              <a:srgbClr val="00582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190295188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FC159-2D87-4CC5-024C-8C0E7E7F9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39" y="815698"/>
            <a:ext cx="4385723" cy="386334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94EF6650-E687-B73D-B501-BB63E45881A3}"/>
              </a:ext>
            </a:extLst>
          </p:cNvPr>
          <p:cNvGrpSpPr/>
          <p:nvPr/>
        </p:nvGrpSpPr>
        <p:grpSpPr>
          <a:xfrm>
            <a:off x="5454505" y="4951235"/>
            <a:ext cx="5881606" cy="1545111"/>
            <a:chOff x="5178280" y="4627089"/>
            <a:chExt cx="5881606" cy="154511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A338395-F157-3B98-C805-CD6C8D593024}"/>
                </a:ext>
              </a:extLst>
            </p:cNvPr>
            <p:cNvSpPr/>
            <p:nvPr/>
          </p:nvSpPr>
          <p:spPr>
            <a:xfrm>
              <a:off x="5178280" y="4627089"/>
              <a:ext cx="5881606" cy="1545111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FCDDAB-F78A-5119-87A7-789A6FD70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9542" y="4643578"/>
              <a:ext cx="1415034" cy="141503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7E98CA-BE3A-F4E5-1DAC-10B644509555}"/>
                </a:ext>
              </a:extLst>
            </p:cNvPr>
            <p:cNvSpPr txBox="1"/>
            <p:nvPr/>
          </p:nvSpPr>
          <p:spPr>
            <a:xfrm>
              <a:off x="7242048" y="4760505"/>
              <a:ext cx="35753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92D050"/>
                  </a:solidFill>
                </a:rPr>
                <a:t>Vitest</a:t>
              </a:r>
              <a:r>
                <a:rPr lang="en-US"/>
                <a:t>: integrated testing framework that works well with Vite + React Testing Library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FAFF8E2-42A1-D58A-6B28-9896317D0A12}"/>
              </a:ext>
            </a:extLst>
          </p:cNvPr>
          <p:cNvGrpSpPr/>
          <p:nvPr/>
        </p:nvGrpSpPr>
        <p:grpSpPr>
          <a:xfrm>
            <a:off x="5454505" y="2742285"/>
            <a:ext cx="5881606" cy="1936753"/>
            <a:chOff x="5178280" y="2452378"/>
            <a:chExt cx="5881606" cy="1936753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8DD843C-4FB8-1900-4B0C-F776D76BBFDF}"/>
                </a:ext>
              </a:extLst>
            </p:cNvPr>
            <p:cNvSpPr/>
            <p:nvPr/>
          </p:nvSpPr>
          <p:spPr>
            <a:xfrm>
              <a:off x="5178280" y="2452378"/>
              <a:ext cx="5881606" cy="1936753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DBE3BA7-DD77-165A-190B-F01B3B5FC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9542" y="2669244"/>
              <a:ext cx="1415034" cy="141503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93FE29-EAC9-1CB3-C52B-A48183722C00}"/>
                </a:ext>
              </a:extLst>
            </p:cNvPr>
            <p:cNvSpPr txBox="1"/>
            <p:nvPr/>
          </p:nvSpPr>
          <p:spPr>
            <a:xfrm>
              <a:off x="7340019" y="2638097"/>
              <a:ext cx="3575304" cy="14773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00B050"/>
                  </a:solidFill>
                </a:rPr>
                <a:t>Django Testing</a:t>
              </a:r>
              <a:r>
                <a:rPr lang="en-US"/>
                <a:t>: </a:t>
              </a:r>
              <a:r>
                <a:rPr lang="en-US">
                  <a:ea typeface="+mn-lt"/>
                  <a:cs typeface="+mn-lt"/>
                </a:rPr>
                <a:t>integrated testing framework with automatic database setup, and full access to Django models and views</a:t>
              </a:r>
              <a:r>
                <a:rPr lang="en-US"/>
                <a:t> 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5A05B2B-798C-D67A-D5AB-5A2813306B16}"/>
              </a:ext>
            </a:extLst>
          </p:cNvPr>
          <p:cNvGrpSpPr/>
          <p:nvPr/>
        </p:nvGrpSpPr>
        <p:grpSpPr>
          <a:xfrm>
            <a:off x="5454505" y="692211"/>
            <a:ext cx="5881605" cy="1779459"/>
            <a:chOff x="5454505" y="692211"/>
            <a:chExt cx="5881605" cy="177945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6714A7C-75B5-7273-B67F-4F410CBCA09C}"/>
                </a:ext>
              </a:extLst>
            </p:cNvPr>
            <p:cNvSpPr/>
            <p:nvPr/>
          </p:nvSpPr>
          <p:spPr>
            <a:xfrm>
              <a:off x="5454505" y="692211"/>
              <a:ext cx="5881605" cy="177945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A8E082-B358-C36B-4CDD-BE8ADD079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5766" y="874423"/>
              <a:ext cx="1415034" cy="141503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D7C4107-49FE-93BF-03DE-7B596BC9E621}"/>
                </a:ext>
              </a:extLst>
            </p:cNvPr>
            <p:cNvSpPr txBox="1"/>
            <p:nvPr/>
          </p:nvSpPr>
          <p:spPr>
            <a:xfrm>
              <a:off x="7609997" y="873171"/>
              <a:ext cx="3575304" cy="14773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accent5">
                      <a:lumMod val="75000"/>
                    </a:schemeClr>
                  </a:solidFill>
                </a:rPr>
                <a:t>Playwright</a:t>
              </a:r>
              <a:r>
                <a:rPr lang="en-US"/>
                <a:t>: </a:t>
              </a:r>
              <a:r>
                <a:rPr lang="en-US">
                  <a:ea typeface="+mn-lt"/>
                  <a:cs typeface="+mn-lt"/>
                </a:rPr>
                <a:t>tests the complete application by automating user interactions in a real browser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E267646-CF4C-F37F-487E-B291C8241136}"/>
              </a:ext>
            </a:extLst>
          </p:cNvPr>
          <p:cNvGrpSpPr/>
          <p:nvPr/>
        </p:nvGrpSpPr>
        <p:grpSpPr>
          <a:xfrm>
            <a:off x="834385" y="4805090"/>
            <a:ext cx="4084896" cy="1789486"/>
            <a:chOff x="834385" y="4805090"/>
            <a:chExt cx="4084896" cy="178948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6E3996E-0C3C-53D0-84D2-58E2A2AFDC90}"/>
                </a:ext>
              </a:extLst>
            </p:cNvPr>
            <p:cNvSpPr/>
            <p:nvPr/>
          </p:nvSpPr>
          <p:spPr>
            <a:xfrm>
              <a:off x="834385" y="4805090"/>
              <a:ext cx="3963629" cy="1759450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498DEE4-3954-124D-1927-62B662171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9241" y="4835126"/>
              <a:ext cx="1759450" cy="175945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BE64A4-EB99-D6FA-9170-412E73BF2FE8}"/>
                </a:ext>
              </a:extLst>
            </p:cNvPr>
            <p:cNvSpPr txBox="1"/>
            <p:nvPr/>
          </p:nvSpPr>
          <p:spPr>
            <a:xfrm>
              <a:off x="1343977" y="5517532"/>
              <a:ext cx="357530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Static Analysis via </a:t>
              </a:r>
              <a:r>
                <a:rPr lang="en-US">
                  <a:solidFill>
                    <a:schemeClr val="accent2"/>
                  </a:solidFill>
                </a:rPr>
                <a:t>SonarQube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7AAE15-65ED-A2A1-DC0E-E1855B70ED5D}"/>
              </a:ext>
            </a:extLst>
          </p:cNvPr>
          <p:cNvGrpSpPr/>
          <p:nvPr/>
        </p:nvGrpSpPr>
        <p:grpSpPr>
          <a:xfrm>
            <a:off x="270963" y="282263"/>
            <a:ext cx="3003742" cy="510504"/>
            <a:chOff x="100869" y="175489"/>
            <a:chExt cx="2498131" cy="609604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35B677E-556D-CA12-FB3B-D39C2A0D7BFB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B5A298-0ABC-5283-1AA7-7B61F6687AC2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667F068-49A6-EB14-2679-5C142EEF4A82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Testing Tools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31275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81B5522-2129-A809-A5AE-083D24AC36DC}"/>
              </a:ext>
            </a:extLst>
          </p:cNvPr>
          <p:cNvGrpSpPr/>
          <p:nvPr/>
        </p:nvGrpSpPr>
        <p:grpSpPr>
          <a:xfrm>
            <a:off x="270963" y="282263"/>
            <a:ext cx="3003742" cy="510504"/>
            <a:chOff x="100869" y="175489"/>
            <a:chExt cx="2498131" cy="60960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E39FA50-27E2-C752-708B-07538FF7946D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52AC505-B28D-4695-9312-8B5D78DC4CAB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397645C-5D54-85E3-D711-AACEB0BA92FD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Testing Levels</a:t>
              </a:r>
            </a:p>
          </p:txBody>
        </p:sp>
      </p:grpSp>
      <p:pic>
        <p:nvPicPr>
          <p:cNvPr id="2" name="Grafik 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9C03F2F-525B-3271-D123-5F638813A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102" y="1206708"/>
            <a:ext cx="8364044" cy="5144125"/>
          </a:xfrm>
          <a:prstGeom prst="roundRect">
            <a:avLst>
              <a:gd name="adj" fmla="val 1913"/>
            </a:avLst>
          </a:prstGeom>
        </p:spPr>
      </p:pic>
    </p:spTree>
    <p:extLst>
      <p:ext uri="{BB962C8B-B14F-4D97-AF65-F5344CB8AC3E}">
        <p14:creationId xmlns:p14="http://schemas.microsoft.com/office/powerpoint/2010/main" val="145872323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DFC8C-B355-FD96-0BA9-42F83FA9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CD41657F-767A-E589-8582-B04F052FA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03" r="49616"/>
          <a:stretch>
            <a:fillRect/>
          </a:stretch>
        </p:blipFill>
        <p:spPr>
          <a:xfrm>
            <a:off x="4092472" y="950613"/>
            <a:ext cx="2464617" cy="2185807"/>
          </a:xfrm>
          <a:prstGeom prst="roundRect">
            <a:avLst>
              <a:gd name="adj" fmla="val 8616"/>
            </a:avLst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7691EE8-D213-4C55-7911-114FC0CCAB5A}"/>
              </a:ext>
            </a:extLst>
          </p:cNvPr>
          <p:cNvGrpSpPr/>
          <p:nvPr/>
        </p:nvGrpSpPr>
        <p:grpSpPr>
          <a:xfrm>
            <a:off x="359448" y="328697"/>
            <a:ext cx="3261132" cy="510504"/>
            <a:chOff x="100869" y="175489"/>
            <a:chExt cx="2498131" cy="60960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2AC005-9DBB-1983-0114-A14CCE3D2E3B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8D5CFA6-EDB8-944C-1A07-2A8AEDE1B441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97FA10B-5A75-3169-2D9D-3E46A297A2AF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SonarCloud &amp; CI Pipeline</a:t>
              </a:r>
              <a:endParaRPr lang="de-DE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E9D11F-643A-719B-6BF9-7EADCB8DC6DF}"/>
              </a:ext>
            </a:extLst>
          </p:cNvPr>
          <p:cNvSpPr/>
          <p:nvPr/>
        </p:nvSpPr>
        <p:spPr>
          <a:xfrm>
            <a:off x="1107436" y="1282718"/>
            <a:ext cx="2513145" cy="557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1. Push/ Pull Request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F50DD1-7A8D-78FD-7104-4BDAA2EFA5CC}"/>
              </a:ext>
            </a:extLst>
          </p:cNvPr>
          <p:cNvSpPr/>
          <p:nvPr/>
        </p:nvSpPr>
        <p:spPr>
          <a:xfrm>
            <a:off x="1107435" y="1974414"/>
            <a:ext cx="2513145" cy="55738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2. Static Checks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D6C6DF-D6AB-4C9F-F883-C6AD1172C6F7}"/>
              </a:ext>
            </a:extLst>
          </p:cNvPr>
          <p:cNvSpPr/>
          <p:nvPr/>
        </p:nvSpPr>
        <p:spPr>
          <a:xfrm>
            <a:off x="1107435" y="2681602"/>
            <a:ext cx="2513145" cy="55738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3. Architecture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1D44CC-24FD-9112-7640-E568F91E2BAA}"/>
              </a:ext>
            </a:extLst>
          </p:cNvPr>
          <p:cNvSpPr/>
          <p:nvPr/>
        </p:nvSpPr>
        <p:spPr>
          <a:xfrm>
            <a:off x="1107435" y="3361811"/>
            <a:ext cx="2513145" cy="55738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4. Tests &amp; Coverage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D48406-39CA-8E45-8C1F-921F6C3536E9}"/>
              </a:ext>
            </a:extLst>
          </p:cNvPr>
          <p:cNvSpPr/>
          <p:nvPr/>
        </p:nvSpPr>
        <p:spPr>
          <a:xfrm>
            <a:off x="1107435" y="4042020"/>
            <a:ext cx="2513145" cy="55738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5. Build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7987C4-B32B-8815-7839-B1DEF8BF437D}"/>
              </a:ext>
            </a:extLst>
          </p:cNvPr>
          <p:cNvSpPr/>
          <p:nvPr/>
        </p:nvSpPr>
        <p:spPr>
          <a:xfrm>
            <a:off x="1107435" y="4722229"/>
            <a:ext cx="2513145" cy="55738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6. E2E Tests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536466-CFE0-438A-0A57-F3DA42C01667}"/>
              </a:ext>
            </a:extLst>
          </p:cNvPr>
          <p:cNvSpPr/>
          <p:nvPr/>
        </p:nvSpPr>
        <p:spPr>
          <a:xfrm>
            <a:off x="1107435" y="5392848"/>
            <a:ext cx="2513145" cy="673857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7. SonarCloud Quality Gate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7F0FC84F-B0FF-389F-E423-EA154635DFD9}"/>
              </a:ext>
            </a:extLst>
          </p:cNvPr>
          <p:cNvSpPr/>
          <p:nvPr/>
        </p:nvSpPr>
        <p:spPr>
          <a:xfrm>
            <a:off x="123123" y="1167506"/>
            <a:ext cx="810703" cy="48991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45720" rIns="91440" bIns="45720" rtlCol="0" anchor="ctr"/>
          <a:lstStyle/>
          <a:p>
            <a:pPr algn="ctr"/>
            <a:r>
              <a:rPr lang="de-DE" err="1">
                <a:ea typeface="+mn-lt"/>
                <a:cs typeface="+mn-lt"/>
              </a:rPr>
              <a:t>CI Pipeline</a:t>
            </a:r>
            <a:endParaRPr lang="en-US" err="1"/>
          </a:p>
        </p:txBody>
      </p:sp>
      <p:pic>
        <p:nvPicPr>
          <p:cNvPr id="20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342E05C4-9EEA-5F74-A238-97BEEA3E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16"/>
          <a:stretch>
            <a:fillRect/>
          </a:stretch>
        </p:blipFill>
        <p:spPr>
          <a:xfrm>
            <a:off x="6680188" y="933199"/>
            <a:ext cx="5010561" cy="2203222"/>
          </a:xfrm>
          <a:prstGeom prst="roundRect">
            <a:avLst>
              <a:gd name="adj" fmla="val 6315"/>
            </a:avLst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52B577-EDE8-ED4B-F6A9-F48591920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188" y="3300911"/>
            <a:ext cx="2399377" cy="2935501"/>
          </a:xfrm>
          <a:prstGeom prst="roundRect">
            <a:avLst>
              <a:gd name="adj" fmla="val 6993"/>
            </a:avLst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FA3806-7B5D-E686-6F30-0CF688711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876" y="3281919"/>
            <a:ext cx="2398873" cy="2954493"/>
          </a:xfrm>
          <a:prstGeom prst="roundRect">
            <a:avLst>
              <a:gd name="adj" fmla="val 4447"/>
            </a:avLst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796888F-723C-E81D-EBA9-B6E031EA7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472" y="3281920"/>
            <a:ext cx="2398873" cy="2954493"/>
          </a:xfrm>
          <a:prstGeom prst="roundRect">
            <a:avLst>
              <a:gd name="adj" fmla="val 7064"/>
            </a:avLst>
          </a:prstGeom>
        </p:spPr>
      </p:pic>
    </p:spTree>
    <p:extLst>
      <p:ext uri="{BB962C8B-B14F-4D97-AF65-F5344CB8AC3E}">
        <p14:creationId xmlns:p14="http://schemas.microsoft.com/office/powerpoint/2010/main" val="9375225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C1252-6573-8341-2313-BD778C77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DF73AA-2221-C83B-9C79-637C6994861F}"/>
              </a:ext>
            </a:extLst>
          </p:cNvPr>
          <p:cNvGrpSpPr/>
          <p:nvPr/>
        </p:nvGrpSpPr>
        <p:grpSpPr>
          <a:xfrm>
            <a:off x="343208" y="860672"/>
            <a:ext cx="1706838" cy="1706838"/>
            <a:chOff x="1431267" y="3429000"/>
            <a:chExt cx="1706838" cy="17068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A64E63C-0291-9AD5-6E70-64DD2373E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1267" y="3429000"/>
              <a:ext cx="1706838" cy="170683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6C8013-531D-F28F-EA65-BF1AFB645829}"/>
                </a:ext>
              </a:extLst>
            </p:cNvPr>
            <p:cNvSpPr txBox="1"/>
            <p:nvPr/>
          </p:nvSpPr>
          <p:spPr>
            <a:xfrm>
              <a:off x="1865251" y="3931544"/>
              <a:ext cx="9557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Fabian</a:t>
              </a:r>
            </a:p>
            <a:p>
              <a:r>
                <a:rPr lang="en-US"/>
                <a:t>Reinelt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EEB5AF5-951B-54E6-0AB2-68468B1CB1D6}"/>
              </a:ext>
            </a:extLst>
          </p:cNvPr>
          <p:cNvGrpSpPr/>
          <p:nvPr/>
        </p:nvGrpSpPr>
        <p:grpSpPr>
          <a:xfrm>
            <a:off x="343208" y="2817198"/>
            <a:ext cx="1706838" cy="1706838"/>
            <a:chOff x="3467301" y="3429000"/>
            <a:chExt cx="1706838" cy="17068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660B64-AE95-8CC2-1B1D-DB1A098CF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301" y="3429000"/>
              <a:ext cx="1706838" cy="170683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1F1F359-D972-5735-A56E-B3EA58AE9288}"/>
                </a:ext>
              </a:extLst>
            </p:cNvPr>
            <p:cNvSpPr txBox="1"/>
            <p:nvPr/>
          </p:nvSpPr>
          <p:spPr>
            <a:xfrm>
              <a:off x="3742806" y="3783808"/>
              <a:ext cx="12698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Leonardo</a:t>
              </a:r>
            </a:p>
            <a:p>
              <a:pPr algn="ctr"/>
              <a:r>
                <a:rPr lang="en-US"/>
                <a:t>Kharraz</a:t>
              </a:r>
            </a:p>
            <a:p>
              <a:pPr algn="ctr"/>
              <a:r>
                <a:rPr lang="en-US"/>
                <a:t>Tavakol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5734DB-0D85-F95E-03B7-EE1B25E16AB3}"/>
              </a:ext>
            </a:extLst>
          </p:cNvPr>
          <p:cNvGrpSpPr/>
          <p:nvPr/>
        </p:nvGrpSpPr>
        <p:grpSpPr>
          <a:xfrm>
            <a:off x="343207" y="4773724"/>
            <a:ext cx="1706839" cy="1706839"/>
            <a:chOff x="5492635" y="3428999"/>
            <a:chExt cx="1706839" cy="170683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89B5611-3A0D-1078-2AC9-38BF5414E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2635" y="3428999"/>
              <a:ext cx="1706839" cy="170683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536BDC-B8DB-E2B1-DF10-D99ACC336BBC}"/>
                </a:ext>
              </a:extLst>
            </p:cNvPr>
            <p:cNvSpPr txBox="1"/>
            <p:nvPr/>
          </p:nvSpPr>
          <p:spPr>
            <a:xfrm>
              <a:off x="5941840" y="3758775"/>
              <a:ext cx="93647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Julia</a:t>
              </a:r>
            </a:p>
            <a:p>
              <a:pPr algn="ctr"/>
              <a:r>
                <a:rPr lang="en-US"/>
                <a:t>Ihren- </a:t>
              </a:r>
            </a:p>
            <a:p>
              <a:pPr algn="ctr"/>
              <a:r>
                <a:rPr lang="en-US"/>
                <a:t>berger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DB7872-D6B1-384C-7500-3DE4BA9B6587}"/>
              </a:ext>
            </a:extLst>
          </p:cNvPr>
          <p:cNvGrpSpPr/>
          <p:nvPr/>
        </p:nvGrpSpPr>
        <p:grpSpPr>
          <a:xfrm>
            <a:off x="148493" y="161965"/>
            <a:ext cx="2376993" cy="517238"/>
            <a:chOff x="100869" y="175489"/>
            <a:chExt cx="2498131" cy="60960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2F22F03-5E20-2097-B05B-CBC092EE9993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5037A3A-023B-D8AE-4656-1D6BECBFBDF6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7C7416C-FE6E-325D-0D76-97810C3C5369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Post-Mortem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A53F26-D3C7-83D7-EEF7-D98E9ECF2F83}"/>
              </a:ext>
            </a:extLst>
          </p:cNvPr>
          <p:cNvSpPr/>
          <p:nvPr/>
        </p:nvSpPr>
        <p:spPr>
          <a:xfrm>
            <a:off x="3022908" y="4792609"/>
            <a:ext cx="7862805" cy="154511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sehr viel zu Frontend Development gelernt (React, Vite, Typescript)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Erfahrung mit Testing Tools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26D43CF-4225-6D6A-8355-D607E82A7AB5}"/>
              </a:ext>
            </a:extLst>
          </p:cNvPr>
          <p:cNvSpPr/>
          <p:nvPr/>
        </p:nvSpPr>
        <p:spPr>
          <a:xfrm>
            <a:off x="3022908" y="2861115"/>
            <a:ext cx="7862805" cy="154511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Python </a:t>
            </a:r>
            <a:r>
              <a:rPr lang="en-US" err="1"/>
              <a:t>Programmierung</a:t>
            </a:r>
            <a:r>
              <a:rPr lang="en-US"/>
              <a:t> und </a:t>
            </a:r>
            <a:r>
              <a:rPr lang="en-US" err="1"/>
              <a:t>Aufsetzen</a:t>
            </a:r>
            <a:r>
              <a:rPr lang="en-US"/>
              <a:t> </a:t>
            </a:r>
            <a:r>
              <a:rPr lang="en-US" err="1"/>
              <a:t>eines</a:t>
            </a:r>
            <a:r>
              <a:rPr lang="en-US"/>
              <a:t> Backends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Integration-Tests &amp; </a:t>
            </a:r>
            <a:r>
              <a:rPr lang="en-US" err="1"/>
              <a:t>ausfallsicherere</a:t>
            </a:r>
            <a:r>
              <a:rPr lang="en-US"/>
              <a:t> </a:t>
            </a:r>
            <a:r>
              <a:rPr lang="en-US" err="1"/>
              <a:t>Anbindung</a:t>
            </a:r>
            <a:r>
              <a:rPr lang="en-US"/>
              <a:t> </a:t>
            </a:r>
            <a:r>
              <a:rPr lang="en-US" err="1"/>
              <a:t>einer</a:t>
            </a:r>
            <a:r>
              <a:rPr lang="en-US"/>
              <a:t> </a:t>
            </a:r>
            <a:r>
              <a:rPr lang="en-US" err="1"/>
              <a:t>externen</a:t>
            </a:r>
            <a:r>
              <a:rPr lang="en-US"/>
              <a:t> API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39D9A85-D7C7-BE1D-C2F4-7D07D75010AA}"/>
              </a:ext>
            </a:extLst>
          </p:cNvPr>
          <p:cNvSpPr/>
          <p:nvPr/>
        </p:nvSpPr>
        <p:spPr>
          <a:xfrm>
            <a:off x="3022908" y="913825"/>
            <a:ext cx="7862805" cy="154511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Umfassende</a:t>
            </a:r>
            <a:r>
              <a:rPr lang="en-US"/>
              <a:t> </a:t>
            </a:r>
            <a:r>
              <a:rPr lang="en-US" err="1"/>
              <a:t>Teststrategie</a:t>
            </a:r>
            <a:r>
              <a:rPr lang="en-US"/>
              <a:t> </a:t>
            </a:r>
            <a:r>
              <a:rPr lang="en-US" err="1"/>
              <a:t>selbst</a:t>
            </a:r>
            <a:r>
              <a:rPr lang="en-US"/>
              <a:t> </a:t>
            </a:r>
            <a:r>
              <a:rPr lang="en-US" err="1"/>
              <a:t>umgesetzt</a:t>
            </a:r>
            <a:endParaRPr lang="de-DE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Erfahrung</a:t>
            </a:r>
            <a:r>
              <a:rPr lang="en-US"/>
              <a:t> </a:t>
            </a:r>
            <a:r>
              <a:rPr lang="en-US" err="1"/>
              <a:t>mit</a:t>
            </a:r>
            <a:r>
              <a:rPr lang="en-US"/>
              <a:t> Projekt-Setup und Tool-Integration </a:t>
            </a:r>
            <a:r>
              <a:rPr lang="en-US" err="1"/>
              <a:t>gesammelt</a:t>
            </a:r>
          </a:p>
        </p:txBody>
      </p:sp>
    </p:spTree>
    <p:extLst>
      <p:ext uri="{BB962C8B-B14F-4D97-AF65-F5344CB8AC3E}">
        <p14:creationId xmlns:p14="http://schemas.microsoft.com/office/powerpoint/2010/main" val="2900159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C46D7-460E-49A9-EAE5-5AD992EF0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468AB3-6FE2-00AE-9111-AB3801E1EDA8}"/>
              </a:ext>
            </a:extLst>
          </p:cNvPr>
          <p:cNvSpPr/>
          <p:nvPr/>
        </p:nvSpPr>
        <p:spPr>
          <a:xfrm>
            <a:off x="251011" y="1039906"/>
            <a:ext cx="11689977" cy="5334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FC4F3-683F-21ED-FF15-2B8F27FA792F}"/>
              </a:ext>
            </a:extLst>
          </p:cNvPr>
          <p:cNvSpPr txBox="1"/>
          <p:nvPr/>
        </p:nvSpPr>
        <p:spPr>
          <a:xfrm>
            <a:off x="641926" y="1567859"/>
            <a:ext cx="10908145" cy="42780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Character Selection: </a:t>
            </a:r>
            <a:r>
              <a:rPr lang="en-US" sz="1600">
                <a:hlinkClick r:id="rId3"/>
              </a:rPr>
              <a:t>https://interfaceingame.com/screenshots/overwatch-2-character-selection/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King’s Row Screencap: </a:t>
            </a:r>
            <a:r>
              <a:rPr lang="en-US" sz="1600">
                <a:hlinkClick r:id="rId4"/>
              </a:rPr>
              <a:t>https://overwatch.fandom.com/wiki/King%27s_Row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Mizuki Overview: </a:t>
            </a:r>
            <a:r>
              <a:rPr lang="en-US" sz="1600">
                <a:hlinkClick r:id="rId5"/>
              </a:rPr>
              <a:t>https://overwatch.fandom.com/wiki/Mizuki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Title Splash Art: </a:t>
            </a:r>
            <a:r>
              <a:rPr lang="en-US" sz="1600">
                <a:hlinkClick r:id="rId6"/>
              </a:rPr>
              <a:t>https://esports.gg/news/overwatch/overwatch-conquest-event-grants-over-90-loot-boxes/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Team Overview: </a:t>
            </a:r>
            <a:r>
              <a:rPr lang="en-US" sz="1600">
                <a:hlinkClick r:id="rId7"/>
              </a:rPr>
              <a:t>https://overwatch.blizzard.com/en-gb/news/23857518/initializing-systems-updating-competitive-play-for-overwatch-2/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Django Logo: </a:t>
            </a:r>
            <a:r>
              <a:rPr lang="en-US" sz="1600">
                <a:hlinkClick r:id="rId8"/>
              </a:rPr>
              <a:t>https://www.svgrepo.com/svg/353657/django-icon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Docker Logo: </a:t>
            </a:r>
            <a:r>
              <a:rPr lang="en-US" sz="1600">
                <a:hlinkClick r:id="rId9"/>
              </a:rPr>
              <a:t>https://techicons.dev/icons/docker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Playwright Logo: </a:t>
            </a:r>
            <a:r>
              <a:rPr lang="en-US" sz="1600">
                <a:hlinkClick r:id="rId10"/>
              </a:rPr>
              <a:t>https://techicons.dev/icons/playwright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PostgreSQL Logo: </a:t>
            </a:r>
            <a:r>
              <a:rPr lang="en-US" sz="1600">
                <a:hlinkClick r:id="rId11"/>
              </a:rPr>
              <a:t>https://techicons.dev/icons/postgresql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Python Logo: </a:t>
            </a:r>
            <a:r>
              <a:rPr lang="en-US" sz="1600">
                <a:hlinkClick r:id="rId12"/>
              </a:rPr>
              <a:t>https://techicons.dev/icons/python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React Logo: </a:t>
            </a:r>
            <a:r>
              <a:rPr lang="en-US" sz="1600">
                <a:hlinkClick r:id="rId13"/>
              </a:rPr>
              <a:t>https://techicons.dev/icons/react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SonarQube Logo: </a:t>
            </a:r>
            <a:r>
              <a:rPr lang="en-US" sz="1600">
                <a:hlinkClick r:id="rId14"/>
              </a:rPr>
              <a:t>https://techicons.dev/icons/sonarqube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SonarQube Logo: </a:t>
            </a:r>
            <a:r>
              <a:rPr lang="en-US" sz="1600">
                <a:hlinkClick r:id="rId14"/>
              </a:rPr>
              <a:t>https://techicons.dev/icons/sonarqube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Typescript Logo: </a:t>
            </a:r>
            <a:r>
              <a:rPr lang="en-US" sz="1600">
                <a:hlinkClick r:id="rId15"/>
              </a:rPr>
              <a:t>https://techicons.dev/icons/typescript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/>
              <a:t>Vitest</a:t>
            </a:r>
            <a:r>
              <a:rPr lang="en-US" sz="1600"/>
              <a:t> Logo: </a:t>
            </a:r>
            <a:r>
              <a:rPr lang="en-US" sz="1600">
                <a:hlinkClick r:id="rId16"/>
              </a:rPr>
              <a:t>https://www.streamlinehq.com/icons/download/vitest--31103</a:t>
            </a:r>
            <a:endParaRPr lang="en-US" sz="16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435E6E-3E88-5B64-DAFB-26FA35E28D3C}"/>
              </a:ext>
            </a:extLst>
          </p:cNvPr>
          <p:cNvGrpSpPr/>
          <p:nvPr/>
        </p:nvGrpSpPr>
        <p:grpSpPr>
          <a:xfrm>
            <a:off x="270963" y="282263"/>
            <a:ext cx="3003742" cy="510504"/>
            <a:chOff x="100869" y="175489"/>
            <a:chExt cx="2498131" cy="60960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1A5710D-A353-AF25-16AD-86C152947429}"/>
                </a:ext>
              </a:extLst>
            </p:cNvPr>
            <p:cNvSpPr/>
            <p:nvPr/>
          </p:nvSpPr>
          <p:spPr>
            <a:xfrm>
              <a:off x="100869" y="175489"/>
              <a:ext cx="2447329" cy="489528"/>
            </a:xfrm>
            <a:prstGeom prst="roundRect">
              <a:avLst>
                <a:gd name="adj" fmla="val 2919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59FF7C0-DEA4-C370-907E-552B867AD4FE}"/>
                </a:ext>
              </a:extLst>
            </p:cNvPr>
            <p:cNvSpPr/>
            <p:nvPr/>
          </p:nvSpPr>
          <p:spPr>
            <a:xfrm>
              <a:off x="170143" y="295565"/>
              <a:ext cx="2428857" cy="489528"/>
            </a:xfrm>
            <a:prstGeom prst="roundRect">
              <a:avLst>
                <a:gd name="adj" fmla="val 29193"/>
              </a:avLst>
            </a:prstGeom>
            <a:solidFill>
              <a:srgbClr val="00B0F0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A545313-CDD3-F46E-94D0-8DF41C1EA488}"/>
                </a:ext>
              </a:extLst>
            </p:cNvPr>
            <p:cNvSpPr/>
            <p:nvPr/>
          </p:nvSpPr>
          <p:spPr>
            <a:xfrm>
              <a:off x="170143" y="233413"/>
              <a:ext cx="2378056" cy="489528"/>
            </a:xfrm>
            <a:prstGeom prst="roundRect">
              <a:avLst>
                <a:gd name="adj" fmla="val 29193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Image Sources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81314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77BD-68A5-0E5E-F84E-C8503C74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Overwatch: Jetzt auf Xbox erhältlich | Xbox">
            <a:extLst>
              <a:ext uri="{FF2B5EF4-FFF2-40B4-BE49-F238E27FC236}">
                <a16:creationId xmlns:a16="http://schemas.microsoft.com/office/drawing/2014/main" id="{87B17662-245E-74E3-0282-7671B25E71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7236" t="21618" r="16308" b="1192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F73669A-01EF-BE1C-46A0-B2D1482D57E4}"/>
              </a:ext>
            </a:extLst>
          </p:cNvPr>
          <p:cNvGrpSpPr/>
          <p:nvPr/>
        </p:nvGrpSpPr>
        <p:grpSpPr>
          <a:xfrm>
            <a:off x="2988613" y="1719626"/>
            <a:ext cx="6214773" cy="3418746"/>
            <a:chOff x="2918404" y="1468312"/>
            <a:chExt cx="6214773" cy="3418746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3C7C6B6-CDBF-CB6F-D30F-E99C90827BA3}"/>
                </a:ext>
              </a:extLst>
            </p:cNvPr>
            <p:cNvSpPr/>
            <p:nvPr/>
          </p:nvSpPr>
          <p:spPr>
            <a:xfrm>
              <a:off x="2918404" y="1468312"/>
              <a:ext cx="5997718" cy="3201692"/>
            </a:xfrm>
            <a:prstGeom prst="roundRect">
              <a:avLst>
                <a:gd name="adj" fmla="val 6551"/>
              </a:avLst>
            </a:prstGeom>
            <a:solidFill>
              <a:schemeClr val="accent6"/>
            </a:solidFill>
            <a:ln>
              <a:solidFill>
                <a:srgbClr val="21212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FFF901B-51AD-C899-D242-AB64F280D4FB}"/>
                </a:ext>
              </a:extLst>
            </p:cNvPr>
            <p:cNvSpPr/>
            <p:nvPr/>
          </p:nvSpPr>
          <p:spPr>
            <a:xfrm>
              <a:off x="3135459" y="1685366"/>
              <a:ext cx="5997718" cy="3201692"/>
            </a:xfrm>
            <a:prstGeom prst="roundRect">
              <a:avLst>
                <a:gd name="adj" fmla="val 6551"/>
              </a:avLst>
            </a:prstGeom>
            <a:solidFill>
              <a:srgbClr val="00B0F0"/>
            </a:solidFill>
            <a:ln>
              <a:solidFill>
                <a:srgbClr val="21212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FB68E37-100A-BB09-4634-89213CF3D63B}"/>
                </a:ext>
              </a:extLst>
            </p:cNvPr>
            <p:cNvSpPr/>
            <p:nvPr/>
          </p:nvSpPr>
          <p:spPr>
            <a:xfrm>
              <a:off x="3038475" y="1588382"/>
              <a:ext cx="5997718" cy="3201692"/>
            </a:xfrm>
            <a:prstGeom prst="roundRect">
              <a:avLst>
                <a:gd name="adj" fmla="val 6551"/>
              </a:avLst>
            </a:prstGeom>
            <a:solidFill>
              <a:srgbClr val="212121"/>
            </a:solidFill>
            <a:ln>
              <a:solidFill>
                <a:srgbClr val="21212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A96D013E-D973-052B-3D17-04289B0EE3EB}"/>
                </a:ext>
              </a:extLst>
            </p:cNvPr>
            <p:cNvSpPr txBox="1">
              <a:spLocks/>
            </p:cNvSpPr>
            <p:nvPr/>
          </p:nvSpPr>
          <p:spPr>
            <a:xfrm>
              <a:off x="3294353" y="3919303"/>
              <a:ext cx="5603293" cy="530521"/>
            </a:xfrm>
            <a:prstGeom prst="rect">
              <a:avLst/>
            </a:prstGeom>
            <a:effectLst>
              <a:outerShdw blurRad="50800" dir="14400000">
                <a:srgbClr val="000000">
                  <a:alpha val="40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800" kern="1200">
                  <a:solidFill>
                    <a:schemeClr val="tx1"/>
                  </a:solidFill>
                  <a:latin typeface="Cascadia Code" panose="020B0609020000020004" pitchFamily="49" charset="0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Cascadia Code" panose="020B0609020000020004" pitchFamily="49" charset="0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Cascadia Code" panose="020B0609020000020004" pitchFamily="49" charset="0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200" kern="1200">
                  <a:solidFill>
                    <a:schemeClr val="tx1">
                      <a:tint val="75000"/>
                    </a:schemeClr>
                  </a:solidFill>
                  <a:latin typeface="Cascadia Code" panose="020B0609020000020004" pitchFamily="49" charset="0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200" kern="1200">
                  <a:solidFill>
                    <a:schemeClr val="tx1">
                      <a:tint val="75000"/>
                    </a:schemeClr>
                  </a:solidFill>
                  <a:latin typeface="Cascadia Code" panose="020B0609020000020004" pitchFamily="49" charset="0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Font typeface="Wingdings 2" charset="2"/>
                <a:buNone/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/>
                <a:t>Thanks for listening!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0B86CE-7E74-6E67-0EBD-B0899EB7F8F3}"/>
                </a:ext>
              </a:extLst>
            </p:cNvPr>
            <p:cNvGrpSpPr/>
            <p:nvPr/>
          </p:nvGrpSpPr>
          <p:grpSpPr>
            <a:xfrm>
              <a:off x="3513099" y="1972682"/>
              <a:ext cx="5165801" cy="1491672"/>
              <a:chOff x="3176869" y="1823697"/>
              <a:chExt cx="5836237" cy="1613316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A8FBF06-EF2A-B144-A095-96C288B89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000"/>
              <a:stretch>
                <a:fillRect/>
              </a:stretch>
            </p:blipFill>
            <p:spPr>
              <a:xfrm>
                <a:off x="3409812" y="1823697"/>
                <a:ext cx="5603294" cy="806658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0CC1A77-4234-B41D-B1B1-591160781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00"/>
              <a:stretch>
                <a:fillRect/>
              </a:stretch>
            </p:blipFill>
            <p:spPr>
              <a:xfrm>
                <a:off x="3176869" y="2630355"/>
                <a:ext cx="5603293" cy="80665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0071808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0</TotalTime>
  <Words>1091</Words>
  <Application>Microsoft Office PowerPoint</Application>
  <PresentationFormat>Widescreen</PresentationFormat>
  <Paragraphs>197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Agency FB</vt:lpstr>
      <vt:lpstr>Aptos</vt:lpstr>
      <vt:lpstr>Arial</vt:lpstr>
      <vt:lpstr>Calibri</vt:lpstr>
      <vt:lpstr>Cascadia Code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Julia I.</cp:lastModifiedBy>
  <cp:revision>1</cp:revision>
  <dcterms:created xsi:type="dcterms:W3CDTF">2025-03-21T16:11:25Z</dcterms:created>
  <dcterms:modified xsi:type="dcterms:W3CDTF">2026-06-22T21:28:56Z</dcterms:modified>
</cp:coreProperties>
</file>