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5"/>
  </p:notesMasterIdLst>
  <p:sldIdLst>
    <p:sldId id="302" r:id="rId2"/>
    <p:sldId id="256" r:id="rId3"/>
    <p:sldId id="294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8E6D"/>
    <a:srgbClr val="00AAE6"/>
    <a:srgbClr val="212121"/>
    <a:srgbClr val="EB8F91"/>
    <a:srgbClr val="A17CB6"/>
    <a:srgbClr val="C46EB2"/>
    <a:srgbClr val="C96994"/>
    <a:srgbClr val="D01E62"/>
    <a:srgbClr val="825FAD"/>
    <a:srgbClr val="8664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943" autoAdjust="0"/>
  </p:normalViewPr>
  <p:slideViewPr>
    <p:cSldViewPr snapToGrid="0">
      <p:cViewPr varScale="1">
        <p:scale>
          <a:sx n="104" d="100"/>
          <a:sy n="104" d="100"/>
        </p:scale>
        <p:origin x="87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3DAD76-3859-4D52-8B81-C27FCE0A7D18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D61062-E9D8-4DAB-8118-1CF0D558F9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990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36126-EF57-F334-2A2C-B38B0AC12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5B86D-8D9B-FDC7-85EA-EE6D3D483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F71E6-A417-9636-9295-CEDAE34A6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EFFD6-BE77-DFCA-C1BA-36E4F13FCC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547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D61062-E9D8-4DAB-8118-1CF0D558F9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279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56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67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15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570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819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995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7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911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942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>
                <a:latin typeface="Cascadia Code" panose="020B0609020000020004" pitchFamily="49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584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5873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19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545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BD348-92FB-45D5-94E3-8A197772B7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A7E34D-6B37-4BA6-A354-C6C091B43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090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Cascadia Code" panose="020B0609020000020004" pitchFamily="49" charset="0"/>
              </a:defRPr>
            </a:lvl1pPr>
          </a:lstStyle>
          <a:p>
            <a:fld id="{740BD348-92FB-45D5-94E3-8A197772B7D9}" type="datetimeFigureOut">
              <a:rPr lang="en-US" smtClean="0"/>
              <a:pPr/>
              <a:t>6/20/2026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  <a:latin typeface="Cascadia Code" panose="020B0609020000020004" pitchFamily="49" charset="0"/>
              </a:defRPr>
            </a:lvl1pPr>
          </a:lstStyle>
          <a:p>
            <a:fld id="{05A7E34D-6B37-4BA6-A354-C6C091B434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8482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Cascadia Code" panose="020B0609020000020004" pitchFamily="49" charset="0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Cascadia Code" panose="020B0609020000020004" pitchFamily="49" charset="0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52D5E-789E-474C-70AE-A01E47420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3834BC-5ECC-DBE5-570B-3FCA9E1B6B4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pattFill prst="wdUpDiag">
            <a:fgClr>
              <a:srgbClr val="212121"/>
            </a:fgClr>
            <a:bgClr>
              <a:schemeClr val="bg1"/>
            </a:bgClr>
          </a:patt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0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6F72D-82E1-A086-9B1A-97D7D97534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Overwatch Team Up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D11D3-0A40-FDB6-3126-FE39A5160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1099856"/>
          </a:xfrm>
        </p:spPr>
        <p:txBody>
          <a:bodyPr>
            <a:normAutofit/>
          </a:bodyPr>
          <a:lstStyle/>
          <a:p>
            <a:r>
              <a:rPr lang="en-US"/>
              <a:t>A Team Composition for Overwatch Players</a:t>
            </a:r>
          </a:p>
          <a:p>
            <a:r>
              <a:rPr lang="en-US" sz="1200"/>
              <a:t>by Fabian Reinelt, Leonardo Kharraz-Tavakol, Julia Ihrenberger</a:t>
            </a:r>
          </a:p>
          <a:p>
            <a:r>
              <a:rPr lang="en-US" sz="1200"/>
              <a:t>SQS | Projektarbeit | 30.06.2026</a:t>
            </a:r>
          </a:p>
        </p:txBody>
      </p:sp>
    </p:spTree>
    <p:extLst>
      <p:ext uri="{BB962C8B-B14F-4D97-AF65-F5344CB8AC3E}">
        <p14:creationId xmlns:p14="http://schemas.microsoft.com/office/powerpoint/2010/main" val="374906590"/>
      </p:ext>
    </p:extLst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wdUpDiag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12AE7C-02F8-840A-3AF6-5351880ED870}"/>
              </a:ext>
            </a:extLst>
          </p:cNvPr>
          <p:cNvSpPr/>
          <p:nvPr/>
        </p:nvSpPr>
        <p:spPr>
          <a:xfrm>
            <a:off x="248652" y="233413"/>
            <a:ext cx="11694695" cy="6391174"/>
          </a:xfrm>
          <a:prstGeom prst="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8F8327-F2B6-7348-5001-D90FEB4FC220}"/>
              </a:ext>
            </a:extLst>
          </p:cNvPr>
          <p:cNvSpPr txBox="1"/>
          <p:nvPr/>
        </p:nvSpPr>
        <p:spPr>
          <a:xfrm>
            <a:off x="1246908" y="2136339"/>
            <a:ext cx="5006110" cy="2585323"/>
          </a:xfrm>
          <a:prstGeom prst="rect">
            <a:avLst/>
          </a:prstGeom>
          <a:noFill/>
          <a:ln>
            <a:solidFill>
              <a:schemeClr val="tx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>
                <a:effectLst/>
                <a:latin typeface="JetBrains Mono"/>
              </a:rPr>
              <a:t>package </a:t>
            </a:r>
            <a:r>
              <a:rPr lang="en-US" sz="1800">
                <a:solidFill>
                  <a:srgbClr val="00B0F0"/>
                </a:solidFill>
                <a:effectLst/>
                <a:latin typeface="JetBrains Mono"/>
              </a:rPr>
              <a:t>packageName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import </a:t>
            </a:r>
            <a:r>
              <a:rPr lang="en-US" sz="1800">
                <a:solidFill>
                  <a:schemeClr val="accent3"/>
                </a:solidFill>
                <a:effectLst/>
                <a:latin typeface="JetBrains Mono"/>
              </a:rPr>
              <a:t>otherPackage.*</a:t>
            </a:r>
            <a:br>
              <a:rPr lang="en-US" sz="1800">
                <a:effectLst/>
                <a:latin typeface="JetBrains Mono"/>
              </a:rPr>
            </a:b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fun </a:t>
            </a:r>
            <a:r>
              <a:rPr lang="en-US" sz="1800">
                <a:solidFill>
                  <a:srgbClr val="FFC000"/>
                </a:solidFill>
                <a:effectLst/>
                <a:latin typeface="JetBrains Mono"/>
              </a:rPr>
              <a:t>main() </a:t>
            </a:r>
            <a:r>
              <a:rPr lang="en-US" sz="1800">
                <a:effectLst/>
                <a:latin typeface="JetBrains Mono"/>
              </a:rPr>
              <a:t>{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val </a:t>
            </a:r>
            <a:r>
              <a:rPr lang="en-US" sz="1800">
                <a:solidFill>
                  <a:srgbClr val="00B050"/>
                </a:solidFill>
                <a:effectLst/>
                <a:latin typeface="JetBrains Mono"/>
              </a:rPr>
              <a:t>name</a:t>
            </a:r>
            <a:r>
              <a:rPr lang="en-US">
                <a:solidFill>
                  <a:srgbClr val="00B050"/>
                </a:solidFill>
                <a:latin typeface="JetBrains Mono"/>
              </a:rPr>
              <a:t> </a:t>
            </a:r>
            <a:r>
              <a:rPr lang="en-US" sz="1800">
                <a:effectLst/>
                <a:latin typeface="JetBrains Mono"/>
              </a:rPr>
              <a:t>= "World" </a:t>
            </a:r>
            <a:r>
              <a:rPr lang="en-US" sz="1800">
                <a:solidFill>
                  <a:schemeClr val="tx1">
                    <a:lumMod val="50000"/>
                  </a:schemeClr>
                </a:solidFill>
                <a:effectLst/>
                <a:latin typeface="JetBrains Mono"/>
              </a:rPr>
              <a:t>//infers String data type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</a:t>
            </a:r>
            <a:br>
              <a:rPr lang="en-US" sz="1800">
                <a:effectLst/>
                <a:latin typeface="JetBrains Mono"/>
              </a:rPr>
            </a:br>
            <a:r>
              <a:rPr lang="en-US" sz="1800">
                <a:effectLst/>
                <a:latin typeface="JetBrains Mono"/>
              </a:rPr>
              <a:t>   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println</a:t>
            </a:r>
            <a:r>
              <a:rPr lang="en-US" sz="1800">
                <a:effectLst/>
                <a:latin typeface="JetBrains Mono"/>
              </a:rPr>
              <a:t>("Hello </a:t>
            </a:r>
            <a:r>
              <a:rPr lang="en-US" sz="1800">
                <a:solidFill>
                  <a:srgbClr val="92D050"/>
                </a:solidFill>
                <a:effectLst/>
                <a:latin typeface="JetBrains Mono"/>
              </a:rPr>
              <a:t>$</a:t>
            </a:r>
            <a:r>
              <a:rPr lang="en-US" sz="1800">
                <a:solidFill>
                  <a:srgbClr val="00B050"/>
                </a:solidFill>
                <a:effectLst/>
                <a:latin typeface="JetBrains Mono"/>
              </a:rPr>
              <a:t>name</a:t>
            </a:r>
            <a:r>
              <a:rPr lang="en-US" sz="1800">
                <a:effectLst/>
                <a:latin typeface="JetBrains Mono"/>
              </a:rPr>
              <a:t>!") </a:t>
            </a:r>
            <a:r>
              <a:rPr lang="en-US" sz="1800">
                <a:solidFill>
                  <a:schemeClr val="bg1">
                    <a:lumMod val="50000"/>
                    <a:lumOff val="50000"/>
                  </a:schemeClr>
                </a:solidFill>
                <a:effectLst/>
                <a:latin typeface="JetBrains Mono"/>
              </a:rPr>
              <a:t>//output: Hello, World!</a:t>
            </a:r>
          </a:p>
          <a:p>
            <a:pPr>
              <a:buNone/>
            </a:pPr>
            <a:r>
              <a:rPr lang="en-US">
                <a:latin typeface="JetBrains Mono"/>
              </a:rPr>
              <a:t>}</a:t>
            </a:r>
            <a:endParaRPr lang="en-US" sz="1800">
              <a:effectLst/>
              <a:latin typeface="JetBrains Mono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C24E50-DEAC-A23F-8F91-EF3C078E3FD0}"/>
              </a:ext>
            </a:extLst>
          </p:cNvPr>
          <p:cNvGrpSpPr/>
          <p:nvPr/>
        </p:nvGrpSpPr>
        <p:grpSpPr>
          <a:xfrm>
            <a:off x="85444" y="101035"/>
            <a:ext cx="4120648" cy="406964"/>
            <a:chOff x="689746" y="1254252"/>
            <a:chExt cx="10812505" cy="141531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4C0DE72-604F-30FA-B910-CF2F07D44035}"/>
                </a:ext>
              </a:extLst>
            </p:cNvPr>
            <p:cNvSpPr/>
            <p:nvPr/>
          </p:nvSpPr>
          <p:spPr>
            <a:xfrm>
              <a:off x="689746" y="1254252"/>
              <a:ext cx="10812505" cy="1415319"/>
            </a:xfrm>
            <a:prstGeom prst="rect">
              <a:avLst/>
            </a:prstGeom>
            <a:pattFill prst="wdDnDiag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800467-565F-782E-6B99-BAD5A870A378}"/>
                </a:ext>
              </a:extLst>
            </p:cNvPr>
            <p:cNvSpPr/>
            <p:nvPr/>
          </p:nvSpPr>
          <p:spPr>
            <a:xfrm>
              <a:off x="846992" y="1390635"/>
              <a:ext cx="10498015" cy="111662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>
                  <a:effectLst/>
                  <a:latin typeface="Cascadia Code" panose="020B0609020000020004" pitchFamily="49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Title</a:t>
              </a:r>
              <a:endParaRPr lang="en-US" sz="1400">
                <a:effectLst/>
                <a:latin typeface="Cascadia Code" panose="020B0609020000020004" pitchFamily="49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31F0D5A-E101-7B35-E486-13DAFD474EEC}"/>
              </a:ext>
            </a:extLst>
          </p:cNvPr>
          <p:cNvSpPr txBox="1"/>
          <p:nvPr/>
        </p:nvSpPr>
        <p:spPr>
          <a:xfrm>
            <a:off x="6789455" y="1720840"/>
            <a:ext cx="424409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Declaration of own </a:t>
            </a:r>
            <a:r>
              <a:rPr lang="en-US">
                <a:solidFill>
                  <a:srgbClr val="00B0F0"/>
                </a:solidFill>
              </a:rPr>
              <a:t>packageName</a:t>
            </a:r>
            <a:r>
              <a:rPr lang="en-US"/>
              <a:t> (must be in folder of the same name)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Declaration of </a:t>
            </a:r>
            <a:r>
              <a:rPr lang="en-US">
                <a:solidFill>
                  <a:schemeClr val="accent3"/>
                </a:solidFill>
              </a:rPr>
              <a:t>otherPackage</a:t>
            </a:r>
            <a:r>
              <a:rPr lang="en-US"/>
              <a:t> (allows </a:t>
            </a:r>
            <a:r>
              <a:rPr lang="en-US">
                <a:solidFill>
                  <a:schemeClr val="accent3"/>
                </a:solidFill>
              </a:rPr>
              <a:t>usage</a:t>
            </a:r>
            <a:r>
              <a:rPr lang="en-US"/>
              <a:t> of code without </a:t>
            </a:r>
            <a:r>
              <a:rPr lang="en-US">
                <a:solidFill>
                  <a:schemeClr val="accent3"/>
                </a:solidFill>
              </a:rPr>
              <a:t>qualification</a:t>
            </a:r>
            <a:r>
              <a:rPr lang="en-US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C000"/>
                </a:solidFill>
              </a:rPr>
              <a:t>main() </a:t>
            </a:r>
            <a:r>
              <a:rPr lang="en-US"/>
              <a:t>as program entry point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92D050"/>
                </a:solidFill>
              </a:rPr>
              <a:t>println() </a:t>
            </a:r>
            <a:r>
              <a:rPr lang="en-US"/>
              <a:t>with </a:t>
            </a:r>
            <a:r>
              <a:rPr lang="en-US">
                <a:solidFill>
                  <a:srgbClr val="92D050"/>
                </a:solidFill>
                <a:latin typeface="JetBrains Mono"/>
              </a:rPr>
              <a:t>$</a:t>
            </a:r>
            <a:r>
              <a:rPr lang="en-US"/>
              <a:t> to insert value of name variable into text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625AFA-6793-29BD-BAAA-06F356746C5C}"/>
              </a:ext>
            </a:extLst>
          </p:cNvPr>
          <p:cNvSpPr txBox="1"/>
          <p:nvPr/>
        </p:nvSpPr>
        <p:spPr>
          <a:xfrm>
            <a:off x="4642338" y="6360049"/>
            <a:ext cx="73010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Source: Source Link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2555253152"/>
      </p:ext>
    </p:extLst>
  </p:cSld>
  <p:clrMapOvr>
    <a:masterClrMapping/>
  </p:clrMapOvr>
  <p:transition spd="slow">
    <p:cover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981</TotalTime>
  <Words>117</Words>
  <Application>Microsoft Office PowerPoint</Application>
  <PresentationFormat>Widescreen</PresentationFormat>
  <Paragraphs>17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Arial</vt:lpstr>
      <vt:lpstr>Cascadia Code</vt:lpstr>
      <vt:lpstr>JetBrains Mono</vt:lpstr>
      <vt:lpstr>Wingdings 2</vt:lpstr>
      <vt:lpstr>Quotable</vt:lpstr>
      <vt:lpstr>PowerPoint Presentation</vt:lpstr>
      <vt:lpstr>Overwatch Team Up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Ihrenberger</dc:creator>
  <cp:lastModifiedBy>Julia I.</cp:lastModifiedBy>
  <cp:revision>862</cp:revision>
  <dcterms:created xsi:type="dcterms:W3CDTF">2025-03-21T16:11:25Z</dcterms:created>
  <dcterms:modified xsi:type="dcterms:W3CDTF">2026-06-20T12:14:41Z</dcterms:modified>
</cp:coreProperties>
</file>