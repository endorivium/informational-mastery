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22"/>
  </p:notesMasterIdLst>
  <p:sldIdLst>
    <p:sldId id="302" r:id="rId2"/>
    <p:sldId id="256" r:id="rId3"/>
    <p:sldId id="313" r:id="rId4"/>
    <p:sldId id="305" r:id="rId5"/>
    <p:sldId id="303" r:id="rId6"/>
    <p:sldId id="319" r:id="rId7"/>
    <p:sldId id="315" r:id="rId8"/>
    <p:sldId id="309" r:id="rId9"/>
    <p:sldId id="318" r:id="rId10"/>
    <p:sldId id="294" r:id="rId11"/>
    <p:sldId id="316" r:id="rId12"/>
    <p:sldId id="328" r:id="rId13"/>
    <p:sldId id="329" r:id="rId14"/>
    <p:sldId id="330" r:id="rId15"/>
    <p:sldId id="314" r:id="rId16"/>
    <p:sldId id="323" r:id="rId17"/>
    <p:sldId id="325" r:id="rId18"/>
    <p:sldId id="317" r:id="rId19"/>
    <p:sldId id="307" r:id="rId20"/>
    <p:sldId id="32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AF834B4-858C-4C98-9420-43154A85F8E4}">
          <p14:sldIdLst>
            <p14:sldId id="302"/>
            <p14:sldId id="256"/>
            <p14:sldId id="313"/>
            <p14:sldId id="305"/>
          </p14:sldIdLst>
        </p14:section>
        <p14:section name="Frontend" id="{E39988C1-AF61-497B-B444-7B544F88ABF2}">
          <p14:sldIdLst>
            <p14:sldId id="303"/>
            <p14:sldId id="319"/>
            <p14:sldId id="315"/>
            <p14:sldId id="309"/>
            <p14:sldId id="318"/>
          </p14:sldIdLst>
        </p14:section>
        <p14:section name="Backend" id="{8BE9A4D8-9251-401F-AB7B-95E2ADFA32E5}">
          <p14:sldIdLst>
            <p14:sldId id="294"/>
            <p14:sldId id="316"/>
            <p14:sldId id="328"/>
            <p14:sldId id="329"/>
            <p14:sldId id="330"/>
          </p14:sldIdLst>
        </p14:section>
        <p14:section name="Testing" id="{02939358-211D-4929-A930-DEA3C0746ECF}">
          <p14:sldIdLst>
            <p14:sldId id="314"/>
            <p14:sldId id="323"/>
            <p14:sldId id="325"/>
            <p14:sldId id="317"/>
            <p14:sldId id="307"/>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0E0E"/>
    <a:srgbClr val="008E40"/>
    <a:srgbClr val="005828"/>
    <a:srgbClr val="00AAE6"/>
    <a:srgbClr val="FF3F3F"/>
    <a:srgbClr val="CF8E6D"/>
    <a:srgbClr val="212121"/>
    <a:srgbClr val="EB8F91"/>
    <a:srgbClr val="A17CB6"/>
    <a:srgbClr val="C46E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94" autoAdjust="0"/>
  </p:normalViewPr>
  <p:slideViewPr>
    <p:cSldViewPr snapToGrid="0">
      <p:cViewPr varScale="1">
        <p:scale>
          <a:sx n="94" d="100"/>
          <a:sy n="94" d="100"/>
        </p:scale>
        <p:origin x="11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DAD76-3859-4D52-8B81-C27FCE0A7D18}"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D61062-E9D8-4DAB-8118-1CF0D558F973}" type="slidenum">
              <a:rPr lang="en-US" smtClean="0"/>
              <a:t>‹#›</a:t>
            </a:fld>
            <a:endParaRPr lang="en-US"/>
          </a:p>
        </p:txBody>
      </p:sp>
    </p:spTree>
    <p:extLst>
      <p:ext uri="{BB962C8B-B14F-4D97-AF65-F5344CB8AC3E}">
        <p14:creationId xmlns:p14="http://schemas.microsoft.com/office/powerpoint/2010/main" val="3395990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6126-EF57-F334-2A2C-B38B0AC12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5B86D-8D9B-FDC7-85EA-EE6D3D4835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EF71E6-A417-9636-9295-CEDAE34A60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AEFFD6-BE77-DFCA-C1BA-36E4F13FCC09}"/>
              </a:ext>
            </a:extLst>
          </p:cNvPr>
          <p:cNvSpPr>
            <a:spLocks noGrp="1"/>
          </p:cNvSpPr>
          <p:nvPr>
            <p:ph type="sldNum" sz="quarter" idx="5"/>
          </p:nvPr>
        </p:nvSpPr>
        <p:spPr/>
        <p:txBody>
          <a:bodyPr/>
          <a:lstStyle/>
          <a:p>
            <a:fld id="{60D61062-E9D8-4DAB-8118-1CF0D558F973}" type="slidenum">
              <a:rPr lang="en-US" smtClean="0"/>
              <a:t>1</a:t>
            </a:fld>
            <a:endParaRPr lang="en-US"/>
          </a:p>
        </p:txBody>
      </p:sp>
    </p:spTree>
    <p:extLst>
      <p:ext uri="{BB962C8B-B14F-4D97-AF65-F5344CB8AC3E}">
        <p14:creationId xmlns:p14="http://schemas.microsoft.com/office/powerpoint/2010/main" val="3699547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leo</a:t>
            </a:r>
          </a:p>
        </p:txBody>
      </p:sp>
      <p:sp>
        <p:nvSpPr>
          <p:cNvPr id="4" name="Slide Number Placeholder 3"/>
          <p:cNvSpPr>
            <a:spLocks noGrp="1"/>
          </p:cNvSpPr>
          <p:nvPr>
            <p:ph type="sldNum" sz="quarter" idx="5"/>
          </p:nvPr>
        </p:nvSpPr>
        <p:spPr/>
        <p:txBody>
          <a:bodyPr/>
          <a:lstStyle/>
          <a:p>
            <a:fld id="{60D61062-E9D8-4DAB-8118-1CF0D558F973}" type="slidenum">
              <a:rPr lang="en-US" smtClean="0"/>
              <a:t>2</a:t>
            </a:fld>
            <a:endParaRPr lang="en-US"/>
          </a:p>
        </p:txBody>
      </p:sp>
    </p:spTree>
    <p:extLst>
      <p:ext uri="{BB962C8B-B14F-4D97-AF65-F5344CB8AC3E}">
        <p14:creationId xmlns:p14="http://schemas.microsoft.com/office/powerpoint/2010/main" val="140819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a:solidFill>
                  <a:schemeClr val="tx1"/>
                </a:solidFill>
                <a:effectLst/>
                <a:latin typeface="+mn-lt"/>
                <a:ea typeface="+mn-ea"/>
                <a:cs typeface="+mn-cs"/>
              </a:rPr>
              <a:t>Online Multiplayer First Person Shooter von Blizzard Erstes Spiel seines Genres (Hero Shooter) 2 Teams aus 5 Spielern kämpfen gegeneinander um ein bestimmtes Ziel zu erreichen (z.b Wagen ans Ziel schieben) Jedes team hat bestimmt Rollen, 1x Tank, 2x Damage und 2x Support. Spieler wählen aus 52 Helden aus, die verschiedene Fähigkeiten haben und auch Synergien zwischeneinander besitzen. Es ist ein Kompetetives Game, weswegen eine gute Teamcomposition sich stark auf das Spielergebnis auswirken kann.</a:t>
            </a:r>
          </a:p>
        </p:txBody>
      </p:sp>
      <p:sp>
        <p:nvSpPr>
          <p:cNvPr id="4" name="Slide Number Placeholder 3"/>
          <p:cNvSpPr>
            <a:spLocks noGrp="1"/>
          </p:cNvSpPr>
          <p:nvPr>
            <p:ph type="sldNum" sz="quarter" idx="5"/>
          </p:nvPr>
        </p:nvSpPr>
        <p:spPr/>
        <p:txBody>
          <a:bodyPr/>
          <a:lstStyle/>
          <a:p>
            <a:fld id="{60D61062-E9D8-4DAB-8118-1CF0D558F973}" type="slidenum">
              <a:rPr lang="en-US" smtClean="0"/>
              <a:t>3</a:t>
            </a:fld>
            <a:endParaRPr lang="en-US"/>
          </a:p>
        </p:txBody>
      </p:sp>
    </p:spTree>
    <p:extLst>
      <p:ext uri="{BB962C8B-B14F-4D97-AF65-F5344CB8AC3E}">
        <p14:creationId xmlns:p14="http://schemas.microsoft.com/office/powerpoint/2010/main" val="2132774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B8D37-3A7B-9C81-518E-F3B110555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9A528-A00B-B59A-2E4F-1ECFCA7DFE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D30615-C7A3-5C6E-11F0-CF6214114FAD}"/>
              </a:ext>
            </a:extLst>
          </p:cNvPr>
          <p:cNvSpPr>
            <a:spLocks noGrp="1"/>
          </p:cNvSpPr>
          <p:nvPr>
            <p:ph type="body" idx="1"/>
          </p:nvPr>
        </p:nvSpPr>
        <p:spPr/>
        <p:txBody>
          <a:bodyPr/>
          <a:lstStyle/>
          <a:p>
            <a:r>
              <a:rPr lang="en-US"/>
              <a:t>julia</a:t>
            </a:r>
          </a:p>
          <a:p>
            <a:r>
              <a:rPr lang="en-US"/>
              <a:t>arbeitet besser, wenn project interessant und relevant für alle</a:t>
            </a:r>
          </a:p>
          <a:p>
            <a:r>
              <a:rPr lang="en-US"/>
              <a:t>aus game engineer sicht, interesse an produktionsablauf bei einer web application</a:t>
            </a:r>
          </a:p>
          <a:p>
            <a:r>
              <a:rPr lang="en-US"/>
              <a:t>löst theoretisch problem eines freundes</a:t>
            </a:r>
          </a:p>
        </p:txBody>
      </p:sp>
      <p:sp>
        <p:nvSpPr>
          <p:cNvPr id="4" name="Slide Number Placeholder 3">
            <a:extLst>
              <a:ext uri="{FF2B5EF4-FFF2-40B4-BE49-F238E27FC236}">
                <a16:creationId xmlns:a16="http://schemas.microsoft.com/office/drawing/2014/main" id="{0DC8139E-6959-B9D3-F359-ADA3E81503E2}"/>
              </a:ext>
            </a:extLst>
          </p:cNvPr>
          <p:cNvSpPr>
            <a:spLocks noGrp="1"/>
          </p:cNvSpPr>
          <p:nvPr>
            <p:ph type="sldNum" sz="quarter" idx="5"/>
          </p:nvPr>
        </p:nvSpPr>
        <p:spPr/>
        <p:txBody>
          <a:bodyPr/>
          <a:lstStyle/>
          <a:p>
            <a:fld id="{60D61062-E9D8-4DAB-8118-1CF0D558F973}" type="slidenum">
              <a:rPr lang="en-US" smtClean="0"/>
              <a:t>4</a:t>
            </a:fld>
            <a:endParaRPr lang="en-US"/>
          </a:p>
        </p:txBody>
      </p:sp>
    </p:spTree>
    <p:extLst>
      <p:ext uri="{BB962C8B-B14F-4D97-AF65-F5344CB8AC3E}">
        <p14:creationId xmlns:p14="http://schemas.microsoft.com/office/powerpoint/2010/main" val="806774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25871-C0A6-FC8E-2BF6-A82E36719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52FCA-31B0-BECE-2B3D-05B3FABA38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1790B1-E197-C6B4-1C65-3EBEDD91BCB2}"/>
              </a:ext>
            </a:extLst>
          </p:cNvPr>
          <p:cNvSpPr>
            <a:spLocks noGrp="1"/>
          </p:cNvSpPr>
          <p:nvPr>
            <p:ph type="body" idx="1"/>
          </p:nvPr>
        </p:nvSpPr>
        <p:spPr/>
        <p:txBody>
          <a:bodyPr/>
          <a:lstStyle/>
          <a:p>
            <a:r>
              <a:rPr lang="en-US"/>
              <a:t>julia</a:t>
            </a:r>
          </a:p>
          <a:p>
            <a:r>
              <a:rPr lang="en-US"/>
              <a:t>design philosophy</a:t>
            </a:r>
          </a:p>
          <a:p>
            <a:r>
              <a:rPr lang="en-US"/>
              <a:t>resultierendes design, alles kombiniert auf eine seite [click]</a:t>
            </a:r>
          </a:p>
          <a:p>
            <a:r>
              <a:rPr lang="en-US"/>
              <a:t>mit login und team comp speicher, die sich aufklappen</a:t>
            </a:r>
          </a:p>
          <a:p>
            <a:endParaRPr lang="en-US"/>
          </a:p>
          <a:p>
            <a:r>
              <a:rPr lang="en-US"/>
              <a:t>detailansicht des heroes angelehnt an fanwiki [click]</a:t>
            </a:r>
          </a:p>
          <a:p>
            <a:r>
              <a:rPr lang="en-US"/>
              <a:t>team composition erstellung über in-game ähnliche UI [click]</a:t>
            </a:r>
          </a:p>
        </p:txBody>
      </p:sp>
      <p:sp>
        <p:nvSpPr>
          <p:cNvPr id="4" name="Slide Number Placeholder 3">
            <a:extLst>
              <a:ext uri="{FF2B5EF4-FFF2-40B4-BE49-F238E27FC236}">
                <a16:creationId xmlns:a16="http://schemas.microsoft.com/office/drawing/2014/main" id="{1FC9223D-6143-4D91-4E46-77372437A4CF}"/>
              </a:ext>
            </a:extLst>
          </p:cNvPr>
          <p:cNvSpPr>
            <a:spLocks noGrp="1"/>
          </p:cNvSpPr>
          <p:nvPr>
            <p:ph type="sldNum" sz="quarter" idx="5"/>
          </p:nvPr>
        </p:nvSpPr>
        <p:spPr/>
        <p:txBody>
          <a:bodyPr/>
          <a:lstStyle/>
          <a:p>
            <a:fld id="{60D61062-E9D8-4DAB-8118-1CF0D558F973}" type="slidenum">
              <a:rPr lang="en-US" smtClean="0"/>
              <a:t>5</a:t>
            </a:fld>
            <a:endParaRPr lang="en-US"/>
          </a:p>
        </p:txBody>
      </p:sp>
    </p:spTree>
    <p:extLst>
      <p:ext uri="{BB962C8B-B14F-4D97-AF65-F5344CB8AC3E}">
        <p14:creationId xmlns:p14="http://schemas.microsoft.com/office/powerpoint/2010/main" val="880921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a:p>
            <a:r>
              <a:rPr lang="en-US"/>
              <a:t>betrachtung im c4 modell, container ebene web application</a:t>
            </a:r>
          </a:p>
          <a:p>
            <a:r>
              <a:rPr lang="en-US"/>
              <a:t>ui eingeteilt in hero browser, team composition ui und funktionalität sowie login</a:t>
            </a:r>
          </a:p>
          <a:p>
            <a:r>
              <a:rPr lang="en-US"/>
              <a:t>kommunikation mit backend über fetch requests</a:t>
            </a:r>
          </a:p>
        </p:txBody>
      </p:sp>
      <p:sp>
        <p:nvSpPr>
          <p:cNvPr id="4" name="Slide Number Placeholder 3"/>
          <p:cNvSpPr>
            <a:spLocks noGrp="1"/>
          </p:cNvSpPr>
          <p:nvPr>
            <p:ph type="sldNum" sz="quarter" idx="5"/>
          </p:nvPr>
        </p:nvSpPr>
        <p:spPr/>
        <p:txBody>
          <a:bodyPr/>
          <a:lstStyle/>
          <a:p>
            <a:fld id="{60D61062-E9D8-4DAB-8118-1CF0D558F973}" type="slidenum">
              <a:rPr lang="en-US" smtClean="0"/>
              <a:t>6</a:t>
            </a:fld>
            <a:endParaRPr lang="en-US"/>
          </a:p>
        </p:txBody>
      </p:sp>
    </p:spTree>
    <p:extLst>
      <p:ext uri="{BB962C8B-B14F-4D97-AF65-F5344CB8AC3E}">
        <p14:creationId xmlns:p14="http://schemas.microsoft.com/office/powerpoint/2010/main" val="3009868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a:p>
            <a:r>
              <a:rPr lang="en-US"/>
              <a:t>spiegelt sich auch in dem component breakdown von frontend wieder [click]</a:t>
            </a:r>
          </a:p>
          <a:p>
            <a:r>
              <a:rPr lang="en-US"/>
              <a:t>funktionalitäten im horizontalen gebündelt</a:t>
            </a:r>
          </a:p>
          <a:p>
            <a:r>
              <a:rPr lang="en-US"/>
              <a:t>oben rechts authentication, account</a:t>
            </a:r>
          </a:p>
          <a:p>
            <a:r>
              <a:rPr lang="en-US"/>
              <a:t>dann hero browser mit view und search table</a:t>
            </a:r>
          </a:p>
          <a:p>
            <a:r>
              <a:rPr lang="en-US"/>
              <a:t>zuletzt team composition funktionalität ganz unten</a:t>
            </a:r>
          </a:p>
        </p:txBody>
      </p:sp>
      <p:sp>
        <p:nvSpPr>
          <p:cNvPr id="4" name="Slide Number Placeholder 3"/>
          <p:cNvSpPr>
            <a:spLocks noGrp="1"/>
          </p:cNvSpPr>
          <p:nvPr>
            <p:ph type="sldNum" sz="quarter" idx="5"/>
          </p:nvPr>
        </p:nvSpPr>
        <p:spPr/>
        <p:txBody>
          <a:bodyPr/>
          <a:lstStyle/>
          <a:p>
            <a:fld id="{60D61062-E9D8-4DAB-8118-1CF0D558F973}" type="slidenum">
              <a:rPr lang="en-US" smtClean="0"/>
              <a:t>7</a:t>
            </a:fld>
            <a:endParaRPr lang="en-US"/>
          </a:p>
        </p:txBody>
      </p:sp>
    </p:spTree>
    <p:extLst>
      <p:ext uri="{BB962C8B-B14F-4D97-AF65-F5344CB8AC3E}">
        <p14:creationId xmlns:p14="http://schemas.microsoft.com/office/powerpoint/2010/main" val="864434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11597-17F4-5942-EC50-1CBE99C83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79281-00F7-19E7-B9DD-917B1175EC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0DE3C5-4DB0-106D-E4F5-FC218D844C60}"/>
              </a:ext>
            </a:extLst>
          </p:cNvPr>
          <p:cNvSpPr>
            <a:spLocks noGrp="1"/>
          </p:cNvSpPr>
          <p:nvPr>
            <p:ph type="body" idx="1"/>
          </p:nvPr>
        </p:nvSpPr>
        <p:spPr/>
        <p:txBody>
          <a:bodyPr/>
          <a:lstStyle/>
          <a:p>
            <a:r>
              <a:rPr lang="en-US"/>
              <a:t>Julia [text lesen] [click] design wurde fast 1:1 übernommen, wenig abgeändert layout technisch</a:t>
            </a:r>
          </a:p>
        </p:txBody>
      </p:sp>
      <p:sp>
        <p:nvSpPr>
          <p:cNvPr id="4" name="Slide Number Placeholder 3">
            <a:extLst>
              <a:ext uri="{FF2B5EF4-FFF2-40B4-BE49-F238E27FC236}">
                <a16:creationId xmlns:a16="http://schemas.microsoft.com/office/drawing/2014/main" id="{3D425DC8-9356-2A4E-591C-197AB77C069C}"/>
              </a:ext>
            </a:extLst>
          </p:cNvPr>
          <p:cNvSpPr>
            <a:spLocks noGrp="1"/>
          </p:cNvSpPr>
          <p:nvPr>
            <p:ph type="sldNum" sz="quarter" idx="5"/>
          </p:nvPr>
        </p:nvSpPr>
        <p:spPr/>
        <p:txBody>
          <a:bodyPr/>
          <a:lstStyle/>
          <a:p>
            <a:fld id="{60D61062-E9D8-4DAB-8118-1CF0D558F973}" type="slidenum">
              <a:rPr lang="en-US" smtClean="0"/>
              <a:t>8</a:t>
            </a:fld>
            <a:endParaRPr lang="en-US"/>
          </a:p>
        </p:txBody>
      </p:sp>
    </p:spTree>
    <p:extLst>
      <p:ext uri="{BB962C8B-B14F-4D97-AF65-F5344CB8AC3E}">
        <p14:creationId xmlns:p14="http://schemas.microsoft.com/office/powerpoint/2010/main" val="399030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p:txBody>
      </p:sp>
      <p:sp>
        <p:nvSpPr>
          <p:cNvPr id="4" name="Slide Number Placeholder 3"/>
          <p:cNvSpPr>
            <a:spLocks noGrp="1"/>
          </p:cNvSpPr>
          <p:nvPr>
            <p:ph type="sldNum" sz="quarter" idx="5"/>
          </p:nvPr>
        </p:nvSpPr>
        <p:spPr/>
        <p:txBody>
          <a:bodyPr/>
          <a:lstStyle/>
          <a:p>
            <a:fld id="{60D61062-E9D8-4DAB-8118-1CF0D558F973}" type="slidenum">
              <a:rPr lang="en-US" smtClean="0"/>
              <a:t>9</a:t>
            </a:fld>
            <a:endParaRPr lang="en-US"/>
          </a:p>
        </p:txBody>
      </p:sp>
    </p:spTree>
    <p:extLst>
      <p:ext uri="{BB962C8B-B14F-4D97-AF65-F5344CB8AC3E}">
        <p14:creationId xmlns:p14="http://schemas.microsoft.com/office/powerpoint/2010/main" val="2722120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leo</a:t>
            </a:r>
          </a:p>
        </p:txBody>
      </p:sp>
      <p:sp>
        <p:nvSpPr>
          <p:cNvPr id="4" name="Slide Number Placeholder 3"/>
          <p:cNvSpPr>
            <a:spLocks noGrp="1"/>
          </p:cNvSpPr>
          <p:nvPr>
            <p:ph type="sldNum" sz="quarter" idx="5"/>
          </p:nvPr>
        </p:nvSpPr>
        <p:spPr/>
        <p:txBody>
          <a:bodyPr/>
          <a:lstStyle/>
          <a:p>
            <a:fld id="{60D61062-E9D8-4DAB-8118-1CF0D558F973}" type="slidenum">
              <a:rPr lang="en-US" smtClean="0"/>
              <a:t>10</a:t>
            </a:fld>
            <a:endParaRPr lang="en-US"/>
          </a:p>
        </p:txBody>
      </p:sp>
    </p:spTree>
    <p:extLst>
      <p:ext uri="{BB962C8B-B14F-4D97-AF65-F5344CB8AC3E}">
        <p14:creationId xmlns:p14="http://schemas.microsoft.com/office/powerpoint/2010/main" val="874227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2B9A3-D915-47E6-8327-5507A3233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C62FF-9418-5B11-3017-F454AB03DB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E7DDC4-E671-D5E0-B34C-55CB671F2A36}"/>
              </a:ext>
            </a:extLst>
          </p:cNvPr>
          <p:cNvSpPr>
            <a:spLocks noGrp="1"/>
          </p:cNvSpPr>
          <p:nvPr>
            <p:ph type="body" idx="1"/>
          </p:nvPr>
        </p:nvSpPr>
        <p:spPr/>
        <p:txBody>
          <a:bodyPr/>
          <a:lstStyle/>
          <a:p>
            <a:r>
              <a:rPr lang="en-US"/>
              <a:t>leo</a:t>
            </a:r>
          </a:p>
        </p:txBody>
      </p:sp>
      <p:sp>
        <p:nvSpPr>
          <p:cNvPr id="4" name="Slide Number Placeholder 3">
            <a:extLst>
              <a:ext uri="{FF2B5EF4-FFF2-40B4-BE49-F238E27FC236}">
                <a16:creationId xmlns:a16="http://schemas.microsoft.com/office/drawing/2014/main" id="{5DE21666-40C0-93B4-B329-874FEAA36591}"/>
              </a:ext>
            </a:extLst>
          </p:cNvPr>
          <p:cNvSpPr>
            <a:spLocks noGrp="1"/>
          </p:cNvSpPr>
          <p:nvPr>
            <p:ph type="sldNum" sz="quarter" idx="5"/>
          </p:nvPr>
        </p:nvSpPr>
        <p:spPr/>
        <p:txBody>
          <a:bodyPr/>
          <a:lstStyle/>
          <a:p>
            <a:fld id="{60D61062-E9D8-4DAB-8118-1CF0D558F973}" type="slidenum">
              <a:rPr lang="en-US" smtClean="0"/>
              <a:t>11</a:t>
            </a:fld>
            <a:endParaRPr lang="en-US"/>
          </a:p>
        </p:txBody>
      </p:sp>
    </p:spTree>
    <p:extLst>
      <p:ext uri="{BB962C8B-B14F-4D97-AF65-F5344CB8AC3E}">
        <p14:creationId xmlns:p14="http://schemas.microsoft.com/office/powerpoint/2010/main" val="1803234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8B90-CEE3-8079-8D82-2C38F0992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136B4-5B8C-AC64-3F9D-4BFCD44C74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AAF74F-8058-C83E-A9DB-C9CDCD54B5BA}"/>
              </a:ext>
            </a:extLst>
          </p:cNvPr>
          <p:cNvSpPr>
            <a:spLocks noGrp="1"/>
          </p:cNvSpPr>
          <p:nvPr>
            <p:ph type="body" idx="1"/>
          </p:nvPr>
        </p:nvSpPr>
        <p:spPr/>
        <p:txBody>
          <a:bodyPr/>
          <a:lstStyle/>
          <a:p>
            <a:r>
              <a:rPr lang="en-US"/>
              <a:t>6</a:t>
            </a:r>
            <a:endParaRPr lang="en-US" dirty="0"/>
          </a:p>
          <a:p>
            <a:r>
              <a:rPr lang="en-US" dirty="0"/>
              <a:t>  Die </a:t>
            </a:r>
            <a:r>
              <a:rPr lang="en-US" dirty="0" err="1"/>
              <a:t>Architekturentscheidung</a:t>
            </a:r>
            <a:r>
              <a:rPr lang="en-US" dirty="0"/>
              <a:t> war </a:t>
            </a:r>
            <a:r>
              <a:rPr lang="en-US" dirty="0" err="1"/>
              <a:t>Hexagonale</a:t>
            </a:r>
            <a:r>
              <a:rPr lang="en-US" dirty="0"/>
              <a:t> </a:t>
            </a:r>
            <a:r>
              <a:rPr lang="en-US" dirty="0" err="1"/>
              <a:t>Architektur</a:t>
            </a:r>
            <a:r>
              <a:rPr lang="en-US" dirty="0"/>
              <a:t> — also Ports und </a:t>
            </a:r>
            <a:r>
              <a:rPr lang="en-US"/>
              <a:t>Adapter</a:t>
            </a:r>
            <a:r>
              <a:rPr lang="en-US" dirty="0"/>
              <a:t>. Das Ziel </a:t>
            </a:r>
            <a:r>
              <a:rPr lang="en-US" dirty="0" err="1"/>
              <a:t>ist</a:t>
            </a:r>
            <a:r>
              <a:rPr lang="en-US" dirty="0"/>
              <a:t>, die </a:t>
            </a:r>
            <a:r>
              <a:rPr lang="en-US" dirty="0" err="1"/>
              <a:t>Kernlogik</a:t>
            </a:r>
            <a:r>
              <a:rPr lang="en-US" dirty="0"/>
              <a:t> von </a:t>
            </a:r>
            <a:r>
              <a:rPr lang="en-US" dirty="0" err="1"/>
              <a:t>allem</a:t>
            </a:r>
            <a:r>
              <a:rPr lang="en-US" dirty="0"/>
              <a:t> </a:t>
            </a:r>
            <a:r>
              <a:rPr lang="en-US" dirty="0" err="1"/>
              <a:t>Äußeren</a:t>
            </a:r>
            <a:r>
              <a:rPr lang="en-US" dirty="0"/>
              <a:t> </a:t>
            </a:r>
            <a:r>
              <a:rPr lang="en-US" dirty="0" err="1"/>
              <a:t>zu</a:t>
            </a:r>
            <a:r>
              <a:rPr lang="en-US" dirty="0"/>
              <a:t> </a:t>
            </a:r>
            <a:r>
              <a:rPr lang="en-US" dirty="0" err="1"/>
              <a:t>trennen</a:t>
            </a:r>
            <a:r>
              <a:rPr lang="en-US" dirty="0"/>
              <a:t>: </a:t>
            </a:r>
            <a:r>
              <a:rPr lang="en-US" dirty="0" err="1"/>
              <a:t>Datenbank</a:t>
            </a:r>
            <a:r>
              <a:rPr lang="en-US" dirty="0"/>
              <a:t>, externe APIs, Framework. Jede </a:t>
            </a:r>
            <a:r>
              <a:rPr lang="en-US" dirty="0" err="1"/>
              <a:t>Schicht</a:t>
            </a:r>
            <a:r>
              <a:rPr lang="en-US" dirty="0"/>
              <a:t> hat </a:t>
            </a:r>
            <a:r>
              <a:rPr lang="en-US" dirty="0" err="1"/>
              <a:t>eine</a:t>
            </a:r>
            <a:r>
              <a:rPr lang="en-US" dirty="0"/>
              <a:t> </a:t>
            </a:r>
            <a:r>
              <a:rPr lang="en-US" dirty="0" err="1"/>
              <a:t>klare</a:t>
            </a:r>
            <a:r>
              <a:rPr lang="en-US" dirty="0"/>
              <a:t> </a:t>
            </a:r>
            <a:r>
              <a:rPr lang="en-US" dirty="0" err="1"/>
              <a:t>Verantwortung</a:t>
            </a:r>
            <a:r>
              <a:rPr lang="en-US" dirty="0"/>
              <a:t>.</a:t>
            </a:r>
            <a:endParaRPr lang="en-US"/>
          </a:p>
          <a:p>
            <a:r>
              <a:rPr lang="en-US" dirty="0"/>
              <a:t>  </a:t>
            </a:r>
            <a:r>
              <a:rPr lang="en-US" dirty="0" err="1"/>
              <a:t>Im</a:t>
            </a:r>
            <a:r>
              <a:rPr lang="en-US" dirty="0"/>
              <a:t> Zentrum </a:t>
            </a:r>
            <a:r>
              <a:rPr lang="en-US" dirty="0" err="1"/>
              <a:t>steht</a:t>
            </a:r>
            <a:r>
              <a:rPr lang="en-US" dirty="0"/>
              <a:t> die Domain-</a:t>
            </a:r>
            <a:r>
              <a:rPr lang="en-US" dirty="0" err="1"/>
              <a:t>Schicht</a:t>
            </a:r>
            <a:r>
              <a:rPr lang="en-US" dirty="0"/>
              <a:t> </a:t>
            </a:r>
            <a:r>
              <a:rPr lang="en-US" dirty="0" err="1"/>
              <a:t>mit</a:t>
            </a:r>
            <a:r>
              <a:rPr lang="en-US" dirty="0"/>
              <a:t> </a:t>
            </a:r>
            <a:r>
              <a:rPr lang="en-US" dirty="0" err="1"/>
              <a:t>reinen</a:t>
            </a:r>
            <a:r>
              <a:rPr lang="en-US" dirty="0"/>
              <a:t> Python-</a:t>
            </a:r>
            <a:r>
              <a:rPr lang="en-US" dirty="0" err="1"/>
              <a:t>Datenklassen</a:t>
            </a:r>
            <a:r>
              <a:rPr lang="en-US" dirty="0"/>
              <a:t> </a:t>
            </a:r>
            <a:r>
              <a:rPr lang="en-US" dirty="0" err="1"/>
              <a:t>wie</a:t>
            </a:r>
            <a:r>
              <a:rPr lang="en-US" dirty="0"/>
              <a:t> </a:t>
            </a:r>
            <a:r>
              <a:rPr lang="en-US" err="1"/>
              <a:t>HeroEntity</a:t>
            </a:r>
            <a:r>
              <a:rPr lang="en-US" dirty="0"/>
              <a:t>, </a:t>
            </a:r>
            <a:r>
              <a:rPr lang="en-US" dirty="0" err="1"/>
              <a:t>AbilityEntity</a:t>
            </a:r>
            <a:r>
              <a:rPr lang="en-US" dirty="0"/>
              <a:t> und </a:t>
            </a:r>
            <a:r>
              <a:rPr lang="en-US" dirty="0" err="1"/>
              <a:t>TeamCompositionEntity</a:t>
            </a:r>
            <a:r>
              <a:rPr lang="en-US" dirty="0"/>
              <a:t> — </a:t>
            </a:r>
            <a:r>
              <a:rPr lang="en-US" dirty="0" err="1"/>
              <a:t>keinerlei</a:t>
            </a:r>
            <a:r>
              <a:rPr lang="en-US" dirty="0"/>
              <a:t> Framework-</a:t>
            </a:r>
            <a:r>
              <a:rPr lang="en-US" dirty="0" err="1"/>
              <a:t>Abhängigkeiten</a:t>
            </a:r>
            <a:r>
              <a:rPr lang="en-US" dirty="0"/>
              <a:t>.</a:t>
            </a:r>
          </a:p>
          <a:p>
            <a:r>
              <a:rPr lang="en-US" dirty="0"/>
              <a:t>  Darum </a:t>
            </a:r>
            <a:r>
              <a:rPr lang="en-US" dirty="0" err="1"/>
              <a:t>herum</a:t>
            </a:r>
            <a:r>
              <a:rPr lang="en-US" dirty="0"/>
              <a:t> </a:t>
            </a:r>
            <a:r>
              <a:rPr lang="en-US" dirty="0" err="1"/>
              <a:t>liegen</a:t>
            </a:r>
            <a:r>
              <a:rPr lang="en-US" dirty="0"/>
              <a:t> die Ports, also </a:t>
            </a:r>
            <a:r>
              <a:rPr lang="en-US" dirty="0" err="1"/>
              <a:t>abstrakte</a:t>
            </a:r>
            <a:r>
              <a:rPr lang="en-US" dirty="0"/>
              <a:t> Interfaces, und die Adapter </a:t>
            </a:r>
            <a:r>
              <a:rPr lang="en-US" dirty="0" err="1"/>
              <a:t>als</a:t>
            </a:r>
            <a:r>
              <a:rPr lang="en-US" dirty="0"/>
              <a:t> </a:t>
            </a:r>
            <a:r>
              <a:rPr lang="en-US" dirty="0" err="1"/>
              <a:t>konkrete</a:t>
            </a:r>
            <a:r>
              <a:rPr lang="en-US" dirty="0"/>
              <a:t> </a:t>
            </a:r>
            <a:r>
              <a:rPr lang="en-US" dirty="0" err="1"/>
              <a:t>Implementierungen</a:t>
            </a:r>
            <a:r>
              <a:rPr lang="en-US" dirty="0"/>
              <a:t>. Wir </a:t>
            </a:r>
            <a:r>
              <a:rPr lang="en-US" dirty="0" err="1"/>
              <a:t>haben</a:t>
            </a:r>
            <a:r>
              <a:rPr lang="en-US" dirty="0"/>
              <a:t> </a:t>
            </a:r>
            <a:r>
              <a:rPr lang="en-US" dirty="0" err="1"/>
              <a:t>drei</a:t>
            </a:r>
            <a:r>
              <a:rPr lang="en-US" dirty="0"/>
              <a:t> Adapter: den </a:t>
            </a:r>
            <a:r>
              <a:rPr lang="en-US" dirty="0" err="1"/>
              <a:t>HeroDataBaseAdapter</a:t>
            </a:r>
            <a:r>
              <a:rPr lang="en-US" dirty="0"/>
              <a:t> und den </a:t>
            </a:r>
            <a:r>
              <a:rPr lang="en-US" dirty="0" err="1"/>
              <a:t>TeamCompositionDatabaseAdapter</a:t>
            </a:r>
            <a:r>
              <a:rPr lang="en-US" dirty="0"/>
              <a:t> für den </a:t>
            </a:r>
            <a:r>
              <a:rPr lang="en-US" dirty="0" err="1"/>
              <a:t>Datenbankzugriff</a:t>
            </a:r>
            <a:r>
              <a:rPr lang="en-US" dirty="0"/>
              <a:t> </a:t>
            </a:r>
            <a:r>
              <a:rPr lang="en-US" dirty="0" err="1"/>
              <a:t>über</a:t>
            </a:r>
            <a:r>
              <a:rPr lang="en-US" dirty="0"/>
              <a:t> das Django ORM, </a:t>
            </a:r>
            <a:r>
              <a:rPr lang="en-US" dirty="0" err="1"/>
              <a:t>sowie</a:t>
            </a:r>
            <a:r>
              <a:rPr lang="en-US" dirty="0"/>
              <a:t> den </a:t>
            </a:r>
            <a:r>
              <a:rPr lang="en-US" dirty="0" err="1"/>
              <a:t>OverfastAPIAdapter</a:t>
            </a:r>
            <a:r>
              <a:rPr lang="en-US" dirty="0"/>
              <a:t>, der Hero-</a:t>
            </a:r>
            <a:r>
              <a:rPr lang="en-US" dirty="0" err="1"/>
              <a:t>Daten</a:t>
            </a:r>
            <a:r>
              <a:rPr lang="en-US" dirty="0"/>
              <a:t> von </a:t>
            </a:r>
            <a:r>
              <a:rPr lang="en-US" dirty="0" err="1"/>
              <a:t>einer</a:t>
            </a:r>
            <a:r>
              <a:rPr lang="en-US" dirty="0"/>
              <a:t> </a:t>
            </a:r>
            <a:r>
              <a:rPr lang="en-US" dirty="0" err="1"/>
              <a:t>externen</a:t>
            </a:r>
            <a:r>
              <a:rPr lang="en-US" dirty="0"/>
              <a:t> </a:t>
            </a:r>
            <a:r>
              <a:rPr lang="en-US" dirty="0" err="1"/>
              <a:t>APIabruft</a:t>
            </a:r>
            <a:r>
              <a:rPr lang="en-US" dirty="0"/>
              <a:t>.</a:t>
            </a:r>
          </a:p>
          <a:p>
            <a:r>
              <a:rPr lang="en-US" dirty="0"/>
              <a:t>  </a:t>
            </a:r>
            <a:r>
              <a:rPr lang="en-US" dirty="0" err="1"/>
              <a:t>Diese</a:t>
            </a:r>
            <a:r>
              <a:rPr lang="en-US" dirty="0"/>
              <a:t> </a:t>
            </a:r>
            <a:r>
              <a:rPr lang="en-US" dirty="0" err="1"/>
              <a:t>werden</a:t>
            </a:r>
            <a:r>
              <a:rPr lang="en-US" dirty="0"/>
              <a:t> </a:t>
            </a:r>
            <a:r>
              <a:rPr lang="en-US" dirty="0" err="1"/>
              <a:t>vom</a:t>
            </a:r>
            <a:r>
              <a:rPr lang="en-US" dirty="0"/>
              <a:t> </a:t>
            </a:r>
            <a:r>
              <a:rPr lang="en-US" dirty="0" err="1"/>
              <a:t>HeroSyncService</a:t>
            </a:r>
            <a:r>
              <a:rPr lang="en-US" dirty="0"/>
              <a:t> </a:t>
            </a:r>
            <a:r>
              <a:rPr lang="en-US" dirty="0" err="1"/>
              <a:t>orchestriert</a:t>
            </a:r>
            <a:r>
              <a:rPr lang="en-US" dirty="0"/>
              <a:t>: Er </a:t>
            </a:r>
            <a:r>
              <a:rPr lang="en-US" dirty="0" err="1"/>
              <a:t>ruft</a:t>
            </a:r>
            <a:r>
              <a:rPr lang="en-US" dirty="0"/>
              <a:t> </a:t>
            </a:r>
            <a:r>
              <a:rPr lang="en-US" dirty="0" err="1"/>
              <a:t>beim</a:t>
            </a:r>
            <a:r>
              <a:rPr lang="en-US" dirty="0"/>
              <a:t> Start alle Heroes </a:t>
            </a:r>
            <a:r>
              <a:rPr lang="en-US" dirty="0" err="1"/>
              <a:t>über</a:t>
            </a:r>
            <a:r>
              <a:rPr lang="en-US" dirty="0"/>
              <a:t> den Overfast-Adapter ab und </a:t>
            </a:r>
            <a:r>
              <a:rPr lang="en-US" dirty="0" err="1"/>
              <a:t>speichert</a:t>
            </a:r>
            <a:r>
              <a:rPr lang="en-US" dirty="0"/>
              <a:t> </a:t>
            </a:r>
            <a:r>
              <a:rPr lang="en-US" dirty="0" err="1"/>
              <a:t>sie</a:t>
            </a:r>
            <a:r>
              <a:rPr lang="en-US" dirty="0"/>
              <a:t> </a:t>
            </a:r>
            <a:r>
              <a:rPr lang="en-US" dirty="0" err="1"/>
              <a:t>über</a:t>
            </a:r>
            <a:r>
              <a:rPr lang="en-US" dirty="0"/>
              <a:t> den </a:t>
            </a:r>
            <a:r>
              <a:rPr lang="en-US" dirty="0" err="1"/>
              <a:t>Datenbank</a:t>
            </a:r>
            <a:r>
              <a:rPr lang="en-US" dirty="0"/>
              <a:t>-Adapter. Das Ganze </a:t>
            </a:r>
            <a:r>
              <a:rPr lang="en-US" dirty="0" err="1"/>
              <a:t>wird</a:t>
            </a:r>
            <a:r>
              <a:rPr lang="en-US" dirty="0"/>
              <a:t> </a:t>
            </a:r>
            <a:r>
              <a:rPr lang="en-US" dirty="0" err="1"/>
              <a:t>über</a:t>
            </a:r>
            <a:r>
              <a:rPr lang="en-US" dirty="0"/>
              <a:t> </a:t>
            </a:r>
            <a:r>
              <a:rPr lang="en-US" dirty="0" err="1"/>
              <a:t>einen</a:t>
            </a:r>
            <a:r>
              <a:rPr lang="en-US" dirty="0"/>
              <a:t> Management-Command </a:t>
            </a:r>
            <a:r>
              <a:rPr lang="en-US" dirty="0" err="1"/>
              <a:t>ausgelöst</a:t>
            </a:r>
            <a:r>
              <a:rPr lang="en-US" dirty="0"/>
              <a:t>, der </a:t>
            </a:r>
            <a:r>
              <a:rPr lang="en-US" dirty="0" err="1"/>
              <a:t>auch</a:t>
            </a:r>
            <a:r>
              <a:rPr lang="en-US" dirty="0"/>
              <a:t> </a:t>
            </a:r>
            <a:r>
              <a:rPr lang="en-US" dirty="0" err="1"/>
              <a:t>prüft</a:t>
            </a:r>
            <a:r>
              <a:rPr lang="en-US" dirty="0"/>
              <a:t> </a:t>
            </a:r>
            <a:r>
              <a:rPr lang="en-US" dirty="0" err="1"/>
              <a:t>ob</a:t>
            </a:r>
            <a:r>
              <a:rPr lang="en-US" dirty="0"/>
              <a:t> die </a:t>
            </a:r>
            <a:r>
              <a:rPr lang="en-US" dirty="0" err="1"/>
              <a:t>Daten</a:t>
            </a:r>
            <a:r>
              <a:rPr lang="en-US" dirty="0"/>
              <a:t> </a:t>
            </a:r>
            <a:r>
              <a:rPr lang="en-US" dirty="0" err="1"/>
              <a:t>aktuell</a:t>
            </a:r>
            <a:r>
              <a:rPr lang="en-US" dirty="0"/>
              <a:t> </a:t>
            </a:r>
            <a:r>
              <a:rPr lang="en-US" dirty="0" err="1"/>
              <a:t>genug</a:t>
            </a:r>
            <a:r>
              <a:rPr lang="en-US" dirty="0"/>
              <a:t> </a:t>
            </a:r>
            <a:r>
              <a:rPr lang="en-US" dirty="0" err="1"/>
              <a:t>sind</a:t>
            </a:r>
            <a:r>
              <a:rPr lang="en-US" dirty="0"/>
              <a:t> — und </a:t>
            </a:r>
            <a:r>
              <a:rPr lang="en-US" dirty="0" err="1"/>
              <a:t>später</a:t>
            </a:r>
            <a:r>
              <a:rPr lang="en-US" dirty="0"/>
              <a:t> </a:t>
            </a:r>
            <a:r>
              <a:rPr lang="en-US" dirty="0" err="1"/>
              <a:t>über</a:t>
            </a:r>
            <a:r>
              <a:rPr lang="en-US" dirty="0"/>
              <a:t> </a:t>
            </a:r>
            <a:r>
              <a:rPr lang="en-US" dirty="0" err="1"/>
              <a:t>einen</a:t>
            </a:r>
            <a:r>
              <a:rPr lang="en-US" dirty="0"/>
              <a:t> </a:t>
            </a:r>
            <a:r>
              <a:rPr lang="en-US" dirty="0" err="1"/>
              <a:t>eigenen</a:t>
            </a:r>
          </a:p>
          <a:p>
            <a:r>
              <a:rPr lang="en-US" dirty="0"/>
              <a:t>  </a:t>
            </a:r>
            <a:r>
              <a:rPr lang="en-US" dirty="0" err="1"/>
              <a:t>SyncController</a:t>
            </a:r>
            <a:r>
              <a:rPr lang="en-US" dirty="0"/>
              <a:t>-Endpoint </a:t>
            </a:r>
            <a:r>
              <a:rPr lang="en-US" dirty="0" err="1"/>
              <a:t>manuell</a:t>
            </a:r>
            <a:r>
              <a:rPr lang="en-US" dirty="0"/>
              <a:t> </a:t>
            </a:r>
            <a:r>
              <a:rPr lang="en-US" dirty="0" err="1"/>
              <a:t>auslösbar</a:t>
            </a:r>
            <a:r>
              <a:rPr lang="en-US" dirty="0"/>
              <a:t> sein </a:t>
            </a:r>
            <a:r>
              <a:rPr lang="en-US" dirty="0" err="1"/>
              <a:t>wird</a:t>
            </a:r>
            <a:r>
              <a:rPr lang="en-US" dirty="0"/>
              <a:t>.</a:t>
            </a:r>
          </a:p>
          <a:p>
            <a:r>
              <a:rPr lang="en-US" dirty="0"/>
              <a:t>  An der </a:t>
            </a:r>
            <a:r>
              <a:rPr lang="en-US" dirty="0" err="1"/>
              <a:t>Außenseite</a:t>
            </a:r>
            <a:r>
              <a:rPr lang="en-US" dirty="0"/>
              <a:t> </a:t>
            </a:r>
            <a:r>
              <a:rPr lang="en-US" dirty="0" err="1"/>
              <a:t>stehen</a:t>
            </a:r>
            <a:r>
              <a:rPr lang="en-US" dirty="0"/>
              <a:t> die Views — function-based Endpoints für Heroes und Team-</a:t>
            </a:r>
            <a:r>
              <a:rPr lang="en-US" dirty="0" err="1"/>
              <a:t>Kompositionen</a:t>
            </a:r>
            <a:r>
              <a:rPr lang="en-US" dirty="0"/>
              <a:t>. Sie </a:t>
            </a:r>
            <a:r>
              <a:rPr lang="en-US" dirty="0" err="1"/>
              <a:t>empfangen</a:t>
            </a:r>
            <a:r>
              <a:rPr lang="en-US" dirty="0"/>
              <a:t> HTTP-</a:t>
            </a:r>
            <a:r>
              <a:rPr lang="en-US" dirty="0" err="1"/>
              <a:t>Anfragen</a:t>
            </a:r>
            <a:r>
              <a:rPr lang="en-US" dirty="0"/>
              <a:t>, </a:t>
            </a:r>
            <a:r>
              <a:rPr lang="en-US" dirty="0" err="1"/>
              <a:t>rufen</a:t>
            </a:r>
            <a:r>
              <a:rPr lang="en-US" dirty="0"/>
              <a:t> die Adapter auf, und </a:t>
            </a:r>
            <a:r>
              <a:rPr lang="en-US" dirty="0" err="1"/>
              <a:t>geben</a:t>
            </a:r>
            <a:r>
              <a:rPr lang="en-US" dirty="0"/>
              <a:t> die </a:t>
            </a:r>
            <a:r>
              <a:rPr lang="en-US" dirty="0" err="1"/>
              <a:t>Daten</a:t>
            </a:r>
            <a:r>
              <a:rPr lang="en-US" dirty="0"/>
              <a:t> </a:t>
            </a:r>
            <a:r>
              <a:rPr lang="en-US" dirty="0" err="1"/>
              <a:t>über</a:t>
            </a:r>
            <a:r>
              <a:rPr lang="en-US" dirty="0"/>
              <a:t> Serializer </a:t>
            </a:r>
            <a:r>
              <a:rPr lang="en-US" dirty="0" err="1"/>
              <a:t>als</a:t>
            </a:r>
            <a:r>
              <a:rPr lang="en-US" dirty="0"/>
              <a:t> JSON </a:t>
            </a:r>
            <a:r>
              <a:rPr lang="en-US" dirty="0" err="1"/>
              <a:t>zurück</a:t>
            </a:r>
            <a:r>
              <a:rPr lang="en-US" dirty="0"/>
              <a:t>. Dabei </a:t>
            </a:r>
            <a:r>
              <a:rPr lang="en-US" dirty="0" err="1"/>
              <a:t>unterscheiden</a:t>
            </a:r>
            <a:r>
              <a:rPr lang="en-US" dirty="0"/>
              <a:t> </a:t>
            </a:r>
            <a:r>
              <a:rPr lang="en-US" dirty="0" err="1"/>
              <a:t>wir</a:t>
            </a:r>
            <a:r>
              <a:rPr lang="en-US" dirty="0"/>
              <a:t> </a:t>
            </a:r>
            <a:r>
              <a:rPr lang="en-US" dirty="0" err="1"/>
              <a:t>zwischen</a:t>
            </a:r>
            <a:r>
              <a:rPr lang="en-US" dirty="0"/>
              <a:t> </a:t>
            </a:r>
            <a:r>
              <a:rPr lang="en-US" dirty="0" err="1"/>
              <a:t>einer</a:t>
            </a:r>
            <a:r>
              <a:rPr lang="en-US" dirty="0"/>
              <a:t> </a:t>
            </a:r>
            <a:r>
              <a:rPr lang="en-US" dirty="0" err="1"/>
              <a:t>kompakten</a:t>
            </a:r>
            <a:r>
              <a:rPr lang="en-US" dirty="0"/>
              <a:t> </a:t>
            </a:r>
            <a:r>
              <a:rPr lang="en-US" dirty="0" err="1"/>
              <a:t>Listenansicht</a:t>
            </a:r>
            <a:r>
              <a:rPr lang="en-US" dirty="0"/>
              <a:t> und </a:t>
            </a:r>
            <a:r>
              <a:rPr lang="en-US" dirty="0" err="1"/>
              <a:t>einer</a:t>
            </a:r>
            <a:r>
              <a:rPr lang="en-US" dirty="0"/>
              <a:t> </a:t>
            </a:r>
            <a:r>
              <a:rPr lang="en-US" dirty="0" err="1"/>
              <a:t>Detailansicht</a:t>
            </a:r>
            <a:r>
              <a:rPr lang="en-US" dirty="0"/>
              <a:t> </a:t>
            </a:r>
            <a:r>
              <a:rPr lang="en-US" dirty="0" err="1"/>
              <a:t>mit</a:t>
            </a:r>
            <a:r>
              <a:rPr lang="en-US" dirty="0"/>
              <a:t> </a:t>
            </a:r>
            <a:r>
              <a:rPr lang="en-US" dirty="0" err="1"/>
              <a:t>allen</a:t>
            </a:r>
            <a:r>
              <a:rPr lang="en-US" dirty="0"/>
              <a:t> </a:t>
            </a:r>
            <a:r>
              <a:rPr lang="en-US" dirty="0" err="1"/>
              <a:t>Feldern</a:t>
            </a:r>
            <a:r>
              <a:rPr lang="en-US" dirty="0"/>
              <a:t> </a:t>
            </a:r>
            <a:r>
              <a:rPr lang="en-US" dirty="0" err="1"/>
              <a:t>inklusive</a:t>
            </a:r>
            <a:r>
              <a:rPr lang="en-US" dirty="0"/>
              <a:t> Abilities.</a:t>
            </a:r>
          </a:p>
          <a:p>
            <a:r>
              <a:rPr lang="en-US" dirty="0"/>
              <a:t>  Das </a:t>
            </a:r>
            <a:r>
              <a:rPr lang="en-US" dirty="0" err="1"/>
              <a:t>Datenbankschema</a:t>
            </a:r>
            <a:r>
              <a:rPr lang="en-US" dirty="0"/>
              <a:t> </a:t>
            </a:r>
            <a:r>
              <a:rPr lang="en-US" dirty="0" err="1"/>
              <a:t>wird</a:t>
            </a:r>
            <a:r>
              <a:rPr lang="en-US" dirty="0"/>
              <a:t> </a:t>
            </a:r>
            <a:r>
              <a:rPr lang="en-US" dirty="0" err="1"/>
              <a:t>über</a:t>
            </a:r>
            <a:r>
              <a:rPr lang="en-US" dirty="0"/>
              <a:t> Django Migrations </a:t>
            </a:r>
            <a:r>
              <a:rPr lang="en-US" dirty="0" err="1"/>
              <a:t>versioniert</a:t>
            </a:r>
            <a:r>
              <a:rPr lang="en-US" dirty="0"/>
              <a:t> und </a:t>
            </a:r>
            <a:r>
              <a:rPr lang="en-US" dirty="0" err="1"/>
              <a:t>beim</a:t>
            </a:r>
            <a:r>
              <a:rPr lang="en-US" dirty="0"/>
              <a:t> Start </a:t>
            </a:r>
            <a:r>
              <a:rPr lang="en-US" dirty="0" err="1"/>
              <a:t>automatisch</a:t>
            </a:r>
            <a:r>
              <a:rPr lang="en-US" dirty="0"/>
              <a:t> </a:t>
            </a:r>
            <a:r>
              <a:rPr lang="en-US" dirty="0" err="1"/>
              <a:t>angewendet</a:t>
            </a:r>
            <a:r>
              <a:rPr lang="en-US" dirty="0"/>
              <a:t>.</a:t>
            </a:r>
          </a:p>
          <a:p>
            <a:r>
              <a:rPr lang="en-US" dirty="0"/>
              <a:t>  Der </a:t>
            </a:r>
            <a:r>
              <a:rPr lang="en-US" dirty="0" err="1"/>
              <a:t>Kernvorteil</a:t>
            </a:r>
            <a:r>
              <a:rPr lang="en-US" dirty="0"/>
              <a:t> des </a:t>
            </a:r>
            <a:r>
              <a:rPr lang="en-US" dirty="0" err="1"/>
              <a:t>ganzen</a:t>
            </a:r>
            <a:r>
              <a:rPr lang="en-US" dirty="0"/>
              <a:t> Ansatzes: </a:t>
            </a:r>
            <a:r>
              <a:rPr lang="en-US" dirty="0" err="1"/>
              <a:t>Jede</a:t>
            </a:r>
            <a:r>
              <a:rPr lang="en-US" dirty="0"/>
              <a:t> </a:t>
            </a:r>
            <a:r>
              <a:rPr lang="en-US" dirty="0" err="1"/>
              <a:t>Komponente</a:t>
            </a:r>
            <a:r>
              <a:rPr lang="en-US" dirty="0"/>
              <a:t> </a:t>
            </a:r>
            <a:r>
              <a:rPr lang="en-US" dirty="0" err="1"/>
              <a:t>ist</a:t>
            </a:r>
            <a:r>
              <a:rPr lang="en-US" dirty="0"/>
              <a:t> </a:t>
            </a:r>
            <a:r>
              <a:rPr lang="en-US" dirty="0" err="1"/>
              <a:t>austauschbar</a:t>
            </a:r>
            <a:r>
              <a:rPr lang="en-US" dirty="0"/>
              <a:t> und </a:t>
            </a:r>
            <a:r>
              <a:rPr lang="en-US" dirty="0" err="1"/>
              <a:t>unabhängig</a:t>
            </a:r>
            <a:r>
              <a:rPr lang="en-US" dirty="0"/>
              <a:t> </a:t>
            </a:r>
            <a:r>
              <a:rPr lang="en-US" dirty="0" err="1"/>
              <a:t>testbar</a:t>
            </a:r>
            <a:r>
              <a:rPr lang="en-US" dirty="0"/>
              <a:t>.</a:t>
            </a:r>
          </a:p>
        </p:txBody>
      </p:sp>
      <p:sp>
        <p:nvSpPr>
          <p:cNvPr id="4" name="Slide Number Placeholder 3">
            <a:extLst>
              <a:ext uri="{FF2B5EF4-FFF2-40B4-BE49-F238E27FC236}">
                <a16:creationId xmlns:a16="http://schemas.microsoft.com/office/drawing/2014/main" id="{5BE065A3-37D2-A806-9EBD-07B66631ACC5}"/>
              </a:ext>
            </a:extLst>
          </p:cNvPr>
          <p:cNvSpPr>
            <a:spLocks noGrp="1"/>
          </p:cNvSpPr>
          <p:nvPr>
            <p:ph type="sldNum" sz="quarter" idx="5"/>
          </p:nvPr>
        </p:nvSpPr>
        <p:spPr/>
        <p:txBody>
          <a:bodyPr/>
          <a:lstStyle/>
          <a:p>
            <a:fld id="{60D61062-E9D8-4DAB-8118-1CF0D558F973}" type="slidenum">
              <a:rPr lang="en-US" smtClean="0"/>
              <a:t>12</a:t>
            </a:fld>
            <a:endParaRPr lang="en-US"/>
          </a:p>
        </p:txBody>
      </p:sp>
    </p:spTree>
    <p:extLst>
      <p:ext uri="{BB962C8B-B14F-4D97-AF65-F5344CB8AC3E}">
        <p14:creationId xmlns:p14="http://schemas.microsoft.com/office/powerpoint/2010/main" val="1588132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C717-CE25-1E7C-54CE-3F1C445C6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BF9-6DDE-E429-702B-16A320FA36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F9B575-3479-3967-22C8-A6FA67319104}"/>
              </a:ext>
            </a:extLst>
          </p:cNvPr>
          <p:cNvSpPr>
            <a:spLocks noGrp="1"/>
          </p:cNvSpPr>
          <p:nvPr>
            <p:ph type="body" idx="1"/>
          </p:nvPr>
        </p:nvSpPr>
        <p:spPr/>
        <p:txBody>
          <a:bodyPr/>
          <a:lstStyle/>
          <a:p>
            <a:r>
              <a:rPr lang="en-US"/>
              <a:t>leo OverFast API Adapter</a:t>
            </a:r>
          </a:p>
          <a:p>
            <a:pPr marL="285750" indent="-285750">
              <a:buFont typeface="Calibri"/>
              <a:buChar char="-"/>
            </a:pPr>
            <a:r>
              <a:rPr lang="en-US">
                <a:ea typeface="+mn-lt"/>
                <a:cs typeface="+mn-lt"/>
              </a:rPr>
              <a:t>Only Component that contacts external API</a:t>
            </a:r>
          </a:p>
          <a:p>
            <a:pPr marL="285750" indent="-285750">
              <a:buFont typeface="Calibri"/>
              <a:buChar char="-"/>
            </a:pPr>
            <a:r>
              <a:rPr lang="en-US"/>
              <a:t>3 API Calls per sync /</a:t>
            </a:r>
            <a:r>
              <a:rPr lang="en-US" err="1"/>
              <a:t>heroes</a:t>
            </a:r>
            <a:r>
              <a:rPr lang="en-US"/>
              <a:t> /hero/{key}, /heroes/stats</a:t>
            </a:r>
          </a:p>
          <a:p>
            <a:pPr marL="285750" indent="-285750">
              <a:buFont typeface="Calibri"/>
              <a:buChar char="-"/>
            </a:pPr>
            <a:r>
              <a:rPr lang="en-US"/>
              <a:t>Map raw JSON to internal </a:t>
            </a:r>
            <a:r>
              <a:rPr lang="en-US" err="1"/>
              <a:t>HeroEntity</a:t>
            </a:r>
            <a:r>
              <a:rPr lang="en-US"/>
              <a:t> Objects</a:t>
            </a:r>
          </a:p>
          <a:p>
            <a:pPr marL="285750" indent="-285750">
              <a:buFont typeface="Calibri"/>
              <a:buChar char="-"/>
            </a:pPr>
            <a:r>
              <a:rPr lang="en-US" err="1"/>
              <a:t>HeroSync</a:t>
            </a:r>
          </a:p>
          <a:p>
            <a:r>
              <a:rPr lang="en-US"/>
              <a:t>Fault Tolerance</a:t>
            </a:r>
          </a:p>
          <a:p>
            <a:pPr marL="285750" indent="-285750">
              <a:buFont typeface="Calibri"/>
              <a:buChar char="-"/>
            </a:pPr>
            <a:r>
              <a:rPr lang="en-US"/>
              <a:t>Local Cache -</a:t>
            </a:r>
          </a:p>
          <a:p>
            <a:pPr marL="285750" indent="-285750">
              <a:buFont typeface="Calibri"/>
              <a:buChar char="-"/>
            </a:pPr>
            <a:r>
              <a:rPr lang="en-US"/>
              <a:t>Retry + Timeout </a:t>
            </a:r>
          </a:p>
          <a:p>
            <a:pPr marL="285750" indent="-285750">
              <a:buFont typeface="Calibri"/>
              <a:buChar char="-"/>
            </a:pPr>
            <a:r>
              <a:rPr lang="en-US"/>
              <a:t>Graceful Degradation</a:t>
            </a:r>
          </a:p>
          <a:p>
            <a:pPr marL="285750" indent="-285750">
              <a:buFont typeface="Calibri"/>
              <a:buChar char="-"/>
            </a:pPr>
            <a:r>
              <a:rPr lang="en-US"/>
              <a:t>Last-Synced Timestamp</a:t>
            </a:r>
          </a:p>
        </p:txBody>
      </p:sp>
      <p:sp>
        <p:nvSpPr>
          <p:cNvPr id="4" name="Slide Number Placeholder 3">
            <a:extLst>
              <a:ext uri="{FF2B5EF4-FFF2-40B4-BE49-F238E27FC236}">
                <a16:creationId xmlns:a16="http://schemas.microsoft.com/office/drawing/2014/main" id="{06AEF177-C111-45BC-8216-63404371770A}"/>
              </a:ext>
            </a:extLst>
          </p:cNvPr>
          <p:cNvSpPr>
            <a:spLocks noGrp="1"/>
          </p:cNvSpPr>
          <p:nvPr>
            <p:ph type="sldNum" sz="quarter" idx="5"/>
          </p:nvPr>
        </p:nvSpPr>
        <p:spPr/>
        <p:txBody>
          <a:bodyPr/>
          <a:lstStyle/>
          <a:p>
            <a:fld id="{60D61062-E9D8-4DAB-8118-1CF0D558F973}" type="slidenum">
              <a:rPr lang="en-US" smtClean="0"/>
              <a:t>13</a:t>
            </a:fld>
            <a:endParaRPr lang="en-US"/>
          </a:p>
        </p:txBody>
      </p:sp>
    </p:spTree>
    <p:extLst>
      <p:ext uri="{BB962C8B-B14F-4D97-AF65-F5344CB8AC3E}">
        <p14:creationId xmlns:p14="http://schemas.microsoft.com/office/powerpoint/2010/main" val="4028203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7F47E-CA25-A6C8-CEC0-D281DCD66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39E17-7266-1061-DC87-56E18ABE80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82B4BC-3554-53C8-4FB0-419EE04D786A}"/>
              </a:ext>
            </a:extLst>
          </p:cNvPr>
          <p:cNvSpPr>
            <a:spLocks noGrp="1"/>
          </p:cNvSpPr>
          <p:nvPr>
            <p:ph type="body" idx="1"/>
          </p:nvPr>
        </p:nvSpPr>
        <p:spPr/>
        <p:txBody>
          <a:bodyPr/>
          <a:lstStyle/>
          <a:p>
            <a:r>
              <a:rPr lang="en-US"/>
              <a:t>fabi</a:t>
            </a:r>
          </a:p>
        </p:txBody>
      </p:sp>
      <p:sp>
        <p:nvSpPr>
          <p:cNvPr id="4" name="Slide Number Placeholder 3">
            <a:extLst>
              <a:ext uri="{FF2B5EF4-FFF2-40B4-BE49-F238E27FC236}">
                <a16:creationId xmlns:a16="http://schemas.microsoft.com/office/drawing/2014/main" id="{D091FCA5-254B-AC95-785B-64CA7F2F2B5E}"/>
              </a:ext>
            </a:extLst>
          </p:cNvPr>
          <p:cNvSpPr>
            <a:spLocks noGrp="1"/>
          </p:cNvSpPr>
          <p:nvPr>
            <p:ph type="sldNum" sz="quarter" idx="5"/>
          </p:nvPr>
        </p:nvSpPr>
        <p:spPr/>
        <p:txBody>
          <a:bodyPr/>
          <a:lstStyle/>
          <a:p>
            <a:fld id="{60D61062-E9D8-4DAB-8118-1CF0D558F973}" type="slidenum">
              <a:rPr lang="en-US" smtClean="0"/>
              <a:t>14</a:t>
            </a:fld>
            <a:endParaRPr lang="en-US"/>
          </a:p>
        </p:txBody>
      </p:sp>
    </p:spTree>
    <p:extLst>
      <p:ext uri="{BB962C8B-B14F-4D97-AF65-F5344CB8AC3E}">
        <p14:creationId xmlns:p14="http://schemas.microsoft.com/office/powerpoint/2010/main" val="2063441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fabi</a:t>
            </a:r>
          </a:p>
          <a:p>
            <a:r>
              <a:rPr lang="en-US"/>
              <a:t>gebündelte test = ganz toll</a:t>
            </a:r>
          </a:p>
        </p:txBody>
      </p:sp>
      <p:sp>
        <p:nvSpPr>
          <p:cNvPr id="4" name="Slide Number Placeholder 3"/>
          <p:cNvSpPr>
            <a:spLocks noGrp="1"/>
          </p:cNvSpPr>
          <p:nvPr>
            <p:ph type="sldNum" sz="quarter" idx="5"/>
          </p:nvPr>
        </p:nvSpPr>
        <p:spPr/>
        <p:txBody>
          <a:bodyPr/>
          <a:lstStyle/>
          <a:p>
            <a:fld id="{60D61062-E9D8-4DAB-8118-1CF0D558F973}" type="slidenum">
              <a:rPr lang="en-US" smtClean="0"/>
              <a:t>15</a:t>
            </a:fld>
            <a:endParaRPr lang="en-US"/>
          </a:p>
        </p:txBody>
      </p:sp>
    </p:spTree>
    <p:extLst>
      <p:ext uri="{BB962C8B-B14F-4D97-AF65-F5344CB8AC3E}">
        <p14:creationId xmlns:p14="http://schemas.microsoft.com/office/powerpoint/2010/main" val="1940387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fabi</a:t>
            </a:r>
          </a:p>
        </p:txBody>
      </p:sp>
      <p:sp>
        <p:nvSpPr>
          <p:cNvPr id="4" name="Slide Number Placeholder 3"/>
          <p:cNvSpPr>
            <a:spLocks noGrp="1"/>
          </p:cNvSpPr>
          <p:nvPr>
            <p:ph type="sldNum" sz="quarter" idx="5"/>
          </p:nvPr>
        </p:nvSpPr>
        <p:spPr/>
        <p:txBody>
          <a:bodyPr/>
          <a:lstStyle/>
          <a:p>
            <a:fld id="{60D61062-E9D8-4DAB-8118-1CF0D558F973}" type="slidenum">
              <a:rPr lang="en-US" smtClean="0"/>
              <a:t>16</a:t>
            </a:fld>
            <a:endParaRPr lang="en-US"/>
          </a:p>
        </p:txBody>
      </p:sp>
    </p:spTree>
    <p:extLst>
      <p:ext uri="{BB962C8B-B14F-4D97-AF65-F5344CB8AC3E}">
        <p14:creationId xmlns:p14="http://schemas.microsoft.com/office/powerpoint/2010/main" val="128511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fabi</a:t>
            </a:r>
          </a:p>
        </p:txBody>
      </p:sp>
      <p:sp>
        <p:nvSpPr>
          <p:cNvPr id="4" name="Slide Number Placeholder 3"/>
          <p:cNvSpPr>
            <a:spLocks noGrp="1"/>
          </p:cNvSpPr>
          <p:nvPr>
            <p:ph type="sldNum" sz="quarter" idx="5"/>
          </p:nvPr>
        </p:nvSpPr>
        <p:spPr/>
        <p:txBody>
          <a:bodyPr/>
          <a:lstStyle/>
          <a:p>
            <a:fld id="{60D61062-E9D8-4DAB-8118-1CF0D558F973}" type="slidenum">
              <a:rPr lang="en-US" smtClean="0"/>
              <a:t>17</a:t>
            </a:fld>
            <a:endParaRPr lang="en-US"/>
          </a:p>
        </p:txBody>
      </p:sp>
    </p:spTree>
    <p:extLst>
      <p:ext uri="{BB962C8B-B14F-4D97-AF65-F5344CB8AC3E}">
        <p14:creationId xmlns:p14="http://schemas.microsoft.com/office/powerpoint/2010/main" val="2885678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FBB8B-640F-08E1-6768-17F6C352A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F5BE1-6FA4-0D86-AC65-5EDC58A2B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24B2C-3184-D558-8CD7-42A2F425C890}"/>
              </a:ext>
            </a:extLst>
          </p:cNvPr>
          <p:cNvSpPr>
            <a:spLocks noGrp="1"/>
          </p:cNvSpPr>
          <p:nvPr>
            <p:ph type="body" idx="1"/>
          </p:nvPr>
        </p:nvSpPr>
        <p:spPr/>
        <p:txBody>
          <a:bodyPr/>
          <a:lstStyle/>
          <a:p>
            <a:r>
              <a:rPr lang="en-US"/>
              <a:t>ursprünglich jest verwenden, da weit verbreitet und empfohlen und auch anbindung mit typescript über babel, aber integration/setup mit typescript war nicht möglich</a:t>
            </a:r>
          </a:p>
          <a:p>
            <a:r>
              <a:rPr lang="en-US"/>
              <a:t>sprung zu Vitest, was nativ zu Vite ist</a:t>
            </a:r>
          </a:p>
        </p:txBody>
      </p:sp>
      <p:sp>
        <p:nvSpPr>
          <p:cNvPr id="4" name="Slide Number Placeholder 3">
            <a:extLst>
              <a:ext uri="{FF2B5EF4-FFF2-40B4-BE49-F238E27FC236}">
                <a16:creationId xmlns:a16="http://schemas.microsoft.com/office/drawing/2014/main" id="{D86C2FC2-74BD-C3F5-1957-D11E78F456D4}"/>
              </a:ext>
            </a:extLst>
          </p:cNvPr>
          <p:cNvSpPr>
            <a:spLocks noGrp="1"/>
          </p:cNvSpPr>
          <p:nvPr>
            <p:ph type="sldNum" sz="quarter" idx="5"/>
          </p:nvPr>
        </p:nvSpPr>
        <p:spPr/>
        <p:txBody>
          <a:bodyPr/>
          <a:lstStyle/>
          <a:p>
            <a:fld id="{60D61062-E9D8-4DAB-8118-1CF0D558F973}" type="slidenum">
              <a:rPr lang="en-US" smtClean="0"/>
              <a:t>18</a:t>
            </a:fld>
            <a:endParaRPr lang="en-US"/>
          </a:p>
        </p:txBody>
      </p:sp>
    </p:spTree>
    <p:extLst>
      <p:ext uri="{BB962C8B-B14F-4D97-AF65-F5344CB8AC3E}">
        <p14:creationId xmlns:p14="http://schemas.microsoft.com/office/powerpoint/2010/main" val="954720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B1662-EC8B-52FB-0987-7EA3CA1A6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844D8-3FEB-A060-B6F3-0F249DA141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F5718B-8520-34AE-90DE-BBB486076B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EE18D-8F50-E020-8034-6FDB32A15AFF}"/>
              </a:ext>
            </a:extLst>
          </p:cNvPr>
          <p:cNvSpPr>
            <a:spLocks noGrp="1"/>
          </p:cNvSpPr>
          <p:nvPr>
            <p:ph type="sldNum" sz="quarter" idx="5"/>
          </p:nvPr>
        </p:nvSpPr>
        <p:spPr/>
        <p:txBody>
          <a:bodyPr/>
          <a:lstStyle/>
          <a:p>
            <a:fld id="{60D61062-E9D8-4DAB-8118-1CF0D558F973}" type="slidenum">
              <a:rPr lang="en-US" smtClean="0"/>
              <a:t>19</a:t>
            </a:fld>
            <a:endParaRPr lang="en-US"/>
          </a:p>
        </p:txBody>
      </p:sp>
    </p:spTree>
    <p:extLst>
      <p:ext uri="{BB962C8B-B14F-4D97-AF65-F5344CB8AC3E}">
        <p14:creationId xmlns:p14="http://schemas.microsoft.com/office/powerpoint/2010/main" val="148744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337485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958567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2143015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0BD348-92FB-45D5-94E3-8A197772B7D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086570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0BD348-92FB-45D5-94E3-8A197772B7D9}"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3382819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0BD348-92FB-45D5-94E3-8A197772B7D9}"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3864995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0BD348-92FB-45D5-94E3-8A197772B7D9}"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46057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0BD348-92FB-45D5-94E3-8A197772B7D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405911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740BD348-92FB-45D5-94E3-8A197772B7D9}" type="datetimeFigureOut">
              <a:rPr lang="en-US" smtClean="0"/>
              <a:t>6/29/2026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403942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atin typeface="Cascadia Code" panose="020B0609020000020004" pitchFamily="49" charset="0"/>
              </a:defRPr>
            </a:lvl1pPr>
          </a:lstStyle>
          <a:p>
            <a:r>
              <a:rPr lang="en-US"/>
              <a:t>Click icon to add picture</a:t>
            </a:r>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0BD348-92FB-45D5-94E3-8A197772B7D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565584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3808587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740BD348-92FB-45D5-94E3-8A197772B7D9}"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2001319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2486545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2442090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latin typeface="Cascadia Code" panose="020B0609020000020004" pitchFamily="49" charset="0"/>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latin typeface="Cascadia Code" panose="020B0609020000020004" pitchFamily="49" charset="0"/>
              </a:defRPr>
            </a:lvl1pPr>
          </a:lstStyle>
          <a:p>
            <a:fld id="{740BD348-92FB-45D5-94E3-8A197772B7D9}" type="datetimeFigureOut">
              <a:rPr lang="en-US" smtClean="0"/>
              <a:pPr/>
              <a:t>6/29/2026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latin typeface="Cascadia Code" panose="020B0609020000020004" pitchFamily="49" charset="0"/>
              </a:defRPr>
            </a:lvl1pPr>
          </a:lstStyle>
          <a:p>
            <a:fld id="{05A7E34D-6B37-4BA6-A354-C6C091B434FB}" type="slidenum">
              <a:rPr lang="en-US" smtClean="0"/>
              <a:pPr/>
              <a:t>‹#›</a:t>
            </a:fld>
            <a:endParaRPr lang="en-US"/>
          </a:p>
        </p:txBody>
      </p:sp>
    </p:spTree>
    <p:extLst>
      <p:ext uri="{BB962C8B-B14F-4D97-AF65-F5344CB8AC3E}">
        <p14:creationId xmlns:p14="http://schemas.microsoft.com/office/powerpoint/2010/main" val="1300848249"/>
      </p:ext>
    </p:extLst>
  </p:cSld>
  <p:clrMap bg1="dk1" tx1="lt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Lst>
  <p:txStyles>
    <p:titleStyle>
      <a:lvl1pPr algn="l" defTabSz="457200" rtl="0" eaLnBrk="1" latinLnBrk="0" hangingPunct="1">
        <a:spcBef>
          <a:spcPct val="0"/>
        </a:spcBef>
        <a:buNone/>
        <a:defRPr sz="4000" b="1" kern="1200">
          <a:solidFill>
            <a:srgbClr val="FEFEFE"/>
          </a:solidFill>
          <a:latin typeface="Cascadia Code" panose="020B0609020000020004" pitchFamily="49"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Cascadia Code" panose="020B0609020000020004" pitchFamily="49" charset="0"/>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Cascadia Code" panose="020B0609020000020004" pitchFamily="49" charset="0"/>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Cascadia Code" panose="020B0609020000020004" pitchFamily="49" charset="0"/>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Cascadia Code" panose="020B0609020000020004" pitchFamily="49" charset="0"/>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Cascadia Code" panose="020B0609020000020004" pitchFamily="49"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4.jpe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hyperlink" Target="https://www.svgrepo.com/svg/353657/django-icon" TargetMode="External"/><Relationship Id="rId13" Type="http://schemas.openxmlformats.org/officeDocument/2006/relationships/hyperlink" Target="https://techicons.dev/icons/react" TargetMode="External"/><Relationship Id="rId3" Type="http://schemas.openxmlformats.org/officeDocument/2006/relationships/hyperlink" Target="https://interfaceingame.com/screenshots/overwatch-2-character-selection/" TargetMode="External"/><Relationship Id="rId7" Type="http://schemas.openxmlformats.org/officeDocument/2006/relationships/hyperlink" Target="https://overwatch.blizzard.com/en-gb/news/23857518/initializing-systems-updating-competitive-play-for-overwatch-2/" TargetMode="External"/><Relationship Id="rId12" Type="http://schemas.openxmlformats.org/officeDocument/2006/relationships/hyperlink" Target="https://techicons.dev/icons/python" TargetMode="External"/><Relationship Id="rId2" Type="http://schemas.openxmlformats.org/officeDocument/2006/relationships/notesSlide" Target="../notesSlides/notesSlide19.xml"/><Relationship Id="rId16" Type="http://schemas.openxmlformats.org/officeDocument/2006/relationships/hyperlink" Target="https://www.streamlinehq.com/icons/download/vitest--31103" TargetMode="External"/><Relationship Id="rId1" Type="http://schemas.openxmlformats.org/officeDocument/2006/relationships/slideLayout" Target="../slideLayouts/slideLayout1.xml"/><Relationship Id="rId6" Type="http://schemas.openxmlformats.org/officeDocument/2006/relationships/hyperlink" Target="https://esports.gg/news/overwatch/overwatch-conquest-event-grants-over-90-loot-boxes/" TargetMode="External"/><Relationship Id="rId11" Type="http://schemas.openxmlformats.org/officeDocument/2006/relationships/hyperlink" Target="https://techicons.dev/icons/postgresql" TargetMode="External"/><Relationship Id="rId5" Type="http://schemas.openxmlformats.org/officeDocument/2006/relationships/hyperlink" Target="https://overwatch.fandom.com/wiki/Mizuki" TargetMode="External"/><Relationship Id="rId15" Type="http://schemas.openxmlformats.org/officeDocument/2006/relationships/hyperlink" Target="https://techicons.dev/icons/typescript" TargetMode="External"/><Relationship Id="rId10" Type="http://schemas.openxmlformats.org/officeDocument/2006/relationships/hyperlink" Target="https://techicons.dev/icons/playwright" TargetMode="External"/><Relationship Id="rId4" Type="http://schemas.openxmlformats.org/officeDocument/2006/relationships/hyperlink" Target="https://overwatch.fandom.com/wiki/King%27s_Row" TargetMode="External"/><Relationship Id="rId9" Type="http://schemas.openxmlformats.org/officeDocument/2006/relationships/hyperlink" Target="https://techicons.dev/icons/docker" TargetMode="External"/><Relationship Id="rId14" Type="http://schemas.openxmlformats.org/officeDocument/2006/relationships/hyperlink" Target="https://techicons.dev/icons/sonarqub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2D5E-789E-474C-70AE-A01E474209E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63834BC-5ECC-DBE5-570B-3FCA9E1B6B4D}"/>
              </a:ext>
            </a:extLst>
          </p:cNvPr>
          <p:cNvSpPr/>
          <p:nvPr/>
        </p:nvSpPr>
        <p:spPr>
          <a:xfrm>
            <a:off x="0" y="0"/>
            <a:ext cx="12192000" cy="6858000"/>
          </a:xfrm>
          <a:prstGeom prst="rect">
            <a:avLst/>
          </a:prstGeom>
          <a:pattFill prst="wdUpDiag">
            <a:fgClr>
              <a:srgbClr val="212121"/>
            </a:fgClr>
            <a:bgClr>
              <a:schemeClr val="bg1"/>
            </a:bgClr>
          </a:patt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1990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7" name="Picture 26" descr="Overwatch: Jetzt auf Xbox erhältlich | Xbox">
            <a:extLst>
              <a:ext uri="{FF2B5EF4-FFF2-40B4-BE49-F238E27FC236}">
                <a16:creationId xmlns:a16="http://schemas.microsoft.com/office/drawing/2014/main" id="{AE48CA90-930C-EC09-3454-80B48DF4116D}"/>
              </a:ext>
            </a:extLst>
          </p:cNvPr>
          <p:cNvPicPr>
            <a:picLocks noChangeAspect="1"/>
          </p:cNvPicPr>
          <p:nvPr/>
        </p:nvPicPr>
        <p:blipFill>
          <a:blip r:embed="rId3"/>
          <a:srcRect l="17236" t="21618" r="16308" b="11927"/>
          <a:stretch>
            <a:fillRect/>
          </a:stretch>
        </p:blipFill>
        <p:spPr>
          <a:xfrm>
            <a:off x="0" y="-1"/>
            <a:ext cx="12192000" cy="6858001"/>
          </a:xfrm>
          <a:prstGeom prst="rect">
            <a:avLst/>
          </a:prstGeom>
        </p:spPr>
      </p:pic>
      <p:sp>
        <p:nvSpPr>
          <p:cNvPr id="29" name="Rectangle: Rounded Corners 28">
            <a:extLst>
              <a:ext uri="{FF2B5EF4-FFF2-40B4-BE49-F238E27FC236}">
                <a16:creationId xmlns:a16="http://schemas.microsoft.com/office/drawing/2014/main" id="{3A804D6E-D8AE-5DC2-A9BB-54133B494D39}"/>
              </a:ext>
            </a:extLst>
          </p:cNvPr>
          <p:cNvSpPr/>
          <p:nvPr/>
        </p:nvSpPr>
        <p:spPr>
          <a:xfrm>
            <a:off x="2918404" y="757385"/>
            <a:ext cx="5997718" cy="5421745"/>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A86E046F-7483-C7E4-52A4-98882F05B19E}"/>
              </a:ext>
            </a:extLst>
          </p:cNvPr>
          <p:cNvSpPr/>
          <p:nvPr/>
        </p:nvSpPr>
        <p:spPr>
          <a:xfrm>
            <a:off x="3135459" y="974439"/>
            <a:ext cx="5997718" cy="5421745"/>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58E5871-3BE7-39B6-A879-35D68F2A6C65}"/>
              </a:ext>
            </a:extLst>
          </p:cNvPr>
          <p:cNvSpPr/>
          <p:nvPr/>
        </p:nvSpPr>
        <p:spPr>
          <a:xfrm>
            <a:off x="3038475" y="877455"/>
            <a:ext cx="5997718" cy="5421745"/>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F2D11D3-0A40-FDB6-3126-FE39A5160C20}"/>
              </a:ext>
            </a:extLst>
          </p:cNvPr>
          <p:cNvSpPr>
            <a:spLocks noGrp="1"/>
          </p:cNvSpPr>
          <p:nvPr>
            <p:ph type="subTitle" idx="1"/>
          </p:nvPr>
        </p:nvSpPr>
        <p:spPr>
          <a:xfrm>
            <a:off x="4451491" y="5910896"/>
            <a:ext cx="3252071" cy="303175"/>
          </a:xfrm>
        </p:spPr>
        <p:txBody>
          <a:bodyPr>
            <a:normAutofit/>
          </a:bodyPr>
          <a:lstStyle/>
          <a:p>
            <a:pPr algn="ctr"/>
            <a:r>
              <a:rPr lang="en-US" sz="1200">
                <a:latin typeface="Cascadia Code"/>
              </a:rPr>
              <a:t>SQS | </a:t>
            </a:r>
            <a:r>
              <a:rPr lang="en-US" sz="1200" err="1">
                <a:latin typeface="Cascadia Code"/>
              </a:rPr>
              <a:t>Projektarbeit</a:t>
            </a:r>
            <a:r>
              <a:rPr lang="en-US" sz="1200">
                <a:latin typeface="Cascadia Code"/>
              </a:rPr>
              <a:t> | 30.06.2026</a:t>
            </a:r>
          </a:p>
        </p:txBody>
      </p:sp>
      <p:pic>
        <p:nvPicPr>
          <p:cNvPr id="6" name="Picture 5">
            <a:extLst>
              <a:ext uri="{FF2B5EF4-FFF2-40B4-BE49-F238E27FC236}">
                <a16:creationId xmlns:a16="http://schemas.microsoft.com/office/drawing/2014/main" id="{9AB20B94-158E-9606-A5B3-5265F4A98A9F}"/>
              </a:ext>
            </a:extLst>
          </p:cNvPr>
          <p:cNvPicPr>
            <a:picLocks noChangeAspect="1"/>
          </p:cNvPicPr>
          <p:nvPr/>
        </p:nvPicPr>
        <p:blipFill>
          <a:blip r:embed="rId4">
            <a:extLst>
              <a:ext uri="{28A0092B-C50C-407E-A947-70E740481C1C}">
                <a14:useLocalDpi xmlns:a14="http://schemas.microsoft.com/office/drawing/2010/main" val="0"/>
              </a:ext>
            </a:extLst>
          </a:blip>
          <a:srcRect r="50000"/>
          <a:stretch>
            <a:fillRect/>
          </a:stretch>
        </p:blipFill>
        <p:spPr>
          <a:xfrm>
            <a:off x="3423663" y="1050343"/>
            <a:ext cx="5603294" cy="806658"/>
          </a:xfrm>
          <a:prstGeom prst="rect">
            <a:avLst/>
          </a:prstGeom>
        </p:spPr>
      </p:pic>
      <p:sp>
        <p:nvSpPr>
          <p:cNvPr id="9" name="Subtitle 2">
            <a:extLst>
              <a:ext uri="{FF2B5EF4-FFF2-40B4-BE49-F238E27FC236}">
                <a16:creationId xmlns:a16="http://schemas.microsoft.com/office/drawing/2014/main" id="{290EC6B6-1684-78AC-89C0-57F0009B212C}"/>
              </a:ext>
            </a:extLst>
          </p:cNvPr>
          <p:cNvSpPr txBox="1">
            <a:spLocks/>
          </p:cNvSpPr>
          <p:nvPr/>
        </p:nvSpPr>
        <p:spPr>
          <a:xfrm>
            <a:off x="3275879" y="2663659"/>
            <a:ext cx="5603293" cy="530521"/>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Cascadia Code" panose="020B0609020000020004" pitchFamily="49" charset="0"/>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Cascadia Code" panose="020B0609020000020004" pitchFamily="49" charset="0"/>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Cascadia Code" panose="020B0609020000020004" pitchFamily="49" charset="0"/>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algn="ctr"/>
            <a:r>
              <a:rPr lang="en-US"/>
              <a:t>A Team Comp Website for Overwatch Player</a:t>
            </a:r>
          </a:p>
        </p:txBody>
      </p:sp>
      <p:grpSp>
        <p:nvGrpSpPr>
          <p:cNvPr id="21" name="Group 20">
            <a:extLst>
              <a:ext uri="{FF2B5EF4-FFF2-40B4-BE49-F238E27FC236}">
                <a16:creationId xmlns:a16="http://schemas.microsoft.com/office/drawing/2014/main" id="{CDCA2D41-AFBB-B095-0C28-FC78BDF8FECB}"/>
              </a:ext>
            </a:extLst>
          </p:cNvPr>
          <p:cNvGrpSpPr/>
          <p:nvPr/>
        </p:nvGrpSpPr>
        <p:grpSpPr>
          <a:xfrm>
            <a:off x="3432899" y="4000838"/>
            <a:ext cx="1706838" cy="1706838"/>
            <a:chOff x="1431267" y="3429000"/>
            <a:chExt cx="1706838" cy="1706838"/>
          </a:xfrm>
        </p:grpSpPr>
        <p:pic>
          <p:nvPicPr>
            <p:cNvPr id="13" name="Picture 12">
              <a:extLst>
                <a:ext uri="{FF2B5EF4-FFF2-40B4-BE49-F238E27FC236}">
                  <a16:creationId xmlns:a16="http://schemas.microsoft.com/office/drawing/2014/main" id="{2F78A368-3EF2-2CFD-1317-05FDC993EC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31267" y="3429000"/>
              <a:ext cx="1706838" cy="1706838"/>
            </a:xfrm>
            <a:prstGeom prst="rect">
              <a:avLst/>
            </a:prstGeom>
          </p:spPr>
        </p:pic>
        <p:sp>
          <p:nvSpPr>
            <p:cNvPr id="18" name="TextBox 17">
              <a:extLst>
                <a:ext uri="{FF2B5EF4-FFF2-40B4-BE49-F238E27FC236}">
                  <a16:creationId xmlns:a16="http://schemas.microsoft.com/office/drawing/2014/main" id="{B9377E58-B888-D44A-82E9-F51254AF5A45}"/>
                </a:ext>
              </a:extLst>
            </p:cNvPr>
            <p:cNvSpPr txBox="1"/>
            <p:nvPr/>
          </p:nvSpPr>
          <p:spPr>
            <a:xfrm>
              <a:off x="1865251" y="3931544"/>
              <a:ext cx="955711" cy="646331"/>
            </a:xfrm>
            <a:prstGeom prst="rect">
              <a:avLst/>
            </a:prstGeom>
            <a:noFill/>
          </p:spPr>
          <p:txBody>
            <a:bodyPr wrap="none" rtlCol="0">
              <a:spAutoFit/>
            </a:bodyPr>
            <a:lstStyle/>
            <a:p>
              <a:r>
                <a:rPr lang="en-US"/>
                <a:t>Fabian</a:t>
              </a:r>
            </a:p>
            <a:p>
              <a:r>
                <a:rPr lang="en-US"/>
                <a:t>Reinelt</a:t>
              </a:r>
            </a:p>
          </p:txBody>
        </p:sp>
      </p:grpSp>
      <p:grpSp>
        <p:nvGrpSpPr>
          <p:cNvPr id="22" name="Group 21">
            <a:extLst>
              <a:ext uri="{FF2B5EF4-FFF2-40B4-BE49-F238E27FC236}">
                <a16:creationId xmlns:a16="http://schemas.microsoft.com/office/drawing/2014/main" id="{8C54B27D-BC2C-BD5B-76F9-CC850093BFB1}"/>
              </a:ext>
            </a:extLst>
          </p:cNvPr>
          <p:cNvGrpSpPr/>
          <p:nvPr/>
        </p:nvGrpSpPr>
        <p:grpSpPr>
          <a:xfrm>
            <a:off x="5226081" y="4000838"/>
            <a:ext cx="1706838" cy="1706838"/>
            <a:chOff x="3467301" y="3429000"/>
            <a:chExt cx="1706838" cy="1706838"/>
          </a:xfrm>
        </p:grpSpPr>
        <p:pic>
          <p:nvPicPr>
            <p:cNvPr id="15" name="Picture 14">
              <a:extLst>
                <a:ext uri="{FF2B5EF4-FFF2-40B4-BE49-F238E27FC236}">
                  <a16:creationId xmlns:a16="http://schemas.microsoft.com/office/drawing/2014/main" id="{CF026D56-0037-7293-5A62-27986F7C51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67301" y="3429000"/>
              <a:ext cx="1706838" cy="1706838"/>
            </a:xfrm>
            <a:prstGeom prst="rect">
              <a:avLst/>
            </a:prstGeom>
          </p:spPr>
        </p:pic>
        <p:sp>
          <p:nvSpPr>
            <p:cNvPr id="19" name="TextBox 18">
              <a:extLst>
                <a:ext uri="{FF2B5EF4-FFF2-40B4-BE49-F238E27FC236}">
                  <a16:creationId xmlns:a16="http://schemas.microsoft.com/office/drawing/2014/main" id="{166D139B-7778-6302-CF8C-896C76D40117}"/>
                </a:ext>
              </a:extLst>
            </p:cNvPr>
            <p:cNvSpPr txBox="1"/>
            <p:nvPr/>
          </p:nvSpPr>
          <p:spPr>
            <a:xfrm>
              <a:off x="3742806" y="3783808"/>
              <a:ext cx="1269899" cy="923330"/>
            </a:xfrm>
            <a:prstGeom prst="rect">
              <a:avLst/>
            </a:prstGeom>
            <a:noFill/>
          </p:spPr>
          <p:txBody>
            <a:bodyPr wrap="none" rtlCol="0">
              <a:spAutoFit/>
            </a:bodyPr>
            <a:lstStyle/>
            <a:p>
              <a:pPr algn="ctr"/>
              <a:r>
                <a:rPr lang="en-US"/>
                <a:t>Leonardo</a:t>
              </a:r>
            </a:p>
            <a:p>
              <a:pPr algn="ctr"/>
              <a:r>
                <a:rPr lang="en-US"/>
                <a:t>Kharraz</a:t>
              </a:r>
            </a:p>
            <a:p>
              <a:pPr algn="ctr"/>
              <a:r>
                <a:rPr lang="en-US"/>
                <a:t>Tavakol</a:t>
              </a:r>
            </a:p>
          </p:txBody>
        </p:sp>
      </p:grpSp>
      <p:grpSp>
        <p:nvGrpSpPr>
          <p:cNvPr id="23" name="Group 22">
            <a:extLst>
              <a:ext uri="{FF2B5EF4-FFF2-40B4-BE49-F238E27FC236}">
                <a16:creationId xmlns:a16="http://schemas.microsoft.com/office/drawing/2014/main" id="{9F5DFBB0-C48F-49BA-7B3B-EA7D6988F246}"/>
              </a:ext>
            </a:extLst>
          </p:cNvPr>
          <p:cNvGrpSpPr/>
          <p:nvPr/>
        </p:nvGrpSpPr>
        <p:grpSpPr>
          <a:xfrm>
            <a:off x="7019263" y="4000838"/>
            <a:ext cx="1706839" cy="1706839"/>
            <a:chOff x="5492635" y="3428999"/>
            <a:chExt cx="1706839" cy="1706839"/>
          </a:xfrm>
        </p:grpSpPr>
        <p:pic>
          <p:nvPicPr>
            <p:cNvPr id="17" name="Picture 16">
              <a:extLst>
                <a:ext uri="{FF2B5EF4-FFF2-40B4-BE49-F238E27FC236}">
                  <a16:creationId xmlns:a16="http://schemas.microsoft.com/office/drawing/2014/main" id="{B6687601-15DA-5FB0-7B83-6CDB591723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92635" y="3428999"/>
              <a:ext cx="1706839" cy="1706839"/>
            </a:xfrm>
            <a:prstGeom prst="rect">
              <a:avLst/>
            </a:prstGeom>
          </p:spPr>
        </p:pic>
        <p:sp>
          <p:nvSpPr>
            <p:cNvPr id="20" name="TextBox 19">
              <a:extLst>
                <a:ext uri="{FF2B5EF4-FFF2-40B4-BE49-F238E27FC236}">
                  <a16:creationId xmlns:a16="http://schemas.microsoft.com/office/drawing/2014/main" id="{D2A776BA-38A2-58F3-9484-45DD62E432FD}"/>
                </a:ext>
              </a:extLst>
            </p:cNvPr>
            <p:cNvSpPr txBox="1"/>
            <p:nvPr/>
          </p:nvSpPr>
          <p:spPr>
            <a:xfrm>
              <a:off x="5941840" y="3758775"/>
              <a:ext cx="936475" cy="923330"/>
            </a:xfrm>
            <a:prstGeom prst="rect">
              <a:avLst/>
            </a:prstGeom>
            <a:noFill/>
          </p:spPr>
          <p:txBody>
            <a:bodyPr wrap="none" rtlCol="0">
              <a:spAutoFit/>
            </a:bodyPr>
            <a:lstStyle/>
            <a:p>
              <a:pPr algn="ctr"/>
              <a:r>
                <a:rPr lang="en-US"/>
                <a:t>Julia</a:t>
              </a:r>
            </a:p>
            <a:p>
              <a:pPr algn="ctr"/>
              <a:r>
                <a:rPr lang="en-US"/>
                <a:t>Ihren- </a:t>
              </a:r>
            </a:p>
            <a:p>
              <a:pPr algn="ctr"/>
              <a:r>
                <a:rPr lang="en-US"/>
                <a:t>berger</a:t>
              </a:r>
            </a:p>
          </p:txBody>
        </p:sp>
      </p:grpSp>
      <p:pic>
        <p:nvPicPr>
          <p:cNvPr id="24" name="Picture 23">
            <a:extLst>
              <a:ext uri="{FF2B5EF4-FFF2-40B4-BE49-F238E27FC236}">
                <a16:creationId xmlns:a16="http://schemas.microsoft.com/office/drawing/2014/main" id="{B2729BB5-0DA5-CCE2-89D7-4D8C79FD030B}"/>
              </a:ext>
            </a:extLst>
          </p:cNvPr>
          <p:cNvPicPr>
            <a:picLocks noChangeAspect="1"/>
          </p:cNvPicPr>
          <p:nvPr/>
        </p:nvPicPr>
        <p:blipFill>
          <a:blip r:embed="rId4">
            <a:extLst>
              <a:ext uri="{28A0092B-C50C-407E-A947-70E740481C1C}">
                <a14:useLocalDpi xmlns:a14="http://schemas.microsoft.com/office/drawing/2010/main" val="0"/>
              </a:ext>
            </a:extLst>
          </a:blip>
          <a:srcRect l="50000"/>
          <a:stretch>
            <a:fillRect/>
          </a:stretch>
        </p:blipFill>
        <p:spPr>
          <a:xfrm>
            <a:off x="3190720" y="1857001"/>
            <a:ext cx="5603293" cy="806658"/>
          </a:xfrm>
          <a:prstGeom prst="rect">
            <a:avLst/>
          </a:prstGeom>
        </p:spPr>
      </p:pic>
    </p:spTree>
    <p:extLst>
      <p:ext uri="{BB962C8B-B14F-4D97-AF65-F5344CB8AC3E}">
        <p14:creationId xmlns:p14="http://schemas.microsoft.com/office/powerpoint/2010/main" val="3749065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4" name="Picture 3" descr="image%20(1).png">
            <a:extLst>
              <a:ext uri="{FF2B5EF4-FFF2-40B4-BE49-F238E27FC236}">
                <a16:creationId xmlns:a16="http://schemas.microsoft.com/office/drawing/2014/main" id="{01008316-84C5-2400-BB2F-542CFF279CA3}"/>
              </a:ext>
            </a:extLst>
          </p:cNvPr>
          <p:cNvPicPr>
            <a:picLocks noChangeAspect="1"/>
          </p:cNvPicPr>
          <p:nvPr/>
        </p:nvPicPr>
        <p:blipFill>
          <a:blip r:embed="rId3"/>
          <a:stretch>
            <a:fillRect/>
          </a:stretch>
        </p:blipFill>
        <p:spPr>
          <a:xfrm>
            <a:off x="158559" y="840513"/>
            <a:ext cx="7694848" cy="4328352"/>
          </a:xfrm>
          <a:prstGeom prst="rect">
            <a:avLst/>
          </a:prstGeom>
        </p:spPr>
      </p:pic>
      <p:grpSp>
        <p:nvGrpSpPr>
          <p:cNvPr id="5" name="Group 4">
            <a:extLst>
              <a:ext uri="{FF2B5EF4-FFF2-40B4-BE49-F238E27FC236}">
                <a16:creationId xmlns:a16="http://schemas.microsoft.com/office/drawing/2014/main" id="{047AC8E6-FAC0-4421-F991-DA59D69309AA}"/>
              </a:ext>
            </a:extLst>
          </p:cNvPr>
          <p:cNvGrpSpPr/>
          <p:nvPr/>
        </p:nvGrpSpPr>
        <p:grpSpPr>
          <a:xfrm>
            <a:off x="158558" y="185257"/>
            <a:ext cx="3107155" cy="510504"/>
            <a:chOff x="100869" y="175489"/>
            <a:chExt cx="2498131" cy="609604"/>
          </a:xfrm>
        </p:grpSpPr>
        <p:sp>
          <p:nvSpPr>
            <p:cNvPr id="6" name="Rectangle: Rounded Corners 5">
              <a:extLst>
                <a:ext uri="{FF2B5EF4-FFF2-40B4-BE49-F238E27FC236}">
                  <a16:creationId xmlns:a16="http://schemas.microsoft.com/office/drawing/2014/main" id="{EC825671-9608-FB3E-9FA1-41D8BE61DA97}"/>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73B4D9F-BD73-29EF-6D6D-E5238E7D80C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ED9C0585-6488-2813-CB62-5749BEBBE1E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Overwatch: Overview</a:t>
              </a:r>
            </a:p>
          </p:txBody>
        </p:sp>
      </p:grpSp>
      <p:sp>
        <p:nvSpPr>
          <p:cNvPr id="9" name="TextBox 8">
            <a:extLst>
              <a:ext uri="{FF2B5EF4-FFF2-40B4-BE49-F238E27FC236}">
                <a16:creationId xmlns:a16="http://schemas.microsoft.com/office/drawing/2014/main" id="{1E7FA835-1C21-66F0-0F9C-7A65D22B3E6D}"/>
              </a:ext>
            </a:extLst>
          </p:cNvPr>
          <p:cNvSpPr txBox="1"/>
          <p:nvPr/>
        </p:nvSpPr>
        <p:spPr>
          <a:xfrm>
            <a:off x="8091172" y="840513"/>
            <a:ext cx="3724851" cy="4247317"/>
          </a:xfrm>
          <a:prstGeom prst="rect">
            <a:avLst/>
          </a:prstGeom>
          <a:noFill/>
        </p:spPr>
        <p:txBody>
          <a:bodyPr wrap="square" rtlCol="0">
            <a:spAutoFit/>
          </a:bodyPr>
          <a:lstStyle/>
          <a:p>
            <a:pPr marL="285750" indent="-285750">
              <a:buFont typeface="Arial" panose="020B0604020202020204" pitchFamily="34" charset="0"/>
              <a:buChar char="•"/>
            </a:pPr>
            <a:r>
              <a:rPr lang="en-US"/>
              <a:t>Online Multiplayer First Person Hero Shooter</a:t>
            </a:r>
          </a:p>
          <a:p>
            <a:pPr marL="285750" indent="-285750">
              <a:buFont typeface="Arial" panose="020B0604020202020204" pitchFamily="34" charset="0"/>
              <a:buChar char="•"/>
            </a:pPr>
            <a:endParaRPr lang="en-US">
              <a:solidFill>
                <a:srgbClr val="00B0F0"/>
              </a:solidFill>
            </a:endParaRPr>
          </a:p>
          <a:p>
            <a:pPr marL="285750" indent="-285750">
              <a:buFont typeface="Arial" panose="020B0604020202020204" pitchFamily="34" charset="0"/>
              <a:buChar char="•"/>
            </a:pPr>
            <a:r>
              <a:rPr lang="en-US"/>
              <a:t>Team consists of:</a:t>
            </a:r>
          </a:p>
          <a:p>
            <a:pPr marL="742950" lvl="1" indent="-285750">
              <a:buFont typeface="Arial" panose="020B0604020202020204" pitchFamily="34" charset="0"/>
              <a:buChar char="•"/>
            </a:pPr>
            <a:r>
              <a:rPr lang="en-US">
                <a:solidFill>
                  <a:srgbClr val="00B0F0"/>
                </a:solidFill>
              </a:rPr>
              <a:t>Tank</a:t>
            </a:r>
          </a:p>
          <a:p>
            <a:pPr marL="742950" lvl="1" indent="-285750">
              <a:buFont typeface="Arial" panose="020B0604020202020204" pitchFamily="34" charset="0"/>
              <a:buChar char="•"/>
            </a:pPr>
            <a:r>
              <a:rPr lang="en-US">
                <a:solidFill>
                  <a:schemeClr val="accent5"/>
                </a:solidFill>
              </a:rPr>
              <a:t>Damage</a:t>
            </a:r>
            <a:r>
              <a:rPr lang="en-US"/>
              <a:t> (2x)</a:t>
            </a:r>
          </a:p>
          <a:p>
            <a:pPr marL="742950" lvl="1" indent="-285750">
              <a:buFont typeface="Arial" panose="020B0604020202020204" pitchFamily="34" charset="0"/>
              <a:buChar char="•"/>
            </a:pPr>
            <a:r>
              <a:rPr lang="en-US">
                <a:solidFill>
                  <a:srgbClr val="92D050"/>
                </a:solidFill>
              </a:rPr>
              <a:t>Support</a:t>
            </a:r>
            <a:r>
              <a:rPr lang="en-US"/>
              <a:t> (2x)</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Selection of </a:t>
            </a:r>
            <a:r>
              <a:rPr lang="en-US">
                <a:solidFill>
                  <a:schemeClr val="accent6"/>
                </a:solidFill>
              </a:rPr>
              <a:t>52 heroes </a:t>
            </a:r>
            <a:r>
              <a:rPr lang="en-US"/>
              <a:t>that exhibit different </a:t>
            </a:r>
            <a:r>
              <a:rPr lang="en-US">
                <a:solidFill>
                  <a:schemeClr val="accent3"/>
                </a:solidFill>
              </a:rPr>
              <a:t>synergistic effects </a:t>
            </a:r>
            <a:r>
              <a:rPr lang="en-US"/>
              <a:t>when combined</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In </a:t>
            </a:r>
            <a:r>
              <a:rPr lang="en-US">
                <a:solidFill>
                  <a:schemeClr val="accent1"/>
                </a:solidFill>
              </a:rPr>
              <a:t>Competitive Play</a:t>
            </a:r>
            <a:r>
              <a:rPr lang="en-US"/>
              <a:t>, a good team comp can strongly influence the game</a:t>
            </a:r>
          </a:p>
        </p:txBody>
      </p:sp>
      <p:pic>
        <p:nvPicPr>
          <p:cNvPr id="11" name="Picture 10">
            <a:extLst>
              <a:ext uri="{FF2B5EF4-FFF2-40B4-BE49-F238E27FC236}">
                <a16:creationId xmlns:a16="http://schemas.microsoft.com/office/drawing/2014/main" id="{BE74B447-46D2-F2CD-1B85-D75FC3579FEC}"/>
              </a:ext>
            </a:extLst>
          </p:cNvPr>
          <p:cNvPicPr>
            <a:picLocks noChangeAspect="1"/>
          </p:cNvPicPr>
          <p:nvPr/>
        </p:nvPicPr>
        <p:blipFill>
          <a:blip r:embed="rId4"/>
          <a:stretch>
            <a:fillRect/>
          </a:stretch>
        </p:blipFill>
        <p:spPr>
          <a:xfrm>
            <a:off x="158559" y="5313617"/>
            <a:ext cx="11867186" cy="1310618"/>
          </a:xfrm>
          <a:prstGeom prst="rect">
            <a:avLst/>
          </a:prstGeom>
        </p:spPr>
      </p:pic>
    </p:spTree>
    <p:extLst>
      <p:ext uri="{BB962C8B-B14F-4D97-AF65-F5344CB8AC3E}">
        <p14:creationId xmlns:p14="http://schemas.microsoft.com/office/powerpoint/2010/main" val="96923222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045A3059-FCF9-89C0-12D0-C6CD6F79518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A93C76E-8867-5FE1-A195-3F26BE607C8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b="9715"/>
          <a:stretch>
            <a:fillRect/>
          </a:stretch>
        </p:blipFill>
        <p:spPr>
          <a:xfrm>
            <a:off x="0" y="-21771"/>
            <a:ext cx="12192000" cy="6879771"/>
          </a:xfrm>
          <a:prstGeom prst="rect">
            <a:avLst/>
          </a:prstGeom>
        </p:spPr>
      </p:pic>
      <p:sp>
        <p:nvSpPr>
          <p:cNvPr id="13" name="Rectangle: Rounded Corners 12">
            <a:extLst>
              <a:ext uri="{FF2B5EF4-FFF2-40B4-BE49-F238E27FC236}">
                <a16:creationId xmlns:a16="http://schemas.microsoft.com/office/drawing/2014/main" id="{220EE6CA-9817-6D29-0B13-82060518AE64}"/>
              </a:ext>
            </a:extLst>
          </p:cNvPr>
          <p:cNvSpPr/>
          <p:nvPr/>
        </p:nvSpPr>
        <p:spPr>
          <a:xfrm>
            <a:off x="362110" y="550023"/>
            <a:ext cx="5044575" cy="397164"/>
          </a:xfrm>
          <a:prstGeom prst="roundRect">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b="1">
                <a:solidFill>
                  <a:srgbClr val="00B0F0"/>
                </a:solidFill>
              </a:rPr>
              <a:t>                                        Motivation/ Idea</a:t>
            </a:r>
          </a:p>
        </p:txBody>
      </p:sp>
      <p:grpSp>
        <p:nvGrpSpPr>
          <p:cNvPr id="30" name="Group 29">
            <a:extLst>
              <a:ext uri="{FF2B5EF4-FFF2-40B4-BE49-F238E27FC236}">
                <a16:creationId xmlns:a16="http://schemas.microsoft.com/office/drawing/2014/main" id="{96C2956B-646A-8CA2-6993-BB5CD93CB660}"/>
              </a:ext>
            </a:extLst>
          </p:cNvPr>
          <p:cNvGrpSpPr/>
          <p:nvPr/>
        </p:nvGrpSpPr>
        <p:grpSpPr>
          <a:xfrm>
            <a:off x="341426" y="1039299"/>
            <a:ext cx="5044575" cy="971558"/>
            <a:chOff x="544945" y="1570181"/>
            <a:chExt cx="5044575" cy="971558"/>
          </a:xfrm>
          <a:effectLst>
            <a:outerShdw blurRad="50800" dist="38100" dir="2700000" algn="tl" rotWithShape="0">
              <a:prstClr val="black">
                <a:alpha val="40000"/>
              </a:prstClr>
            </a:outerShdw>
          </a:effectLst>
        </p:grpSpPr>
        <p:sp>
          <p:nvSpPr>
            <p:cNvPr id="14" name="Rectangle: Rounded Corners 13">
              <a:extLst>
                <a:ext uri="{FF2B5EF4-FFF2-40B4-BE49-F238E27FC236}">
                  <a16:creationId xmlns:a16="http://schemas.microsoft.com/office/drawing/2014/main" id="{F831D1BD-9E99-A92E-9A04-78A9EE825DB7}"/>
                </a:ext>
              </a:extLst>
            </p:cNvPr>
            <p:cNvSpPr/>
            <p:nvPr/>
          </p:nvSpPr>
          <p:spPr>
            <a:xfrm>
              <a:off x="544945" y="1570181"/>
              <a:ext cx="4960310" cy="963881"/>
            </a:xfrm>
            <a:prstGeom prst="roundRect">
              <a:avLst>
                <a:gd name="adj" fmla="val 8843"/>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a </a:t>
              </a:r>
              <a:r>
                <a:rPr lang="en-US">
                  <a:solidFill>
                    <a:srgbClr val="00B0F0"/>
                  </a:solidFill>
                </a:rPr>
                <a:t>practical application </a:t>
              </a:r>
              <a:r>
                <a:rPr lang="en-US">
                  <a:solidFill>
                    <a:schemeClr val="tx1"/>
                  </a:solidFill>
                </a:rPr>
                <a:t>that relates to </a:t>
              </a:r>
            </a:p>
            <a:p>
              <a:pPr algn="just"/>
              <a:r>
                <a:rPr lang="en-US">
                  <a:solidFill>
                    <a:schemeClr val="tx1"/>
                  </a:solidFill>
                </a:rPr>
                <a:t>a </a:t>
              </a:r>
              <a:r>
                <a:rPr lang="en-US">
                  <a:solidFill>
                    <a:srgbClr val="00B0F0"/>
                  </a:solidFill>
                </a:rPr>
                <a:t>shared interest </a:t>
              </a:r>
              <a:r>
                <a:rPr lang="en-US">
                  <a:solidFill>
                    <a:schemeClr val="tx1"/>
                  </a:solidFill>
                </a:rPr>
                <a:t>within the team</a:t>
              </a:r>
            </a:p>
          </p:txBody>
        </p:sp>
        <p:sp>
          <p:nvSpPr>
            <p:cNvPr id="16" name="Rectangle: Top Corners Rounded 15">
              <a:extLst>
                <a:ext uri="{FF2B5EF4-FFF2-40B4-BE49-F238E27FC236}">
                  <a16:creationId xmlns:a16="http://schemas.microsoft.com/office/drawing/2014/main" id="{E9D59145-9511-77F3-D893-1E819CEEE3FE}"/>
                </a:ext>
              </a:extLst>
            </p:cNvPr>
            <p:cNvSpPr/>
            <p:nvPr/>
          </p:nvSpPr>
          <p:spPr>
            <a:xfrm rot="5400000">
              <a:off x="4854218" y="1820434"/>
              <a:ext cx="971558"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61A38CDA-9539-BA82-54F7-32B71F0A4B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3458" y="1825914"/>
              <a:ext cx="526062" cy="452413"/>
            </a:xfrm>
            <a:prstGeom prst="rect">
              <a:avLst/>
            </a:prstGeom>
          </p:spPr>
        </p:pic>
      </p:grpSp>
      <p:grpSp>
        <p:nvGrpSpPr>
          <p:cNvPr id="34" name="Group 33">
            <a:extLst>
              <a:ext uri="{FF2B5EF4-FFF2-40B4-BE49-F238E27FC236}">
                <a16:creationId xmlns:a16="http://schemas.microsoft.com/office/drawing/2014/main" id="{D057E952-FAAC-9CFF-7061-88A059F2C405}"/>
              </a:ext>
            </a:extLst>
          </p:cNvPr>
          <p:cNvGrpSpPr/>
          <p:nvPr/>
        </p:nvGrpSpPr>
        <p:grpSpPr>
          <a:xfrm>
            <a:off x="341426" y="2097072"/>
            <a:ext cx="5065259" cy="979231"/>
            <a:chOff x="544944" y="2652726"/>
            <a:chExt cx="5065259" cy="979231"/>
          </a:xfrm>
          <a:effectLst>
            <a:outerShdw blurRad="50800" dist="38100" dir="2700000" algn="tl" rotWithShape="0">
              <a:prstClr val="black">
                <a:alpha val="40000"/>
              </a:prstClr>
            </a:outerShdw>
          </a:effectLst>
        </p:grpSpPr>
        <p:sp>
          <p:nvSpPr>
            <p:cNvPr id="15" name="Rectangle: Rounded Corners 14">
              <a:extLst>
                <a:ext uri="{FF2B5EF4-FFF2-40B4-BE49-F238E27FC236}">
                  <a16:creationId xmlns:a16="http://schemas.microsoft.com/office/drawing/2014/main" id="{6F67E3A9-3B80-2390-1F7D-08C982C8D48B}"/>
                </a:ext>
              </a:extLst>
            </p:cNvPr>
            <p:cNvSpPr/>
            <p:nvPr/>
          </p:nvSpPr>
          <p:spPr>
            <a:xfrm>
              <a:off x="544944" y="2660402"/>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learn </a:t>
              </a:r>
              <a:r>
                <a:rPr lang="en-US">
                  <a:solidFill>
                    <a:srgbClr val="00B0F0"/>
                  </a:solidFill>
                </a:rPr>
                <a:t>new tools </a:t>
              </a:r>
              <a:r>
                <a:rPr lang="en-US">
                  <a:solidFill>
                    <a:schemeClr val="tx1"/>
                  </a:solidFill>
                </a:rPr>
                <a:t>and programming </a:t>
              </a:r>
              <a:r>
                <a:rPr lang="en-US">
                  <a:solidFill>
                    <a:srgbClr val="00B0F0"/>
                  </a:solidFill>
                </a:rPr>
                <a:t>languages</a:t>
              </a:r>
            </a:p>
          </p:txBody>
        </p:sp>
        <p:sp>
          <p:nvSpPr>
            <p:cNvPr id="17" name="Rectangle: Top Corners Rounded 16">
              <a:extLst>
                <a:ext uri="{FF2B5EF4-FFF2-40B4-BE49-F238E27FC236}">
                  <a16:creationId xmlns:a16="http://schemas.microsoft.com/office/drawing/2014/main" id="{73AB1D31-55E0-B7DE-33D2-D5584A3014A9}"/>
                </a:ext>
              </a:extLst>
            </p:cNvPr>
            <p:cNvSpPr/>
            <p:nvPr/>
          </p:nvSpPr>
          <p:spPr>
            <a:xfrm rot="5400000">
              <a:off x="4850381" y="2906816"/>
              <a:ext cx="979231"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B98C5335-F14E-7A31-7636-B220898EF8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33" name="Group 32">
            <a:extLst>
              <a:ext uri="{FF2B5EF4-FFF2-40B4-BE49-F238E27FC236}">
                <a16:creationId xmlns:a16="http://schemas.microsoft.com/office/drawing/2014/main" id="{03863EC9-2ED8-25C2-9AD5-05EE79653421}"/>
              </a:ext>
            </a:extLst>
          </p:cNvPr>
          <p:cNvGrpSpPr/>
          <p:nvPr/>
        </p:nvGrpSpPr>
        <p:grpSpPr>
          <a:xfrm>
            <a:off x="341426" y="4244684"/>
            <a:ext cx="5075665" cy="963883"/>
            <a:chOff x="558941" y="3779970"/>
            <a:chExt cx="5075665" cy="963883"/>
          </a:xfrm>
          <a:effectLst>
            <a:outerShdw blurRad="50800" dist="38100" dir="2700000" algn="tl" rotWithShape="0">
              <a:prstClr val="black">
                <a:alpha val="40000"/>
              </a:prstClr>
            </a:outerShdw>
          </a:effectLst>
        </p:grpSpPr>
        <p:sp>
          <p:nvSpPr>
            <p:cNvPr id="24" name="Rectangle: Rounded Corners 23">
              <a:extLst>
                <a:ext uri="{FF2B5EF4-FFF2-40B4-BE49-F238E27FC236}">
                  <a16:creationId xmlns:a16="http://schemas.microsoft.com/office/drawing/2014/main" id="{1394ABFA-3B38-6E84-9D53-0110E8EE8BD7}"/>
                </a:ext>
              </a:extLst>
            </p:cNvPr>
            <p:cNvSpPr/>
            <p:nvPr/>
          </p:nvSpPr>
          <p:spPr>
            <a:xfrm>
              <a:off x="558941" y="3779970"/>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apply learned methods to </a:t>
              </a:r>
              <a:r>
                <a:rPr lang="en-US">
                  <a:solidFill>
                    <a:srgbClr val="00B0F0"/>
                  </a:solidFill>
                </a:rPr>
                <a:t>ensure software quality</a:t>
              </a:r>
            </a:p>
          </p:txBody>
        </p:sp>
        <p:sp>
          <p:nvSpPr>
            <p:cNvPr id="25" name="Rectangle: Top Corners Rounded 24">
              <a:extLst>
                <a:ext uri="{FF2B5EF4-FFF2-40B4-BE49-F238E27FC236}">
                  <a16:creationId xmlns:a16="http://schemas.microsoft.com/office/drawing/2014/main" id="{538C8263-B493-D3AF-63B7-83C5A674A268}"/>
                </a:ext>
              </a:extLst>
            </p:cNvPr>
            <p:cNvSpPr/>
            <p:nvPr/>
          </p:nvSpPr>
          <p:spPr>
            <a:xfrm rot="5400000">
              <a:off x="4853199" y="4026386"/>
              <a:ext cx="963882"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DA1E1CCF-5B72-DC15-7143-67A0F161E9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5177" y="4007351"/>
              <a:ext cx="599429" cy="515508"/>
            </a:xfrm>
            <a:prstGeom prst="rect">
              <a:avLst/>
            </a:prstGeom>
          </p:spPr>
        </p:pic>
      </p:grpSp>
      <p:grpSp>
        <p:nvGrpSpPr>
          <p:cNvPr id="35" name="Group 34">
            <a:extLst>
              <a:ext uri="{FF2B5EF4-FFF2-40B4-BE49-F238E27FC236}">
                <a16:creationId xmlns:a16="http://schemas.microsoft.com/office/drawing/2014/main" id="{F1022023-C882-B10D-FF7E-65DF852314E0}"/>
              </a:ext>
            </a:extLst>
          </p:cNvPr>
          <p:cNvGrpSpPr/>
          <p:nvPr/>
        </p:nvGrpSpPr>
        <p:grpSpPr>
          <a:xfrm flipH="1">
            <a:off x="6719493" y="1039299"/>
            <a:ext cx="5089662" cy="971558"/>
            <a:chOff x="544945" y="1570181"/>
            <a:chExt cx="5044575" cy="971558"/>
          </a:xfrm>
          <a:effectLst>
            <a:outerShdw blurRad="50800" dist="38100" dir="2700000" algn="tl" rotWithShape="0">
              <a:prstClr val="black">
                <a:alpha val="40000"/>
              </a:prstClr>
            </a:outerShdw>
          </a:effectLst>
        </p:grpSpPr>
        <p:sp>
          <p:nvSpPr>
            <p:cNvPr id="36" name="Rectangle: Rounded Corners 35">
              <a:extLst>
                <a:ext uri="{FF2B5EF4-FFF2-40B4-BE49-F238E27FC236}">
                  <a16:creationId xmlns:a16="http://schemas.microsoft.com/office/drawing/2014/main" id="{2BF4B747-D460-29AC-F8FB-A201867D115A}"/>
                </a:ext>
              </a:extLst>
            </p:cNvPr>
            <p:cNvSpPr/>
            <p:nvPr/>
          </p:nvSpPr>
          <p:spPr>
            <a:xfrm>
              <a:off x="544945" y="1570181"/>
              <a:ext cx="4636921" cy="963881"/>
            </a:xfrm>
            <a:prstGeom prst="roundRect">
              <a:avLst>
                <a:gd name="adj" fmla="val 8843"/>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combination of an </a:t>
              </a:r>
              <a:r>
                <a:rPr lang="en-US">
                  <a:solidFill>
                    <a:srgbClr val="FF3F3F"/>
                  </a:solidFill>
                </a:rPr>
                <a:t>overwatch wiki </a:t>
              </a:r>
              <a:r>
                <a:rPr lang="en-US">
                  <a:solidFill>
                    <a:schemeClr val="tx1"/>
                  </a:solidFill>
                </a:rPr>
                <a:t>for hero lookup and an </a:t>
              </a:r>
              <a:r>
                <a:rPr lang="en-US">
                  <a:solidFill>
                    <a:srgbClr val="FF3F3F"/>
                  </a:solidFill>
                </a:rPr>
                <a:t>excel sheet</a:t>
              </a:r>
            </a:p>
          </p:txBody>
        </p:sp>
        <p:sp>
          <p:nvSpPr>
            <p:cNvPr id="37" name="Rectangle: Top Corners Rounded 36">
              <a:extLst>
                <a:ext uri="{FF2B5EF4-FFF2-40B4-BE49-F238E27FC236}">
                  <a16:creationId xmlns:a16="http://schemas.microsoft.com/office/drawing/2014/main" id="{1CCC4C7B-1C7C-880F-7DD8-8B55E72B7627}"/>
                </a:ext>
              </a:extLst>
            </p:cNvPr>
            <p:cNvSpPr/>
            <p:nvPr/>
          </p:nvSpPr>
          <p:spPr>
            <a:xfrm rot="5400000">
              <a:off x="4854218" y="1820434"/>
              <a:ext cx="971558" cy="471052"/>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2AF4AD30-B3DF-3E55-A66E-D592F594CF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3458" y="1825914"/>
              <a:ext cx="526062" cy="452413"/>
            </a:xfrm>
            <a:prstGeom prst="rect">
              <a:avLst/>
            </a:prstGeom>
          </p:spPr>
        </p:pic>
      </p:grpSp>
      <p:grpSp>
        <p:nvGrpSpPr>
          <p:cNvPr id="39" name="Group 38">
            <a:extLst>
              <a:ext uri="{FF2B5EF4-FFF2-40B4-BE49-F238E27FC236}">
                <a16:creationId xmlns:a16="http://schemas.microsoft.com/office/drawing/2014/main" id="{746B1E01-0823-EEC6-3814-EFBF4E59265E}"/>
              </a:ext>
            </a:extLst>
          </p:cNvPr>
          <p:cNvGrpSpPr/>
          <p:nvPr/>
        </p:nvGrpSpPr>
        <p:grpSpPr>
          <a:xfrm flipH="1">
            <a:off x="6733615" y="2092061"/>
            <a:ext cx="5065258" cy="971558"/>
            <a:chOff x="544945" y="2660402"/>
            <a:chExt cx="5065258" cy="971558"/>
          </a:xfrm>
          <a:effectLst>
            <a:outerShdw blurRad="50800" dist="38100" dir="2700000" algn="tl" rotWithShape="0">
              <a:prstClr val="black">
                <a:alpha val="40000"/>
              </a:prstClr>
            </a:outerShdw>
          </a:effectLst>
        </p:grpSpPr>
        <p:sp>
          <p:nvSpPr>
            <p:cNvPr id="40" name="Rectangle: Rounded Corners 39">
              <a:extLst>
                <a:ext uri="{FF2B5EF4-FFF2-40B4-BE49-F238E27FC236}">
                  <a16:creationId xmlns:a16="http://schemas.microsoft.com/office/drawing/2014/main" id="{D81B7422-9452-BC83-A7F3-7C11279142AC}"/>
                </a:ext>
              </a:extLst>
            </p:cNvPr>
            <p:cNvSpPr/>
            <p:nvPr/>
          </p:nvSpPr>
          <p:spPr>
            <a:xfrm>
              <a:off x="544945" y="2660402"/>
              <a:ext cx="4668084"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lvl="1" algn="r"/>
              <a:r>
                <a:rPr lang="en-US">
                  <a:solidFill>
                    <a:schemeClr val="tx1"/>
                  </a:solidFill>
                </a:rPr>
                <a:t>browse and view detailed overviews of Overwatch </a:t>
              </a:r>
              <a:r>
                <a:rPr lang="en-US">
                  <a:solidFill>
                    <a:srgbClr val="FF3F3F"/>
                  </a:solidFill>
                </a:rPr>
                <a:t>heroes and their stats</a:t>
              </a:r>
            </a:p>
          </p:txBody>
        </p:sp>
        <p:sp>
          <p:nvSpPr>
            <p:cNvPr id="41" name="Rectangle: Top Corners Rounded 40">
              <a:extLst>
                <a:ext uri="{FF2B5EF4-FFF2-40B4-BE49-F238E27FC236}">
                  <a16:creationId xmlns:a16="http://schemas.microsoft.com/office/drawing/2014/main" id="{51F5B8F8-11CB-C9C8-8506-0AAB1B30D4EA}"/>
                </a:ext>
              </a:extLst>
            </p:cNvPr>
            <p:cNvSpPr/>
            <p:nvPr/>
          </p:nvSpPr>
          <p:spPr>
            <a:xfrm rot="5400000">
              <a:off x="4881899" y="2903658"/>
              <a:ext cx="971555" cy="485049"/>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FD86941D-37F5-52A2-2B42-81F91B50F9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43" name="Group 42">
            <a:extLst>
              <a:ext uri="{FF2B5EF4-FFF2-40B4-BE49-F238E27FC236}">
                <a16:creationId xmlns:a16="http://schemas.microsoft.com/office/drawing/2014/main" id="{19E5382B-4CD0-2725-1AE9-1A2AE9ED2904}"/>
              </a:ext>
            </a:extLst>
          </p:cNvPr>
          <p:cNvGrpSpPr/>
          <p:nvPr/>
        </p:nvGrpSpPr>
        <p:grpSpPr>
          <a:xfrm flipH="1">
            <a:off x="6698783" y="4244683"/>
            <a:ext cx="5131080" cy="963881"/>
            <a:chOff x="558942" y="3779970"/>
            <a:chExt cx="5131080" cy="963881"/>
          </a:xfrm>
          <a:effectLst>
            <a:outerShdw blurRad="50800" dist="38100" dir="2700000" algn="tl" rotWithShape="0">
              <a:prstClr val="black">
                <a:alpha val="40000"/>
              </a:prstClr>
            </a:outerShdw>
          </a:effectLst>
        </p:grpSpPr>
        <p:sp>
          <p:nvSpPr>
            <p:cNvPr id="44" name="Rectangle: Rounded Corners 43">
              <a:extLst>
                <a:ext uri="{FF2B5EF4-FFF2-40B4-BE49-F238E27FC236}">
                  <a16:creationId xmlns:a16="http://schemas.microsoft.com/office/drawing/2014/main" id="{79DAA70E-80FF-516B-2200-B7E33127127D}"/>
                </a:ext>
              </a:extLst>
            </p:cNvPr>
            <p:cNvSpPr/>
            <p:nvPr/>
          </p:nvSpPr>
          <p:spPr>
            <a:xfrm>
              <a:off x="558942" y="3779970"/>
              <a:ext cx="4699075"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an </a:t>
              </a:r>
              <a:r>
                <a:rPr lang="en-US">
                  <a:solidFill>
                    <a:srgbClr val="FF3F3F"/>
                  </a:solidFill>
                </a:rPr>
                <a:t>easy to use </a:t>
              </a:r>
              <a:r>
                <a:rPr lang="en-US">
                  <a:solidFill>
                    <a:schemeClr val="tx1"/>
                  </a:solidFill>
                </a:rPr>
                <a:t>and </a:t>
              </a:r>
              <a:r>
                <a:rPr lang="en-US">
                  <a:solidFill>
                    <a:srgbClr val="FF3F3F"/>
                  </a:solidFill>
                </a:rPr>
                <a:t>intuitive</a:t>
              </a:r>
              <a:r>
                <a:rPr lang="en-US">
                  <a:solidFill>
                    <a:schemeClr val="tx1"/>
                  </a:solidFill>
                </a:rPr>
                <a:t> application for Overwatch players</a:t>
              </a:r>
            </a:p>
          </p:txBody>
        </p:sp>
        <p:sp>
          <p:nvSpPr>
            <p:cNvPr id="45" name="Rectangle: Top Corners Rounded 44">
              <a:extLst>
                <a:ext uri="{FF2B5EF4-FFF2-40B4-BE49-F238E27FC236}">
                  <a16:creationId xmlns:a16="http://schemas.microsoft.com/office/drawing/2014/main" id="{72C2E66C-B66E-5151-80C8-2354BFCC1685}"/>
                </a:ext>
              </a:extLst>
            </p:cNvPr>
            <p:cNvSpPr/>
            <p:nvPr/>
          </p:nvSpPr>
          <p:spPr>
            <a:xfrm rot="5400000">
              <a:off x="4913976" y="4015550"/>
              <a:ext cx="956207" cy="485050"/>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8D5E1BB2-79E9-8ADD-DFA2-DB3640D427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0593" y="4007351"/>
              <a:ext cx="599429" cy="515508"/>
            </a:xfrm>
            <a:prstGeom prst="rect">
              <a:avLst/>
            </a:prstGeom>
          </p:spPr>
        </p:pic>
      </p:grpSp>
      <p:sp>
        <p:nvSpPr>
          <p:cNvPr id="47" name="Rectangle: Rounded Corners 46">
            <a:extLst>
              <a:ext uri="{FF2B5EF4-FFF2-40B4-BE49-F238E27FC236}">
                <a16:creationId xmlns:a16="http://schemas.microsoft.com/office/drawing/2014/main" id="{BBCE98F2-8F8C-AEBB-CF03-2B6715FEE9E4}"/>
              </a:ext>
            </a:extLst>
          </p:cNvPr>
          <p:cNvSpPr/>
          <p:nvPr/>
        </p:nvSpPr>
        <p:spPr>
          <a:xfrm>
            <a:off x="6742037" y="545577"/>
            <a:ext cx="5044575" cy="397164"/>
          </a:xfrm>
          <a:prstGeom prst="roundRect">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r>
              <a:rPr lang="en-US" b="1">
                <a:solidFill>
                  <a:srgbClr val="FF3F3F"/>
                </a:solidFill>
              </a:rPr>
              <a:t>   Concept/ Product</a:t>
            </a:r>
          </a:p>
        </p:txBody>
      </p:sp>
      <p:sp>
        <p:nvSpPr>
          <p:cNvPr id="48" name="TextBox 47">
            <a:extLst>
              <a:ext uri="{FF2B5EF4-FFF2-40B4-BE49-F238E27FC236}">
                <a16:creationId xmlns:a16="http://schemas.microsoft.com/office/drawing/2014/main" id="{96408E50-8851-7C76-D0D9-52CB196E49F5}"/>
              </a:ext>
            </a:extLst>
          </p:cNvPr>
          <p:cNvSpPr txBox="1"/>
          <p:nvPr/>
        </p:nvSpPr>
        <p:spPr>
          <a:xfrm>
            <a:off x="5661713" y="3249887"/>
            <a:ext cx="694421" cy="769441"/>
          </a:xfrm>
          <a:prstGeom prst="rect">
            <a:avLst/>
          </a:prstGeom>
          <a:noFill/>
          <a:effectLst>
            <a:outerShdw blurRad="50800" dist="50800" dir="5400000" algn="ctr" rotWithShape="0">
              <a:srgbClr val="000000">
                <a:alpha val="91000"/>
              </a:srgbClr>
            </a:outerShdw>
          </a:effectLst>
        </p:spPr>
        <p:txBody>
          <a:bodyPr wrap="none" rtlCol="0">
            <a:spAutoFit/>
          </a:bodyPr>
          <a:lstStyle/>
          <a:p>
            <a:r>
              <a:rPr lang="en-US" sz="4400" b="1" i="1">
                <a:effectLst>
                  <a:outerShdw blurRad="38100" dist="38100" dir="2700000" algn="tl">
                    <a:srgbClr val="000000">
                      <a:alpha val="43137"/>
                    </a:srgbClr>
                  </a:outerShdw>
                </a:effectLst>
                <a:latin typeface="Agency FB" panose="020B0503020202020204" pitchFamily="34" charset="0"/>
                <a:cs typeface="Aharoni" panose="020F0502020204030204" pitchFamily="2" charset="-79"/>
              </a:rPr>
              <a:t>VS</a:t>
            </a:r>
          </a:p>
        </p:txBody>
      </p:sp>
      <p:grpSp>
        <p:nvGrpSpPr>
          <p:cNvPr id="49" name="Group 48">
            <a:extLst>
              <a:ext uri="{FF2B5EF4-FFF2-40B4-BE49-F238E27FC236}">
                <a16:creationId xmlns:a16="http://schemas.microsoft.com/office/drawing/2014/main" id="{025912D5-F671-6789-3B48-E0795B7F2197}"/>
              </a:ext>
            </a:extLst>
          </p:cNvPr>
          <p:cNvGrpSpPr/>
          <p:nvPr/>
        </p:nvGrpSpPr>
        <p:grpSpPr>
          <a:xfrm>
            <a:off x="346673" y="3162832"/>
            <a:ext cx="5065259" cy="979231"/>
            <a:chOff x="544944" y="2652726"/>
            <a:chExt cx="5065259" cy="979231"/>
          </a:xfrm>
          <a:effectLst>
            <a:outerShdw blurRad="50800" dist="38100" dir="2700000" algn="tl" rotWithShape="0">
              <a:prstClr val="black">
                <a:alpha val="40000"/>
              </a:prstClr>
            </a:outerShdw>
          </a:effectLst>
        </p:grpSpPr>
        <p:sp>
          <p:nvSpPr>
            <p:cNvPr id="50" name="Rectangle: Rounded Corners 49">
              <a:extLst>
                <a:ext uri="{FF2B5EF4-FFF2-40B4-BE49-F238E27FC236}">
                  <a16:creationId xmlns:a16="http://schemas.microsoft.com/office/drawing/2014/main" id="{F68652BD-96F8-CE65-120D-E13940F54F11}"/>
                </a:ext>
              </a:extLst>
            </p:cNvPr>
            <p:cNvSpPr/>
            <p:nvPr/>
          </p:nvSpPr>
          <p:spPr>
            <a:xfrm>
              <a:off x="544944" y="2660402"/>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experience </a:t>
              </a:r>
              <a:r>
                <a:rPr lang="en-US">
                  <a:solidFill>
                    <a:srgbClr val="00B0F0"/>
                  </a:solidFill>
                </a:rPr>
                <a:t>production</a:t>
              </a:r>
              <a:r>
                <a:rPr lang="en-US">
                  <a:solidFill>
                    <a:schemeClr val="tx1"/>
                  </a:solidFill>
                </a:rPr>
                <a:t> of a website application</a:t>
              </a:r>
            </a:p>
          </p:txBody>
        </p:sp>
        <p:sp>
          <p:nvSpPr>
            <p:cNvPr id="51" name="Rectangle: Top Corners Rounded 50">
              <a:extLst>
                <a:ext uri="{FF2B5EF4-FFF2-40B4-BE49-F238E27FC236}">
                  <a16:creationId xmlns:a16="http://schemas.microsoft.com/office/drawing/2014/main" id="{71EBB4AC-AE00-9497-48C7-016A6296004E}"/>
                </a:ext>
              </a:extLst>
            </p:cNvPr>
            <p:cNvSpPr/>
            <p:nvPr/>
          </p:nvSpPr>
          <p:spPr>
            <a:xfrm rot="5400000">
              <a:off x="4850381" y="2906816"/>
              <a:ext cx="979231"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63265BDF-3B7D-8D2D-B004-2C0DAFA924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53" name="Group 52">
            <a:extLst>
              <a:ext uri="{FF2B5EF4-FFF2-40B4-BE49-F238E27FC236}">
                <a16:creationId xmlns:a16="http://schemas.microsoft.com/office/drawing/2014/main" id="{E2737D29-8217-A04A-3352-7799F1EA5EAF}"/>
              </a:ext>
            </a:extLst>
          </p:cNvPr>
          <p:cNvGrpSpPr/>
          <p:nvPr/>
        </p:nvGrpSpPr>
        <p:grpSpPr>
          <a:xfrm>
            <a:off x="341426" y="5317574"/>
            <a:ext cx="5075665" cy="963883"/>
            <a:chOff x="558941" y="3779970"/>
            <a:chExt cx="5075665" cy="963883"/>
          </a:xfrm>
          <a:effectLst>
            <a:outerShdw blurRad="50800" dist="38100" dir="2700000" algn="tl" rotWithShape="0">
              <a:prstClr val="black">
                <a:alpha val="40000"/>
              </a:prstClr>
            </a:outerShdw>
          </a:effectLst>
        </p:grpSpPr>
        <p:sp>
          <p:nvSpPr>
            <p:cNvPr id="54" name="Rectangle: Rounded Corners 53">
              <a:extLst>
                <a:ext uri="{FF2B5EF4-FFF2-40B4-BE49-F238E27FC236}">
                  <a16:creationId xmlns:a16="http://schemas.microsoft.com/office/drawing/2014/main" id="{F8EB0127-8A5F-A3CB-A7C1-8FEC5CF7A9DC}"/>
                </a:ext>
              </a:extLst>
            </p:cNvPr>
            <p:cNvSpPr/>
            <p:nvPr/>
          </p:nvSpPr>
          <p:spPr>
            <a:xfrm>
              <a:off x="558941" y="3779970"/>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hypothetical solution to a </a:t>
              </a:r>
              <a:r>
                <a:rPr lang="en-US">
                  <a:solidFill>
                    <a:srgbClr val="00AAE6"/>
                  </a:solidFill>
                </a:rPr>
                <a:t>similar problem </a:t>
              </a:r>
              <a:r>
                <a:rPr lang="en-US">
                  <a:solidFill>
                    <a:schemeClr val="tx1"/>
                  </a:solidFill>
                </a:rPr>
                <a:t>that a friend of ours had</a:t>
              </a:r>
            </a:p>
          </p:txBody>
        </p:sp>
        <p:sp>
          <p:nvSpPr>
            <p:cNvPr id="55" name="Rectangle: Top Corners Rounded 54">
              <a:extLst>
                <a:ext uri="{FF2B5EF4-FFF2-40B4-BE49-F238E27FC236}">
                  <a16:creationId xmlns:a16="http://schemas.microsoft.com/office/drawing/2014/main" id="{3EA4F10E-A16A-F49B-8505-FC399AC2044B}"/>
                </a:ext>
              </a:extLst>
            </p:cNvPr>
            <p:cNvSpPr/>
            <p:nvPr/>
          </p:nvSpPr>
          <p:spPr>
            <a:xfrm rot="5400000">
              <a:off x="4853199" y="4026386"/>
              <a:ext cx="963882"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a:extLst>
                <a:ext uri="{FF2B5EF4-FFF2-40B4-BE49-F238E27FC236}">
                  <a16:creationId xmlns:a16="http://schemas.microsoft.com/office/drawing/2014/main" id="{3C1F59C0-B310-C65F-9A16-8BD558FB28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5177" y="4007351"/>
              <a:ext cx="599429" cy="515508"/>
            </a:xfrm>
            <a:prstGeom prst="rect">
              <a:avLst/>
            </a:prstGeom>
          </p:spPr>
        </p:pic>
      </p:grpSp>
      <p:grpSp>
        <p:nvGrpSpPr>
          <p:cNvPr id="57" name="Group 56">
            <a:extLst>
              <a:ext uri="{FF2B5EF4-FFF2-40B4-BE49-F238E27FC236}">
                <a16:creationId xmlns:a16="http://schemas.microsoft.com/office/drawing/2014/main" id="{05783837-7E14-1F3D-63DC-84FDC1E68556}"/>
              </a:ext>
            </a:extLst>
          </p:cNvPr>
          <p:cNvGrpSpPr/>
          <p:nvPr/>
        </p:nvGrpSpPr>
        <p:grpSpPr>
          <a:xfrm flipH="1">
            <a:off x="6750674" y="3159435"/>
            <a:ext cx="5065258" cy="971558"/>
            <a:chOff x="544945" y="2660402"/>
            <a:chExt cx="5065258" cy="971558"/>
          </a:xfrm>
          <a:effectLst>
            <a:outerShdw blurRad="50800" dist="38100" dir="2700000" algn="tl" rotWithShape="0">
              <a:prstClr val="black">
                <a:alpha val="40000"/>
              </a:prstClr>
            </a:outerShdw>
          </a:effectLst>
        </p:grpSpPr>
        <p:sp>
          <p:nvSpPr>
            <p:cNvPr id="58" name="Rectangle: Rounded Corners 57">
              <a:extLst>
                <a:ext uri="{FF2B5EF4-FFF2-40B4-BE49-F238E27FC236}">
                  <a16:creationId xmlns:a16="http://schemas.microsoft.com/office/drawing/2014/main" id="{C70F5EE8-1F34-58A8-6714-2129B3E450DE}"/>
                </a:ext>
              </a:extLst>
            </p:cNvPr>
            <p:cNvSpPr/>
            <p:nvPr/>
          </p:nvSpPr>
          <p:spPr>
            <a:xfrm>
              <a:off x="544945" y="2660402"/>
              <a:ext cx="4668085"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with a </a:t>
              </a:r>
              <a:r>
                <a:rPr lang="en-US">
                  <a:solidFill>
                    <a:srgbClr val="FF3F3F"/>
                  </a:solidFill>
                </a:rPr>
                <a:t>personal account</a:t>
              </a:r>
              <a:r>
                <a:rPr lang="en-US">
                  <a:solidFill>
                    <a:schemeClr val="tx1"/>
                  </a:solidFill>
                </a:rPr>
                <a:t>, </a:t>
              </a:r>
              <a:r>
                <a:rPr lang="en-US">
                  <a:solidFill>
                    <a:srgbClr val="FF3F3F"/>
                  </a:solidFill>
                </a:rPr>
                <a:t>create</a:t>
              </a:r>
              <a:r>
                <a:rPr lang="en-US">
                  <a:solidFill>
                    <a:schemeClr val="tx1"/>
                  </a:solidFill>
                </a:rPr>
                <a:t> new </a:t>
              </a:r>
              <a:r>
                <a:rPr lang="en-US">
                  <a:solidFill>
                    <a:srgbClr val="FF3F3F"/>
                  </a:solidFill>
                </a:rPr>
                <a:t>team comps </a:t>
              </a:r>
              <a:r>
                <a:rPr lang="en-US">
                  <a:solidFill>
                    <a:schemeClr val="tx1"/>
                  </a:solidFill>
                </a:rPr>
                <a:t>and </a:t>
              </a:r>
              <a:r>
                <a:rPr lang="en-US">
                  <a:solidFill>
                    <a:srgbClr val="FF3F3F"/>
                  </a:solidFill>
                </a:rPr>
                <a:t>modify</a:t>
              </a:r>
              <a:r>
                <a:rPr lang="en-US">
                  <a:solidFill>
                    <a:schemeClr val="tx1"/>
                  </a:solidFill>
                </a:rPr>
                <a:t> one of your existing ones</a:t>
              </a:r>
            </a:p>
          </p:txBody>
        </p:sp>
        <p:sp>
          <p:nvSpPr>
            <p:cNvPr id="59" name="Rectangle: Top Corners Rounded 58">
              <a:extLst>
                <a:ext uri="{FF2B5EF4-FFF2-40B4-BE49-F238E27FC236}">
                  <a16:creationId xmlns:a16="http://schemas.microsoft.com/office/drawing/2014/main" id="{B7F977B9-F6EB-C19E-AA1B-018C14260C85}"/>
                </a:ext>
              </a:extLst>
            </p:cNvPr>
            <p:cNvSpPr/>
            <p:nvPr/>
          </p:nvSpPr>
          <p:spPr>
            <a:xfrm rot="5400000">
              <a:off x="4881899" y="2903658"/>
              <a:ext cx="971555" cy="485049"/>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a:extLst>
                <a:ext uri="{FF2B5EF4-FFF2-40B4-BE49-F238E27FC236}">
                  <a16:creationId xmlns:a16="http://schemas.microsoft.com/office/drawing/2014/main" id="{6B8DCC5A-3724-660C-1DB6-E7B1D863ED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61" name="Group 60">
            <a:extLst>
              <a:ext uri="{FF2B5EF4-FFF2-40B4-BE49-F238E27FC236}">
                <a16:creationId xmlns:a16="http://schemas.microsoft.com/office/drawing/2014/main" id="{04E74AD4-A52B-7C57-72A2-04E169A58728}"/>
              </a:ext>
            </a:extLst>
          </p:cNvPr>
          <p:cNvGrpSpPr/>
          <p:nvPr/>
        </p:nvGrpSpPr>
        <p:grpSpPr>
          <a:xfrm flipH="1">
            <a:off x="6719493" y="5322254"/>
            <a:ext cx="5131080" cy="963881"/>
            <a:chOff x="558942" y="3779970"/>
            <a:chExt cx="5131080" cy="963881"/>
          </a:xfrm>
          <a:effectLst>
            <a:outerShdw blurRad="50800" dist="38100" dir="2700000" algn="tl" rotWithShape="0">
              <a:prstClr val="black">
                <a:alpha val="40000"/>
              </a:prstClr>
            </a:outerShdw>
          </a:effectLst>
        </p:grpSpPr>
        <p:sp>
          <p:nvSpPr>
            <p:cNvPr id="62" name="Rectangle: Rounded Corners 61">
              <a:extLst>
                <a:ext uri="{FF2B5EF4-FFF2-40B4-BE49-F238E27FC236}">
                  <a16:creationId xmlns:a16="http://schemas.microsoft.com/office/drawing/2014/main" id="{336A0C70-A8F5-1022-504F-73BDA4101D5B}"/>
                </a:ext>
              </a:extLst>
            </p:cNvPr>
            <p:cNvSpPr/>
            <p:nvPr/>
          </p:nvSpPr>
          <p:spPr>
            <a:xfrm>
              <a:off x="558942" y="3779970"/>
              <a:ext cx="4641696"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creation and modification of a team composition </a:t>
              </a:r>
              <a:r>
                <a:rPr lang="en-US">
                  <a:solidFill>
                    <a:srgbClr val="FF3F3F"/>
                  </a:solidFill>
                </a:rPr>
                <a:t>within a single application</a:t>
              </a:r>
            </a:p>
          </p:txBody>
        </p:sp>
        <p:sp>
          <p:nvSpPr>
            <p:cNvPr id="63" name="Rectangle: Top Corners Rounded 62">
              <a:extLst>
                <a:ext uri="{FF2B5EF4-FFF2-40B4-BE49-F238E27FC236}">
                  <a16:creationId xmlns:a16="http://schemas.microsoft.com/office/drawing/2014/main" id="{F32A0CDC-ABEB-06D3-3685-BB9BC5105D6A}"/>
                </a:ext>
              </a:extLst>
            </p:cNvPr>
            <p:cNvSpPr/>
            <p:nvPr/>
          </p:nvSpPr>
          <p:spPr>
            <a:xfrm rot="5400000">
              <a:off x="4913976" y="4015550"/>
              <a:ext cx="956207" cy="485050"/>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a:extLst>
                <a:ext uri="{FF2B5EF4-FFF2-40B4-BE49-F238E27FC236}">
                  <a16:creationId xmlns:a16="http://schemas.microsoft.com/office/drawing/2014/main" id="{FDEF9FA6-01DD-F4E9-0B13-675978124F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0593" y="4007351"/>
              <a:ext cx="599429" cy="515508"/>
            </a:xfrm>
            <a:prstGeom prst="rect">
              <a:avLst/>
            </a:prstGeom>
          </p:spPr>
        </p:pic>
      </p:grpSp>
    </p:spTree>
    <p:extLst>
      <p:ext uri="{BB962C8B-B14F-4D97-AF65-F5344CB8AC3E}">
        <p14:creationId xmlns:p14="http://schemas.microsoft.com/office/powerpoint/2010/main" val="2874123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0-#ppt_w/2"/>
                                          </p:val>
                                        </p:tav>
                                        <p:tav tm="100000">
                                          <p:val>
                                            <p:strVal val="#ppt_x"/>
                                          </p:val>
                                        </p:tav>
                                      </p:tavLst>
                                    </p:anim>
                                    <p:anim calcmode="lin" valueType="num">
                                      <p:cBhvr additive="base">
                                        <p:cTn id="13"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additive="base">
                                        <p:cTn id="18" dur="500" fill="hold"/>
                                        <p:tgtEl>
                                          <p:spTgt spid="34"/>
                                        </p:tgtEl>
                                        <p:attrNameLst>
                                          <p:attrName>ppt_x</p:attrName>
                                        </p:attrNameLst>
                                      </p:cBhvr>
                                      <p:tavLst>
                                        <p:tav tm="0">
                                          <p:val>
                                            <p:strVal val="0-#ppt_w/2"/>
                                          </p:val>
                                        </p:tav>
                                        <p:tav tm="100000">
                                          <p:val>
                                            <p:strVal val="#ppt_x"/>
                                          </p:val>
                                        </p:tav>
                                      </p:tavLst>
                                    </p:anim>
                                    <p:anim calcmode="lin" valueType="num">
                                      <p:cBhvr additive="base">
                                        <p:cTn id="19"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additive="base">
                                        <p:cTn id="24" dur="500" fill="hold"/>
                                        <p:tgtEl>
                                          <p:spTgt spid="49"/>
                                        </p:tgtEl>
                                        <p:attrNameLst>
                                          <p:attrName>ppt_x</p:attrName>
                                        </p:attrNameLst>
                                      </p:cBhvr>
                                      <p:tavLst>
                                        <p:tav tm="0">
                                          <p:val>
                                            <p:strVal val="0-#ppt_w/2"/>
                                          </p:val>
                                        </p:tav>
                                        <p:tav tm="100000">
                                          <p:val>
                                            <p:strVal val="#ppt_x"/>
                                          </p:val>
                                        </p:tav>
                                      </p:tavLst>
                                    </p:anim>
                                    <p:anim calcmode="lin" valueType="num">
                                      <p:cBhvr additive="base">
                                        <p:cTn id="25"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additive="base">
                                        <p:cTn id="30" dur="500" fill="hold"/>
                                        <p:tgtEl>
                                          <p:spTgt spid="33"/>
                                        </p:tgtEl>
                                        <p:attrNameLst>
                                          <p:attrName>ppt_x</p:attrName>
                                        </p:attrNameLst>
                                      </p:cBhvr>
                                      <p:tavLst>
                                        <p:tav tm="0">
                                          <p:val>
                                            <p:strVal val="0-#ppt_w/2"/>
                                          </p:val>
                                        </p:tav>
                                        <p:tav tm="100000">
                                          <p:val>
                                            <p:strVal val="#ppt_x"/>
                                          </p:val>
                                        </p:tav>
                                      </p:tavLst>
                                    </p:anim>
                                    <p:anim calcmode="lin" valueType="num">
                                      <p:cBhvr additive="base">
                                        <p:cTn id="31"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 calcmode="lin" valueType="num">
                                      <p:cBhvr additive="base">
                                        <p:cTn id="36" dur="500" fill="hold"/>
                                        <p:tgtEl>
                                          <p:spTgt spid="53"/>
                                        </p:tgtEl>
                                        <p:attrNameLst>
                                          <p:attrName>ppt_x</p:attrName>
                                        </p:attrNameLst>
                                      </p:cBhvr>
                                      <p:tavLst>
                                        <p:tav tm="0">
                                          <p:val>
                                            <p:strVal val="0-#ppt_w/2"/>
                                          </p:val>
                                        </p:tav>
                                        <p:tav tm="100000">
                                          <p:val>
                                            <p:strVal val="#ppt_x"/>
                                          </p:val>
                                        </p:tav>
                                      </p:tavLst>
                                    </p:anim>
                                    <p:anim calcmode="lin" valueType="num">
                                      <p:cBhvr additive="base">
                                        <p:cTn id="37"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additive="base">
                                        <p:cTn id="52" dur="500" fill="hold"/>
                                        <p:tgtEl>
                                          <p:spTgt spid="35"/>
                                        </p:tgtEl>
                                        <p:attrNameLst>
                                          <p:attrName>ppt_x</p:attrName>
                                        </p:attrNameLst>
                                      </p:cBhvr>
                                      <p:tavLst>
                                        <p:tav tm="0">
                                          <p:val>
                                            <p:strVal val="1+#ppt_w/2"/>
                                          </p:val>
                                        </p:tav>
                                        <p:tav tm="100000">
                                          <p:val>
                                            <p:strVal val="#ppt_x"/>
                                          </p:val>
                                        </p:tav>
                                      </p:tavLst>
                                    </p:anim>
                                    <p:anim calcmode="lin" valueType="num">
                                      <p:cBhvr additive="base">
                                        <p:cTn id="5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500" fill="hold"/>
                                        <p:tgtEl>
                                          <p:spTgt spid="39"/>
                                        </p:tgtEl>
                                        <p:attrNameLst>
                                          <p:attrName>ppt_x</p:attrName>
                                        </p:attrNameLst>
                                      </p:cBhvr>
                                      <p:tavLst>
                                        <p:tav tm="0">
                                          <p:val>
                                            <p:strVal val="1+#ppt_w/2"/>
                                          </p:val>
                                        </p:tav>
                                        <p:tav tm="100000">
                                          <p:val>
                                            <p:strVal val="#ppt_x"/>
                                          </p:val>
                                        </p:tav>
                                      </p:tavLst>
                                    </p:anim>
                                    <p:anim calcmode="lin" valueType="num">
                                      <p:cBhvr additive="base">
                                        <p:cTn id="59"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nodeType="clickEffect">
                                  <p:stCondLst>
                                    <p:cond delay="0"/>
                                  </p:stCondLst>
                                  <p:childTnLst>
                                    <p:set>
                                      <p:cBhvr>
                                        <p:cTn id="63" dur="1" fill="hold">
                                          <p:stCondLst>
                                            <p:cond delay="0"/>
                                          </p:stCondLst>
                                        </p:cTn>
                                        <p:tgtEl>
                                          <p:spTgt spid="57"/>
                                        </p:tgtEl>
                                        <p:attrNameLst>
                                          <p:attrName>style.visibility</p:attrName>
                                        </p:attrNameLst>
                                      </p:cBhvr>
                                      <p:to>
                                        <p:strVal val="visible"/>
                                      </p:to>
                                    </p:set>
                                    <p:anim calcmode="lin" valueType="num">
                                      <p:cBhvr additive="base">
                                        <p:cTn id="64" dur="500" fill="hold"/>
                                        <p:tgtEl>
                                          <p:spTgt spid="57"/>
                                        </p:tgtEl>
                                        <p:attrNameLst>
                                          <p:attrName>ppt_x</p:attrName>
                                        </p:attrNameLst>
                                      </p:cBhvr>
                                      <p:tavLst>
                                        <p:tav tm="0">
                                          <p:val>
                                            <p:strVal val="1+#ppt_w/2"/>
                                          </p:val>
                                        </p:tav>
                                        <p:tav tm="100000">
                                          <p:val>
                                            <p:strVal val="#ppt_x"/>
                                          </p:val>
                                        </p:tav>
                                      </p:tavLst>
                                    </p:anim>
                                    <p:anim calcmode="lin" valueType="num">
                                      <p:cBhvr additive="base">
                                        <p:cTn id="65"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childTnLst>
                                    <p:set>
                                      <p:cBhvr>
                                        <p:cTn id="69" dur="1" fill="hold">
                                          <p:stCondLst>
                                            <p:cond delay="0"/>
                                          </p:stCondLst>
                                        </p:cTn>
                                        <p:tgtEl>
                                          <p:spTgt spid="43"/>
                                        </p:tgtEl>
                                        <p:attrNameLst>
                                          <p:attrName>style.visibility</p:attrName>
                                        </p:attrNameLst>
                                      </p:cBhvr>
                                      <p:to>
                                        <p:strVal val="visible"/>
                                      </p:to>
                                    </p:set>
                                    <p:anim calcmode="lin" valueType="num">
                                      <p:cBhvr additive="base">
                                        <p:cTn id="70" dur="500" fill="hold"/>
                                        <p:tgtEl>
                                          <p:spTgt spid="43"/>
                                        </p:tgtEl>
                                        <p:attrNameLst>
                                          <p:attrName>ppt_x</p:attrName>
                                        </p:attrNameLst>
                                      </p:cBhvr>
                                      <p:tavLst>
                                        <p:tav tm="0">
                                          <p:val>
                                            <p:strVal val="1+#ppt_w/2"/>
                                          </p:val>
                                        </p:tav>
                                        <p:tav tm="100000">
                                          <p:val>
                                            <p:strVal val="#ppt_x"/>
                                          </p:val>
                                        </p:tav>
                                      </p:tavLst>
                                    </p:anim>
                                    <p:anim calcmode="lin" valueType="num">
                                      <p:cBhvr additive="base">
                                        <p:cTn id="71"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2" fill="hold" nodeType="clickEffect">
                                  <p:stCondLst>
                                    <p:cond delay="0"/>
                                  </p:stCondLst>
                                  <p:childTnLst>
                                    <p:set>
                                      <p:cBhvr>
                                        <p:cTn id="75" dur="1" fill="hold">
                                          <p:stCondLst>
                                            <p:cond delay="0"/>
                                          </p:stCondLst>
                                        </p:cTn>
                                        <p:tgtEl>
                                          <p:spTgt spid="61"/>
                                        </p:tgtEl>
                                        <p:attrNameLst>
                                          <p:attrName>style.visibility</p:attrName>
                                        </p:attrNameLst>
                                      </p:cBhvr>
                                      <p:to>
                                        <p:strVal val="visible"/>
                                      </p:to>
                                    </p:set>
                                    <p:anim calcmode="lin" valueType="num">
                                      <p:cBhvr additive="base">
                                        <p:cTn id="76" dur="500" fill="hold"/>
                                        <p:tgtEl>
                                          <p:spTgt spid="61"/>
                                        </p:tgtEl>
                                        <p:attrNameLst>
                                          <p:attrName>ppt_x</p:attrName>
                                        </p:attrNameLst>
                                      </p:cBhvr>
                                      <p:tavLst>
                                        <p:tav tm="0">
                                          <p:val>
                                            <p:strVal val="1+#ppt_w/2"/>
                                          </p:val>
                                        </p:tav>
                                        <p:tav tm="100000">
                                          <p:val>
                                            <p:strVal val="#ppt_x"/>
                                          </p:val>
                                        </p:tav>
                                      </p:tavLst>
                                    </p:anim>
                                    <p:anim calcmode="lin" valueType="num">
                                      <p:cBhvr additive="base">
                                        <p:cTn id="77"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7" grpId="0" animBg="1"/>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F91B0457-FAA8-1F65-B273-A9BE0B2569E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94A9914-2710-32B3-C35A-06338D271617}"/>
              </a:ext>
            </a:extLst>
          </p:cNvPr>
          <p:cNvPicPr>
            <a:picLocks noChangeAspect="1"/>
          </p:cNvPicPr>
          <p:nvPr/>
        </p:nvPicPr>
        <p:blipFill>
          <a:blip r:embed="rId3">
            <a:extLst>
              <a:ext uri="{28A0092B-C50C-407E-A947-70E740481C1C}">
                <a14:useLocalDpi xmlns:a14="http://schemas.microsoft.com/office/drawing/2010/main" val="0"/>
              </a:ext>
            </a:extLst>
          </a:blip>
          <a:srcRect l="4832" t="494" r="4113" b="-494"/>
          <a:stretch>
            <a:fillRect/>
          </a:stretch>
        </p:blipFill>
        <p:spPr>
          <a:xfrm>
            <a:off x="3278909" y="214364"/>
            <a:ext cx="8377382" cy="4487655"/>
          </a:xfrm>
          <a:prstGeom prst="rect">
            <a:avLst/>
          </a:prstGeom>
        </p:spPr>
      </p:pic>
      <p:pic>
        <p:nvPicPr>
          <p:cNvPr id="12" name="Picture 11">
            <a:extLst>
              <a:ext uri="{FF2B5EF4-FFF2-40B4-BE49-F238E27FC236}">
                <a16:creationId xmlns:a16="http://schemas.microsoft.com/office/drawing/2014/main" id="{4363DBB8-DC90-E5B8-8FB5-EECCFE346B39}"/>
              </a:ext>
            </a:extLst>
          </p:cNvPr>
          <p:cNvPicPr>
            <a:picLocks noChangeAspect="1"/>
          </p:cNvPicPr>
          <p:nvPr/>
        </p:nvPicPr>
        <p:blipFill>
          <a:blip r:embed="rId4">
            <a:extLst>
              <a:ext uri="{28A0092B-C50C-407E-A947-70E740481C1C}">
                <a14:useLocalDpi xmlns:a14="http://schemas.microsoft.com/office/drawing/2010/main" val="0"/>
              </a:ext>
            </a:extLst>
          </a:blip>
          <a:srcRect l="63970" r="11288"/>
          <a:stretch>
            <a:fillRect/>
          </a:stretch>
        </p:blipFill>
        <p:spPr>
          <a:xfrm>
            <a:off x="8721589" y="214364"/>
            <a:ext cx="2263862" cy="4462944"/>
          </a:xfrm>
          <a:prstGeom prst="rect">
            <a:avLst/>
          </a:prstGeom>
        </p:spPr>
      </p:pic>
      <p:grpSp>
        <p:nvGrpSpPr>
          <p:cNvPr id="21" name="Group 20">
            <a:extLst>
              <a:ext uri="{FF2B5EF4-FFF2-40B4-BE49-F238E27FC236}">
                <a16:creationId xmlns:a16="http://schemas.microsoft.com/office/drawing/2014/main" id="{704DD963-C084-BA4B-774B-3F0195ABB2D0}"/>
              </a:ext>
            </a:extLst>
          </p:cNvPr>
          <p:cNvGrpSpPr/>
          <p:nvPr/>
        </p:nvGrpSpPr>
        <p:grpSpPr>
          <a:xfrm>
            <a:off x="120459" y="214364"/>
            <a:ext cx="3011786" cy="510504"/>
            <a:chOff x="100869" y="175489"/>
            <a:chExt cx="2498131" cy="609604"/>
          </a:xfrm>
        </p:grpSpPr>
        <p:sp>
          <p:nvSpPr>
            <p:cNvPr id="20" name="Rectangle: Rounded Corners 19">
              <a:extLst>
                <a:ext uri="{FF2B5EF4-FFF2-40B4-BE49-F238E27FC236}">
                  <a16:creationId xmlns:a16="http://schemas.microsoft.com/office/drawing/2014/main" id="{98F1F695-F3CC-8240-F050-8DEA15DE3CA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A25F567F-923F-E064-49B1-19856C7C98CD}"/>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F423C4D7-3ADB-1C5F-11E6-8B3181AF7940}"/>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Design/Mockup</a:t>
              </a:r>
            </a:p>
          </p:txBody>
        </p:sp>
      </p:grpSp>
      <p:pic>
        <p:nvPicPr>
          <p:cNvPr id="25" name="Picture 24" descr="Character Selection - Overwatch 2 | Interface In Game">
            <a:extLst>
              <a:ext uri="{FF2B5EF4-FFF2-40B4-BE49-F238E27FC236}">
                <a16:creationId xmlns:a16="http://schemas.microsoft.com/office/drawing/2014/main" id="{CF99F6EA-F445-300C-72A3-55A28FF57812}"/>
              </a:ext>
            </a:extLst>
          </p:cNvPr>
          <p:cNvPicPr>
            <a:picLocks noChangeAspect="1"/>
          </p:cNvPicPr>
          <p:nvPr/>
        </p:nvPicPr>
        <p:blipFill>
          <a:blip r:embed="rId5"/>
          <a:srcRect l="26667" t="47216" r="27443" b="26925"/>
          <a:stretch>
            <a:fillRect/>
          </a:stretch>
        </p:blipFill>
        <p:spPr>
          <a:xfrm>
            <a:off x="3160116" y="4960580"/>
            <a:ext cx="4581711" cy="1452223"/>
          </a:xfrm>
          <a:prstGeom prst="rect">
            <a:avLst/>
          </a:prstGeom>
        </p:spPr>
      </p:pic>
      <p:pic>
        <p:nvPicPr>
          <p:cNvPr id="27" name="Picture 26">
            <a:extLst>
              <a:ext uri="{FF2B5EF4-FFF2-40B4-BE49-F238E27FC236}">
                <a16:creationId xmlns:a16="http://schemas.microsoft.com/office/drawing/2014/main" id="{88D8EF0D-F5F7-3E67-8999-CBB93F678D7D}"/>
              </a:ext>
            </a:extLst>
          </p:cNvPr>
          <p:cNvPicPr>
            <a:picLocks noChangeAspect="1"/>
          </p:cNvPicPr>
          <p:nvPr/>
        </p:nvPicPr>
        <p:blipFill>
          <a:blip r:embed="rId6"/>
          <a:stretch>
            <a:fillRect/>
          </a:stretch>
        </p:blipFill>
        <p:spPr>
          <a:xfrm>
            <a:off x="369041" y="905169"/>
            <a:ext cx="2616540" cy="5435600"/>
          </a:xfrm>
          <a:prstGeom prst="rect">
            <a:avLst/>
          </a:prstGeom>
        </p:spPr>
      </p:pic>
      <p:sp>
        <p:nvSpPr>
          <p:cNvPr id="37" name="TextBox 36">
            <a:extLst>
              <a:ext uri="{FF2B5EF4-FFF2-40B4-BE49-F238E27FC236}">
                <a16:creationId xmlns:a16="http://schemas.microsoft.com/office/drawing/2014/main" id="{02C14EE1-7278-07C4-3BB0-F3A22C220904}"/>
              </a:ext>
            </a:extLst>
          </p:cNvPr>
          <p:cNvSpPr txBox="1"/>
          <p:nvPr/>
        </p:nvSpPr>
        <p:spPr>
          <a:xfrm>
            <a:off x="8028938" y="5086526"/>
            <a:ext cx="3906596" cy="1200329"/>
          </a:xfrm>
          <a:prstGeom prst="rect">
            <a:avLst/>
          </a:prstGeom>
          <a:noFill/>
        </p:spPr>
        <p:txBody>
          <a:bodyPr wrap="square" rtlCol="0">
            <a:spAutoFit/>
          </a:bodyPr>
          <a:lstStyle/>
          <a:p>
            <a:r>
              <a:rPr lang="en-US"/>
              <a:t>Design Philosophy:</a:t>
            </a:r>
          </a:p>
          <a:p>
            <a:pPr marL="285750" indent="-285750">
              <a:buFont typeface="Arial" panose="020B0604020202020204" pitchFamily="34" charset="0"/>
              <a:buChar char="•"/>
            </a:pPr>
            <a:r>
              <a:rPr lang="en-US">
                <a:solidFill>
                  <a:srgbClr val="00B0F0"/>
                </a:solidFill>
              </a:rPr>
              <a:t>match in game </a:t>
            </a:r>
            <a:r>
              <a:rPr lang="en-US"/>
              <a:t>conventions and designs</a:t>
            </a:r>
          </a:p>
          <a:p>
            <a:pPr marL="285750" indent="-285750">
              <a:buFont typeface="Arial" panose="020B0604020202020204" pitchFamily="34" charset="0"/>
              <a:buChar char="•"/>
            </a:pPr>
            <a:r>
              <a:rPr lang="en-US"/>
              <a:t>further inspirations from </a:t>
            </a:r>
            <a:r>
              <a:rPr lang="en-US">
                <a:solidFill>
                  <a:srgbClr val="00B0F0"/>
                </a:solidFill>
              </a:rPr>
              <a:t>fanwiki</a:t>
            </a:r>
          </a:p>
        </p:txBody>
      </p:sp>
      <p:sp>
        <p:nvSpPr>
          <p:cNvPr id="39" name="TextBox 38">
            <a:extLst>
              <a:ext uri="{FF2B5EF4-FFF2-40B4-BE49-F238E27FC236}">
                <a16:creationId xmlns:a16="http://schemas.microsoft.com/office/drawing/2014/main" id="{BFE05C66-5724-CBCC-7755-4EB15EEE6BA1}"/>
              </a:ext>
            </a:extLst>
          </p:cNvPr>
          <p:cNvSpPr txBox="1"/>
          <p:nvPr/>
        </p:nvSpPr>
        <p:spPr>
          <a:xfrm>
            <a:off x="369042" y="6356561"/>
            <a:ext cx="2644622" cy="230832"/>
          </a:xfrm>
          <a:prstGeom prst="rect">
            <a:avLst/>
          </a:prstGeom>
          <a:noFill/>
        </p:spPr>
        <p:txBody>
          <a:bodyPr wrap="square">
            <a:spAutoFit/>
          </a:bodyPr>
          <a:lstStyle/>
          <a:p>
            <a:r>
              <a:rPr lang="en-US" sz="900"/>
              <a:t>https://overwatch.fandom.com/wiki/Mizuki</a:t>
            </a:r>
          </a:p>
        </p:txBody>
      </p:sp>
      <p:sp>
        <p:nvSpPr>
          <p:cNvPr id="42" name="TextBox 41">
            <a:extLst>
              <a:ext uri="{FF2B5EF4-FFF2-40B4-BE49-F238E27FC236}">
                <a16:creationId xmlns:a16="http://schemas.microsoft.com/office/drawing/2014/main" id="{1A33E8B9-4391-6BB0-AD9F-28B1ECA32AD5}"/>
              </a:ext>
            </a:extLst>
          </p:cNvPr>
          <p:cNvSpPr txBox="1"/>
          <p:nvPr/>
        </p:nvSpPr>
        <p:spPr>
          <a:xfrm>
            <a:off x="3160116" y="6440529"/>
            <a:ext cx="5053472" cy="230832"/>
          </a:xfrm>
          <a:prstGeom prst="rect">
            <a:avLst/>
          </a:prstGeom>
          <a:noFill/>
        </p:spPr>
        <p:txBody>
          <a:bodyPr wrap="square">
            <a:spAutoFit/>
          </a:bodyPr>
          <a:lstStyle/>
          <a:p>
            <a:r>
              <a:rPr lang="en-US" sz="900"/>
              <a:t>https://interfaceingame.com/screenshots/overwatch-2-character-selection/</a:t>
            </a:r>
          </a:p>
        </p:txBody>
      </p:sp>
      <p:grpSp>
        <p:nvGrpSpPr>
          <p:cNvPr id="2" name="Group 1">
            <a:extLst>
              <a:ext uri="{FF2B5EF4-FFF2-40B4-BE49-F238E27FC236}">
                <a16:creationId xmlns:a16="http://schemas.microsoft.com/office/drawing/2014/main" id="{ED71D97C-BB14-338C-B6AF-9AE31D1941C4}"/>
              </a:ext>
            </a:extLst>
          </p:cNvPr>
          <p:cNvGrpSpPr/>
          <p:nvPr/>
        </p:nvGrpSpPr>
        <p:grpSpPr>
          <a:xfrm>
            <a:off x="3013664" y="665017"/>
            <a:ext cx="5199924" cy="2844801"/>
            <a:chOff x="3013664" y="665017"/>
            <a:chExt cx="5199924" cy="2844801"/>
          </a:xfrm>
        </p:grpSpPr>
        <p:cxnSp>
          <p:nvCxnSpPr>
            <p:cNvPr id="29" name="Straight Arrow Connector 28">
              <a:extLst>
                <a:ext uri="{FF2B5EF4-FFF2-40B4-BE49-F238E27FC236}">
                  <a16:creationId xmlns:a16="http://schemas.microsoft.com/office/drawing/2014/main" id="{7441401D-FBD4-ACA6-D29B-3C28DB584832}"/>
                </a:ext>
              </a:extLst>
            </p:cNvPr>
            <p:cNvCxnSpPr>
              <a:cxnSpLocks/>
            </p:cNvCxnSpPr>
            <p:nvPr/>
          </p:nvCxnSpPr>
          <p:spPr>
            <a:xfrm flipV="1">
              <a:off x="3013664" y="2313709"/>
              <a:ext cx="2371136" cy="510504"/>
            </a:xfrm>
            <a:prstGeom prst="straightConnector1">
              <a:avLst/>
            </a:prstGeom>
            <a:ln w="38100">
              <a:solidFill>
                <a:srgbClr val="00AAE6"/>
              </a:solidFill>
              <a:headEnd type="triangle"/>
              <a:tailEnd type="none"/>
            </a:ln>
          </p:spPr>
          <p:style>
            <a:lnRef idx="3">
              <a:schemeClr val="dk1"/>
            </a:lnRef>
            <a:fillRef idx="0">
              <a:schemeClr val="dk1"/>
            </a:fillRef>
            <a:effectRef idx="2">
              <a:schemeClr val="dk1"/>
            </a:effectRef>
            <a:fontRef idx="minor">
              <a:schemeClr val="tx1"/>
            </a:fontRef>
          </p:style>
        </p:cxnSp>
        <p:sp>
          <p:nvSpPr>
            <p:cNvPr id="45" name="Rectangle 44">
              <a:extLst>
                <a:ext uri="{FF2B5EF4-FFF2-40B4-BE49-F238E27FC236}">
                  <a16:creationId xmlns:a16="http://schemas.microsoft.com/office/drawing/2014/main" id="{781262B8-AD79-A96F-6D76-CECBAD46F7EB}"/>
                </a:ext>
              </a:extLst>
            </p:cNvPr>
            <p:cNvSpPr/>
            <p:nvPr/>
          </p:nvSpPr>
          <p:spPr>
            <a:xfrm>
              <a:off x="5384800" y="665017"/>
              <a:ext cx="2828788" cy="2844801"/>
            </a:xfrm>
            <a:prstGeom prst="rect">
              <a:avLst/>
            </a:prstGeom>
            <a:noFill/>
            <a:ln w="38100">
              <a:solidFill>
                <a:srgbClr val="00AAE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D09E1AAF-C125-39F1-06FD-BB695CF85557}"/>
              </a:ext>
            </a:extLst>
          </p:cNvPr>
          <p:cNvGrpSpPr/>
          <p:nvPr/>
        </p:nvGrpSpPr>
        <p:grpSpPr>
          <a:xfrm>
            <a:off x="4006750" y="3592598"/>
            <a:ext cx="4352160" cy="1367982"/>
            <a:chOff x="4006750" y="3592598"/>
            <a:chExt cx="4352160" cy="1367982"/>
          </a:xfrm>
        </p:grpSpPr>
        <p:cxnSp>
          <p:nvCxnSpPr>
            <p:cNvPr id="31" name="Straight Arrow Connector 30">
              <a:extLst>
                <a:ext uri="{FF2B5EF4-FFF2-40B4-BE49-F238E27FC236}">
                  <a16:creationId xmlns:a16="http://schemas.microsoft.com/office/drawing/2014/main" id="{86ABA493-734E-B935-1B35-DEE2939C14C6}"/>
                </a:ext>
              </a:extLst>
            </p:cNvPr>
            <p:cNvCxnSpPr>
              <a:cxnSpLocks/>
            </p:cNvCxnSpPr>
            <p:nvPr/>
          </p:nvCxnSpPr>
          <p:spPr>
            <a:xfrm flipV="1">
              <a:off x="4359564" y="4544291"/>
              <a:ext cx="0" cy="416289"/>
            </a:xfrm>
            <a:prstGeom prst="straightConnector1">
              <a:avLst/>
            </a:prstGeom>
            <a:ln w="38100">
              <a:solidFill>
                <a:srgbClr val="00AAE6"/>
              </a:solidFill>
              <a:headEnd type="triangle"/>
              <a:tailEnd type="none"/>
            </a:ln>
          </p:spPr>
          <p:style>
            <a:lnRef idx="3">
              <a:schemeClr val="dk1"/>
            </a:lnRef>
            <a:fillRef idx="0">
              <a:schemeClr val="dk1"/>
            </a:fillRef>
            <a:effectRef idx="2">
              <a:schemeClr val="dk1"/>
            </a:effectRef>
            <a:fontRef idx="minor">
              <a:schemeClr val="tx1"/>
            </a:fontRef>
          </p:style>
        </p:cxnSp>
        <p:sp>
          <p:nvSpPr>
            <p:cNvPr id="46" name="Rectangle 45">
              <a:extLst>
                <a:ext uri="{FF2B5EF4-FFF2-40B4-BE49-F238E27FC236}">
                  <a16:creationId xmlns:a16="http://schemas.microsoft.com/office/drawing/2014/main" id="{8449D0C2-85AE-34A4-1198-4FB08E5EE577}"/>
                </a:ext>
              </a:extLst>
            </p:cNvPr>
            <p:cNvSpPr/>
            <p:nvPr/>
          </p:nvSpPr>
          <p:spPr>
            <a:xfrm>
              <a:off x="4006750" y="3592598"/>
              <a:ext cx="4352160" cy="951693"/>
            </a:xfrm>
            <a:prstGeom prst="rect">
              <a:avLst/>
            </a:prstGeom>
            <a:noFill/>
            <a:ln w="38100">
              <a:solidFill>
                <a:srgbClr val="00AA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2781742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right)">
                                      <p:cBhvr>
                                        <p:cTn id="24" dur="500"/>
                                        <p:tgtEl>
                                          <p:spTgt spid="2"/>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500"/>
                                        <p:tgtEl>
                                          <p:spTgt spid="3"/>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DBD94D-370D-A22A-EC2D-6C501B92187B}"/>
              </a:ext>
            </a:extLst>
          </p:cNvPr>
          <p:cNvSpPr txBox="1"/>
          <p:nvPr/>
        </p:nvSpPr>
        <p:spPr>
          <a:xfrm>
            <a:off x="3050722" y="3244334"/>
            <a:ext cx="6101442" cy="369332"/>
          </a:xfrm>
          <a:prstGeom prst="rect">
            <a:avLst/>
          </a:prstGeom>
          <a:noFill/>
        </p:spPr>
        <p:txBody>
          <a:bodyPr wrap="square">
            <a:spAutoFit/>
          </a:bodyPr>
          <a:lstStyle/>
          <a:p>
            <a:endParaRPr lang="en-US"/>
          </a:p>
        </p:txBody>
      </p:sp>
      <p:pic>
        <p:nvPicPr>
          <p:cNvPr id="15" name="Graphic 14">
            <a:extLst>
              <a:ext uri="{FF2B5EF4-FFF2-40B4-BE49-F238E27FC236}">
                <a16:creationId xmlns:a16="http://schemas.microsoft.com/office/drawing/2014/main" id="{26A0A8B7-F56D-D315-94E4-A5A514BAE2D4}"/>
              </a:ext>
            </a:extLst>
          </p:cNvPr>
          <p:cNvPicPr>
            <a:picLocks noChangeAspect="1"/>
          </p:cNvPicPr>
          <p:nvPr/>
        </p:nvPicPr>
        <p:blipFill>
          <a:blip r:embed="rId3">
            <a:extLst>
              <a:ext uri="{28A0092B-C50C-407E-A947-70E740481C1C}">
                <a14:useLocalDpi xmlns:a14="http://schemas.microsoft.com/office/drawing/2010/main" val="0"/>
              </a:ext>
            </a:extLst>
          </a:blip>
          <a:srcRect l="4893" t="5840" r="4698" b="11358"/>
          <a:stretch>
            <a:fillRect/>
          </a:stretch>
        </p:blipFill>
        <p:spPr>
          <a:xfrm>
            <a:off x="279202" y="641951"/>
            <a:ext cx="11633595" cy="5943429"/>
          </a:xfrm>
          <a:prstGeom prst="rect">
            <a:avLst/>
          </a:prstGeom>
        </p:spPr>
      </p:pic>
      <p:grpSp>
        <p:nvGrpSpPr>
          <p:cNvPr id="16" name="Group 15">
            <a:extLst>
              <a:ext uri="{FF2B5EF4-FFF2-40B4-BE49-F238E27FC236}">
                <a16:creationId xmlns:a16="http://schemas.microsoft.com/office/drawing/2014/main" id="{BBF737F6-4D57-E84C-44F1-4614D699BB14}"/>
              </a:ext>
            </a:extLst>
          </p:cNvPr>
          <p:cNvGrpSpPr/>
          <p:nvPr/>
        </p:nvGrpSpPr>
        <p:grpSpPr>
          <a:xfrm>
            <a:off x="120458" y="131213"/>
            <a:ext cx="2333031" cy="474526"/>
            <a:chOff x="100869" y="175489"/>
            <a:chExt cx="2498131" cy="609604"/>
          </a:xfrm>
        </p:grpSpPr>
        <p:sp>
          <p:nvSpPr>
            <p:cNvPr id="17" name="Rectangle: Rounded Corners 16">
              <a:extLst>
                <a:ext uri="{FF2B5EF4-FFF2-40B4-BE49-F238E27FC236}">
                  <a16:creationId xmlns:a16="http://schemas.microsoft.com/office/drawing/2014/main" id="{D2ECE065-799A-A272-905A-27E3971D99F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FB8A7D7-3B10-1B27-9F7A-AA7561FE252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A9B5445-5E28-9F9F-603B-A8686C4AC62B}"/>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t>Component View</a:t>
              </a:r>
            </a:p>
          </p:txBody>
        </p:sp>
      </p:grpSp>
    </p:spTree>
    <p:extLst>
      <p:ext uri="{BB962C8B-B14F-4D97-AF65-F5344CB8AC3E}">
        <p14:creationId xmlns:p14="http://schemas.microsoft.com/office/powerpoint/2010/main" val="202643423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B291355-BD0C-6A81-D303-FA851AA3D4FA}"/>
              </a:ext>
            </a:extLst>
          </p:cNvPr>
          <p:cNvPicPr>
            <a:picLocks noChangeAspect="1"/>
          </p:cNvPicPr>
          <p:nvPr/>
        </p:nvPicPr>
        <p:blipFill>
          <a:blip r:embed="rId3">
            <a:extLst>
              <a:ext uri="{28A0092B-C50C-407E-A947-70E740481C1C}">
                <a14:useLocalDpi xmlns:a14="http://schemas.microsoft.com/office/drawing/2010/main" val="0"/>
              </a:ext>
            </a:extLst>
          </a:blip>
          <a:srcRect l="3599" r="3849"/>
          <a:stretch>
            <a:fillRect/>
          </a:stretch>
        </p:blipFill>
        <p:spPr>
          <a:xfrm>
            <a:off x="834328" y="972074"/>
            <a:ext cx="10523343" cy="5546124"/>
          </a:xfrm>
          <a:prstGeom prst="rect">
            <a:avLst/>
          </a:prstGeom>
        </p:spPr>
      </p:pic>
      <p:grpSp>
        <p:nvGrpSpPr>
          <p:cNvPr id="22" name="Group 21">
            <a:extLst>
              <a:ext uri="{FF2B5EF4-FFF2-40B4-BE49-F238E27FC236}">
                <a16:creationId xmlns:a16="http://schemas.microsoft.com/office/drawing/2014/main" id="{46DC917D-67F4-95BF-FDE7-15803F8AACBB}"/>
              </a:ext>
            </a:extLst>
          </p:cNvPr>
          <p:cNvGrpSpPr/>
          <p:nvPr/>
        </p:nvGrpSpPr>
        <p:grpSpPr>
          <a:xfrm>
            <a:off x="120458" y="214364"/>
            <a:ext cx="3286771" cy="474526"/>
            <a:chOff x="100869" y="175489"/>
            <a:chExt cx="2498131" cy="609604"/>
          </a:xfrm>
        </p:grpSpPr>
        <p:sp>
          <p:nvSpPr>
            <p:cNvPr id="23" name="Rectangle: Rounded Corners 22">
              <a:extLst>
                <a:ext uri="{FF2B5EF4-FFF2-40B4-BE49-F238E27FC236}">
                  <a16:creationId xmlns:a16="http://schemas.microsoft.com/office/drawing/2014/main" id="{EB47B9EC-9470-9C5F-72B8-4728E7AB968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5E80D1CC-D64D-BE70-546D-1BD45F035FC0}"/>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F5E44917-49A9-DFED-F3B7-717F8F6A7A32}"/>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Component Breakdown</a:t>
              </a:r>
            </a:p>
          </p:txBody>
        </p:sp>
      </p:grpSp>
      <p:pic>
        <p:nvPicPr>
          <p:cNvPr id="27" name="Picture 26">
            <a:extLst>
              <a:ext uri="{FF2B5EF4-FFF2-40B4-BE49-F238E27FC236}">
                <a16:creationId xmlns:a16="http://schemas.microsoft.com/office/drawing/2014/main" id="{4245F244-6A96-806D-1114-208FC8118F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4199" y="1310659"/>
            <a:ext cx="5962227" cy="3846407"/>
          </a:xfrm>
          <a:prstGeom prst="rect">
            <a:avLst/>
          </a:prstGeom>
        </p:spPr>
      </p:pic>
      <p:pic>
        <p:nvPicPr>
          <p:cNvPr id="28" name="Picture 27">
            <a:extLst>
              <a:ext uri="{FF2B5EF4-FFF2-40B4-BE49-F238E27FC236}">
                <a16:creationId xmlns:a16="http://schemas.microsoft.com/office/drawing/2014/main" id="{EE7705ED-F231-4EB8-551E-4F3E0C55FD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6465" y="2458591"/>
            <a:ext cx="2668677" cy="3006709"/>
          </a:xfrm>
          <a:prstGeom prst="rect">
            <a:avLst/>
          </a:prstGeom>
        </p:spPr>
      </p:pic>
      <p:pic>
        <p:nvPicPr>
          <p:cNvPr id="29" name="Picture 28">
            <a:extLst>
              <a:ext uri="{FF2B5EF4-FFF2-40B4-BE49-F238E27FC236}">
                <a16:creationId xmlns:a16="http://schemas.microsoft.com/office/drawing/2014/main" id="{D27D61E8-ECAC-579C-9197-29AEB7AF45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22765" y="5433163"/>
            <a:ext cx="2722378" cy="1067830"/>
          </a:xfrm>
          <a:prstGeom prst="rect">
            <a:avLst/>
          </a:prstGeom>
        </p:spPr>
      </p:pic>
      <p:pic>
        <p:nvPicPr>
          <p:cNvPr id="30" name="Picture 29">
            <a:extLst>
              <a:ext uri="{FF2B5EF4-FFF2-40B4-BE49-F238E27FC236}">
                <a16:creationId xmlns:a16="http://schemas.microsoft.com/office/drawing/2014/main" id="{AA2819F4-B0B7-34B6-F71A-BAFD010267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71261" y="1527156"/>
            <a:ext cx="2668678" cy="989709"/>
          </a:xfrm>
          <a:prstGeom prst="rect">
            <a:avLst/>
          </a:prstGeom>
        </p:spPr>
      </p:pic>
      <p:pic>
        <p:nvPicPr>
          <p:cNvPr id="31" name="Picture 30">
            <a:extLst>
              <a:ext uri="{FF2B5EF4-FFF2-40B4-BE49-F238E27FC236}">
                <a16:creationId xmlns:a16="http://schemas.microsoft.com/office/drawing/2014/main" id="{93ECDE7B-06F4-9316-1C65-D667F91EA5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5205" y="5122284"/>
            <a:ext cx="6084803" cy="1427883"/>
          </a:xfrm>
          <a:prstGeom prst="rect">
            <a:avLst/>
          </a:prstGeom>
        </p:spPr>
      </p:pic>
    </p:spTree>
    <p:extLst>
      <p:ext uri="{BB962C8B-B14F-4D97-AF65-F5344CB8AC3E}">
        <p14:creationId xmlns:p14="http://schemas.microsoft.com/office/powerpoint/2010/main" val="1363468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CDE1EFC5-272B-B672-E415-3E71777EAA54}"/>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07F66E80-6F10-6F33-D823-023A3214BA6A}"/>
              </a:ext>
            </a:extLst>
          </p:cNvPr>
          <p:cNvGrpSpPr/>
          <p:nvPr/>
        </p:nvGrpSpPr>
        <p:grpSpPr>
          <a:xfrm>
            <a:off x="148493" y="161965"/>
            <a:ext cx="3602913" cy="517238"/>
            <a:chOff x="100869" y="175489"/>
            <a:chExt cx="2498131" cy="609604"/>
          </a:xfrm>
        </p:grpSpPr>
        <p:sp>
          <p:nvSpPr>
            <p:cNvPr id="20" name="Rectangle: Rounded Corners 19">
              <a:extLst>
                <a:ext uri="{FF2B5EF4-FFF2-40B4-BE49-F238E27FC236}">
                  <a16:creationId xmlns:a16="http://schemas.microsoft.com/office/drawing/2014/main" id="{620B2678-1FC9-4F2D-6C7C-A2B3C7B94348}"/>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6F61AE4-BF38-813B-BB30-50AEB6E3415A}"/>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1CDB9263-8299-7E3B-4461-232416A5FD7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Frontend: Implementation</a:t>
              </a:r>
            </a:p>
          </p:txBody>
        </p:sp>
      </p:grpSp>
      <p:sp>
        <p:nvSpPr>
          <p:cNvPr id="3" name="TextBox 2">
            <a:extLst>
              <a:ext uri="{FF2B5EF4-FFF2-40B4-BE49-F238E27FC236}">
                <a16:creationId xmlns:a16="http://schemas.microsoft.com/office/drawing/2014/main" id="{77FFAF50-D356-382F-CD73-08B545CFB69C}"/>
              </a:ext>
            </a:extLst>
          </p:cNvPr>
          <p:cNvSpPr txBox="1"/>
          <p:nvPr/>
        </p:nvSpPr>
        <p:spPr>
          <a:xfrm>
            <a:off x="3048000" y="3246643"/>
            <a:ext cx="6096000" cy="369332"/>
          </a:xfrm>
          <a:prstGeom prst="rect">
            <a:avLst/>
          </a:prstGeom>
          <a:noFill/>
        </p:spPr>
        <p:txBody>
          <a:bodyPr wrap="square">
            <a:spAutoFit/>
          </a:bodyPr>
          <a:lstStyle/>
          <a:p>
            <a:endParaRPr lang="en-US"/>
          </a:p>
        </p:txBody>
      </p:sp>
      <p:sp>
        <p:nvSpPr>
          <p:cNvPr id="5" name="TextBox 4">
            <a:extLst>
              <a:ext uri="{FF2B5EF4-FFF2-40B4-BE49-F238E27FC236}">
                <a16:creationId xmlns:a16="http://schemas.microsoft.com/office/drawing/2014/main" id="{A3A1D065-23A8-512F-8D14-831D7BB94D41}"/>
              </a:ext>
            </a:extLst>
          </p:cNvPr>
          <p:cNvSpPr txBox="1"/>
          <p:nvPr/>
        </p:nvSpPr>
        <p:spPr>
          <a:xfrm>
            <a:off x="3048000" y="3246643"/>
            <a:ext cx="6096000" cy="369332"/>
          </a:xfrm>
          <a:prstGeom prst="rect">
            <a:avLst/>
          </a:prstGeom>
          <a:noFill/>
        </p:spPr>
        <p:txBody>
          <a:bodyPr wrap="square">
            <a:spAutoFit/>
          </a:bodyPr>
          <a:lstStyle/>
          <a:p>
            <a:endParaRPr lang="en-US"/>
          </a:p>
        </p:txBody>
      </p:sp>
      <p:pic>
        <p:nvPicPr>
          <p:cNvPr id="7" name="Picture 6">
            <a:extLst>
              <a:ext uri="{FF2B5EF4-FFF2-40B4-BE49-F238E27FC236}">
                <a16:creationId xmlns:a16="http://schemas.microsoft.com/office/drawing/2014/main" id="{B21ECF13-4552-1BCD-DF83-B29B19CA9B4A}"/>
              </a:ext>
            </a:extLst>
          </p:cNvPr>
          <p:cNvPicPr>
            <a:picLocks noChangeAspect="1"/>
          </p:cNvPicPr>
          <p:nvPr/>
        </p:nvPicPr>
        <p:blipFill>
          <a:blip r:embed="rId3">
            <a:extLst>
              <a:ext uri="{28A0092B-C50C-407E-A947-70E740481C1C}">
                <a14:useLocalDpi xmlns:a14="http://schemas.microsoft.com/office/drawing/2010/main" val="0"/>
              </a:ext>
            </a:extLst>
          </a:blip>
          <a:srcRect t="10536" b="5146"/>
          <a:stretch>
            <a:fillRect/>
          </a:stretch>
        </p:blipFill>
        <p:spPr>
          <a:xfrm>
            <a:off x="466127" y="1774782"/>
            <a:ext cx="7765302" cy="3682385"/>
          </a:xfrm>
          <a:prstGeom prst="roundRect">
            <a:avLst>
              <a:gd name="adj" fmla="val 13694"/>
            </a:avLst>
          </a:prstGeom>
          <a:ln>
            <a:solidFill>
              <a:srgbClr val="00B0F0"/>
            </a:solidFill>
          </a:ln>
        </p:spPr>
      </p:pic>
      <p:pic>
        <p:nvPicPr>
          <p:cNvPr id="14" name="Picture 13">
            <a:extLst>
              <a:ext uri="{FF2B5EF4-FFF2-40B4-BE49-F238E27FC236}">
                <a16:creationId xmlns:a16="http://schemas.microsoft.com/office/drawing/2014/main" id="{F783F6AB-8731-58A1-6394-CD08128379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0413" y="4141982"/>
            <a:ext cx="929706" cy="929706"/>
          </a:xfrm>
          <a:prstGeom prst="rect">
            <a:avLst/>
          </a:prstGeom>
        </p:spPr>
      </p:pic>
      <p:pic>
        <p:nvPicPr>
          <p:cNvPr id="15" name="Picture 14">
            <a:extLst>
              <a:ext uri="{FF2B5EF4-FFF2-40B4-BE49-F238E27FC236}">
                <a16:creationId xmlns:a16="http://schemas.microsoft.com/office/drawing/2014/main" id="{58274567-545A-55A2-39EC-47DA02C6E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44952" y="4141981"/>
            <a:ext cx="929707" cy="929707"/>
          </a:xfrm>
          <a:prstGeom prst="rect">
            <a:avLst/>
          </a:prstGeom>
        </p:spPr>
      </p:pic>
      <p:pic>
        <p:nvPicPr>
          <p:cNvPr id="16" name="Picture 15">
            <a:extLst>
              <a:ext uri="{FF2B5EF4-FFF2-40B4-BE49-F238E27FC236}">
                <a16:creationId xmlns:a16="http://schemas.microsoft.com/office/drawing/2014/main" id="{AA7C0C9E-536D-2F3C-B554-CBBFD641F5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96167" y="4141981"/>
            <a:ext cx="929706" cy="929706"/>
          </a:xfrm>
          <a:prstGeom prst="rect">
            <a:avLst/>
          </a:prstGeom>
        </p:spPr>
      </p:pic>
      <p:sp>
        <p:nvSpPr>
          <p:cNvPr id="17" name="TextBox 16">
            <a:extLst>
              <a:ext uri="{FF2B5EF4-FFF2-40B4-BE49-F238E27FC236}">
                <a16:creationId xmlns:a16="http://schemas.microsoft.com/office/drawing/2014/main" id="{8DF05649-A58F-3367-8974-3DD770B68A12}"/>
              </a:ext>
            </a:extLst>
          </p:cNvPr>
          <p:cNvSpPr txBox="1"/>
          <p:nvPr/>
        </p:nvSpPr>
        <p:spPr>
          <a:xfrm>
            <a:off x="8560413" y="2085974"/>
            <a:ext cx="3001012" cy="1754326"/>
          </a:xfrm>
          <a:prstGeom prst="rect">
            <a:avLst/>
          </a:prstGeom>
          <a:noFill/>
        </p:spPr>
        <p:txBody>
          <a:bodyPr wrap="square" rtlCol="0">
            <a:spAutoFit/>
          </a:bodyPr>
          <a:lstStyle/>
          <a:p>
            <a:pPr marL="285750" indent="-285750">
              <a:buFont typeface="Arial" panose="020B0604020202020204" pitchFamily="34" charset="0"/>
              <a:buChar char="•"/>
            </a:pPr>
            <a:r>
              <a:rPr lang="en-US"/>
              <a:t>Implementierung über </a:t>
            </a:r>
            <a:r>
              <a:rPr lang="en-US">
                <a:solidFill>
                  <a:srgbClr val="00B0F0"/>
                </a:solidFill>
              </a:rPr>
              <a:t>React</a:t>
            </a:r>
            <a:r>
              <a:rPr lang="en-US"/>
              <a:t> mit </a:t>
            </a:r>
            <a:r>
              <a:rPr lang="en-US">
                <a:solidFill>
                  <a:srgbClr val="00B0F0"/>
                </a:solidFill>
              </a:rPr>
              <a:t>Typescript</a:t>
            </a:r>
            <a:r>
              <a:rPr lang="en-US"/>
              <a:t> in Kombination mit </a:t>
            </a:r>
            <a:r>
              <a:rPr lang="en-US">
                <a:solidFill>
                  <a:schemeClr val="accent2"/>
                </a:solidFill>
              </a:rPr>
              <a:t>Vite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Testing über </a:t>
            </a:r>
            <a:r>
              <a:rPr lang="en-US">
                <a:solidFill>
                  <a:schemeClr val="accent2"/>
                </a:solidFill>
              </a:rPr>
              <a:t>Vitest</a:t>
            </a:r>
            <a:r>
              <a:rPr lang="en-US"/>
              <a:t> und </a:t>
            </a:r>
            <a:r>
              <a:rPr lang="en-US">
                <a:solidFill>
                  <a:srgbClr val="00B0F0"/>
                </a:solidFill>
              </a:rPr>
              <a:t>React Testing Library</a:t>
            </a:r>
          </a:p>
        </p:txBody>
      </p:sp>
    </p:spTree>
    <p:extLst>
      <p:ext uri="{BB962C8B-B14F-4D97-AF65-F5344CB8AC3E}">
        <p14:creationId xmlns:p14="http://schemas.microsoft.com/office/powerpoint/2010/main" val="41902269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par>
                          <p:cTn id="12" fill="hold">
                            <p:stCondLst>
                              <p:cond delay="85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childTnLst>
                          </p:cTn>
                        </p:par>
                        <p:par>
                          <p:cTn id="16" fill="hold">
                            <p:stCondLst>
                              <p:cond delay="12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35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9E6DA5C8-732B-7B59-EAA2-8131C3E1E83F}"/>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FC90AAAF-27E1-0AA6-CE6F-0EA87B5633EA}"/>
              </a:ext>
            </a:extLst>
          </p:cNvPr>
          <p:cNvGrpSpPr/>
          <p:nvPr/>
        </p:nvGrpSpPr>
        <p:grpSpPr>
          <a:xfrm>
            <a:off x="2988613" y="2661393"/>
            <a:ext cx="6214773" cy="1535213"/>
            <a:chOff x="2918404" y="2666673"/>
            <a:chExt cx="6214773" cy="1535213"/>
          </a:xfrm>
        </p:grpSpPr>
        <p:sp>
          <p:nvSpPr>
            <p:cNvPr id="29" name="Rectangle: Rounded Corners 28">
              <a:extLst>
                <a:ext uri="{FF2B5EF4-FFF2-40B4-BE49-F238E27FC236}">
                  <a16:creationId xmlns:a16="http://schemas.microsoft.com/office/drawing/2014/main" id="{0A457A43-5942-927F-3AD3-60F8843C6557}"/>
                </a:ext>
              </a:extLst>
            </p:cNvPr>
            <p:cNvSpPr/>
            <p:nvPr/>
          </p:nvSpPr>
          <p:spPr>
            <a:xfrm>
              <a:off x="2918404" y="2666673"/>
              <a:ext cx="5997718" cy="1318159"/>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2CB93CCC-CDA2-3C45-80D9-793A713F863B}"/>
                </a:ext>
              </a:extLst>
            </p:cNvPr>
            <p:cNvSpPr/>
            <p:nvPr/>
          </p:nvSpPr>
          <p:spPr>
            <a:xfrm>
              <a:off x="3135459" y="2883727"/>
              <a:ext cx="5997718" cy="1318159"/>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BF13907-A8AB-784A-C8CF-5338FB2F55F9}"/>
                </a:ext>
              </a:extLst>
            </p:cNvPr>
            <p:cNvSpPr/>
            <p:nvPr/>
          </p:nvSpPr>
          <p:spPr>
            <a:xfrm>
              <a:off x="3038475" y="2786743"/>
              <a:ext cx="5997718" cy="1318159"/>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BAD3E45-E568-3B25-2E76-A2CB57FCDC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8331" y="2863011"/>
              <a:ext cx="5538006" cy="1210491"/>
            </a:xfrm>
            <a:prstGeom prst="rect">
              <a:avLst/>
            </a:prstGeom>
          </p:spPr>
        </p:pic>
      </p:grpSp>
    </p:spTree>
    <p:extLst>
      <p:ext uri="{BB962C8B-B14F-4D97-AF65-F5344CB8AC3E}">
        <p14:creationId xmlns:p14="http://schemas.microsoft.com/office/powerpoint/2010/main" val="3636699785"/>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A1D2F761-6AC0-D023-65D5-A7E913EA54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382" y="789227"/>
            <a:ext cx="11007360" cy="3406588"/>
          </a:xfrm>
          <a:prstGeom prst="rect">
            <a:avLst/>
          </a:prstGeom>
        </p:spPr>
      </p:pic>
      <p:grpSp>
        <p:nvGrpSpPr>
          <p:cNvPr id="4" name="Group 3">
            <a:extLst>
              <a:ext uri="{FF2B5EF4-FFF2-40B4-BE49-F238E27FC236}">
                <a16:creationId xmlns:a16="http://schemas.microsoft.com/office/drawing/2014/main" id="{126CFF86-1C87-C7DD-9225-284A1411A166}"/>
              </a:ext>
            </a:extLst>
          </p:cNvPr>
          <p:cNvGrpSpPr/>
          <p:nvPr/>
        </p:nvGrpSpPr>
        <p:grpSpPr>
          <a:xfrm>
            <a:off x="4527525" y="3051431"/>
            <a:ext cx="5063759" cy="3317329"/>
            <a:chOff x="1488141" y="3613252"/>
            <a:chExt cx="4607859" cy="2393101"/>
          </a:xfrm>
        </p:grpSpPr>
        <p:sp>
          <p:nvSpPr>
            <p:cNvPr id="2" name="Rectangle: Rounded Corners 1">
              <a:extLst>
                <a:ext uri="{FF2B5EF4-FFF2-40B4-BE49-F238E27FC236}">
                  <a16:creationId xmlns:a16="http://schemas.microsoft.com/office/drawing/2014/main" id="{21BA4CB3-12E0-7B8B-CAFA-1814E0ECBDC1}"/>
                </a:ext>
              </a:extLst>
            </p:cNvPr>
            <p:cNvSpPr/>
            <p:nvPr/>
          </p:nvSpPr>
          <p:spPr>
            <a:xfrm>
              <a:off x="1488141" y="3613252"/>
              <a:ext cx="4607859" cy="2393101"/>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D6D6AA3D-94B4-D1B1-C5B1-C8170483B072}"/>
                </a:ext>
              </a:extLst>
            </p:cNvPr>
            <p:cNvSpPr txBox="1"/>
            <p:nvPr/>
          </p:nvSpPr>
          <p:spPr>
            <a:xfrm>
              <a:off x="1789394" y="3956117"/>
              <a:ext cx="4236265" cy="1964008"/>
            </a:xfrm>
            <a:prstGeom prst="rect">
              <a:avLst/>
            </a:prstGeom>
            <a:noFill/>
          </p:spPr>
          <p:txBody>
            <a:bodyPr wrap="square" lIns="91440" tIns="45720" rIns="91440" bIns="45720" rtlCol="0" anchor="t">
              <a:spAutoFit/>
            </a:bodyPr>
            <a:lstStyle/>
            <a:p>
              <a:r>
                <a:rPr lang="en-US"/>
                <a:t>Functionality: </a:t>
              </a:r>
            </a:p>
            <a:p>
              <a:pPr marL="285750" indent="-285750">
                <a:buFont typeface="Arial" panose="020B0604020202020204" pitchFamily="34" charset="0"/>
                <a:buChar char="•"/>
              </a:pPr>
              <a:r>
                <a:rPr lang="en-US">
                  <a:solidFill>
                    <a:srgbClr val="92D050"/>
                  </a:solidFill>
                </a:rPr>
                <a:t>Serves hero data </a:t>
              </a:r>
              <a:r>
                <a:rPr lang="en-US"/>
                <a:t>via </a:t>
              </a:r>
              <a:r>
                <a:rPr lang="en-US">
                  <a:solidFill>
                    <a:srgbClr val="92D050"/>
                  </a:solidFill>
                </a:rPr>
                <a:t>REST API</a:t>
              </a:r>
            </a:p>
            <a:p>
              <a:pPr marL="285750" indent="-285750">
                <a:buFont typeface="Arial" panose="020B0604020202020204" pitchFamily="34" charset="0"/>
                <a:buChar char="•"/>
              </a:pPr>
              <a:r>
                <a:rPr lang="en-US">
                  <a:solidFill>
                    <a:srgbClr val="00B0F0"/>
                  </a:solidFill>
                </a:rPr>
                <a:t>Sync</a:t>
              </a:r>
              <a:r>
                <a:rPr lang="en-US"/>
                <a:t> hero data from </a:t>
              </a:r>
              <a:r>
                <a:rPr lang="en-US">
                  <a:solidFill>
                    <a:srgbClr val="00B0F0"/>
                  </a:solidFill>
                </a:rPr>
                <a:t>external API</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solidFill>
                    <a:srgbClr val="00B050"/>
                  </a:solidFill>
                </a:rPr>
                <a:t>Manages user accounts </a:t>
              </a:r>
              <a:r>
                <a:rPr lang="en-US"/>
                <a:t>– registration, login, logout</a:t>
              </a:r>
            </a:p>
            <a:p>
              <a:pPr marL="285750" indent="-285750">
                <a:buFont typeface="Arial" panose="020B0604020202020204" pitchFamily="34" charset="0"/>
                <a:buChar char="•"/>
              </a:pPr>
              <a:r>
                <a:rPr lang="en-US"/>
                <a:t>Allows authenticated users to manage </a:t>
              </a:r>
              <a:r>
                <a:rPr lang="en-US">
                  <a:solidFill>
                    <a:schemeClr val="accent3"/>
                  </a:solidFill>
                </a:rPr>
                <a:t>team compositions</a:t>
              </a:r>
            </a:p>
            <a:p>
              <a:pPr marL="285750" indent="-285750">
                <a:buFont typeface="Calibri"/>
                <a:buChar char="-"/>
              </a:pPr>
              <a:endParaRPr lang="en-US"/>
            </a:p>
          </p:txBody>
        </p:sp>
      </p:grpSp>
      <p:grpSp>
        <p:nvGrpSpPr>
          <p:cNvPr id="17" name="Group 16">
            <a:extLst>
              <a:ext uri="{FF2B5EF4-FFF2-40B4-BE49-F238E27FC236}">
                <a16:creationId xmlns:a16="http://schemas.microsoft.com/office/drawing/2014/main" id="{B68DE19C-26EC-4B49-07E8-8D8BE937F467}"/>
              </a:ext>
            </a:extLst>
          </p:cNvPr>
          <p:cNvGrpSpPr/>
          <p:nvPr/>
        </p:nvGrpSpPr>
        <p:grpSpPr>
          <a:xfrm>
            <a:off x="731580" y="4055716"/>
            <a:ext cx="3054878" cy="2313044"/>
            <a:chOff x="7547640" y="4545106"/>
            <a:chExt cx="2807046" cy="1984110"/>
          </a:xfrm>
        </p:grpSpPr>
        <p:sp>
          <p:nvSpPr>
            <p:cNvPr id="13" name="Rectangle: Rounded Corners 12">
              <a:extLst>
                <a:ext uri="{FF2B5EF4-FFF2-40B4-BE49-F238E27FC236}">
                  <a16:creationId xmlns:a16="http://schemas.microsoft.com/office/drawing/2014/main" id="{D23ADD75-50D6-0691-1A15-1E639044E9C5}"/>
                </a:ext>
              </a:extLst>
            </p:cNvPr>
            <p:cNvSpPr/>
            <p:nvPr/>
          </p:nvSpPr>
          <p:spPr>
            <a:xfrm>
              <a:off x="7547640" y="4545106"/>
              <a:ext cx="2807046" cy="1984110"/>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3">
              <a:extLst>
                <a:ext uri="{FF2B5EF4-FFF2-40B4-BE49-F238E27FC236}">
                  <a16:creationId xmlns:a16="http://schemas.microsoft.com/office/drawing/2014/main" id="{185E1F90-D02C-AFB5-2C00-477BF6AD0026}"/>
                </a:ext>
              </a:extLst>
            </p:cNvPr>
            <p:cNvSpPr txBox="1"/>
            <p:nvPr/>
          </p:nvSpPr>
          <p:spPr>
            <a:xfrm>
              <a:off x="7705195" y="4659998"/>
              <a:ext cx="2491935" cy="1754326"/>
            </a:xfrm>
            <a:prstGeom prst="rect">
              <a:avLst/>
            </a:prstGeom>
            <a:noFill/>
          </p:spPr>
          <p:txBody>
            <a:bodyPr wrap="square" lIns="91440" tIns="45720" rIns="91440" bIns="45720" rtlCol="0" anchor="t">
              <a:spAutoFit/>
            </a:bodyPr>
            <a:lstStyle/>
            <a:p>
              <a:pPr algn="ctr"/>
              <a:r>
                <a:rPr lang="en-US">
                  <a:solidFill>
                    <a:schemeClr val="accent6"/>
                  </a:solidFill>
                </a:rPr>
                <a:t>Technology Stack</a:t>
              </a:r>
            </a:p>
            <a:p>
              <a:pPr algn="ctr"/>
              <a:r>
                <a:rPr lang="en-US"/>
                <a:t> </a:t>
              </a:r>
            </a:p>
            <a:p>
              <a:pPr algn="ctr"/>
              <a:r>
                <a:rPr lang="en-US"/>
                <a:t>Python + Django </a:t>
              </a:r>
            </a:p>
            <a:p>
              <a:pPr algn="ctr"/>
              <a:r>
                <a:rPr lang="en-US" err="1"/>
                <a:t>PostgresSQL</a:t>
              </a:r>
              <a:r>
                <a:rPr lang="en-US"/>
                <a:t> 16</a:t>
              </a:r>
            </a:p>
            <a:p>
              <a:pPr algn="ctr"/>
              <a:r>
                <a:rPr lang="en-US"/>
                <a:t>JWT (Simple JWT)</a:t>
              </a:r>
            </a:p>
            <a:p>
              <a:pPr algn="ctr"/>
              <a:r>
                <a:rPr lang="en-US"/>
                <a:t>Docker </a:t>
              </a:r>
            </a:p>
          </p:txBody>
        </p:sp>
      </p:grpSp>
      <p:grpSp>
        <p:nvGrpSpPr>
          <p:cNvPr id="6" name="Group 5">
            <a:extLst>
              <a:ext uri="{FF2B5EF4-FFF2-40B4-BE49-F238E27FC236}">
                <a16:creationId xmlns:a16="http://schemas.microsoft.com/office/drawing/2014/main" id="{44579E1E-9CB1-632D-D47A-A551AB756A72}"/>
              </a:ext>
            </a:extLst>
          </p:cNvPr>
          <p:cNvGrpSpPr/>
          <p:nvPr/>
        </p:nvGrpSpPr>
        <p:grpSpPr>
          <a:xfrm>
            <a:off x="270963" y="282263"/>
            <a:ext cx="3003742" cy="510504"/>
            <a:chOff x="100869" y="175489"/>
            <a:chExt cx="2498131" cy="609604"/>
          </a:xfrm>
        </p:grpSpPr>
        <p:sp>
          <p:nvSpPr>
            <p:cNvPr id="7" name="Rectangle: Rounded Corners 6">
              <a:extLst>
                <a:ext uri="{FF2B5EF4-FFF2-40B4-BE49-F238E27FC236}">
                  <a16:creationId xmlns:a16="http://schemas.microsoft.com/office/drawing/2014/main" id="{F6A04523-B684-0A5E-D0F7-0C431E466BD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615F75B-A2AF-4FD3-99DE-3EE4709E836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EA4F9CF-F98A-6B16-B6D7-CA70C5AC4387}"/>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Backend Overview</a:t>
              </a:r>
            </a:p>
          </p:txBody>
        </p:sp>
      </p:grpSp>
      <p:pic>
        <p:nvPicPr>
          <p:cNvPr id="10" name="Picture 9">
            <a:extLst>
              <a:ext uri="{FF2B5EF4-FFF2-40B4-BE49-F238E27FC236}">
                <a16:creationId xmlns:a16="http://schemas.microsoft.com/office/drawing/2014/main" id="{4C681A8B-C4DC-DDAC-9D42-DB14D9835B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886" y="3110499"/>
            <a:ext cx="742013" cy="742013"/>
          </a:xfrm>
          <a:prstGeom prst="rect">
            <a:avLst/>
          </a:prstGeom>
        </p:spPr>
      </p:pic>
      <p:pic>
        <p:nvPicPr>
          <p:cNvPr id="12" name="Picture 11">
            <a:extLst>
              <a:ext uri="{FF2B5EF4-FFF2-40B4-BE49-F238E27FC236}">
                <a16:creationId xmlns:a16="http://schemas.microsoft.com/office/drawing/2014/main" id="{9B8A2DD7-926A-D36F-D44C-9034073757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1199" y="3051432"/>
            <a:ext cx="742013" cy="742013"/>
          </a:xfrm>
          <a:prstGeom prst="rect">
            <a:avLst/>
          </a:prstGeom>
        </p:spPr>
      </p:pic>
      <p:pic>
        <p:nvPicPr>
          <p:cNvPr id="14" name="Picture 13">
            <a:extLst>
              <a:ext uri="{FF2B5EF4-FFF2-40B4-BE49-F238E27FC236}">
                <a16:creationId xmlns:a16="http://schemas.microsoft.com/office/drawing/2014/main" id="{7C27D073-34D6-C6D6-47D0-BBEC5D8AB449}"/>
              </a:ext>
            </a:extLst>
          </p:cNvPr>
          <p:cNvPicPr>
            <a:picLocks noChangeAspect="1"/>
          </p:cNvPicPr>
          <p:nvPr/>
        </p:nvPicPr>
        <p:blipFill>
          <a:blip r:embed="rId6">
            <a:extLst>
              <a:ext uri="{28A0092B-C50C-407E-A947-70E740481C1C}">
                <a14:useLocalDpi xmlns:a14="http://schemas.microsoft.com/office/drawing/2010/main" val="0"/>
              </a:ext>
            </a:extLst>
          </a:blip>
          <a:srcRect t="13431" b="15790"/>
          <a:stretch>
            <a:fillRect/>
          </a:stretch>
        </p:blipFill>
        <p:spPr>
          <a:xfrm>
            <a:off x="3076839" y="3051432"/>
            <a:ext cx="1048353" cy="742013"/>
          </a:xfrm>
          <a:prstGeom prst="rect">
            <a:avLst/>
          </a:prstGeom>
        </p:spPr>
      </p:pic>
      <p:pic>
        <p:nvPicPr>
          <p:cNvPr id="16" name="Picture 15">
            <a:extLst>
              <a:ext uri="{FF2B5EF4-FFF2-40B4-BE49-F238E27FC236}">
                <a16:creationId xmlns:a16="http://schemas.microsoft.com/office/drawing/2014/main" id="{F68D8440-AA7A-5406-EE76-6256669407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59019" y="3051432"/>
            <a:ext cx="742013" cy="742013"/>
          </a:xfrm>
          <a:prstGeom prst="rect">
            <a:avLst/>
          </a:prstGeom>
        </p:spPr>
      </p:pic>
    </p:spTree>
    <p:extLst>
      <p:ext uri="{BB962C8B-B14F-4D97-AF65-F5344CB8AC3E}">
        <p14:creationId xmlns:p14="http://schemas.microsoft.com/office/powerpoint/2010/main" val="255525315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50"/>
                                        <p:tgtEl>
                                          <p:spTgt spid="12"/>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50"/>
                                        <p:tgtEl>
                                          <p:spTgt spid="16"/>
                                        </p:tgtEl>
                                      </p:cBhvr>
                                    </p:animEffect>
                                  </p:childTnLst>
                                </p:cTn>
                              </p:par>
                            </p:childTnLst>
                          </p:cTn>
                        </p:par>
                        <p:par>
                          <p:cTn id="20" fill="hold">
                            <p:stCondLst>
                              <p:cond delay="1250"/>
                            </p:stCondLst>
                            <p:childTnLst>
                              <p:par>
                                <p:cTn id="21" presetID="10" presetClass="entr" presetSubtype="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25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left)">
                                      <p:cBhvr>
                                        <p:cTn id="28" dur="500"/>
                                        <p:tgtEl>
                                          <p:spTgt spid="24"/>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B6F2A5CA-1569-2266-532E-A56C42083AC4}"/>
            </a:ext>
          </a:extLst>
        </p:cNvPr>
        <p:cNvGrpSpPr/>
        <p:nvPr/>
      </p:nvGrpSpPr>
      <p:grpSpPr>
        <a:xfrm>
          <a:off x="0" y="0"/>
          <a:ext cx="0" cy="0"/>
          <a:chOff x="0" y="0"/>
          <a:chExt cx="0" cy="0"/>
        </a:xfrm>
      </p:grpSpPr>
      <p:pic>
        <p:nvPicPr>
          <p:cNvPr id="6" name="Grafik 5" descr="Ein Bild, das Text, Elektronik, Screenshot, Software enthält.&#10;&#10;KI-generierte Inhalte können fehlerhaft sein.">
            <a:extLst>
              <a:ext uri="{FF2B5EF4-FFF2-40B4-BE49-F238E27FC236}">
                <a16:creationId xmlns:a16="http://schemas.microsoft.com/office/drawing/2014/main" id="{3C57BDF9-0AA2-06FE-3DE2-B3A3F1AF8602}"/>
              </a:ext>
            </a:extLst>
          </p:cNvPr>
          <p:cNvPicPr>
            <a:picLocks noChangeAspect="1"/>
          </p:cNvPicPr>
          <p:nvPr/>
        </p:nvPicPr>
        <p:blipFill>
          <a:blip r:embed="rId3"/>
          <a:stretch>
            <a:fillRect/>
          </a:stretch>
        </p:blipFill>
        <p:spPr>
          <a:xfrm>
            <a:off x="464706" y="984750"/>
            <a:ext cx="8107002" cy="4208782"/>
          </a:xfrm>
          <a:prstGeom prst="roundRect">
            <a:avLst>
              <a:gd name="adj" fmla="val 6772"/>
            </a:avLst>
          </a:prstGeom>
        </p:spPr>
      </p:pic>
      <p:grpSp>
        <p:nvGrpSpPr>
          <p:cNvPr id="7" name="Group 6">
            <a:extLst>
              <a:ext uri="{FF2B5EF4-FFF2-40B4-BE49-F238E27FC236}">
                <a16:creationId xmlns:a16="http://schemas.microsoft.com/office/drawing/2014/main" id="{E7CFB436-7667-5F40-E593-0ACFCD779C24}"/>
              </a:ext>
            </a:extLst>
          </p:cNvPr>
          <p:cNvGrpSpPr/>
          <p:nvPr/>
        </p:nvGrpSpPr>
        <p:grpSpPr>
          <a:xfrm>
            <a:off x="229316" y="181707"/>
            <a:ext cx="3003742" cy="510504"/>
            <a:chOff x="100869" y="175489"/>
            <a:chExt cx="2498131" cy="609604"/>
          </a:xfrm>
        </p:grpSpPr>
        <p:sp>
          <p:nvSpPr>
            <p:cNvPr id="8" name="Rectangle: Rounded Corners 7">
              <a:extLst>
                <a:ext uri="{FF2B5EF4-FFF2-40B4-BE49-F238E27FC236}">
                  <a16:creationId xmlns:a16="http://schemas.microsoft.com/office/drawing/2014/main" id="{49FE5991-DFC4-B890-5B93-50214C22F59A}"/>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596A0-B6D1-E1DB-9B99-089F8479356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3B667EB-EB14-5126-289A-C39816827C54}"/>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Django Framework</a:t>
              </a:r>
              <a:endParaRPr lang="de-DE"/>
            </a:p>
          </p:txBody>
        </p:sp>
      </p:grpSp>
      <p:sp>
        <p:nvSpPr>
          <p:cNvPr id="11" name="TextBox 3">
            <a:extLst>
              <a:ext uri="{FF2B5EF4-FFF2-40B4-BE49-F238E27FC236}">
                <a16:creationId xmlns:a16="http://schemas.microsoft.com/office/drawing/2014/main" id="{B4554F1F-A14C-D24F-FB33-D92C3C708675}"/>
              </a:ext>
            </a:extLst>
          </p:cNvPr>
          <p:cNvSpPr txBox="1"/>
          <p:nvPr/>
        </p:nvSpPr>
        <p:spPr>
          <a:xfrm>
            <a:off x="8781861" y="965482"/>
            <a:ext cx="3198929" cy="424731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Use it as a </a:t>
            </a:r>
            <a:r>
              <a:rPr lang="en-US">
                <a:solidFill>
                  <a:srgbClr val="00B050"/>
                </a:solidFill>
              </a:rPr>
              <a:t>REST API backend with DRF</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Talks to PostgreSQL via </a:t>
            </a:r>
            <a:r>
              <a:rPr lang="en-US">
                <a:solidFill>
                  <a:srgbClr val="92D050"/>
                </a:solidFill>
              </a:rPr>
              <a:t>built-in ORM</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solidFill>
                  <a:srgbClr val="00B0F0"/>
                </a:solidFill>
              </a:rPr>
              <a:t>Management Commands </a:t>
            </a:r>
            <a:r>
              <a:rPr lang="en-US"/>
              <a:t>(</a:t>
            </a:r>
            <a:r>
              <a:rPr lang="en-US" err="1"/>
              <a:t>e.g</a:t>
            </a:r>
            <a:r>
              <a:rPr lang="en-US"/>
              <a:t> </a:t>
            </a:r>
            <a:r>
              <a:rPr lang="en-US" err="1"/>
              <a:t>sync_heroes</a:t>
            </a:r>
            <a:r>
              <a:rPr lang="en-US"/>
              <a:t> on startup)</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ea typeface="+mn-lt"/>
                <a:cs typeface="+mn-lt"/>
              </a:rPr>
              <a:t>DRF includes a </a:t>
            </a:r>
            <a:r>
              <a:rPr lang="en-US">
                <a:solidFill>
                  <a:schemeClr val="accent3"/>
                </a:solidFill>
                <a:ea typeface="+mn-lt"/>
                <a:cs typeface="+mn-lt"/>
              </a:rPr>
              <a:t>browsable API </a:t>
            </a:r>
            <a:r>
              <a:rPr lang="en-US">
                <a:ea typeface="+mn-lt"/>
                <a:cs typeface="+mn-lt"/>
              </a:rPr>
              <a:t>— every endpoint can be viewed and tested directly in the browser</a:t>
            </a:r>
            <a:endParaRPr lang="en-US"/>
          </a:p>
        </p:txBody>
      </p:sp>
      <p:sp>
        <p:nvSpPr>
          <p:cNvPr id="13" name="TextBox 12">
            <a:extLst>
              <a:ext uri="{FF2B5EF4-FFF2-40B4-BE49-F238E27FC236}">
                <a16:creationId xmlns:a16="http://schemas.microsoft.com/office/drawing/2014/main" id="{B6B12756-D725-1DC3-6A7C-9DD36EB7AB64}"/>
              </a:ext>
            </a:extLst>
          </p:cNvPr>
          <p:cNvSpPr txBox="1"/>
          <p:nvPr/>
        </p:nvSpPr>
        <p:spPr>
          <a:xfrm>
            <a:off x="464706" y="5486072"/>
            <a:ext cx="6097508" cy="923330"/>
          </a:xfrm>
          <a:prstGeom prst="rect">
            <a:avLst/>
          </a:prstGeom>
          <a:noFill/>
        </p:spPr>
        <p:txBody>
          <a:bodyPr wrap="square" lIns="91440" tIns="45720" rIns="91440" bIns="45720" anchor="t">
            <a:spAutoFit/>
          </a:bodyPr>
          <a:lstStyle/>
          <a:p>
            <a:r>
              <a:rPr lang="en-US">
                <a:solidFill>
                  <a:srgbClr val="00B0F0"/>
                </a:solidFill>
              </a:rPr>
              <a:t>Python</a:t>
            </a:r>
            <a:r>
              <a:rPr lang="en-US"/>
              <a:t> web framework</a:t>
            </a:r>
          </a:p>
          <a:p>
            <a:r>
              <a:rPr lang="en-US"/>
              <a:t>Handles </a:t>
            </a:r>
            <a:r>
              <a:rPr lang="en-US">
                <a:solidFill>
                  <a:srgbClr val="0070C0"/>
                </a:solidFill>
              </a:rPr>
              <a:t>routing, database access, authentication </a:t>
            </a:r>
            <a:r>
              <a:rPr lang="en-US"/>
              <a:t>out of the box</a:t>
            </a:r>
          </a:p>
        </p:txBody>
      </p:sp>
    </p:spTree>
    <p:extLst>
      <p:ext uri="{BB962C8B-B14F-4D97-AF65-F5344CB8AC3E}">
        <p14:creationId xmlns:p14="http://schemas.microsoft.com/office/powerpoint/2010/main" val="13271385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500"/>
                                        <p:tgtEl>
                                          <p:spTgt spid="11">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500"/>
                                        <p:tgtEl>
                                          <p:spTgt spid="11">
                                            <p:txEl>
                                              <p:pRg st="2" end="2"/>
                                            </p:txEl>
                                          </p:spTgt>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fade">
                                      <p:cBhvr>
                                        <p:cTn id="24" dur="500"/>
                                        <p:tgtEl>
                                          <p:spTgt spid="11">
                                            <p:txEl>
                                              <p:pRg st="4" end="4"/>
                                            </p:txEl>
                                          </p:spTgt>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1">
                                            <p:txEl>
                                              <p:pRg st="6" end="6"/>
                                            </p:txEl>
                                          </p:spTgt>
                                        </p:tgtEl>
                                        <p:attrNameLst>
                                          <p:attrName>style.visibility</p:attrName>
                                        </p:attrNameLst>
                                      </p:cBhvr>
                                      <p:to>
                                        <p:strVal val="visible"/>
                                      </p:to>
                                    </p:set>
                                    <p:animEffect transition="in" filter="fade">
                                      <p:cBhvr>
                                        <p:cTn id="28"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F0299D28-A674-357D-B336-3FB22493D1D1}"/>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AD1A0B83-38CE-0DFC-C42B-E77B5AA72254}"/>
              </a:ext>
            </a:extLst>
          </p:cNvPr>
          <p:cNvGrpSpPr/>
          <p:nvPr/>
        </p:nvGrpSpPr>
        <p:grpSpPr>
          <a:xfrm>
            <a:off x="196659" y="166739"/>
            <a:ext cx="3200966" cy="510504"/>
            <a:chOff x="100869" y="175489"/>
            <a:chExt cx="2498131" cy="609604"/>
          </a:xfrm>
        </p:grpSpPr>
        <p:sp>
          <p:nvSpPr>
            <p:cNvPr id="13" name="Rectangle: Rounded Corners 12">
              <a:extLst>
                <a:ext uri="{FF2B5EF4-FFF2-40B4-BE49-F238E27FC236}">
                  <a16:creationId xmlns:a16="http://schemas.microsoft.com/office/drawing/2014/main" id="{6D5BFC59-EC36-C06B-709E-0A57F3275F3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3EFD1C2A-7AB6-8225-4C73-586D93E0C839}"/>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F1C570E-A625-DB6E-71DC-6A29999F3141}"/>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ea typeface="+mn-lt"/>
                  <a:cs typeface="+mn-lt"/>
                </a:rPr>
                <a:t>Backend Architecture</a:t>
              </a:r>
              <a:endParaRPr lang="de-DE"/>
            </a:p>
          </p:txBody>
        </p:sp>
      </p:grpSp>
      <p:pic>
        <p:nvPicPr>
          <p:cNvPr id="2" name="Grafik 1">
            <a:extLst>
              <a:ext uri="{FF2B5EF4-FFF2-40B4-BE49-F238E27FC236}">
                <a16:creationId xmlns:a16="http://schemas.microsoft.com/office/drawing/2014/main" id="{BAA2CD60-170C-CA61-E53D-F78B441FF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120" y="215247"/>
            <a:ext cx="16271094" cy="7076632"/>
          </a:xfrm>
          <a:prstGeom prst="rect">
            <a:avLst/>
          </a:prstGeom>
        </p:spPr>
      </p:pic>
      <p:sp>
        <p:nvSpPr>
          <p:cNvPr id="3" name="Rectangle: Rounded Corners 2">
            <a:extLst>
              <a:ext uri="{FF2B5EF4-FFF2-40B4-BE49-F238E27FC236}">
                <a16:creationId xmlns:a16="http://schemas.microsoft.com/office/drawing/2014/main" id="{A52898A7-6E3A-4871-9F08-A4CC33402FB0}"/>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4" name="Rectangle: Rounded Corners 3">
            <a:extLst>
              <a:ext uri="{FF2B5EF4-FFF2-40B4-BE49-F238E27FC236}">
                <a16:creationId xmlns:a16="http://schemas.microsoft.com/office/drawing/2014/main" id="{114B4BE5-8328-F6FD-180B-654D800FA607}"/>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5" name="Rectangle: Rounded Corners 4">
            <a:extLst>
              <a:ext uri="{FF2B5EF4-FFF2-40B4-BE49-F238E27FC236}">
                <a16:creationId xmlns:a16="http://schemas.microsoft.com/office/drawing/2014/main" id="{5F5534C9-67DB-0CCF-5734-67F39FA53495}"/>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23103047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DF5074FD-88E1-CA38-0BAA-5562F55423A5}"/>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F5D71380-490B-BD1E-FD5D-FEDCF3BE5329}"/>
              </a:ext>
            </a:extLst>
          </p:cNvPr>
          <p:cNvGrpSpPr/>
          <p:nvPr/>
        </p:nvGrpSpPr>
        <p:grpSpPr>
          <a:xfrm>
            <a:off x="196658" y="166739"/>
            <a:ext cx="4560399" cy="510504"/>
            <a:chOff x="100869" y="175489"/>
            <a:chExt cx="2498131" cy="609604"/>
          </a:xfrm>
        </p:grpSpPr>
        <p:sp>
          <p:nvSpPr>
            <p:cNvPr id="13" name="Rectangle: Rounded Corners 12">
              <a:extLst>
                <a:ext uri="{FF2B5EF4-FFF2-40B4-BE49-F238E27FC236}">
                  <a16:creationId xmlns:a16="http://schemas.microsoft.com/office/drawing/2014/main" id="{76AE6D1B-83F6-0F58-65D9-14B93D6BB09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6455419-F51F-1620-F500-6C800C7A8E10}"/>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C2440A1-0FC0-83EA-BE54-46652B78B52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a:t>Hero Data – External API Integration</a:t>
              </a:r>
            </a:p>
          </p:txBody>
        </p:sp>
      </p:grpSp>
      <p:pic>
        <p:nvPicPr>
          <p:cNvPr id="5" name="Grafik 4">
            <a:extLst>
              <a:ext uri="{FF2B5EF4-FFF2-40B4-BE49-F238E27FC236}">
                <a16:creationId xmlns:a16="http://schemas.microsoft.com/office/drawing/2014/main" id="{DFFBB931-1BD3-6FE8-0244-A707B7CC20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4967" y="-867151"/>
            <a:ext cx="11617933" cy="8393242"/>
          </a:xfrm>
          <a:prstGeom prst="rect">
            <a:avLst/>
          </a:prstGeom>
        </p:spPr>
      </p:pic>
      <p:sp>
        <p:nvSpPr>
          <p:cNvPr id="2" name="Rectangle: Rounded Corners 1">
            <a:extLst>
              <a:ext uri="{FF2B5EF4-FFF2-40B4-BE49-F238E27FC236}">
                <a16:creationId xmlns:a16="http://schemas.microsoft.com/office/drawing/2014/main" id="{620B34B9-69D8-E37B-B019-D36B004EB68A}"/>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3" name="Rectangle: Rounded Corners 2">
            <a:extLst>
              <a:ext uri="{FF2B5EF4-FFF2-40B4-BE49-F238E27FC236}">
                <a16:creationId xmlns:a16="http://schemas.microsoft.com/office/drawing/2014/main" id="{DDC9744D-3FA1-4F5D-67AA-31B9E8FAF6A0}"/>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4" name="Rectangle: Rounded Corners 3">
            <a:extLst>
              <a:ext uri="{FF2B5EF4-FFF2-40B4-BE49-F238E27FC236}">
                <a16:creationId xmlns:a16="http://schemas.microsoft.com/office/drawing/2014/main" id="{FCF1E2F2-5090-21F9-1F38-CBE4332E0FF4}"/>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196316838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D4EFE986-A3A2-54B0-99E3-E5B024E10F28}"/>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2CB40336-B4A4-C42E-8D34-A9484638E040}"/>
              </a:ext>
            </a:extLst>
          </p:cNvPr>
          <p:cNvGrpSpPr/>
          <p:nvPr/>
        </p:nvGrpSpPr>
        <p:grpSpPr>
          <a:xfrm>
            <a:off x="196658" y="166739"/>
            <a:ext cx="4909598" cy="510504"/>
            <a:chOff x="100869" y="175489"/>
            <a:chExt cx="2498131" cy="609604"/>
          </a:xfrm>
        </p:grpSpPr>
        <p:sp>
          <p:nvSpPr>
            <p:cNvPr id="13" name="Rectangle: Rounded Corners 12">
              <a:extLst>
                <a:ext uri="{FF2B5EF4-FFF2-40B4-BE49-F238E27FC236}">
                  <a16:creationId xmlns:a16="http://schemas.microsoft.com/office/drawing/2014/main" id="{A0A0498A-8976-6CD6-219A-8CFDDBBC72E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91FAD74-E124-498A-61C0-EBB188F3663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CA39B87D-AEE8-CDBA-C905-AA708B5AAA04}"/>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r>
                <a:rPr lang="en-US"/>
                <a:t>Team Composition – Secure CRUD Flow</a:t>
              </a:r>
            </a:p>
          </p:txBody>
        </p:sp>
      </p:grpSp>
      <p:pic>
        <p:nvPicPr>
          <p:cNvPr id="2" name="Grafik 1">
            <a:extLst>
              <a:ext uri="{FF2B5EF4-FFF2-40B4-BE49-F238E27FC236}">
                <a16:creationId xmlns:a16="http://schemas.microsoft.com/office/drawing/2014/main" id="{01037AB2-29EF-899F-592D-3B6805FFA9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5510" y="725751"/>
            <a:ext cx="11851774" cy="6528859"/>
          </a:xfrm>
          <a:prstGeom prst="rect">
            <a:avLst/>
          </a:prstGeom>
        </p:spPr>
      </p:pic>
      <p:sp>
        <p:nvSpPr>
          <p:cNvPr id="3" name="Rectangle: Rounded Corners 2">
            <a:extLst>
              <a:ext uri="{FF2B5EF4-FFF2-40B4-BE49-F238E27FC236}">
                <a16:creationId xmlns:a16="http://schemas.microsoft.com/office/drawing/2014/main" id="{7E177B61-D30B-FDB3-E6AC-BEBE03B3817B}"/>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4" name="Rectangle: Rounded Corners 3">
            <a:extLst>
              <a:ext uri="{FF2B5EF4-FFF2-40B4-BE49-F238E27FC236}">
                <a16:creationId xmlns:a16="http://schemas.microsoft.com/office/drawing/2014/main" id="{6E562AB2-7772-5221-AE3E-4795A8BD6A75}"/>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5" name="Rectangle: Rounded Corners 4">
            <a:extLst>
              <a:ext uri="{FF2B5EF4-FFF2-40B4-BE49-F238E27FC236}">
                <a16:creationId xmlns:a16="http://schemas.microsoft.com/office/drawing/2014/main" id="{D14C3793-D285-68FB-5E6C-C4416D32BEA2}"/>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190295188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3FC159-2D87-4CC5-024C-8C0E7E7F9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339" y="815698"/>
            <a:ext cx="4385723" cy="3863340"/>
          </a:xfrm>
          <a:prstGeom prst="rect">
            <a:avLst/>
          </a:prstGeom>
        </p:spPr>
      </p:pic>
      <p:grpSp>
        <p:nvGrpSpPr>
          <p:cNvPr id="31" name="Group 30">
            <a:extLst>
              <a:ext uri="{FF2B5EF4-FFF2-40B4-BE49-F238E27FC236}">
                <a16:creationId xmlns:a16="http://schemas.microsoft.com/office/drawing/2014/main" id="{94EF6650-E687-B73D-B501-BB63E45881A3}"/>
              </a:ext>
            </a:extLst>
          </p:cNvPr>
          <p:cNvGrpSpPr/>
          <p:nvPr/>
        </p:nvGrpSpPr>
        <p:grpSpPr>
          <a:xfrm>
            <a:off x="5454505" y="4951235"/>
            <a:ext cx="5881606" cy="1545111"/>
            <a:chOff x="5178280" y="4627089"/>
            <a:chExt cx="5881606" cy="1545111"/>
          </a:xfrm>
        </p:grpSpPr>
        <p:sp>
          <p:nvSpPr>
            <p:cNvPr id="26" name="Rectangle: Rounded Corners 25">
              <a:extLst>
                <a:ext uri="{FF2B5EF4-FFF2-40B4-BE49-F238E27FC236}">
                  <a16:creationId xmlns:a16="http://schemas.microsoft.com/office/drawing/2014/main" id="{7A338395-F157-3B98-C805-CD6C8D593024}"/>
                </a:ext>
              </a:extLst>
            </p:cNvPr>
            <p:cNvSpPr/>
            <p:nvPr/>
          </p:nvSpPr>
          <p:spPr>
            <a:xfrm>
              <a:off x="5178280" y="4627089"/>
              <a:ext cx="5881606"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CFCDDAB-F78A-5119-87A7-789A6FD700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9542" y="4643578"/>
              <a:ext cx="1415034" cy="1415034"/>
            </a:xfrm>
            <a:prstGeom prst="rect">
              <a:avLst/>
            </a:prstGeom>
          </p:spPr>
        </p:pic>
        <p:sp>
          <p:nvSpPr>
            <p:cNvPr id="21" name="TextBox 20">
              <a:extLst>
                <a:ext uri="{FF2B5EF4-FFF2-40B4-BE49-F238E27FC236}">
                  <a16:creationId xmlns:a16="http://schemas.microsoft.com/office/drawing/2014/main" id="{5C7E98CA-BE3A-F4E5-1DAC-10B644509555}"/>
                </a:ext>
              </a:extLst>
            </p:cNvPr>
            <p:cNvSpPr txBox="1"/>
            <p:nvPr/>
          </p:nvSpPr>
          <p:spPr>
            <a:xfrm>
              <a:off x="7242048" y="4760505"/>
              <a:ext cx="3575304" cy="1200329"/>
            </a:xfrm>
            <a:prstGeom prst="rect">
              <a:avLst/>
            </a:prstGeom>
            <a:noFill/>
          </p:spPr>
          <p:txBody>
            <a:bodyPr wrap="square" rtlCol="0">
              <a:spAutoFit/>
            </a:bodyPr>
            <a:lstStyle/>
            <a:p>
              <a:pPr marL="285750" indent="-285750">
                <a:buFont typeface="Arial" panose="020B0604020202020204" pitchFamily="34" charset="0"/>
                <a:buChar char="•"/>
              </a:pPr>
              <a:r>
                <a:rPr lang="en-US">
                  <a:solidFill>
                    <a:srgbClr val="92D050"/>
                  </a:solidFill>
                </a:rPr>
                <a:t>Vitest</a:t>
              </a:r>
              <a:r>
                <a:rPr lang="en-US"/>
                <a:t>: integrated testing framework that works well with Vite + React Testing Library</a:t>
              </a:r>
            </a:p>
          </p:txBody>
        </p:sp>
      </p:grpSp>
      <p:grpSp>
        <p:nvGrpSpPr>
          <p:cNvPr id="32" name="Group 31">
            <a:extLst>
              <a:ext uri="{FF2B5EF4-FFF2-40B4-BE49-F238E27FC236}">
                <a16:creationId xmlns:a16="http://schemas.microsoft.com/office/drawing/2014/main" id="{0FAFF8E2-42A1-D58A-6B28-9896317D0A12}"/>
              </a:ext>
            </a:extLst>
          </p:cNvPr>
          <p:cNvGrpSpPr/>
          <p:nvPr/>
        </p:nvGrpSpPr>
        <p:grpSpPr>
          <a:xfrm>
            <a:off x="5454505" y="2742285"/>
            <a:ext cx="5881606" cy="1936753"/>
            <a:chOff x="5178280" y="2452378"/>
            <a:chExt cx="5881606" cy="1936753"/>
          </a:xfrm>
        </p:grpSpPr>
        <p:sp>
          <p:nvSpPr>
            <p:cNvPr id="25" name="Rectangle: Rounded Corners 24">
              <a:extLst>
                <a:ext uri="{FF2B5EF4-FFF2-40B4-BE49-F238E27FC236}">
                  <a16:creationId xmlns:a16="http://schemas.microsoft.com/office/drawing/2014/main" id="{38DD843C-4FB8-1900-4B0C-F776D76BBFDF}"/>
                </a:ext>
              </a:extLst>
            </p:cNvPr>
            <p:cNvSpPr/>
            <p:nvPr/>
          </p:nvSpPr>
          <p:spPr>
            <a:xfrm>
              <a:off x="5178280" y="2452378"/>
              <a:ext cx="5881606" cy="1936753"/>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DBE3BA7-DD77-165A-190B-F01B3B5FC4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79542" y="2669244"/>
              <a:ext cx="1415034" cy="1415034"/>
            </a:xfrm>
            <a:prstGeom prst="rect">
              <a:avLst/>
            </a:prstGeom>
          </p:spPr>
        </p:pic>
        <p:sp>
          <p:nvSpPr>
            <p:cNvPr id="22" name="TextBox 21">
              <a:extLst>
                <a:ext uri="{FF2B5EF4-FFF2-40B4-BE49-F238E27FC236}">
                  <a16:creationId xmlns:a16="http://schemas.microsoft.com/office/drawing/2014/main" id="{8893FE29-EAC9-1CB3-C52B-A48183722C00}"/>
                </a:ext>
              </a:extLst>
            </p:cNvPr>
            <p:cNvSpPr txBox="1"/>
            <p:nvPr/>
          </p:nvSpPr>
          <p:spPr>
            <a:xfrm>
              <a:off x="7340019" y="2638097"/>
              <a:ext cx="3575304"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solidFill>
                    <a:srgbClr val="00B050"/>
                  </a:solidFill>
                </a:rPr>
                <a:t>Django Testing</a:t>
              </a:r>
              <a:r>
                <a:rPr lang="en-US"/>
                <a:t>: </a:t>
              </a:r>
              <a:r>
                <a:rPr lang="en-US">
                  <a:ea typeface="+mn-lt"/>
                  <a:cs typeface="+mn-lt"/>
                </a:rPr>
                <a:t>integrated testing framework with automatic database setup, and full access to Django models and views</a:t>
              </a:r>
              <a:r>
                <a:rPr lang="en-US"/>
                <a:t> </a:t>
              </a:r>
            </a:p>
          </p:txBody>
        </p:sp>
      </p:grpSp>
      <p:grpSp>
        <p:nvGrpSpPr>
          <p:cNvPr id="2" name="Group 1">
            <a:extLst>
              <a:ext uri="{FF2B5EF4-FFF2-40B4-BE49-F238E27FC236}">
                <a16:creationId xmlns:a16="http://schemas.microsoft.com/office/drawing/2014/main" id="{95A05B2B-798C-D67A-D5AB-5A2813306B16}"/>
              </a:ext>
            </a:extLst>
          </p:cNvPr>
          <p:cNvGrpSpPr/>
          <p:nvPr/>
        </p:nvGrpSpPr>
        <p:grpSpPr>
          <a:xfrm>
            <a:off x="5454505" y="692211"/>
            <a:ext cx="5881605" cy="1779459"/>
            <a:chOff x="5454505" y="692211"/>
            <a:chExt cx="5881605" cy="1779459"/>
          </a:xfrm>
        </p:grpSpPr>
        <p:sp>
          <p:nvSpPr>
            <p:cNvPr id="24" name="Rectangle: Rounded Corners 23">
              <a:extLst>
                <a:ext uri="{FF2B5EF4-FFF2-40B4-BE49-F238E27FC236}">
                  <a16:creationId xmlns:a16="http://schemas.microsoft.com/office/drawing/2014/main" id="{C6714A7C-75B5-7273-B67F-4F410CBCA09C}"/>
                </a:ext>
              </a:extLst>
            </p:cNvPr>
            <p:cNvSpPr/>
            <p:nvPr/>
          </p:nvSpPr>
          <p:spPr>
            <a:xfrm>
              <a:off x="5454505" y="692211"/>
              <a:ext cx="5881605" cy="1779459"/>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CA8E082-B358-C36B-4CDD-BE8ADD0797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55766" y="874423"/>
              <a:ext cx="1415034" cy="1415034"/>
            </a:xfrm>
            <a:prstGeom prst="rect">
              <a:avLst/>
            </a:prstGeom>
          </p:spPr>
        </p:pic>
        <p:sp>
          <p:nvSpPr>
            <p:cNvPr id="23" name="TextBox 22">
              <a:extLst>
                <a:ext uri="{FF2B5EF4-FFF2-40B4-BE49-F238E27FC236}">
                  <a16:creationId xmlns:a16="http://schemas.microsoft.com/office/drawing/2014/main" id="{DD7C4107-49FE-93BF-03DE-7B596BC9E621}"/>
                </a:ext>
              </a:extLst>
            </p:cNvPr>
            <p:cNvSpPr txBox="1"/>
            <p:nvPr/>
          </p:nvSpPr>
          <p:spPr>
            <a:xfrm>
              <a:off x="7609997" y="873171"/>
              <a:ext cx="3575304"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solidFill>
                    <a:schemeClr val="accent5">
                      <a:lumMod val="75000"/>
                    </a:schemeClr>
                  </a:solidFill>
                </a:rPr>
                <a:t>Playwright</a:t>
              </a:r>
              <a:r>
                <a:rPr lang="en-US"/>
                <a:t>: </a:t>
              </a:r>
              <a:r>
                <a:rPr lang="en-US">
                  <a:ea typeface="+mn-lt"/>
                  <a:cs typeface="+mn-lt"/>
                </a:rPr>
                <a:t>tests the complete application by automating user interactions in a real browser</a:t>
              </a:r>
            </a:p>
          </p:txBody>
        </p:sp>
      </p:grpSp>
      <p:grpSp>
        <p:nvGrpSpPr>
          <p:cNvPr id="3" name="Group 2">
            <a:extLst>
              <a:ext uri="{FF2B5EF4-FFF2-40B4-BE49-F238E27FC236}">
                <a16:creationId xmlns:a16="http://schemas.microsoft.com/office/drawing/2014/main" id="{9E267646-CF4C-F37F-487E-B291C8241136}"/>
              </a:ext>
            </a:extLst>
          </p:cNvPr>
          <p:cNvGrpSpPr/>
          <p:nvPr/>
        </p:nvGrpSpPr>
        <p:grpSpPr>
          <a:xfrm>
            <a:off x="834385" y="4805090"/>
            <a:ext cx="4084896" cy="1789486"/>
            <a:chOff x="834385" y="4805090"/>
            <a:chExt cx="4084896" cy="1789486"/>
          </a:xfrm>
        </p:grpSpPr>
        <p:sp>
          <p:nvSpPr>
            <p:cNvPr id="30" name="Rectangle: Rounded Corners 29">
              <a:extLst>
                <a:ext uri="{FF2B5EF4-FFF2-40B4-BE49-F238E27FC236}">
                  <a16:creationId xmlns:a16="http://schemas.microsoft.com/office/drawing/2014/main" id="{56E3996E-0C3C-53D0-84D2-58E2A2AFDC90}"/>
                </a:ext>
              </a:extLst>
            </p:cNvPr>
            <p:cNvSpPr/>
            <p:nvPr/>
          </p:nvSpPr>
          <p:spPr>
            <a:xfrm>
              <a:off x="834385" y="4805090"/>
              <a:ext cx="3963629" cy="1759450"/>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F498DEE4-3954-124D-1927-62B662171C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99241" y="4835126"/>
              <a:ext cx="1759450" cy="1759450"/>
            </a:xfrm>
            <a:prstGeom prst="rect">
              <a:avLst/>
            </a:prstGeom>
          </p:spPr>
        </p:pic>
        <p:sp>
          <p:nvSpPr>
            <p:cNvPr id="29" name="TextBox 28">
              <a:extLst>
                <a:ext uri="{FF2B5EF4-FFF2-40B4-BE49-F238E27FC236}">
                  <a16:creationId xmlns:a16="http://schemas.microsoft.com/office/drawing/2014/main" id="{FBBE64A4-EB99-D6FA-9170-412E73BF2FE8}"/>
                </a:ext>
              </a:extLst>
            </p:cNvPr>
            <p:cNvSpPr txBox="1"/>
            <p:nvPr/>
          </p:nvSpPr>
          <p:spPr>
            <a:xfrm>
              <a:off x="1343977" y="5517532"/>
              <a:ext cx="3575304" cy="64633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Static Analysis via </a:t>
              </a:r>
              <a:r>
                <a:rPr lang="en-US">
                  <a:solidFill>
                    <a:schemeClr val="accent2"/>
                  </a:solidFill>
                </a:rPr>
                <a:t>SonarCloud</a:t>
              </a:r>
            </a:p>
          </p:txBody>
        </p:sp>
      </p:grpSp>
      <p:grpSp>
        <p:nvGrpSpPr>
          <p:cNvPr id="33" name="Group 32">
            <a:extLst>
              <a:ext uri="{FF2B5EF4-FFF2-40B4-BE49-F238E27FC236}">
                <a16:creationId xmlns:a16="http://schemas.microsoft.com/office/drawing/2014/main" id="{097AAE15-65ED-A2A1-DC0E-E1855B70ED5D}"/>
              </a:ext>
            </a:extLst>
          </p:cNvPr>
          <p:cNvGrpSpPr/>
          <p:nvPr/>
        </p:nvGrpSpPr>
        <p:grpSpPr>
          <a:xfrm>
            <a:off x="270963" y="282263"/>
            <a:ext cx="3003742" cy="510504"/>
            <a:chOff x="100869" y="175489"/>
            <a:chExt cx="2498131" cy="609604"/>
          </a:xfrm>
        </p:grpSpPr>
        <p:sp>
          <p:nvSpPr>
            <p:cNvPr id="34" name="Rectangle: Rounded Corners 33">
              <a:extLst>
                <a:ext uri="{FF2B5EF4-FFF2-40B4-BE49-F238E27FC236}">
                  <a16:creationId xmlns:a16="http://schemas.microsoft.com/office/drawing/2014/main" id="{C35B677E-556D-CA12-FB3B-D39C2A0D7BF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93B5A298-0ABC-5283-1AA7-7B61F6687AC2}"/>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B667F068-49A6-EB14-2679-5C142EEF4A82}"/>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Testing Tools</a:t>
              </a:r>
            </a:p>
          </p:txBody>
        </p:sp>
      </p:grpSp>
    </p:spTree>
    <p:extLst>
      <p:ext uri="{BB962C8B-B14F-4D97-AF65-F5344CB8AC3E}">
        <p14:creationId xmlns:p14="http://schemas.microsoft.com/office/powerpoint/2010/main" val="803127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081B5522-2129-A809-A5AE-083D24AC36DC}"/>
              </a:ext>
            </a:extLst>
          </p:cNvPr>
          <p:cNvGrpSpPr/>
          <p:nvPr/>
        </p:nvGrpSpPr>
        <p:grpSpPr>
          <a:xfrm>
            <a:off x="270963" y="282263"/>
            <a:ext cx="3003742" cy="510504"/>
            <a:chOff x="100869" y="175489"/>
            <a:chExt cx="2498131" cy="609604"/>
          </a:xfrm>
        </p:grpSpPr>
        <p:sp>
          <p:nvSpPr>
            <p:cNvPr id="7" name="Rectangle: Rounded Corners 6">
              <a:extLst>
                <a:ext uri="{FF2B5EF4-FFF2-40B4-BE49-F238E27FC236}">
                  <a16:creationId xmlns:a16="http://schemas.microsoft.com/office/drawing/2014/main" id="{3E39FA50-27E2-C752-708B-07538FF7946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52AC505-B28D-4695-9312-8B5D78DC4CAB}"/>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397645C-5D54-85E3-D711-AACEB0BA92FD}"/>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Testing Levels</a:t>
              </a:r>
            </a:p>
          </p:txBody>
        </p:sp>
      </p:grpSp>
      <p:pic>
        <p:nvPicPr>
          <p:cNvPr id="2" name="Grafik 1" descr="Ein Bild, das Text, Screenshot, Schrift, Zahl enthält.&#10;&#10;KI-generierte Inhalte können fehlerhaft sein.">
            <a:extLst>
              <a:ext uri="{FF2B5EF4-FFF2-40B4-BE49-F238E27FC236}">
                <a16:creationId xmlns:a16="http://schemas.microsoft.com/office/drawing/2014/main" id="{29C03F2F-525B-3271-D123-5F638813AD57}"/>
              </a:ext>
            </a:extLst>
          </p:cNvPr>
          <p:cNvPicPr>
            <a:picLocks noChangeAspect="1"/>
          </p:cNvPicPr>
          <p:nvPr/>
        </p:nvPicPr>
        <p:blipFill>
          <a:blip r:embed="rId3"/>
          <a:stretch>
            <a:fillRect/>
          </a:stretch>
        </p:blipFill>
        <p:spPr>
          <a:xfrm>
            <a:off x="1917102" y="1206708"/>
            <a:ext cx="8364044" cy="5144125"/>
          </a:xfrm>
          <a:prstGeom prst="roundRect">
            <a:avLst>
              <a:gd name="adj" fmla="val 1913"/>
            </a:avLst>
          </a:prstGeom>
        </p:spPr>
      </p:pic>
    </p:spTree>
    <p:extLst>
      <p:ext uri="{BB962C8B-B14F-4D97-AF65-F5344CB8AC3E}">
        <p14:creationId xmlns:p14="http://schemas.microsoft.com/office/powerpoint/2010/main" val="145872323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217DFC8C-B355-FD96-0BA9-42F83FA920E4}"/>
            </a:ext>
          </a:extLst>
        </p:cNvPr>
        <p:cNvGrpSpPr/>
        <p:nvPr/>
      </p:nvGrpSpPr>
      <p:grpSpPr>
        <a:xfrm>
          <a:off x="0" y="0"/>
          <a:ext cx="0" cy="0"/>
          <a:chOff x="0" y="0"/>
          <a:chExt cx="0" cy="0"/>
        </a:xfrm>
      </p:grpSpPr>
      <p:pic>
        <p:nvPicPr>
          <p:cNvPr id="5" name="Grafik 4" descr="Ein Bild, das Text, Screenshot, Display, Software enthält.&#10;&#10;KI-generierte Inhalte können fehlerhaft sein.">
            <a:extLst>
              <a:ext uri="{FF2B5EF4-FFF2-40B4-BE49-F238E27FC236}">
                <a16:creationId xmlns:a16="http://schemas.microsoft.com/office/drawing/2014/main" id="{CD41657F-767A-E589-8582-B04F052FA53A}"/>
              </a:ext>
            </a:extLst>
          </p:cNvPr>
          <p:cNvPicPr>
            <a:picLocks noChangeAspect="1"/>
          </p:cNvPicPr>
          <p:nvPr/>
        </p:nvPicPr>
        <p:blipFill>
          <a:blip r:embed="rId3"/>
          <a:srcRect l="25403" r="49616"/>
          <a:stretch>
            <a:fillRect/>
          </a:stretch>
        </p:blipFill>
        <p:spPr>
          <a:xfrm>
            <a:off x="4092472" y="950613"/>
            <a:ext cx="2464617" cy="2185807"/>
          </a:xfrm>
          <a:prstGeom prst="roundRect">
            <a:avLst>
              <a:gd name="adj" fmla="val 8616"/>
            </a:avLst>
          </a:prstGeom>
        </p:spPr>
      </p:pic>
      <p:grpSp>
        <p:nvGrpSpPr>
          <p:cNvPr id="6" name="Group 5">
            <a:extLst>
              <a:ext uri="{FF2B5EF4-FFF2-40B4-BE49-F238E27FC236}">
                <a16:creationId xmlns:a16="http://schemas.microsoft.com/office/drawing/2014/main" id="{37691EE8-D213-4C55-7911-114FC0CCAB5A}"/>
              </a:ext>
            </a:extLst>
          </p:cNvPr>
          <p:cNvGrpSpPr/>
          <p:nvPr/>
        </p:nvGrpSpPr>
        <p:grpSpPr>
          <a:xfrm>
            <a:off x="359448" y="328697"/>
            <a:ext cx="3261132" cy="510504"/>
            <a:chOff x="100869" y="175489"/>
            <a:chExt cx="2498131" cy="609604"/>
          </a:xfrm>
        </p:grpSpPr>
        <p:sp>
          <p:nvSpPr>
            <p:cNvPr id="7" name="Rectangle: Rounded Corners 6">
              <a:extLst>
                <a:ext uri="{FF2B5EF4-FFF2-40B4-BE49-F238E27FC236}">
                  <a16:creationId xmlns:a16="http://schemas.microsoft.com/office/drawing/2014/main" id="{3D2AC005-9DBB-1983-0114-A14CCE3D2E3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8D5CFA6-EDB8-944C-1A07-2A8AEDE1B44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97FA10B-5A75-3169-2D9D-3E46A297A2AF}"/>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SonarCloud &amp; CI Pipeline</a:t>
              </a:r>
              <a:endParaRPr lang="de-DE"/>
            </a:p>
          </p:txBody>
        </p:sp>
      </p:grpSp>
      <p:sp>
        <p:nvSpPr>
          <p:cNvPr id="12" name="Rectangle: Rounded Corners 11">
            <a:extLst>
              <a:ext uri="{FF2B5EF4-FFF2-40B4-BE49-F238E27FC236}">
                <a16:creationId xmlns:a16="http://schemas.microsoft.com/office/drawing/2014/main" id="{8EE9D11F-643A-719B-6BF9-7EADCB8DC6DF}"/>
              </a:ext>
            </a:extLst>
          </p:cNvPr>
          <p:cNvSpPr/>
          <p:nvPr/>
        </p:nvSpPr>
        <p:spPr>
          <a:xfrm>
            <a:off x="1107436" y="1282718"/>
            <a:ext cx="2513145" cy="5573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 Push/ Pull Request</a:t>
            </a:r>
          </a:p>
        </p:txBody>
      </p:sp>
      <p:sp>
        <p:nvSpPr>
          <p:cNvPr id="13" name="Rectangle: Rounded Corners 12">
            <a:extLst>
              <a:ext uri="{FF2B5EF4-FFF2-40B4-BE49-F238E27FC236}">
                <a16:creationId xmlns:a16="http://schemas.microsoft.com/office/drawing/2014/main" id="{40F50DD1-7A8D-78FD-7104-4BDAA2EFA5CC}"/>
              </a:ext>
            </a:extLst>
          </p:cNvPr>
          <p:cNvSpPr/>
          <p:nvPr/>
        </p:nvSpPr>
        <p:spPr>
          <a:xfrm>
            <a:off x="1107435" y="1974414"/>
            <a:ext cx="2513145" cy="55738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t>2. Static Checks</a:t>
            </a:r>
          </a:p>
        </p:txBody>
      </p:sp>
      <p:sp>
        <p:nvSpPr>
          <p:cNvPr id="14" name="Rectangle: Rounded Corners 13">
            <a:extLst>
              <a:ext uri="{FF2B5EF4-FFF2-40B4-BE49-F238E27FC236}">
                <a16:creationId xmlns:a16="http://schemas.microsoft.com/office/drawing/2014/main" id="{56D6C6DF-D6AB-4C9F-F883-C6AD1172C6F7}"/>
              </a:ext>
            </a:extLst>
          </p:cNvPr>
          <p:cNvSpPr/>
          <p:nvPr/>
        </p:nvSpPr>
        <p:spPr>
          <a:xfrm>
            <a:off x="1107435" y="2681602"/>
            <a:ext cx="2513145" cy="5573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t>3. Architecture</a:t>
            </a:r>
          </a:p>
        </p:txBody>
      </p:sp>
      <p:sp>
        <p:nvSpPr>
          <p:cNvPr id="15" name="Rectangle: Rounded Corners 14">
            <a:extLst>
              <a:ext uri="{FF2B5EF4-FFF2-40B4-BE49-F238E27FC236}">
                <a16:creationId xmlns:a16="http://schemas.microsoft.com/office/drawing/2014/main" id="{A41D44CC-24FD-9112-7640-E568F91E2BAA}"/>
              </a:ext>
            </a:extLst>
          </p:cNvPr>
          <p:cNvSpPr/>
          <p:nvPr/>
        </p:nvSpPr>
        <p:spPr>
          <a:xfrm>
            <a:off x="1107435" y="3361811"/>
            <a:ext cx="2513145" cy="55738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lIns="91440" tIns="45720" rIns="91440" bIns="45720" rtlCol="0" anchor="ctr"/>
          <a:lstStyle/>
          <a:p>
            <a:pPr algn="ctr"/>
            <a:r>
              <a:rPr lang="en-US"/>
              <a:t>4. Tests &amp; Coverage</a:t>
            </a:r>
          </a:p>
        </p:txBody>
      </p:sp>
      <p:sp>
        <p:nvSpPr>
          <p:cNvPr id="16" name="Rectangle: Rounded Corners 15">
            <a:extLst>
              <a:ext uri="{FF2B5EF4-FFF2-40B4-BE49-F238E27FC236}">
                <a16:creationId xmlns:a16="http://schemas.microsoft.com/office/drawing/2014/main" id="{A1D48406-39CA-8E45-8C1F-921F6C3536E9}"/>
              </a:ext>
            </a:extLst>
          </p:cNvPr>
          <p:cNvSpPr/>
          <p:nvPr/>
        </p:nvSpPr>
        <p:spPr>
          <a:xfrm>
            <a:off x="1107435" y="4042020"/>
            <a:ext cx="2513145" cy="55738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5. Build</a:t>
            </a:r>
          </a:p>
        </p:txBody>
      </p:sp>
      <p:sp>
        <p:nvSpPr>
          <p:cNvPr id="17" name="Rectangle: Rounded Corners 16">
            <a:extLst>
              <a:ext uri="{FF2B5EF4-FFF2-40B4-BE49-F238E27FC236}">
                <a16:creationId xmlns:a16="http://schemas.microsoft.com/office/drawing/2014/main" id="{5E7987C4-B32B-8815-7839-B1DEF8BF437D}"/>
              </a:ext>
            </a:extLst>
          </p:cNvPr>
          <p:cNvSpPr/>
          <p:nvPr/>
        </p:nvSpPr>
        <p:spPr>
          <a:xfrm>
            <a:off x="1107435" y="4722229"/>
            <a:ext cx="2513145" cy="55738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6. E2E Tests</a:t>
            </a:r>
          </a:p>
        </p:txBody>
      </p:sp>
      <p:sp>
        <p:nvSpPr>
          <p:cNvPr id="18" name="Rectangle: Rounded Corners 17">
            <a:extLst>
              <a:ext uri="{FF2B5EF4-FFF2-40B4-BE49-F238E27FC236}">
                <a16:creationId xmlns:a16="http://schemas.microsoft.com/office/drawing/2014/main" id="{A3536466-CFE0-438A-0A57-F3DA42C01667}"/>
              </a:ext>
            </a:extLst>
          </p:cNvPr>
          <p:cNvSpPr/>
          <p:nvPr/>
        </p:nvSpPr>
        <p:spPr>
          <a:xfrm>
            <a:off x="1107435" y="5392848"/>
            <a:ext cx="2513145" cy="673857"/>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7. SonarCloud Quality Gate</a:t>
            </a:r>
          </a:p>
        </p:txBody>
      </p:sp>
      <p:sp>
        <p:nvSpPr>
          <p:cNvPr id="19" name="Arrow: Down 18">
            <a:extLst>
              <a:ext uri="{FF2B5EF4-FFF2-40B4-BE49-F238E27FC236}">
                <a16:creationId xmlns:a16="http://schemas.microsoft.com/office/drawing/2014/main" id="{7F0FC84F-B0FF-389F-E423-EA154635DFD9}"/>
              </a:ext>
            </a:extLst>
          </p:cNvPr>
          <p:cNvSpPr/>
          <p:nvPr/>
        </p:nvSpPr>
        <p:spPr>
          <a:xfrm>
            <a:off x="123123" y="1167506"/>
            <a:ext cx="810703" cy="48991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vert="vert270" lIns="91440" tIns="45720" rIns="91440" bIns="45720" rtlCol="0" anchor="ctr"/>
          <a:lstStyle/>
          <a:p>
            <a:pPr algn="ctr"/>
            <a:r>
              <a:rPr lang="de-DE" err="1">
                <a:ea typeface="+mn-lt"/>
                <a:cs typeface="+mn-lt"/>
              </a:rPr>
              <a:t>CI Pipeline</a:t>
            </a:r>
            <a:endParaRPr lang="en-US" err="1"/>
          </a:p>
        </p:txBody>
      </p:sp>
      <p:pic>
        <p:nvPicPr>
          <p:cNvPr id="20" name="Grafik 4" descr="Ein Bild, das Text, Screenshot, Display, Software enthält.&#10;&#10;KI-generierte Inhalte können fehlerhaft sein.">
            <a:extLst>
              <a:ext uri="{FF2B5EF4-FFF2-40B4-BE49-F238E27FC236}">
                <a16:creationId xmlns:a16="http://schemas.microsoft.com/office/drawing/2014/main" id="{342E05C4-9EEA-5F74-A238-97BEEA3E99BD}"/>
              </a:ext>
            </a:extLst>
          </p:cNvPr>
          <p:cNvPicPr>
            <a:picLocks noChangeAspect="1"/>
          </p:cNvPicPr>
          <p:nvPr/>
        </p:nvPicPr>
        <p:blipFill>
          <a:blip r:embed="rId3"/>
          <a:srcRect l="49616"/>
          <a:stretch>
            <a:fillRect/>
          </a:stretch>
        </p:blipFill>
        <p:spPr>
          <a:xfrm>
            <a:off x="6680188" y="933199"/>
            <a:ext cx="5010561" cy="2203222"/>
          </a:xfrm>
          <a:prstGeom prst="roundRect">
            <a:avLst>
              <a:gd name="adj" fmla="val 6315"/>
            </a:avLst>
          </a:prstGeom>
        </p:spPr>
      </p:pic>
      <p:pic>
        <p:nvPicPr>
          <p:cNvPr id="22" name="Picture 21">
            <a:extLst>
              <a:ext uri="{FF2B5EF4-FFF2-40B4-BE49-F238E27FC236}">
                <a16:creationId xmlns:a16="http://schemas.microsoft.com/office/drawing/2014/main" id="{3552B577-EDE8-ED4B-F6A9-F48591920B71}"/>
              </a:ext>
            </a:extLst>
          </p:cNvPr>
          <p:cNvPicPr>
            <a:picLocks noChangeAspect="1"/>
          </p:cNvPicPr>
          <p:nvPr/>
        </p:nvPicPr>
        <p:blipFill>
          <a:blip r:embed="rId4"/>
          <a:stretch>
            <a:fillRect/>
          </a:stretch>
        </p:blipFill>
        <p:spPr>
          <a:xfrm>
            <a:off x="6680188" y="3300911"/>
            <a:ext cx="2399377" cy="2935501"/>
          </a:xfrm>
          <a:prstGeom prst="roundRect">
            <a:avLst>
              <a:gd name="adj" fmla="val 6993"/>
            </a:avLst>
          </a:prstGeom>
        </p:spPr>
      </p:pic>
      <p:pic>
        <p:nvPicPr>
          <p:cNvPr id="24" name="Picture 23">
            <a:extLst>
              <a:ext uri="{FF2B5EF4-FFF2-40B4-BE49-F238E27FC236}">
                <a16:creationId xmlns:a16="http://schemas.microsoft.com/office/drawing/2014/main" id="{51FA3806-7B5D-E686-6F30-0CF688711590}"/>
              </a:ext>
            </a:extLst>
          </p:cNvPr>
          <p:cNvPicPr>
            <a:picLocks noChangeAspect="1"/>
          </p:cNvPicPr>
          <p:nvPr/>
        </p:nvPicPr>
        <p:blipFill>
          <a:blip r:embed="rId5"/>
          <a:stretch>
            <a:fillRect/>
          </a:stretch>
        </p:blipFill>
        <p:spPr>
          <a:xfrm>
            <a:off x="9291876" y="3281919"/>
            <a:ext cx="2398873" cy="2954493"/>
          </a:xfrm>
          <a:prstGeom prst="roundRect">
            <a:avLst>
              <a:gd name="adj" fmla="val 4447"/>
            </a:avLst>
          </a:prstGeom>
        </p:spPr>
      </p:pic>
      <p:pic>
        <p:nvPicPr>
          <p:cNvPr id="48" name="Picture 47">
            <a:extLst>
              <a:ext uri="{FF2B5EF4-FFF2-40B4-BE49-F238E27FC236}">
                <a16:creationId xmlns:a16="http://schemas.microsoft.com/office/drawing/2014/main" id="{D796888F-723C-E81D-EBA9-B6E031EA7D66}"/>
              </a:ext>
            </a:extLst>
          </p:cNvPr>
          <p:cNvPicPr>
            <a:picLocks noChangeAspect="1"/>
          </p:cNvPicPr>
          <p:nvPr/>
        </p:nvPicPr>
        <p:blipFill>
          <a:blip r:embed="rId6"/>
          <a:stretch>
            <a:fillRect/>
          </a:stretch>
        </p:blipFill>
        <p:spPr>
          <a:xfrm>
            <a:off x="4092472" y="3281920"/>
            <a:ext cx="2398873" cy="2954493"/>
          </a:xfrm>
          <a:prstGeom prst="roundRect">
            <a:avLst>
              <a:gd name="adj" fmla="val 7064"/>
            </a:avLst>
          </a:prstGeom>
        </p:spPr>
      </p:pic>
    </p:spTree>
    <p:extLst>
      <p:ext uri="{BB962C8B-B14F-4D97-AF65-F5344CB8AC3E}">
        <p14:creationId xmlns:p14="http://schemas.microsoft.com/office/powerpoint/2010/main" val="9375225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anim calcmode="lin" valueType="num">
                                      <p:cBhvr>
                                        <p:cTn id="8" dur="500" fill="hold"/>
                                        <p:tgtEl>
                                          <p:spTgt spid="19"/>
                                        </p:tgtEl>
                                        <p:attrNameLst>
                                          <p:attrName>ppt_x</p:attrName>
                                        </p:attrNameLst>
                                      </p:cBhvr>
                                      <p:tavLst>
                                        <p:tav tm="0">
                                          <p:val>
                                            <p:strVal val="#ppt_x"/>
                                          </p:val>
                                        </p:tav>
                                        <p:tav tm="100000">
                                          <p:val>
                                            <p:strVal val="#ppt_x"/>
                                          </p:val>
                                        </p:tav>
                                      </p:tavLst>
                                    </p:anim>
                                    <p:anim calcmode="lin" valueType="num">
                                      <p:cBhvr>
                                        <p:cTn id="9" dur="5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1"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0-#ppt_h/2"/>
                                          </p:val>
                                        </p:tav>
                                        <p:tav tm="100000">
                                          <p:val>
                                            <p:strVal val="#ppt_y"/>
                                          </p:val>
                                        </p:tav>
                                      </p:tavLst>
                                    </p:anim>
                                  </p:childTnLst>
                                </p:cTn>
                              </p:par>
                            </p:childTnLst>
                          </p:cTn>
                        </p:par>
                        <p:par>
                          <p:cTn id="20" fill="hold">
                            <p:stCondLst>
                              <p:cond delay="1500"/>
                            </p:stCondLst>
                            <p:childTnLst>
                              <p:par>
                                <p:cTn id="21" presetID="2" presetClass="entr" presetSubtype="1"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0-#ppt_h/2"/>
                                          </p:val>
                                        </p:tav>
                                        <p:tav tm="100000">
                                          <p:val>
                                            <p:strVal val="#ppt_y"/>
                                          </p:val>
                                        </p:tav>
                                      </p:tavLst>
                                    </p:anim>
                                  </p:childTnLst>
                                </p:cTn>
                              </p:par>
                            </p:childTnLst>
                          </p:cTn>
                        </p:par>
                        <p:par>
                          <p:cTn id="25" fill="hold">
                            <p:stCondLst>
                              <p:cond delay="2000"/>
                            </p:stCondLst>
                            <p:childTnLst>
                              <p:par>
                                <p:cTn id="26" presetID="2" presetClass="entr" presetSubtype="1"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0-#ppt_h/2"/>
                                          </p:val>
                                        </p:tav>
                                        <p:tav tm="100000">
                                          <p:val>
                                            <p:strVal val="#ppt_y"/>
                                          </p:val>
                                        </p:tav>
                                      </p:tavLst>
                                    </p:anim>
                                  </p:childTnLst>
                                </p:cTn>
                              </p:par>
                            </p:childTnLst>
                          </p:cTn>
                        </p:par>
                        <p:par>
                          <p:cTn id="30" fill="hold">
                            <p:stCondLst>
                              <p:cond delay="2500"/>
                            </p:stCondLst>
                            <p:childTnLst>
                              <p:par>
                                <p:cTn id="31" presetID="2" presetClass="entr" presetSubtype="1"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0-#ppt_h/2"/>
                                          </p:val>
                                        </p:tav>
                                        <p:tav tm="100000">
                                          <p:val>
                                            <p:strVal val="#ppt_y"/>
                                          </p:val>
                                        </p:tav>
                                      </p:tavLst>
                                    </p:anim>
                                  </p:childTnLst>
                                </p:cTn>
                              </p:par>
                            </p:childTnLst>
                          </p:cTn>
                        </p:par>
                        <p:par>
                          <p:cTn id="35" fill="hold">
                            <p:stCondLst>
                              <p:cond delay="3000"/>
                            </p:stCondLst>
                            <p:childTnLst>
                              <p:par>
                                <p:cTn id="36" presetID="2" presetClass="entr" presetSubtype="1"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0-#ppt_h/2"/>
                                          </p:val>
                                        </p:tav>
                                        <p:tav tm="100000">
                                          <p:val>
                                            <p:strVal val="#ppt_y"/>
                                          </p:val>
                                        </p:tav>
                                      </p:tavLst>
                                    </p:anim>
                                  </p:childTnLst>
                                </p:cTn>
                              </p:par>
                            </p:childTnLst>
                          </p:cTn>
                        </p:par>
                        <p:par>
                          <p:cTn id="40" fill="hold">
                            <p:stCondLst>
                              <p:cond delay="3500"/>
                            </p:stCondLst>
                            <p:childTnLst>
                              <p:par>
                                <p:cTn id="41" presetID="2" presetClass="entr" presetSubtype="1"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p:tgtEl>
                                          <p:spTgt spid="5"/>
                                        </p:tgtEl>
                                      </p:cBhvr>
                                    </p:animEffect>
                                    <p:anim calcmode="lin" valueType="num">
                                      <p:cBhvr>
                                        <p:cTn id="50" dur="500" fill="hold"/>
                                        <p:tgtEl>
                                          <p:spTgt spid="5"/>
                                        </p:tgtEl>
                                        <p:attrNameLst>
                                          <p:attrName>ppt_x</p:attrName>
                                        </p:attrNameLst>
                                      </p:cBhvr>
                                      <p:tavLst>
                                        <p:tav tm="0">
                                          <p:val>
                                            <p:strVal val="#ppt_x"/>
                                          </p:val>
                                        </p:tav>
                                        <p:tav tm="100000">
                                          <p:val>
                                            <p:strVal val="#ppt_x"/>
                                          </p:val>
                                        </p:tav>
                                      </p:tavLst>
                                    </p:anim>
                                    <p:anim calcmode="lin" valueType="num">
                                      <p:cBhvr>
                                        <p:cTn id="51" dur="500" fill="hold"/>
                                        <p:tgtEl>
                                          <p:spTgt spid="5"/>
                                        </p:tgtEl>
                                        <p:attrNameLst>
                                          <p:attrName>ppt_y</p:attrName>
                                        </p:attrNameLst>
                                      </p:cBhvr>
                                      <p:tavLst>
                                        <p:tav tm="0">
                                          <p:val>
                                            <p:strVal val="#ppt_y-.1"/>
                                          </p:val>
                                        </p:tav>
                                        <p:tav tm="100000">
                                          <p:val>
                                            <p:strVal val="#ppt_y"/>
                                          </p:val>
                                        </p:tav>
                                      </p:tavLst>
                                    </p:anim>
                                  </p:childTnLst>
                                </p:cTn>
                              </p:par>
                            </p:childTnLst>
                          </p:cTn>
                        </p:par>
                        <p:par>
                          <p:cTn id="52" fill="hold">
                            <p:stCondLst>
                              <p:cond delay="500"/>
                            </p:stCondLst>
                            <p:childTnLst>
                              <p:par>
                                <p:cTn id="53" presetID="47"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anim calcmode="lin" valueType="num">
                                      <p:cBhvr>
                                        <p:cTn id="56" dur="500" fill="hold"/>
                                        <p:tgtEl>
                                          <p:spTgt spid="20"/>
                                        </p:tgtEl>
                                        <p:attrNameLst>
                                          <p:attrName>ppt_x</p:attrName>
                                        </p:attrNameLst>
                                      </p:cBhvr>
                                      <p:tavLst>
                                        <p:tav tm="0">
                                          <p:val>
                                            <p:strVal val="#ppt_x"/>
                                          </p:val>
                                        </p:tav>
                                        <p:tav tm="100000">
                                          <p:val>
                                            <p:strVal val="#ppt_x"/>
                                          </p:val>
                                        </p:tav>
                                      </p:tavLst>
                                    </p:anim>
                                    <p:anim calcmode="lin" valueType="num">
                                      <p:cBhvr>
                                        <p:cTn id="57" dur="500" fill="hold"/>
                                        <p:tgtEl>
                                          <p:spTgt spid="20"/>
                                        </p:tgtEl>
                                        <p:attrNameLst>
                                          <p:attrName>ppt_y</p:attrName>
                                        </p:attrNameLst>
                                      </p:cBhvr>
                                      <p:tavLst>
                                        <p:tav tm="0">
                                          <p:val>
                                            <p:strVal val="#ppt_y-.1"/>
                                          </p:val>
                                        </p:tav>
                                        <p:tav tm="100000">
                                          <p:val>
                                            <p:strVal val="#ppt_y"/>
                                          </p:val>
                                        </p:tav>
                                      </p:tavLst>
                                    </p:anim>
                                  </p:childTnLst>
                                </p:cTn>
                              </p:par>
                            </p:childTnLst>
                          </p:cTn>
                        </p:par>
                        <p:par>
                          <p:cTn id="58" fill="hold">
                            <p:stCondLst>
                              <p:cond delay="1000"/>
                            </p:stCondLst>
                            <p:childTnLst>
                              <p:par>
                                <p:cTn id="59" presetID="47" presetClass="entr" presetSubtype="0" fill="hold" nodeType="after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500"/>
                                        <p:tgtEl>
                                          <p:spTgt spid="48"/>
                                        </p:tgtEl>
                                      </p:cBhvr>
                                    </p:animEffect>
                                    <p:anim calcmode="lin" valueType="num">
                                      <p:cBhvr>
                                        <p:cTn id="62" dur="500" fill="hold"/>
                                        <p:tgtEl>
                                          <p:spTgt spid="48"/>
                                        </p:tgtEl>
                                        <p:attrNameLst>
                                          <p:attrName>ppt_x</p:attrName>
                                        </p:attrNameLst>
                                      </p:cBhvr>
                                      <p:tavLst>
                                        <p:tav tm="0">
                                          <p:val>
                                            <p:strVal val="#ppt_x"/>
                                          </p:val>
                                        </p:tav>
                                        <p:tav tm="100000">
                                          <p:val>
                                            <p:strVal val="#ppt_x"/>
                                          </p:val>
                                        </p:tav>
                                      </p:tavLst>
                                    </p:anim>
                                    <p:anim calcmode="lin" valueType="num">
                                      <p:cBhvr>
                                        <p:cTn id="63" dur="500" fill="hold"/>
                                        <p:tgtEl>
                                          <p:spTgt spid="48"/>
                                        </p:tgtEl>
                                        <p:attrNameLst>
                                          <p:attrName>ppt_y</p:attrName>
                                        </p:attrNameLst>
                                      </p:cBhvr>
                                      <p:tavLst>
                                        <p:tav tm="0">
                                          <p:val>
                                            <p:strVal val="#ppt_y-.1"/>
                                          </p:val>
                                        </p:tav>
                                        <p:tav tm="100000">
                                          <p:val>
                                            <p:strVal val="#ppt_y"/>
                                          </p:val>
                                        </p:tav>
                                      </p:tavLst>
                                    </p:anim>
                                  </p:childTnLst>
                                </p:cTn>
                              </p:par>
                            </p:childTnLst>
                          </p:cTn>
                        </p:par>
                        <p:par>
                          <p:cTn id="64" fill="hold">
                            <p:stCondLst>
                              <p:cond delay="1500"/>
                            </p:stCondLst>
                            <p:childTnLst>
                              <p:par>
                                <p:cTn id="65" presetID="47" presetClass="entr" presetSubtype="0"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anim calcmode="lin" valueType="num">
                                      <p:cBhvr>
                                        <p:cTn id="68" dur="500" fill="hold"/>
                                        <p:tgtEl>
                                          <p:spTgt spid="22"/>
                                        </p:tgtEl>
                                        <p:attrNameLst>
                                          <p:attrName>ppt_x</p:attrName>
                                        </p:attrNameLst>
                                      </p:cBhvr>
                                      <p:tavLst>
                                        <p:tav tm="0">
                                          <p:val>
                                            <p:strVal val="#ppt_x"/>
                                          </p:val>
                                        </p:tav>
                                        <p:tav tm="100000">
                                          <p:val>
                                            <p:strVal val="#ppt_x"/>
                                          </p:val>
                                        </p:tav>
                                      </p:tavLst>
                                    </p:anim>
                                    <p:anim calcmode="lin" valueType="num">
                                      <p:cBhvr>
                                        <p:cTn id="69" dur="500" fill="hold"/>
                                        <p:tgtEl>
                                          <p:spTgt spid="22"/>
                                        </p:tgtEl>
                                        <p:attrNameLst>
                                          <p:attrName>ppt_y</p:attrName>
                                        </p:attrNameLst>
                                      </p:cBhvr>
                                      <p:tavLst>
                                        <p:tav tm="0">
                                          <p:val>
                                            <p:strVal val="#ppt_y-.1"/>
                                          </p:val>
                                        </p:tav>
                                        <p:tav tm="100000">
                                          <p:val>
                                            <p:strVal val="#ppt_y"/>
                                          </p:val>
                                        </p:tav>
                                      </p:tavLst>
                                    </p:anim>
                                  </p:childTnLst>
                                </p:cTn>
                              </p:par>
                            </p:childTnLst>
                          </p:cTn>
                        </p:par>
                        <p:par>
                          <p:cTn id="70" fill="hold">
                            <p:stCondLst>
                              <p:cond delay="2000"/>
                            </p:stCondLst>
                            <p:childTnLst>
                              <p:par>
                                <p:cTn id="71" presetID="47" presetClass="entr" presetSubtype="0" fill="hold" nodeType="after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anim calcmode="lin" valueType="num">
                                      <p:cBhvr>
                                        <p:cTn id="74" dur="500" fill="hold"/>
                                        <p:tgtEl>
                                          <p:spTgt spid="24"/>
                                        </p:tgtEl>
                                        <p:attrNameLst>
                                          <p:attrName>ppt_x</p:attrName>
                                        </p:attrNameLst>
                                      </p:cBhvr>
                                      <p:tavLst>
                                        <p:tav tm="0">
                                          <p:val>
                                            <p:strVal val="#ppt_x"/>
                                          </p:val>
                                        </p:tav>
                                        <p:tav tm="100000">
                                          <p:val>
                                            <p:strVal val="#ppt_x"/>
                                          </p:val>
                                        </p:tav>
                                      </p:tavLst>
                                    </p:anim>
                                    <p:anim calcmode="lin" valueType="num">
                                      <p:cBhvr>
                                        <p:cTn id="75"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C9AC1252-6573-8341-2313-BD778C7718C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DDF73AA-2221-C83B-9C79-637C6994861F}"/>
              </a:ext>
            </a:extLst>
          </p:cNvPr>
          <p:cNvGrpSpPr/>
          <p:nvPr/>
        </p:nvGrpSpPr>
        <p:grpSpPr>
          <a:xfrm>
            <a:off x="343208" y="860672"/>
            <a:ext cx="1706838" cy="1706838"/>
            <a:chOff x="1431267" y="3429000"/>
            <a:chExt cx="1706838" cy="1706838"/>
          </a:xfrm>
        </p:grpSpPr>
        <p:pic>
          <p:nvPicPr>
            <p:cNvPr id="3" name="Picture 2">
              <a:extLst>
                <a:ext uri="{FF2B5EF4-FFF2-40B4-BE49-F238E27FC236}">
                  <a16:creationId xmlns:a16="http://schemas.microsoft.com/office/drawing/2014/main" id="{9A64E63C-0291-9AD5-6E70-64DD2373E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267" y="3429000"/>
              <a:ext cx="1706838" cy="1706838"/>
            </a:xfrm>
            <a:prstGeom prst="rect">
              <a:avLst/>
            </a:prstGeom>
          </p:spPr>
        </p:pic>
        <p:sp>
          <p:nvSpPr>
            <p:cNvPr id="4" name="TextBox 3">
              <a:extLst>
                <a:ext uri="{FF2B5EF4-FFF2-40B4-BE49-F238E27FC236}">
                  <a16:creationId xmlns:a16="http://schemas.microsoft.com/office/drawing/2014/main" id="{436C8013-531D-F28F-EA65-BF1AFB645829}"/>
                </a:ext>
              </a:extLst>
            </p:cNvPr>
            <p:cNvSpPr txBox="1"/>
            <p:nvPr/>
          </p:nvSpPr>
          <p:spPr>
            <a:xfrm>
              <a:off x="1865251" y="3931544"/>
              <a:ext cx="955711" cy="646331"/>
            </a:xfrm>
            <a:prstGeom prst="rect">
              <a:avLst/>
            </a:prstGeom>
            <a:noFill/>
          </p:spPr>
          <p:txBody>
            <a:bodyPr wrap="none" rtlCol="0">
              <a:spAutoFit/>
            </a:bodyPr>
            <a:lstStyle/>
            <a:p>
              <a:r>
                <a:rPr lang="en-US"/>
                <a:t>Fabian</a:t>
              </a:r>
            </a:p>
            <a:p>
              <a:r>
                <a:rPr lang="en-US"/>
                <a:t>Reinelt</a:t>
              </a:r>
            </a:p>
          </p:txBody>
        </p:sp>
      </p:grpSp>
      <p:grpSp>
        <p:nvGrpSpPr>
          <p:cNvPr id="6" name="Group 5">
            <a:extLst>
              <a:ext uri="{FF2B5EF4-FFF2-40B4-BE49-F238E27FC236}">
                <a16:creationId xmlns:a16="http://schemas.microsoft.com/office/drawing/2014/main" id="{CEEB5AF5-951B-54E6-0AB2-68468B1CB1D6}"/>
              </a:ext>
            </a:extLst>
          </p:cNvPr>
          <p:cNvGrpSpPr/>
          <p:nvPr/>
        </p:nvGrpSpPr>
        <p:grpSpPr>
          <a:xfrm>
            <a:off x="343208" y="2817198"/>
            <a:ext cx="1706838" cy="1706838"/>
            <a:chOff x="3467301" y="3429000"/>
            <a:chExt cx="1706838" cy="1706838"/>
          </a:xfrm>
        </p:grpSpPr>
        <p:pic>
          <p:nvPicPr>
            <p:cNvPr id="7" name="Picture 6">
              <a:extLst>
                <a:ext uri="{FF2B5EF4-FFF2-40B4-BE49-F238E27FC236}">
                  <a16:creationId xmlns:a16="http://schemas.microsoft.com/office/drawing/2014/main" id="{79660B64-AE95-8CC2-1B1D-DB1A098CFB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7301" y="3429000"/>
              <a:ext cx="1706838" cy="1706838"/>
            </a:xfrm>
            <a:prstGeom prst="rect">
              <a:avLst/>
            </a:prstGeom>
          </p:spPr>
        </p:pic>
        <p:sp>
          <p:nvSpPr>
            <p:cNvPr id="8" name="TextBox 7">
              <a:extLst>
                <a:ext uri="{FF2B5EF4-FFF2-40B4-BE49-F238E27FC236}">
                  <a16:creationId xmlns:a16="http://schemas.microsoft.com/office/drawing/2014/main" id="{91F1F359-D972-5735-A56E-B3EA58AE9288}"/>
                </a:ext>
              </a:extLst>
            </p:cNvPr>
            <p:cNvSpPr txBox="1"/>
            <p:nvPr/>
          </p:nvSpPr>
          <p:spPr>
            <a:xfrm>
              <a:off x="3742806" y="3783808"/>
              <a:ext cx="1269899" cy="923330"/>
            </a:xfrm>
            <a:prstGeom prst="rect">
              <a:avLst/>
            </a:prstGeom>
            <a:noFill/>
          </p:spPr>
          <p:txBody>
            <a:bodyPr wrap="none" rtlCol="0">
              <a:spAutoFit/>
            </a:bodyPr>
            <a:lstStyle/>
            <a:p>
              <a:pPr algn="ctr"/>
              <a:r>
                <a:rPr lang="en-US"/>
                <a:t>Leonardo</a:t>
              </a:r>
            </a:p>
            <a:p>
              <a:pPr algn="ctr"/>
              <a:r>
                <a:rPr lang="en-US"/>
                <a:t>Kharraz</a:t>
              </a:r>
            </a:p>
            <a:p>
              <a:pPr algn="ctr"/>
              <a:r>
                <a:rPr lang="en-US"/>
                <a:t>Tavakol</a:t>
              </a:r>
            </a:p>
          </p:txBody>
        </p:sp>
      </p:grpSp>
      <p:grpSp>
        <p:nvGrpSpPr>
          <p:cNvPr id="10" name="Group 9">
            <a:extLst>
              <a:ext uri="{FF2B5EF4-FFF2-40B4-BE49-F238E27FC236}">
                <a16:creationId xmlns:a16="http://schemas.microsoft.com/office/drawing/2014/main" id="{1A5734DB-0D85-F95E-03B7-EE1B25E16AB3}"/>
              </a:ext>
            </a:extLst>
          </p:cNvPr>
          <p:cNvGrpSpPr/>
          <p:nvPr/>
        </p:nvGrpSpPr>
        <p:grpSpPr>
          <a:xfrm>
            <a:off x="343207" y="4773724"/>
            <a:ext cx="1706839" cy="1706839"/>
            <a:chOff x="5492635" y="3428999"/>
            <a:chExt cx="1706839" cy="1706839"/>
          </a:xfrm>
        </p:grpSpPr>
        <p:pic>
          <p:nvPicPr>
            <p:cNvPr id="12" name="Picture 11">
              <a:extLst>
                <a:ext uri="{FF2B5EF4-FFF2-40B4-BE49-F238E27FC236}">
                  <a16:creationId xmlns:a16="http://schemas.microsoft.com/office/drawing/2014/main" id="{E89B5611-3A0D-1078-2AC9-38BF5414E3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2635" y="3428999"/>
              <a:ext cx="1706839" cy="1706839"/>
            </a:xfrm>
            <a:prstGeom prst="rect">
              <a:avLst/>
            </a:prstGeom>
          </p:spPr>
        </p:pic>
        <p:sp>
          <p:nvSpPr>
            <p:cNvPr id="14" name="TextBox 13">
              <a:extLst>
                <a:ext uri="{FF2B5EF4-FFF2-40B4-BE49-F238E27FC236}">
                  <a16:creationId xmlns:a16="http://schemas.microsoft.com/office/drawing/2014/main" id="{76536BDC-B8DB-E2B1-DF10-D99ACC336BBC}"/>
                </a:ext>
              </a:extLst>
            </p:cNvPr>
            <p:cNvSpPr txBox="1"/>
            <p:nvPr/>
          </p:nvSpPr>
          <p:spPr>
            <a:xfrm>
              <a:off x="5941840" y="3758775"/>
              <a:ext cx="936475" cy="923330"/>
            </a:xfrm>
            <a:prstGeom prst="rect">
              <a:avLst/>
            </a:prstGeom>
            <a:noFill/>
          </p:spPr>
          <p:txBody>
            <a:bodyPr wrap="none" rtlCol="0">
              <a:spAutoFit/>
            </a:bodyPr>
            <a:lstStyle/>
            <a:p>
              <a:pPr algn="ctr"/>
              <a:r>
                <a:rPr lang="en-US"/>
                <a:t>Julia</a:t>
              </a:r>
            </a:p>
            <a:p>
              <a:pPr algn="ctr"/>
              <a:r>
                <a:rPr lang="en-US"/>
                <a:t>Ihren- </a:t>
              </a:r>
            </a:p>
            <a:p>
              <a:pPr algn="ctr"/>
              <a:r>
                <a:rPr lang="en-US"/>
                <a:t>berger</a:t>
              </a:r>
            </a:p>
          </p:txBody>
        </p:sp>
      </p:grpSp>
      <p:grpSp>
        <p:nvGrpSpPr>
          <p:cNvPr id="15" name="Group 14">
            <a:extLst>
              <a:ext uri="{FF2B5EF4-FFF2-40B4-BE49-F238E27FC236}">
                <a16:creationId xmlns:a16="http://schemas.microsoft.com/office/drawing/2014/main" id="{F2DB7872-D6B1-384C-7500-3DE4BA9B6587}"/>
              </a:ext>
            </a:extLst>
          </p:cNvPr>
          <p:cNvGrpSpPr/>
          <p:nvPr/>
        </p:nvGrpSpPr>
        <p:grpSpPr>
          <a:xfrm>
            <a:off x="148493" y="161965"/>
            <a:ext cx="2376993" cy="517238"/>
            <a:chOff x="100869" y="175489"/>
            <a:chExt cx="2498131" cy="609604"/>
          </a:xfrm>
        </p:grpSpPr>
        <p:sp>
          <p:nvSpPr>
            <p:cNvPr id="16" name="Rectangle: Rounded Corners 15">
              <a:extLst>
                <a:ext uri="{FF2B5EF4-FFF2-40B4-BE49-F238E27FC236}">
                  <a16:creationId xmlns:a16="http://schemas.microsoft.com/office/drawing/2014/main" id="{F2F22F03-5E20-2097-B05B-CBC092EE999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5037A3A-023B-D8AE-4656-1D6BECBFBDF6}"/>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B7C7416C-FE6E-325D-0D76-97810C3C5369}"/>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Post-Mortem</a:t>
              </a:r>
            </a:p>
          </p:txBody>
        </p:sp>
      </p:grpSp>
      <p:sp>
        <p:nvSpPr>
          <p:cNvPr id="20" name="Rectangle: Rounded Corners 19">
            <a:extLst>
              <a:ext uri="{FF2B5EF4-FFF2-40B4-BE49-F238E27FC236}">
                <a16:creationId xmlns:a16="http://schemas.microsoft.com/office/drawing/2014/main" id="{9DA53F26-D3C7-83D7-EEF7-D98E9ECF2F83}"/>
              </a:ext>
            </a:extLst>
          </p:cNvPr>
          <p:cNvSpPr/>
          <p:nvPr/>
        </p:nvSpPr>
        <p:spPr>
          <a:xfrm>
            <a:off x="3022908" y="4792609"/>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285750" indent="-285750">
              <a:buFont typeface="Arial" panose="020B0604020202020204" pitchFamily="34" charset="0"/>
              <a:buChar char="•"/>
            </a:pPr>
            <a:r>
              <a:rPr lang="en-US"/>
              <a:t>sehr viel zu Frontend Development gelernt (React, Vite, Typescript)</a:t>
            </a:r>
          </a:p>
          <a:p>
            <a:pPr marL="285750" indent="-285750">
              <a:buFont typeface="Arial" panose="020B0604020202020204" pitchFamily="34" charset="0"/>
              <a:buChar char="•"/>
            </a:pPr>
            <a:r>
              <a:rPr lang="en-US"/>
              <a:t>Erfahrung mit Testing Tools</a:t>
            </a:r>
          </a:p>
        </p:txBody>
      </p:sp>
      <p:sp>
        <p:nvSpPr>
          <p:cNvPr id="24" name="Rectangle: Rounded Corners 23">
            <a:extLst>
              <a:ext uri="{FF2B5EF4-FFF2-40B4-BE49-F238E27FC236}">
                <a16:creationId xmlns:a16="http://schemas.microsoft.com/office/drawing/2014/main" id="{126D43CF-4225-6D6A-8355-D607E82A7AB5}"/>
              </a:ext>
            </a:extLst>
          </p:cNvPr>
          <p:cNvSpPr/>
          <p:nvPr/>
        </p:nvSpPr>
        <p:spPr>
          <a:xfrm>
            <a:off x="3022908" y="2861115"/>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t>Python </a:t>
            </a:r>
            <a:r>
              <a:rPr lang="en-US" err="1"/>
              <a:t>Programmierung</a:t>
            </a:r>
            <a:r>
              <a:rPr lang="en-US"/>
              <a:t> und </a:t>
            </a:r>
            <a:r>
              <a:rPr lang="en-US" err="1"/>
              <a:t>Aufsetzen</a:t>
            </a:r>
            <a:r>
              <a:rPr lang="en-US"/>
              <a:t> </a:t>
            </a:r>
            <a:r>
              <a:rPr lang="en-US" err="1"/>
              <a:t>eines</a:t>
            </a:r>
            <a:r>
              <a:rPr lang="en-US"/>
              <a:t> Backends</a:t>
            </a:r>
          </a:p>
          <a:p>
            <a:pPr marL="285750" indent="-285750">
              <a:buFont typeface="Arial" panose="020B0604020202020204" pitchFamily="34" charset="0"/>
              <a:buChar char="•"/>
            </a:pPr>
            <a:r>
              <a:rPr lang="en-US"/>
              <a:t>Integration-Tests &amp; </a:t>
            </a:r>
            <a:r>
              <a:rPr lang="en-US" err="1"/>
              <a:t>ausfallsicherere</a:t>
            </a:r>
            <a:r>
              <a:rPr lang="en-US"/>
              <a:t> </a:t>
            </a:r>
            <a:r>
              <a:rPr lang="en-US" err="1"/>
              <a:t>Anbindung</a:t>
            </a:r>
            <a:r>
              <a:rPr lang="en-US"/>
              <a:t> </a:t>
            </a:r>
            <a:r>
              <a:rPr lang="en-US" err="1"/>
              <a:t>einer</a:t>
            </a:r>
            <a:r>
              <a:rPr lang="en-US"/>
              <a:t> </a:t>
            </a:r>
            <a:r>
              <a:rPr lang="en-US" err="1"/>
              <a:t>externen</a:t>
            </a:r>
            <a:r>
              <a:rPr lang="en-US"/>
              <a:t> API</a:t>
            </a:r>
          </a:p>
        </p:txBody>
      </p:sp>
      <p:sp>
        <p:nvSpPr>
          <p:cNvPr id="25" name="Rectangle: Rounded Corners 24">
            <a:extLst>
              <a:ext uri="{FF2B5EF4-FFF2-40B4-BE49-F238E27FC236}">
                <a16:creationId xmlns:a16="http://schemas.microsoft.com/office/drawing/2014/main" id="{639D9A85-D7C7-BE1D-C2F4-7D07D75010AA}"/>
              </a:ext>
            </a:extLst>
          </p:cNvPr>
          <p:cNvSpPr/>
          <p:nvPr/>
        </p:nvSpPr>
        <p:spPr>
          <a:xfrm>
            <a:off x="3022908" y="913825"/>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err="1"/>
              <a:t>Umfassende</a:t>
            </a:r>
            <a:r>
              <a:rPr lang="en-US"/>
              <a:t> </a:t>
            </a:r>
            <a:r>
              <a:rPr lang="en-US" err="1"/>
              <a:t>Teststrategie</a:t>
            </a:r>
            <a:r>
              <a:rPr lang="en-US"/>
              <a:t> </a:t>
            </a:r>
            <a:r>
              <a:rPr lang="en-US" err="1"/>
              <a:t>selbst</a:t>
            </a:r>
            <a:r>
              <a:rPr lang="en-US"/>
              <a:t> </a:t>
            </a:r>
            <a:r>
              <a:rPr lang="en-US" err="1"/>
              <a:t>umgesetzt</a:t>
            </a:r>
            <a:endParaRPr lang="de-DE" err="1"/>
          </a:p>
          <a:p>
            <a:pPr marL="285750" indent="-285750">
              <a:buFont typeface="Arial" panose="020B0604020202020204" pitchFamily="34" charset="0"/>
              <a:buChar char="•"/>
            </a:pPr>
            <a:r>
              <a:rPr lang="en-US" err="1"/>
              <a:t>Erfahrung</a:t>
            </a:r>
            <a:r>
              <a:rPr lang="en-US"/>
              <a:t> </a:t>
            </a:r>
            <a:r>
              <a:rPr lang="en-US" err="1"/>
              <a:t>mit</a:t>
            </a:r>
            <a:r>
              <a:rPr lang="en-US"/>
              <a:t> Projekt-Setup und Tool-Integration </a:t>
            </a:r>
            <a:r>
              <a:rPr lang="en-US" err="1"/>
              <a:t>gesammelt</a:t>
            </a:r>
          </a:p>
        </p:txBody>
      </p:sp>
    </p:spTree>
    <p:extLst>
      <p:ext uri="{BB962C8B-B14F-4D97-AF65-F5344CB8AC3E}">
        <p14:creationId xmlns:p14="http://schemas.microsoft.com/office/powerpoint/2010/main" val="2900159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B7EC46D7-460E-49A9-EAE5-5AD992EF0B9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D468AB3-6FE2-00AE-9111-AB3801E1EDA8}"/>
              </a:ext>
            </a:extLst>
          </p:cNvPr>
          <p:cNvSpPr/>
          <p:nvPr/>
        </p:nvSpPr>
        <p:spPr>
          <a:xfrm>
            <a:off x="251011" y="1039906"/>
            <a:ext cx="11689977" cy="5334000"/>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B7FC4F3-683F-21ED-FF15-2B8F27FA792F}"/>
              </a:ext>
            </a:extLst>
          </p:cNvPr>
          <p:cNvSpPr txBox="1"/>
          <p:nvPr/>
        </p:nvSpPr>
        <p:spPr>
          <a:xfrm>
            <a:off x="641926" y="1567859"/>
            <a:ext cx="10908145" cy="427809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a:t>Character Selection: </a:t>
            </a:r>
            <a:r>
              <a:rPr lang="en-US" sz="1600">
                <a:hlinkClick r:id="rId3"/>
              </a:rPr>
              <a:t>https://interfaceingame.com/screenshots/overwatch-2-character-selection/</a:t>
            </a:r>
            <a:endParaRPr lang="en-US" sz="1600"/>
          </a:p>
          <a:p>
            <a:pPr marL="285750" indent="-285750">
              <a:buFont typeface="Arial" panose="020B0604020202020204" pitchFamily="34" charset="0"/>
              <a:buChar char="•"/>
            </a:pPr>
            <a:r>
              <a:rPr lang="en-US" sz="1600"/>
              <a:t>King’s Row Screencap: </a:t>
            </a:r>
            <a:r>
              <a:rPr lang="en-US" sz="1600">
                <a:hlinkClick r:id="rId4"/>
              </a:rPr>
              <a:t>https://overwatch.fandom.com/wiki/King%27s_Row</a:t>
            </a:r>
            <a:endParaRPr lang="en-US" sz="1600"/>
          </a:p>
          <a:p>
            <a:pPr marL="285750" indent="-285750">
              <a:buFont typeface="Arial" panose="020B0604020202020204" pitchFamily="34" charset="0"/>
              <a:buChar char="•"/>
            </a:pPr>
            <a:r>
              <a:rPr lang="en-US" sz="1600"/>
              <a:t>Mizuki Overview: </a:t>
            </a:r>
            <a:r>
              <a:rPr lang="en-US" sz="1600">
                <a:hlinkClick r:id="rId5"/>
              </a:rPr>
              <a:t>https://overwatch.fandom.com/wiki/Mizuki</a:t>
            </a:r>
            <a:endParaRPr lang="en-US" sz="1600"/>
          </a:p>
          <a:p>
            <a:pPr marL="285750" indent="-285750">
              <a:buFont typeface="Arial" panose="020B0604020202020204" pitchFamily="34" charset="0"/>
              <a:buChar char="•"/>
            </a:pPr>
            <a:r>
              <a:rPr lang="en-US" sz="1600"/>
              <a:t>Title Splash Art: </a:t>
            </a:r>
            <a:r>
              <a:rPr lang="en-US" sz="1600">
                <a:hlinkClick r:id="rId6"/>
              </a:rPr>
              <a:t>https://esports.gg/news/overwatch/overwatch-conquest-event-grants-over-90-loot-boxes/</a:t>
            </a:r>
            <a:endParaRPr lang="en-US" sz="1600"/>
          </a:p>
          <a:p>
            <a:pPr marL="285750" indent="-285750">
              <a:buFont typeface="Arial" panose="020B0604020202020204" pitchFamily="34" charset="0"/>
              <a:buChar char="•"/>
            </a:pPr>
            <a:r>
              <a:rPr lang="en-US" sz="1600"/>
              <a:t>Team Overview: </a:t>
            </a:r>
            <a:r>
              <a:rPr lang="en-US" sz="1600">
                <a:hlinkClick r:id="rId7"/>
              </a:rPr>
              <a:t>https://overwatch.blizzard.com/en-gb/news/23857518/initializing-systems-updating-competitive-play-for-overwatch-2/</a:t>
            </a:r>
            <a:endParaRPr lang="en-US" sz="1600"/>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Django Logo: </a:t>
            </a:r>
            <a:r>
              <a:rPr lang="en-US" sz="1600">
                <a:hlinkClick r:id="rId8"/>
              </a:rPr>
              <a:t>https://www.svgrepo.com/svg/353657/django-icon</a:t>
            </a:r>
            <a:endParaRPr lang="en-US" sz="1600"/>
          </a:p>
          <a:p>
            <a:pPr marL="285750" indent="-285750">
              <a:buFont typeface="Arial" panose="020B0604020202020204" pitchFamily="34" charset="0"/>
              <a:buChar char="•"/>
            </a:pPr>
            <a:r>
              <a:rPr lang="en-US" sz="1600"/>
              <a:t>Docker Logo: </a:t>
            </a:r>
            <a:r>
              <a:rPr lang="en-US" sz="1600">
                <a:hlinkClick r:id="rId9"/>
              </a:rPr>
              <a:t>https://techicons.dev/icons/docker</a:t>
            </a:r>
            <a:endParaRPr lang="en-US" sz="1600"/>
          </a:p>
          <a:p>
            <a:pPr marL="285750" indent="-285750">
              <a:buFont typeface="Arial" panose="020B0604020202020204" pitchFamily="34" charset="0"/>
              <a:buChar char="•"/>
            </a:pPr>
            <a:r>
              <a:rPr lang="en-US" sz="1600"/>
              <a:t>Playwright Logo: </a:t>
            </a:r>
            <a:r>
              <a:rPr lang="en-US" sz="1600">
                <a:hlinkClick r:id="rId10"/>
              </a:rPr>
              <a:t>https://techicons.dev/icons/playwright</a:t>
            </a:r>
            <a:endParaRPr lang="en-US" sz="1600"/>
          </a:p>
          <a:p>
            <a:pPr marL="285750" indent="-285750">
              <a:buFont typeface="Arial" panose="020B0604020202020204" pitchFamily="34" charset="0"/>
              <a:buChar char="•"/>
            </a:pPr>
            <a:r>
              <a:rPr lang="en-US" sz="1600"/>
              <a:t>PostgreSQL Logo: </a:t>
            </a:r>
            <a:r>
              <a:rPr lang="en-US" sz="1600">
                <a:hlinkClick r:id="rId11"/>
              </a:rPr>
              <a:t>https://techicons.dev/icons/postgresql</a:t>
            </a:r>
            <a:endParaRPr lang="en-US" sz="1600"/>
          </a:p>
          <a:p>
            <a:pPr marL="285750" indent="-285750">
              <a:buFont typeface="Arial" panose="020B0604020202020204" pitchFamily="34" charset="0"/>
              <a:buChar char="•"/>
            </a:pPr>
            <a:r>
              <a:rPr lang="en-US" sz="1600"/>
              <a:t>Python Logo: </a:t>
            </a:r>
            <a:r>
              <a:rPr lang="en-US" sz="1600">
                <a:hlinkClick r:id="rId12"/>
              </a:rPr>
              <a:t>https://techicons.dev/icons/python</a:t>
            </a:r>
            <a:endParaRPr lang="en-US" sz="1600"/>
          </a:p>
          <a:p>
            <a:pPr marL="285750" indent="-285750">
              <a:buFont typeface="Arial" panose="020B0604020202020204" pitchFamily="34" charset="0"/>
              <a:buChar char="•"/>
            </a:pPr>
            <a:r>
              <a:rPr lang="en-US" sz="1600"/>
              <a:t>React Logo: </a:t>
            </a:r>
            <a:r>
              <a:rPr lang="en-US" sz="1600">
                <a:hlinkClick r:id="rId13"/>
              </a:rPr>
              <a:t>https://techicons.dev/icons/react</a:t>
            </a:r>
            <a:endParaRPr lang="en-US" sz="1600"/>
          </a:p>
          <a:p>
            <a:pPr marL="285750" indent="-285750">
              <a:buFont typeface="Arial" panose="020B0604020202020204" pitchFamily="34" charset="0"/>
              <a:buChar char="•"/>
            </a:pPr>
            <a:r>
              <a:rPr lang="en-US" sz="1600"/>
              <a:t>SonarQube Logo: </a:t>
            </a:r>
            <a:r>
              <a:rPr lang="en-US" sz="1600">
                <a:hlinkClick r:id="rId14"/>
              </a:rPr>
              <a:t>https://techicons.dev/icons/sonarqube</a:t>
            </a:r>
            <a:endParaRPr lang="en-US" sz="1600"/>
          </a:p>
          <a:p>
            <a:pPr marL="285750" indent="-285750">
              <a:buFont typeface="Arial" panose="020B0604020202020204" pitchFamily="34" charset="0"/>
              <a:buChar char="•"/>
            </a:pPr>
            <a:r>
              <a:rPr lang="en-US" sz="1600"/>
              <a:t>SonarQube Logo: </a:t>
            </a:r>
            <a:r>
              <a:rPr lang="en-US" sz="1600">
                <a:hlinkClick r:id="rId14"/>
              </a:rPr>
              <a:t>https://techicons.dev/icons/sonarqube</a:t>
            </a:r>
            <a:endParaRPr lang="en-US" sz="1600"/>
          </a:p>
          <a:p>
            <a:pPr marL="285750" indent="-285750">
              <a:buFont typeface="Arial" panose="020B0604020202020204" pitchFamily="34" charset="0"/>
              <a:buChar char="•"/>
            </a:pPr>
            <a:r>
              <a:rPr lang="en-US" sz="1600"/>
              <a:t>Typescript Logo: </a:t>
            </a:r>
            <a:r>
              <a:rPr lang="en-US" sz="1600">
                <a:hlinkClick r:id="rId15"/>
              </a:rPr>
              <a:t>https://techicons.dev/icons/typescript</a:t>
            </a:r>
            <a:endParaRPr lang="en-US" sz="1600"/>
          </a:p>
          <a:p>
            <a:pPr marL="285750" indent="-285750">
              <a:buFont typeface="Arial" panose="020B0604020202020204" pitchFamily="34" charset="0"/>
              <a:buChar char="•"/>
            </a:pPr>
            <a:r>
              <a:rPr lang="en-US" sz="1600" err="1"/>
              <a:t>Vitest</a:t>
            </a:r>
            <a:r>
              <a:rPr lang="en-US" sz="1600"/>
              <a:t> Logo: </a:t>
            </a:r>
            <a:r>
              <a:rPr lang="en-US" sz="1600">
                <a:hlinkClick r:id="rId16"/>
              </a:rPr>
              <a:t>https://www.streamlinehq.com/icons/download/vitest--31103</a:t>
            </a:r>
            <a:endParaRPr lang="en-US" sz="1600"/>
          </a:p>
        </p:txBody>
      </p:sp>
      <p:grpSp>
        <p:nvGrpSpPr>
          <p:cNvPr id="5" name="Group 4">
            <a:extLst>
              <a:ext uri="{FF2B5EF4-FFF2-40B4-BE49-F238E27FC236}">
                <a16:creationId xmlns:a16="http://schemas.microsoft.com/office/drawing/2014/main" id="{77435E6E-3E88-5B64-DAFB-26FA35E28D3C}"/>
              </a:ext>
            </a:extLst>
          </p:cNvPr>
          <p:cNvGrpSpPr/>
          <p:nvPr/>
        </p:nvGrpSpPr>
        <p:grpSpPr>
          <a:xfrm>
            <a:off x="270963" y="282263"/>
            <a:ext cx="3003742" cy="510504"/>
            <a:chOff x="100869" y="175489"/>
            <a:chExt cx="2498131" cy="609604"/>
          </a:xfrm>
        </p:grpSpPr>
        <p:sp>
          <p:nvSpPr>
            <p:cNvPr id="6" name="Rectangle: Rounded Corners 5">
              <a:extLst>
                <a:ext uri="{FF2B5EF4-FFF2-40B4-BE49-F238E27FC236}">
                  <a16:creationId xmlns:a16="http://schemas.microsoft.com/office/drawing/2014/main" id="{A1A5710D-A353-AF25-16AD-86C152947429}"/>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59FF7C0-DEA4-C370-907E-552B867AD4FE}"/>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6A545313-CDD3-F46E-94D0-8DF41C1EA488}"/>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Image Sources</a:t>
              </a:r>
            </a:p>
          </p:txBody>
        </p:sp>
      </p:grpSp>
    </p:spTree>
    <p:extLst>
      <p:ext uri="{BB962C8B-B14F-4D97-AF65-F5344CB8AC3E}">
        <p14:creationId xmlns:p14="http://schemas.microsoft.com/office/powerpoint/2010/main" val="418581314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C77BD-68A5-0E5E-F84E-C8503C7486C0}"/>
            </a:ext>
          </a:extLst>
        </p:cNvPr>
        <p:cNvGrpSpPr/>
        <p:nvPr/>
      </p:nvGrpSpPr>
      <p:grpSpPr>
        <a:xfrm>
          <a:off x="0" y="0"/>
          <a:ext cx="0" cy="0"/>
          <a:chOff x="0" y="0"/>
          <a:chExt cx="0" cy="0"/>
        </a:xfrm>
      </p:grpSpPr>
      <p:pic>
        <p:nvPicPr>
          <p:cNvPr id="27" name="Picture 26" descr="Overwatch: Jetzt auf Xbox erhältlich | Xbox">
            <a:extLst>
              <a:ext uri="{FF2B5EF4-FFF2-40B4-BE49-F238E27FC236}">
                <a16:creationId xmlns:a16="http://schemas.microsoft.com/office/drawing/2014/main" id="{87B17662-245E-74E3-0282-7671B25E713D}"/>
              </a:ext>
            </a:extLst>
          </p:cNvPr>
          <p:cNvPicPr>
            <a:picLocks noGrp="1" noRot="1" noChangeAspect="1" noMove="1" noResize="1" noEditPoints="1" noAdjustHandles="1" noChangeArrowheads="1" noChangeShapeType="1" noCrop="1"/>
          </p:cNvPicPr>
          <p:nvPr/>
        </p:nvPicPr>
        <p:blipFill>
          <a:blip r:embed="rId2"/>
          <a:srcRect l="17236" t="21618" r="16308" b="11927"/>
          <a:stretch>
            <a:fillRect/>
          </a:stretch>
        </p:blipFill>
        <p:spPr>
          <a:xfrm>
            <a:off x="0" y="-1"/>
            <a:ext cx="12192000" cy="6858001"/>
          </a:xfrm>
          <a:prstGeom prst="rect">
            <a:avLst/>
          </a:prstGeom>
        </p:spPr>
      </p:pic>
      <p:grpSp>
        <p:nvGrpSpPr>
          <p:cNvPr id="2" name="Group 1">
            <a:extLst>
              <a:ext uri="{FF2B5EF4-FFF2-40B4-BE49-F238E27FC236}">
                <a16:creationId xmlns:a16="http://schemas.microsoft.com/office/drawing/2014/main" id="{EF73669A-01EF-BE1C-46A0-B2D1482D57E4}"/>
              </a:ext>
            </a:extLst>
          </p:cNvPr>
          <p:cNvGrpSpPr/>
          <p:nvPr/>
        </p:nvGrpSpPr>
        <p:grpSpPr>
          <a:xfrm>
            <a:off x="2988613" y="1719626"/>
            <a:ext cx="6214773" cy="3418746"/>
            <a:chOff x="2918404" y="1468312"/>
            <a:chExt cx="6214773" cy="3418746"/>
          </a:xfrm>
        </p:grpSpPr>
        <p:sp>
          <p:nvSpPr>
            <p:cNvPr id="29" name="Rectangle: Rounded Corners 28">
              <a:extLst>
                <a:ext uri="{FF2B5EF4-FFF2-40B4-BE49-F238E27FC236}">
                  <a16:creationId xmlns:a16="http://schemas.microsoft.com/office/drawing/2014/main" id="{63C7C6B6-CDBF-CB6F-D30F-E99C90827BA3}"/>
                </a:ext>
              </a:extLst>
            </p:cNvPr>
            <p:cNvSpPr/>
            <p:nvPr/>
          </p:nvSpPr>
          <p:spPr>
            <a:xfrm>
              <a:off x="2918404" y="1468312"/>
              <a:ext cx="5997718" cy="3201692"/>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9FFF901B-51AD-C899-D242-AB64F280D4FB}"/>
                </a:ext>
              </a:extLst>
            </p:cNvPr>
            <p:cNvSpPr/>
            <p:nvPr/>
          </p:nvSpPr>
          <p:spPr>
            <a:xfrm>
              <a:off x="3135459" y="1685366"/>
              <a:ext cx="5997718" cy="3201692"/>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7FB68E37-100A-BB09-4634-89213CF3D63B}"/>
                </a:ext>
              </a:extLst>
            </p:cNvPr>
            <p:cNvSpPr/>
            <p:nvPr/>
          </p:nvSpPr>
          <p:spPr>
            <a:xfrm>
              <a:off x="3038475" y="1588382"/>
              <a:ext cx="5997718" cy="3201692"/>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6D013E-D973-052B-3D17-04289B0EE3EB}"/>
                </a:ext>
              </a:extLst>
            </p:cNvPr>
            <p:cNvSpPr txBox="1">
              <a:spLocks/>
            </p:cNvSpPr>
            <p:nvPr/>
          </p:nvSpPr>
          <p:spPr>
            <a:xfrm>
              <a:off x="3294353" y="3919303"/>
              <a:ext cx="5603293" cy="530521"/>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Cascadia Code" panose="020B0609020000020004" pitchFamily="49" charset="0"/>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Cascadia Code" panose="020B0609020000020004" pitchFamily="49" charset="0"/>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Cascadia Code" panose="020B0609020000020004" pitchFamily="49" charset="0"/>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algn="ctr"/>
              <a:r>
                <a:rPr lang="en-US" sz="2400"/>
                <a:t>Thanks for listening!</a:t>
              </a:r>
            </a:p>
          </p:txBody>
        </p:sp>
        <p:grpSp>
          <p:nvGrpSpPr>
            <p:cNvPr id="5" name="Group 4">
              <a:extLst>
                <a:ext uri="{FF2B5EF4-FFF2-40B4-BE49-F238E27FC236}">
                  <a16:creationId xmlns:a16="http://schemas.microsoft.com/office/drawing/2014/main" id="{130B86CE-7E74-6E67-0EBD-B0899EB7F8F3}"/>
                </a:ext>
              </a:extLst>
            </p:cNvPr>
            <p:cNvGrpSpPr/>
            <p:nvPr/>
          </p:nvGrpSpPr>
          <p:grpSpPr>
            <a:xfrm>
              <a:off x="3513099" y="1972682"/>
              <a:ext cx="5165801" cy="1491672"/>
              <a:chOff x="3176869" y="1823697"/>
              <a:chExt cx="5836237" cy="1613316"/>
            </a:xfrm>
          </p:grpSpPr>
          <p:pic>
            <p:nvPicPr>
              <p:cNvPr id="6" name="Picture 5">
                <a:extLst>
                  <a:ext uri="{FF2B5EF4-FFF2-40B4-BE49-F238E27FC236}">
                    <a16:creationId xmlns:a16="http://schemas.microsoft.com/office/drawing/2014/main" id="{6A8FBF06-EF2A-B144-A095-96C288B89B41}"/>
                  </a:ext>
                </a:extLst>
              </p:cNvPr>
              <p:cNvPicPr>
                <a:picLocks noChangeAspect="1"/>
              </p:cNvPicPr>
              <p:nvPr/>
            </p:nvPicPr>
            <p:blipFill>
              <a:blip r:embed="rId3">
                <a:extLst>
                  <a:ext uri="{28A0092B-C50C-407E-A947-70E740481C1C}">
                    <a14:useLocalDpi xmlns:a14="http://schemas.microsoft.com/office/drawing/2010/main" val="0"/>
                  </a:ext>
                </a:extLst>
              </a:blip>
              <a:srcRect r="50000"/>
              <a:stretch>
                <a:fillRect/>
              </a:stretch>
            </p:blipFill>
            <p:spPr>
              <a:xfrm>
                <a:off x="3409812" y="1823697"/>
                <a:ext cx="5603294" cy="806658"/>
              </a:xfrm>
              <a:prstGeom prst="rect">
                <a:avLst/>
              </a:prstGeom>
            </p:spPr>
          </p:pic>
          <p:pic>
            <p:nvPicPr>
              <p:cNvPr id="24" name="Picture 23">
                <a:extLst>
                  <a:ext uri="{FF2B5EF4-FFF2-40B4-BE49-F238E27FC236}">
                    <a16:creationId xmlns:a16="http://schemas.microsoft.com/office/drawing/2014/main" id="{10CC1A77-4234-B41D-B1B1-5911607815A0}"/>
                  </a:ext>
                </a:extLst>
              </p:cNvPr>
              <p:cNvPicPr>
                <a:picLocks noChangeAspect="1"/>
              </p:cNvPicPr>
              <p:nvPr/>
            </p:nvPicPr>
            <p:blipFill>
              <a:blip r:embed="rId3">
                <a:extLst>
                  <a:ext uri="{28A0092B-C50C-407E-A947-70E740481C1C}">
                    <a14:useLocalDpi xmlns:a14="http://schemas.microsoft.com/office/drawing/2010/main" val="0"/>
                  </a:ext>
                </a:extLst>
              </a:blip>
              <a:srcRect l="50000"/>
              <a:stretch>
                <a:fillRect/>
              </a:stretch>
            </p:blipFill>
            <p:spPr>
              <a:xfrm>
                <a:off x="3176869" y="2630355"/>
                <a:ext cx="5603293" cy="806658"/>
              </a:xfrm>
              <a:prstGeom prst="rect">
                <a:avLst/>
              </a:prstGeom>
            </p:spPr>
          </p:pic>
        </p:grpSp>
      </p:grpSp>
    </p:spTree>
    <p:extLst>
      <p:ext uri="{BB962C8B-B14F-4D97-AF65-F5344CB8AC3E}">
        <p14:creationId xmlns:p14="http://schemas.microsoft.com/office/powerpoint/2010/main" val="1100718080"/>
      </p:ext>
    </p:extLst>
  </p:cSld>
  <p:clrMapOvr>
    <a:masterClrMapping/>
  </p:clrMapOvr>
  <p:transition spd="slow">
    <p:cove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1</TotalTime>
  <Words>1317</Words>
  <Application>Microsoft Office PowerPoint</Application>
  <PresentationFormat>Widescreen</PresentationFormat>
  <Paragraphs>202</Paragraphs>
  <Slides>20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Agency FB</vt:lpstr>
      <vt:lpstr>Aptos</vt:lpstr>
      <vt:lpstr>Arial</vt:lpstr>
      <vt:lpstr>Calibri</vt:lpstr>
      <vt:lpstr>Cascadia Code</vt:lpstr>
      <vt:lpstr>Wingdings 2</vt:lpstr>
      <vt:lpstr>Quotable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Ihrenberger</dc:creator>
  <cp:lastModifiedBy>Julia I.</cp:lastModifiedBy>
  <cp:revision>3</cp:revision>
  <dcterms:created xsi:type="dcterms:W3CDTF">2025-03-21T16:11:25Z</dcterms:created>
  <dcterms:modified xsi:type="dcterms:W3CDTF">2026-06-29T19:26:13Z</dcterms:modified>
</cp:coreProperties>
</file>