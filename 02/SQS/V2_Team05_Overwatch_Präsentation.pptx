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22"/>
  </p:notesMasterIdLst>
  <p:sldIdLst>
    <p:sldId id="302" r:id="rId2"/>
    <p:sldId id="256" r:id="rId3"/>
    <p:sldId id="313" r:id="rId4"/>
    <p:sldId id="305" r:id="rId5"/>
    <p:sldId id="303" r:id="rId6"/>
    <p:sldId id="319" r:id="rId7"/>
    <p:sldId id="315" r:id="rId8"/>
    <p:sldId id="309" r:id="rId9"/>
    <p:sldId id="318" r:id="rId10"/>
    <p:sldId id="294" r:id="rId11"/>
    <p:sldId id="316" r:id="rId12"/>
    <p:sldId id="328" r:id="rId13"/>
    <p:sldId id="329" r:id="rId14"/>
    <p:sldId id="330" r:id="rId15"/>
    <p:sldId id="314" r:id="rId16"/>
    <p:sldId id="323" r:id="rId17"/>
    <p:sldId id="325" r:id="rId18"/>
    <p:sldId id="317" r:id="rId19"/>
    <p:sldId id="307" r:id="rId20"/>
    <p:sldId id="32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AF834B4-858C-4C98-9420-43154A85F8E4}">
          <p14:sldIdLst>
            <p14:sldId id="302"/>
            <p14:sldId id="256"/>
            <p14:sldId id="313"/>
            <p14:sldId id="305"/>
          </p14:sldIdLst>
        </p14:section>
        <p14:section name="Frontend" id="{E39988C1-AF61-497B-B444-7B544F88ABF2}">
          <p14:sldIdLst>
            <p14:sldId id="303"/>
            <p14:sldId id="319"/>
            <p14:sldId id="315"/>
            <p14:sldId id="309"/>
            <p14:sldId id="318"/>
          </p14:sldIdLst>
        </p14:section>
        <p14:section name="Backend" id="{8BE9A4D8-9251-401F-AB7B-95E2ADFA32E5}">
          <p14:sldIdLst>
            <p14:sldId id="294"/>
            <p14:sldId id="316"/>
            <p14:sldId id="328"/>
            <p14:sldId id="329"/>
            <p14:sldId id="330"/>
          </p14:sldIdLst>
        </p14:section>
        <p14:section name="Testing" id="{02939358-211D-4929-A930-DEA3C0746ECF}">
          <p14:sldIdLst>
            <p14:sldId id="314"/>
            <p14:sldId id="323"/>
            <p14:sldId id="325"/>
            <p14:sldId id="317"/>
            <p14:sldId id="307"/>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0E"/>
    <a:srgbClr val="008E40"/>
    <a:srgbClr val="005828"/>
    <a:srgbClr val="00AAE6"/>
    <a:srgbClr val="FF3F3F"/>
    <a:srgbClr val="CF8E6D"/>
    <a:srgbClr val="212121"/>
    <a:srgbClr val="EB8F91"/>
    <a:srgbClr val="A17CB6"/>
    <a:srgbClr val="C46E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048" autoAdjust="0"/>
  </p:normalViewPr>
  <p:slideViewPr>
    <p:cSldViewPr snapToGrid="0">
      <p:cViewPr varScale="1">
        <p:scale>
          <a:sx n="66" d="100"/>
          <a:sy n="66" d="100"/>
        </p:scale>
        <p:origin x="22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DAD76-3859-4D52-8B81-C27FCE0A7D18}"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61062-E9D8-4DAB-8118-1CF0D558F973}" type="slidenum">
              <a:rPr lang="en-US" smtClean="0"/>
              <a:t>‹Nr.›</a:t>
            </a:fld>
            <a:endParaRPr lang="en-US"/>
          </a:p>
        </p:txBody>
      </p:sp>
    </p:spTree>
    <p:extLst>
      <p:ext uri="{BB962C8B-B14F-4D97-AF65-F5344CB8AC3E}">
        <p14:creationId xmlns:p14="http://schemas.microsoft.com/office/powerpoint/2010/main" val="339599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6126-EF57-F334-2A2C-B38B0AC12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5B86D-8D9B-FDC7-85EA-EE6D3D4835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F71E6-A417-9636-9295-CEDAE34A60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AEFFD6-BE77-DFCA-C1BA-36E4F13FCC09}"/>
              </a:ext>
            </a:extLst>
          </p:cNvPr>
          <p:cNvSpPr>
            <a:spLocks noGrp="1"/>
          </p:cNvSpPr>
          <p:nvPr>
            <p:ph type="sldNum" sz="quarter" idx="5"/>
          </p:nvPr>
        </p:nvSpPr>
        <p:spPr/>
        <p:txBody>
          <a:bodyPr/>
          <a:lstStyle/>
          <a:p>
            <a:fld id="{60D61062-E9D8-4DAB-8118-1CF0D558F973}" type="slidenum">
              <a:rPr lang="en-US" smtClean="0"/>
              <a:t>1</a:t>
            </a:fld>
            <a:endParaRPr lang="en-US"/>
          </a:p>
        </p:txBody>
      </p:sp>
    </p:spTree>
    <p:extLst>
      <p:ext uri="{BB962C8B-B14F-4D97-AF65-F5344CB8AC3E}">
        <p14:creationId xmlns:p14="http://schemas.microsoft.com/office/powerpoint/2010/main" val="369954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2</a:t>
            </a:fld>
            <a:endParaRPr lang="en-US"/>
          </a:p>
        </p:txBody>
      </p:sp>
    </p:spTree>
    <p:extLst>
      <p:ext uri="{BB962C8B-B14F-4D97-AF65-F5344CB8AC3E}">
        <p14:creationId xmlns:p14="http://schemas.microsoft.com/office/powerpoint/2010/main" val="14081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Online Multiplayer First Person Shooter von Blizzard Erstes Spiel seines Genres (Hero Shooter) 2 Teams aus 5 Spielern kämpfen gegeneinander um ein bestimmtes Ziel zu erreichen (z.b Wagen ans Ziel schieben) Jedes team hat bestimmt Rollen, 1x Tank, 2x Damage und 2x Support. Spieler wählen aus 52 Helden aus, die verschiedene Fähigkeiten haben und auch Synergien zwischeneinander besitzen. Es ist ein Kompetetives Game, weswegen eine gute Teamcomposition sich stark auf das Spielergebnis auswirken kann.</a:t>
            </a:r>
          </a:p>
        </p:txBody>
      </p:sp>
      <p:sp>
        <p:nvSpPr>
          <p:cNvPr id="4" name="Slide Number Placeholder 3"/>
          <p:cNvSpPr>
            <a:spLocks noGrp="1"/>
          </p:cNvSpPr>
          <p:nvPr>
            <p:ph type="sldNum" sz="quarter" idx="5"/>
          </p:nvPr>
        </p:nvSpPr>
        <p:spPr/>
        <p:txBody>
          <a:bodyPr/>
          <a:lstStyle/>
          <a:p>
            <a:fld id="{60D61062-E9D8-4DAB-8118-1CF0D558F973}" type="slidenum">
              <a:rPr lang="en-US" smtClean="0"/>
              <a:t>3</a:t>
            </a:fld>
            <a:endParaRPr lang="en-US"/>
          </a:p>
        </p:txBody>
      </p:sp>
    </p:spTree>
    <p:extLst>
      <p:ext uri="{BB962C8B-B14F-4D97-AF65-F5344CB8AC3E}">
        <p14:creationId xmlns:p14="http://schemas.microsoft.com/office/powerpoint/2010/main" val="2132774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8D37-3A7B-9C81-518E-F3B110555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9A528-A00B-B59A-2E4F-1ECFCA7DFE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D30615-C7A3-5C6E-11F0-CF6214114FAD}"/>
              </a:ext>
            </a:extLst>
          </p:cNvPr>
          <p:cNvSpPr>
            <a:spLocks noGrp="1"/>
          </p:cNvSpPr>
          <p:nvPr>
            <p:ph type="body" idx="1"/>
          </p:nvPr>
        </p:nvSpPr>
        <p:spPr/>
        <p:txBody>
          <a:bodyPr/>
          <a:lstStyle/>
          <a:p>
            <a:r>
              <a:rPr lang="en-US"/>
              <a:t>julia</a:t>
            </a:r>
          </a:p>
          <a:p>
            <a:r>
              <a:rPr lang="en-US"/>
              <a:t>arbeitet besser, wenn project interessant und relevant für alle</a:t>
            </a:r>
          </a:p>
          <a:p>
            <a:r>
              <a:rPr lang="en-US"/>
              <a:t>aus game engineer sicht, interesse an produktionsablauf bei einer web application</a:t>
            </a:r>
          </a:p>
          <a:p>
            <a:r>
              <a:rPr lang="en-US"/>
              <a:t>löst theoretisch problem eines freundes</a:t>
            </a:r>
          </a:p>
        </p:txBody>
      </p:sp>
      <p:sp>
        <p:nvSpPr>
          <p:cNvPr id="4" name="Slide Number Placeholder 3">
            <a:extLst>
              <a:ext uri="{FF2B5EF4-FFF2-40B4-BE49-F238E27FC236}">
                <a16:creationId xmlns:a16="http://schemas.microsoft.com/office/drawing/2014/main" id="{0DC8139E-6959-B9D3-F359-ADA3E81503E2}"/>
              </a:ext>
            </a:extLst>
          </p:cNvPr>
          <p:cNvSpPr>
            <a:spLocks noGrp="1"/>
          </p:cNvSpPr>
          <p:nvPr>
            <p:ph type="sldNum" sz="quarter" idx="5"/>
          </p:nvPr>
        </p:nvSpPr>
        <p:spPr/>
        <p:txBody>
          <a:bodyPr/>
          <a:lstStyle/>
          <a:p>
            <a:fld id="{60D61062-E9D8-4DAB-8118-1CF0D558F973}" type="slidenum">
              <a:rPr lang="en-US" smtClean="0"/>
              <a:t>4</a:t>
            </a:fld>
            <a:endParaRPr lang="en-US"/>
          </a:p>
        </p:txBody>
      </p:sp>
    </p:spTree>
    <p:extLst>
      <p:ext uri="{BB962C8B-B14F-4D97-AF65-F5344CB8AC3E}">
        <p14:creationId xmlns:p14="http://schemas.microsoft.com/office/powerpoint/2010/main" val="80677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5871-C0A6-FC8E-2BF6-A82E36719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52FCA-31B0-BECE-2B3D-05B3FABA38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1790B1-E197-C6B4-1C65-3EBEDD91BCB2}"/>
              </a:ext>
            </a:extLst>
          </p:cNvPr>
          <p:cNvSpPr>
            <a:spLocks noGrp="1"/>
          </p:cNvSpPr>
          <p:nvPr>
            <p:ph type="body" idx="1"/>
          </p:nvPr>
        </p:nvSpPr>
        <p:spPr/>
        <p:txBody>
          <a:bodyPr/>
          <a:lstStyle/>
          <a:p>
            <a:r>
              <a:rPr lang="en-US"/>
              <a:t>julia</a:t>
            </a:r>
          </a:p>
          <a:p>
            <a:r>
              <a:rPr lang="en-US"/>
              <a:t>design philosophy</a:t>
            </a:r>
          </a:p>
          <a:p>
            <a:r>
              <a:rPr lang="en-US"/>
              <a:t>resultierendes design, alles kombiniert auf eine seite [click]</a:t>
            </a:r>
          </a:p>
          <a:p>
            <a:r>
              <a:rPr lang="en-US"/>
              <a:t>mit login und team comp speicher, die sich aufklappen</a:t>
            </a:r>
          </a:p>
          <a:p>
            <a:endParaRPr lang="en-US"/>
          </a:p>
          <a:p>
            <a:r>
              <a:rPr lang="en-US"/>
              <a:t>detailansicht des heroes angelehnt an fanwiki [click]</a:t>
            </a:r>
          </a:p>
          <a:p>
            <a:r>
              <a:rPr lang="en-US"/>
              <a:t>team composition erstellung über in-game ähnliche UI [click]</a:t>
            </a:r>
          </a:p>
        </p:txBody>
      </p:sp>
      <p:sp>
        <p:nvSpPr>
          <p:cNvPr id="4" name="Slide Number Placeholder 3">
            <a:extLst>
              <a:ext uri="{FF2B5EF4-FFF2-40B4-BE49-F238E27FC236}">
                <a16:creationId xmlns:a16="http://schemas.microsoft.com/office/drawing/2014/main" id="{1FC9223D-6143-4D91-4E46-77372437A4CF}"/>
              </a:ext>
            </a:extLst>
          </p:cNvPr>
          <p:cNvSpPr>
            <a:spLocks noGrp="1"/>
          </p:cNvSpPr>
          <p:nvPr>
            <p:ph type="sldNum" sz="quarter" idx="5"/>
          </p:nvPr>
        </p:nvSpPr>
        <p:spPr/>
        <p:txBody>
          <a:bodyPr/>
          <a:lstStyle/>
          <a:p>
            <a:fld id="{60D61062-E9D8-4DAB-8118-1CF0D558F973}" type="slidenum">
              <a:rPr lang="en-US" smtClean="0"/>
              <a:t>5</a:t>
            </a:fld>
            <a:endParaRPr lang="en-US"/>
          </a:p>
        </p:txBody>
      </p:sp>
    </p:spTree>
    <p:extLst>
      <p:ext uri="{BB962C8B-B14F-4D97-AF65-F5344CB8AC3E}">
        <p14:creationId xmlns:p14="http://schemas.microsoft.com/office/powerpoint/2010/main" val="880921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betrachtung im c4 modell, container ebene web application</a:t>
            </a:r>
          </a:p>
          <a:p>
            <a:r>
              <a:rPr lang="en-US"/>
              <a:t>ui eingeteilt in hero browser, team composition ui und funktionalität sowie login</a:t>
            </a:r>
          </a:p>
          <a:p>
            <a:r>
              <a:rPr lang="en-US"/>
              <a:t>kommunikation mit backend über fetch requests</a:t>
            </a:r>
          </a:p>
        </p:txBody>
      </p:sp>
      <p:sp>
        <p:nvSpPr>
          <p:cNvPr id="4" name="Slide Number Placeholder 3"/>
          <p:cNvSpPr>
            <a:spLocks noGrp="1"/>
          </p:cNvSpPr>
          <p:nvPr>
            <p:ph type="sldNum" sz="quarter" idx="5"/>
          </p:nvPr>
        </p:nvSpPr>
        <p:spPr/>
        <p:txBody>
          <a:bodyPr/>
          <a:lstStyle/>
          <a:p>
            <a:fld id="{60D61062-E9D8-4DAB-8118-1CF0D558F973}" type="slidenum">
              <a:rPr lang="en-US" smtClean="0"/>
              <a:t>6</a:t>
            </a:fld>
            <a:endParaRPr lang="en-US"/>
          </a:p>
        </p:txBody>
      </p:sp>
    </p:spTree>
    <p:extLst>
      <p:ext uri="{BB962C8B-B14F-4D97-AF65-F5344CB8AC3E}">
        <p14:creationId xmlns:p14="http://schemas.microsoft.com/office/powerpoint/2010/main" val="3009868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a:p>
            <a:r>
              <a:rPr lang="en-US"/>
              <a:t>spiegelt sich auch in dem component breakdown von frontend wieder [click]</a:t>
            </a:r>
          </a:p>
          <a:p>
            <a:r>
              <a:rPr lang="en-US"/>
              <a:t>funktionalitäten im horizontalen gebündelt</a:t>
            </a:r>
          </a:p>
          <a:p>
            <a:r>
              <a:rPr lang="en-US"/>
              <a:t>oben rechts authentication, account</a:t>
            </a:r>
          </a:p>
          <a:p>
            <a:r>
              <a:rPr lang="en-US"/>
              <a:t>dann hero browser mit view und search table</a:t>
            </a:r>
          </a:p>
          <a:p>
            <a:r>
              <a:rPr lang="en-US"/>
              <a:t>zuletzt team composition funktionalität ganz unten</a:t>
            </a:r>
          </a:p>
        </p:txBody>
      </p:sp>
      <p:sp>
        <p:nvSpPr>
          <p:cNvPr id="4" name="Slide Number Placeholder 3"/>
          <p:cNvSpPr>
            <a:spLocks noGrp="1"/>
          </p:cNvSpPr>
          <p:nvPr>
            <p:ph type="sldNum" sz="quarter" idx="5"/>
          </p:nvPr>
        </p:nvSpPr>
        <p:spPr/>
        <p:txBody>
          <a:bodyPr/>
          <a:lstStyle/>
          <a:p>
            <a:fld id="{60D61062-E9D8-4DAB-8118-1CF0D558F973}" type="slidenum">
              <a:rPr lang="en-US" smtClean="0"/>
              <a:t>7</a:t>
            </a:fld>
            <a:endParaRPr lang="en-US"/>
          </a:p>
        </p:txBody>
      </p:sp>
    </p:spTree>
    <p:extLst>
      <p:ext uri="{BB962C8B-B14F-4D97-AF65-F5344CB8AC3E}">
        <p14:creationId xmlns:p14="http://schemas.microsoft.com/office/powerpoint/2010/main" val="864434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11597-17F4-5942-EC50-1CBE99C83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79281-00F7-19E7-B9DD-917B1175EC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0DE3C5-4DB0-106D-E4F5-FC218D844C60}"/>
              </a:ext>
            </a:extLst>
          </p:cNvPr>
          <p:cNvSpPr>
            <a:spLocks noGrp="1"/>
          </p:cNvSpPr>
          <p:nvPr>
            <p:ph type="body" idx="1"/>
          </p:nvPr>
        </p:nvSpPr>
        <p:spPr/>
        <p:txBody>
          <a:bodyPr/>
          <a:lstStyle/>
          <a:p>
            <a:r>
              <a:rPr lang="en-US"/>
              <a:t>Julia [text lesen] [click] design wurde fast 1:1 übernommen, wenig abgeändert layout technisch</a:t>
            </a:r>
          </a:p>
        </p:txBody>
      </p:sp>
      <p:sp>
        <p:nvSpPr>
          <p:cNvPr id="4" name="Slide Number Placeholder 3">
            <a:extLst>
              <a:ext uri="{FF2B5EF4-FFF2-40B4-BE49-F238E27FC236}">
                <a16:creationId xmlns:a16="http://schemas.microsoft.com/office/drawing/2014/main" id="{3D425DC8-9356-2A4E-591C-197AB77C069C}"/>
              </a:ext>
            </a:extLst>
          </p:cNvPr>
          <p:cNvSpPr>
            <a:spLocks noGrp="1"/>
          </p:cNvSpPr>
          <p:nvPr>
            <p:ph type="sldNum" sz="quarter" idx="5"/>
          </p:nvPr>
        </p:nvSpPr>
        <p:spPr/>
        <p:txBody>
          <a:bodyPr/>
          <a:lstStyle/>
          <a:p>
            <a:fld id="{60D61062-E9D8-4DAB-8118-1CF0D558F973}" type="slidenum">
              <a:rPr lang="en-US" smtClean="0"/>
              <a:t>8</a:t>
            </a:fld>
            <a:endParaRPr lang="en-US"/>
          </a:p>
        </p:txBody>
      </p:sp>
    </p:spTree>
    <p:extLst>
      <p:ext uri="{BB962C8B-B14F-4D97-AF65-F5344CB8AC3E}">
        <p14:creationId xmlns:p14="http://schemas.microsoft.com/office/powerpoint/2010/main" val="399030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julia</a:t>
            </a:r>
          </a:p>
        </p:txBody>
      </p:sp>
      <p:sp>
        <p:nvSpPr>
          <p:cNvPr id="4" name="Slide Number Placeholder 3"/>
          <p:cNvSpPr>
            <a:spLocks noGrp="1"/>
          </p:cNvSpPr>
          <p:nvPr>
            <p:ph type="sldNum" sz="quarter" idx="5"/>
          </p:nvPr>
        </p:nvSpPr>
        <p:spPr/>
        <p:txBody>
          <a:bodyPr/>
          <a:lstStyle/>
          <a:p>
            <a:fld id="{60D61062-E9D8-4DAB-8118-1CF0D558F973}" type="slidenum">
              <a:rPr lang="en-US" smtClean="0"/>
              <a:t>9</a:t>
            </a:fld>
            <a:endParaRPr lang="en-US"/>
          </a:p>
        </p:txBody>
      </p:sp>
    </p:spTree>
    <p:extLst>
      <p:ext uri="{BB962C8B-B14F-4D97-AF65-F5344CB8AC3E}">
        <p14:creationId xmlns:p14="http://schemas.microsoft.com/office/powerpoint/2010/main" val="2722120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leo</a:t>
            </a:r>
          </a:p>
        </p:txBody>
      </p:sp>
      <p:sp>
        <p:nvSpPr>
          <p:cNvPr id="4" name="Slide Number Placeholder 3"/>
          <p:cNvSpPr>
            <a:spLocks noGrp="1"/>
          </p:cNvSpPr>
          <p:nvPr>
            <p:ph type="sldNum" sz="quarter" idx="5"/>
          </p:nvPr>
        </p:nvSpPr>
        <p:spPr/>
        <p:txBody>
          <a:bodyPr/>
          <a:lstStyle/>
          <a:p>
            <a:fld id="{60D61062-E9D8-4DAB-8118-1CF0D558F973}" type="slidenum">
              <a:rPr lang="en-US" smtClean="0"/>
              <a:t>10</a:t>
            </a:fld>
            <a:endParaRPr lang="en-US"/>
          </a:p>
        </p:txBody>
      </p:sp>
    </p:spTree>
    <p:extLst>
      <p:ext uri="{BB962C8B-B14F-4D97-AF65-F5344CB8AC3E}">
        <p14:creationId xmlns:p14="http://schemas.microsoft.com/office/powerpoint/2010/main" val="874227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2B9A3-D915-47E6-8327-5507A3233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62FF-9418-5B11-3017-F454AB03DB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E7DDC4-E671-D5E0-B34C-55CB671F2A36}"/>
              </a:ext>
            </a:extLst>
          </p:cNvPr>
          <p:cNvSpPr>
            <a:spLocks noGrp="1"/>
          </p:cNvSpPr>
          <p:nvPr>
            <p:ph type="body" idx="1"/>
          </p:nvPr>
        </p:nvSpPr>
        <p:spPr/>
        <p:txBody>
          <a:bodyPr/>
          <a:lstStyle/>
          <a:p>
            <a:r>
              <a:rPr lang="en-US"/>
              <a:t>leo</a:t>
            </a:r>
          </a:p>
        </p:txBody>
      </p:sp>
      <p:sp>
        <p:nvSpPr>
          <p:cNvPr id="4" name="Slide Number Placeholder 3">
            <a:extLst>
              <a:ext uri="{FF2B5EF4-FFF2-40B4-BE49-F238E27FC236}">
                <a16:creationId xmlns:a16="http://schemas.microsoft.com/office/drawing/2014/main" id="{5DE21666-40C0-93B4-B329-874FEAA36591}"/>
              </a:ext>
            </a:extLst>
          </p:cNvPr>
          <p:cNvSpPr>
            <a:spLocks noGrp="1"/>
          </p:cNvSpPr>
          <p:nvPr>
            <p:ph type="sldNum" sz="quarter" idx="5"/>
          </p:nvPr>
        </p:nvSpPr>
        <p:spPr/>
        <p:txBody>
          <a:bodyPr/>
          <a:lstStyle/>
          <a:p>
            <a:fld id="{60D61062-E9D8-4DAB-8118-1CF0D558F973}" type="slidenum">
              <a:rPr lang="en-US" smtClean="0"/>
              <a:t>11</a:t>
            </a:fld>
            <a:endParaRPr lang="en-US"/>
          </a:p>
        </p:txBody>
      </p:sp>
    </p:spTree>
    <p:extLst>
      <p:ext uri="{BB962C8B-B14F-4D97-AF65-F5344CB8AC3E}">
        <p14:creationId xmlns:p14="http://schemas.microsoft.com/office/powerpoint/2010/main" val="1803234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8B90-CEE3-8079-8D82-2C38F0992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136B4-5B8C-AC64-3F9D-4BFCD44C74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BAAF74F-8058-C83E-A9DB-C9CDCD54B5BA}"/>
              </a:ext>
            </a:extLst>
          </p:cNvPr>
          <p:cNvSpPr>
            <a:spLocks noGrp="1"/>
          </p:cNvSpPr>
          <p:nvPr>
            <p:ph type="body" idx="1"/>
          </p:nvPr>
        </p:nvSpPr>
        <p:spPr/>
        <p:txBody>
          <a:bodyPr/>
          <a:lstStyle/>
          <a:p>
            <a:r>
              <a:rPr lang="en-US"/>
              <a:t>6</a:t>
            </a:r>
            <a:endParaRPr lang="en-US" dirty="0"/>
          </a:p>
          <a:p>
            <a:r>
              <a:rPr lang="en-US" dirty="0"/>
              <a:t>  Die </a:t>
            </a:r>
            <a:r>
              <a:rPr lang="en-US" dirty="0" err="1"/>
              <a:t>Architekturentscheidung</a:t>
            </a:r>
            <a:r>
              <a:rPr lang="en-US" dirty="0"/>
              <a:t> war </a:t>
            </a:r>
            <a:r>
              <a:rPr lang="en-US" dirty="0" err="1"/>
              <a:t>Hexagonale</a:t>
            </a:r>
            <a:r>
              <a:rPr lang="en-US" dirty="0"/>
              <a:t> </a:t>
            </a:r>
            <a:r>
              <a:rPr lang="en-US" dirty="0" err="1"/>
              <a:t>Architektur</a:t>
            </a:r>
            <a:r>
              <a:rPr lang="en-US" dirty="0"/>
              <a:t> — also Ports und </a:t>
            </a:r>
            <a:r>
              <a:rPr lang="en-US"/>
              <a:t>Adapter</a:t>
            </a:r>
            <a:r>
              <a:rPr lang="en-US" dirty="0"/>
              <a:t>. Das Ziel </a:t>
            </a:r>
            <a:r>
              <a:rPr lang="en-US" dirty="0" err="1"/>
              <a:t>ist</a:t>
            </a:r>
            <a:r>
              <a:rPr lang="en-US" dirty="0"/>
              <a:t>, die </a:t>
            </a:r>
            <a:r>
              <a:rPr lang="en-US" dirty="0" err="1"/>
              <a:t>Kernlogik</a:t>
            </a:r>
            <a:r>
              <a:rPr lang="en-US" dirty="0"/>
              <a:t> von </a:t>
            </a:r>
            <a:r>
              <a:rPr lang="en-US" dirty="0" err="1"/>
              <a:t>allem</a:t>
            </a:r>
            <a:r>
              <a:rPr lang="en-US" dirty="0"/>
              <a:t> </a:t>
            </a:r>
            <a:r>
              <a:rPr lang="en-US" dirty="0" err="1"/>
              <a:t>Äußeren</a:t>
            </a:r>
            <a:r>
              <a:rPr lang="en-US" dirty="0"/>
              <a:t> </a:t>
            </a:r>
            <a:r>
              <a:rPr lang="en-US" dirty="0" err="1"/>
              <a:t>zu</a:t>
            </a:r>
            <a:r>
              <a:rPr lang="en-US" dirty="0"/>
              <a:t> </a:t>
            </a:r>
            <a:r>
              <a:rPr lang="en-US" dirty="0" err="1"/>
              <a:t>trennen</a:t>
            </a:r>
            <a:r>
              <a:rPr lang="en-US" dirty="0"/>
              <a:t>: </a:t>
            </a:r>
            <a:r>
              <a:rPr lang="en-US" dirty="0" err="1"/>
              <a:t>Datenbank</a:t>
            </a:r>
            <a:r>
              <a:rPr lang="en-US" dirty="0"/>
              <a:t>, externe APIs, Framework. Jede </a:t>
            </a:r>
            <a:r>
              <a:rPr lang="en-US" dirty="0" err="1"/>
              <a:t>Schicht</a:t>
            </a:r>
            <a:r>
              <a:rPr lang="en-US" dirty="0"/>
              <a:t> hat </a:t>
            </a:r>
            <a:r>
              <a:rPr lang="en-US" dirty="0" err="1"/>
              <a:t>eine</a:t>
            </a:r>
            <a:r>
              <a:rPr lang="en-US" dirty="0"/>
              <a:t> </a:t>
            </a:r>
            <a:r>
              <a:rPr lang="en-US" dirty="0" err="1"/>
              <a:t>klare</a:t>
            </a:r>
            <a:r>
              <a:rPr lang="en-US" dirty="0"/>
              <a:t> </a:t>
            </a:r>
            <a:r>
              <a:rPr lang="en-US" dirty="0" err="1"/>
              <a:t>Verantwortung</a:t>
            </a:r>
            <a:r>
              <a:rPr lang="en-US" dirty="0"/>
              <a:t>.</a:t>
            </a:r>
            <a:endParaRPr lang="en-US"/>
          </a:p>
          <a:p>
            <a:r>
              <a:rPr lang="en-US" dirty="0"/>
              <a:t>  </a:t>
            </a:r>
            <a:r>
              <a:rPr lang="en-US" dirty="0" err="1"/>
              <a:t>Im</a:t>
            </a:r>
            <a:r>
              <a:rPr lang="en-US" dirty="0"/>
              <a:t> Zentrum </a:t>
            </a:r>
            <a:r>
              <a:rPr lang="en-US" dirty="0" err="1"/>
              <a:t>steht</a:t>
            </a:r>
            <a:r>
              <a:rPr lang="en-US" dirty="0"/>
              <a:t> die Domain-</a:t>
            </a:r>
            <a:r>
              <a:rPr lang="en-US" dirty="0" err="1"/>
              <a:t>Schicht</a:t>
            </a:r>
            <a:r>
              <a:rPr lang="en-US" dirty="0"/>
              <a:t> </a:t>
            </a:r>
            <a:r>
              <a:rPr lang="en-US" dirty="0" err="1"/>
              <a:t>mit</a:t>
            </a:r>
            <a:r>
              <a:rPr lang="en-US" dirty="0"/>
              <a:t> </a:t>
            </a:r>
            <a:r>
              <a:rPr lang="en-US" dirty="0" err="1"/>
              <a:t>reinen</a:t>
            </a:r>
            <a:r>
              <a:rPr lang="en-US" dirty="0"/>
              <a:t> Python-</a:t>
            </a:r>
            <a:r>
              <a:rPr lang="en-US" dirty="0" err="1"/>
              <a:t>Datenklassen</a:t>
            </a:r>
            <a:r>
              <a:rPr lang="en-US" dirty="0"/>
              <a:t> </a:t>
            </a:r>
            <a:r>
              <a:rPr lang="en-US" dirty="0" err="1"/>
              <a:t>wie</a:t>
            </a:r>
            <a:r>
              <a:rPr lang="en-US" dirty="0"/>
              <a:t> </a:t>
            </a:r>
            <a:r>
              <a:rPr lang="en-US" err="1"/>
              <a:t>HeroEntity</a:t>
            </a:r>
            <a:r>
              <a:rPr lang="en-US" dirty="0"/>
              <a:t>, </a:t>
            </a:r>
            <a:r>
              <a:rPr lang="en-US" dirty="0" err="1"/>
              <a:t>AbilityEntity</a:t>
            </a:r>
            <a:r>
              <a:rPr lang="en-US" dirty="0"/>
              <a:t> und </a:t>
            </a:r>
            <a:r>
              <a:rPr lang="en-US" dirty="0" err="1"/>
              <a:t>TeamCompositionEntity</a:t>
            </a:r>
            <a:r>
              <a:rPr lang="en-US" dirty="0"/>
              <a:t> — </a:t>
            </a:r>
            <a:r>
              <a:rPr lang="en-US" dirty="0" err="1"/>
              <a:t>keinerlei</a:t>
            </a:r>
            <a:r>
              <a:rPr lang="en-US" dirty="0"/>
              <a:t> Framework-</a:t>
            </a:r>
            <a:r>
              <a:rPr lang="en-US" dirty="0" err="1"/>
              <a:t>Abhängigkeiten</a:t>
            </a:r>
            <a:r>
              <a:rPr lang="en-US" dirty="0"/>
              <a:t>.</a:t>
            </a:r>
          </a:p>
          <a:p>
            <a:r>
              <a:rPr lang="en-US" dirty="0"/>
              <a:t>  Darum </a:t>
            </a:r>
            <a:r>
              <a:rPr lang="en-US" dirty="0" err="1"/>
              <a:t>herum</a:t>
            </a:r>
            <a:r>
              <a:rPr lang="en-US" dirty="0"/>
              <a:t> </a:t>
            </a:r>
            <a:r>
              <a:rPr lang="en-US" dirty="0" err="1"/>
              <a:t>liegen</a:t>
            </a:r>
            <a:r>
              <a:rPr lang="en-US" dirty="0"/>
              <a:t> die Ports, also </a:t>
            </a:r>
            <a:r>
              <a:rPr lang="en-US" dirty="0" err="1"/>
              <a:t>abstrakte</a:t>
            </a:r>
            <a:r>
              <a:rPr lang="en-US" dirty="0"/>
              <a:t> Interfaces, und die Adapter </a:t>
            </a:r>
            <a:r>
              <a:rPr lang="en-US" dirty="0" err="1"/>
              <a:t>als</a:t>
            </a:r>
            <a:r>
              <a:rPr lang="en-US" dirty="0"/>
              <a:t> </a:t>
            </a:r>
            <a:r>
              <a:rPr lang="en-US" dirty="0" err="1"/>
              <a:t>konkrete</a:t>
            </a:r>
            <a:r>
              <a:rPr lang="en-US" dirty="0"/>
              <a:t> </a:t>
            </a:r>
            <a:r>
              <a:rPr lang="en-US" dirty="0" err="1"/>
              <a:t>Implementierungen</a:t>
            </a:r>
            <a:r>
              <a:rPr lang="en-US" dirty="0"/>
              <a:t>. Wir </a:t>
            </a:r>
            <a:r>
              <a:rPr lang="en-US" dirty="0" err="1"/>
              <a:t>haben</a:t>
            </a:r>
            <a:r>
              <a:rPr lang="en-US" dirty="0"/>
              <a:t> </a:t>
            </a:r>
            <a:r>
              <a:rPr lang="en-US" dirty="0" err="1"/>
              <a:t>drei</a:t>
            </a:r>
            <a:r>
              <a:rPr lang="en-US" dirty="0"/>
              <a:t> Adapter: den </a:t>
            </a:r>
            <a:r>
              <a:rPr lang="en-US" dirty="0" err="1"/>
              <a:t>HeroDataBaseAdapter</a:t>
            </a:r>
            <a:r>
              <a:rPr lang="en-US" dirty="0"/>
              <a:t> und den </a:t>
            </a:r>
            <a:r>
              <a:rPr lang="en-US" dirty="0" err="1"/>
              <a:t>TeamCompositionDatabaseAdapter</a:t>
            </a:r>
            <a:r>
              <a:rPr lang="en-US" dirty="0"/>
              <a:t> für den </a:t>
            </a:r>
            <a:r>
              <a:rPr lang="en-US" dirty="0" err="1"/>
              <a:t>Datenbankzugriff</a:t>
            </a:r>
            <a:r>
              <a:rPr lang="en-US" dirty="0"/>
              <a:t> </a:t>
            </a:r>
            <a:r>
              <a:rPr lang="en-US" dirty="0" err="1"/>
              <a:t>über</a:t>
            </a:r>
            <a:r>
              <a:rPr lang="en-US" dirty="0"/>
              <a:t> das Django ORM, </a:t>
            </a:r>
            <a:r>
              <a:rPr lang="en-US" dirty="0" err="1"/>
              <a:t>sowie</a:t>
            </a:r>
            <a:r>
              <a:rPr lang="en-US" dirty="0"/>
              <a:t> den </a:t>
            </a:r>
            <a:r>
              <a:rPr lang="en-US" dirty="0" err="1"/>
              <a:t>OverfastAPIAdapter</a:t>
            </a:r>
            <a:r>
              <a:rPr lang="en-US" dirty="0"/>
              <a:t>, der Hero-</a:t>
            </a:r>
            <a:r>
              <a:rPr lang="en-US" dirty="0" err="1"/>
              <a:t>Daten</a:t>
            </a:r>
            <a:r>
              <a:rPr lang="en-US" dirty="0"/>
              <a:t> von </a:t>
            </a:r>
            <a:r>
              <a:rPr lang="en-US" dirty="0" err="1"/>
              <a:t>einer</a:t>
            </a:r>
            <a:r>
              <a:rPr lang="en-US" dirty="0"/>
              <a:t> </a:t>
            </a:r>
            <a:r>
              <a:rPr lang="en-US" dirty="0" err="1"/>
              <a:t>externen</a:t>
            </a:r>
            <a:r>
              <a:rPr lang="en-US" dirty="0"/>
              <a:t> </a:t>
            </a:r>
            <a:r>
              <a:rPr lang="en-US" dirty="0" err="1"/>
              <a:t>APIabruft</a:t>
            </a:r>
            <a:r>
              <a:rPr lang="en-US" dirty="0"/>
              <a:t>.</a:t>
            </a:r>
          </a:p>
          <a:p>
            <a:r>
              <a:rPr lang="en-US" dirty="0"/>
              <a:t>  </a:t>
            </a:r>
            <a:r>
              <a:rPr lang="en-US" dirty="0" err="1"/>
              <a:t>Diese</a:t>
            </a:r>
            <a:r>
              <a:rPr lang="en-US" dirty="0"/>
              <a:t> </a:t>
            </a:r>
            <a:r>
              <a:rPr lang="en-US" dirty="0" err="1"/>
              <a:t>werden</a:t>
            </a:r>
            <a:r>
              <a:rPr lang="en-US" dirty="0"/>
              <a:t> </a:t>
            </a:r>
            <a:r>
              <a:rPr lang="en-US" dirty="0" err="1"/>
              <a:t>vom</a:t>
            </a:r>
            <a:r>
              <a:rPr lang="en-US" dirty="0"/>
              <a:t> </a:t>
            </a:r>
            <a:r>
              <a:rPr lang="en-US" dirty="0" err="1"/>
              <a:t>HeroSyncService</a:t>
            </a:r>
            <a:r>
              <a:rPr lang="en-US" dirty="0"/>
              <a:t> </a:t>
            </a:r>
            <a:r>
              <a:rPr lang="en-US" dirty="0" err="1"/>
              <a:t>orchestriert</a:t>
            </a:r>
            <a:r>
              <a:rPr lang="en-US" dirty="0"/>
              <a:t>: Er </a:t>
            </a:r>
            <a:r>
              <a:rPr lang="en-US" dirty="0" err="1"/>
              <a:t>ruft</a:t>
            </a:r>
            <a:r>
              <a:rPr lang="en-US" dirty="0"/>
              <a:t> </a:t>
            </a:r>
            <a:r>
              <a:rPr lang="en-US" dirty="0" err="1"/>
              <a:t>beim</a:t>
            </a:r>
            <a:r>
              <a:rPr lang="en-US" dirty="0"/>
              <a:t> Start alle Heroes </a:t>
            </a:r>
            <a:r>
              <a:rPr lang="en-US" dirty="0" err="1"/>
              <a:t>über</a:t>
            </a:r>
            <a:r>
              <a:rPr lang="en-US" dirty="0"/>
              <a:t> den Overfast-Adapter ab und </a:t>
            </a:r>
            <a:r>
              <a:rPr lang="en-US" dirty="0" err="1"/>
              <a:t>speichert</a:t>
            </a:r>
            <a:r>
              <a:rPr lang="en-US" dirty="0"/>
              <a:t> </a:t>
            </a:r>
            <a:r>
              <a:rPr lang="en-US" dirty="0" err="1"/>
              <a:t>sie</a:t>
            </a:r>
            <a:r>
              <a:rPr lang="en-US" dirty="0"/>
              <a:t> </a:t>
            </a:r>
            <a:r>
              <a:rPr lang="en-US" dirty="0" err="1"/>
              <a:t>über</a:t>
            </a:r>
            <a:r>
              <a:rPr lang="en-US" dirty="0"/>
              <a:t> den </a:t>
            </a:r>
            <a:r>
              <a:rPr lang="en-US" dirty="0" err="1"/>
              <a:t>Datenbank</a:t>
            </a:r>
            <a:r>
              <a:rPr lang="en-US" dirty="0"/>
              <a:t>-Adapter. Das Ganze </a:t>
            </a:r>
            <a:r>
              <a:rPr lang="en-US" dirty="0" err="1"/>
              <a:t>wird</a:t>
            </a:r>
            <a:r>
              <a:rPr lang="en-US" dirty="0"/>
              <a:t> </a:t>
            </a:r>
            <a:r>
              <a:rPr lang="en-US" dirty="0" err="1"/>
              <a:t>über</a:t>
            </a:r>
            <a:r>
              <a:rPr lang="en-US" dirty="0"/>
              <a:t> </a:t>
            </a:r>
            <a:r>
              <a:rPr lang="en-US" dirty="0" err="1"/>
              <a:t>einen</a:t>
            </a:r>
            <a:r>
              <a:rPr lang="en-US" dirty="0"/>
              <a:t> Management-Command </a:t>
            </a:r>
            <a:r>
              <a:rPr lang="en-US" dirty="0" err="1"/>
              <a:t>ausgelöst</a:t>
            </a:r>
            <a:r>
              <a:rPr lang="en-US" dirty="0"/>
              <a:t>, der </a:t>
            </a:r>
            <a:r>
              <a:rPr lang="en-US" dirty="0" err="1"/>
              <a:t>auch</a:t>
            </a:r>
            <a:r>
              <a:rPr lang="en-US" dirty="0"/>
              <a:t> </a:t>
            </a:r>
            <a:r>
              <a:rPr lang="en-US" dirty="0" err="1"/>
              <a:t>prüft</a:t>
            </a:r>
            <a:r>
              <a:rPr lang="en-US" dirty="0"/>
              <a:t> </a:t>
            </a:r>
            <a:r>
              <a:rPr lang="en-US" dirty="0" err="1"/>
              <a:t>ob</a:t>
            </a:r>
            <a:r>
              <a:rPr lang="en-US" dirty="0"/>
              <a:t> die </a:t>
            </a:r>
            <a:r>
              <a:rPr lang="en-US" dirty="0" err="1"/>
              <a:t>Daten</a:t>
            </a:r>
            <a:r>
              <a:rPr lang="en-US" dirty="0"/>
              <a:t> </a:t>
            </a:r>
            <a:r>
              <a:rPr lang="en-US" dirty="0" err="1"/>
              <a:t>aktuell</a:t>
            </a:r>
            <a:r>
              <a:rPr lang="en-US" dirty="0"/>
              <a:t> </a:t>
            </a:r>
            <a:r>
              <a:rPr lang="en-US" dirty="0" err="1"/>
              <a:t>genug</a:t>
            </a:r>
            <a:r>
              <a:rPr lang="en-US" dirty="0"/>
              <a:t> </a:t>
            </a:r>
            <a:r>
              <a:rPr lang="en-US" dirty="0" err="1"/>
              <a:t>sind</a:t>
            </a:r>
            <a:r>
              <a:rPr lang="en-US" dirty="0"/>
              <a:t> — und </a:t>
            </a:r>
            <a:r>
              <a:rPr lang="en-US" dirty="0" err="1"/>
              <a:t>später</a:t>
            </a:r>
            <a:r>
              <a:rPr lang="en-US" dirty="0"/>
              <a:t> </a:t>
            </a:r>
            <a:r>
              <a:rPr lang="en-US" dirty="0" err="1"/>
              <a:t>über</a:t>
            </a:r>
            <a:r>
              <a:rPr lang="en-US" dirty="0"/>
              <a:t> </a:t>
            </a:r>
            <a:r>
              <a:rPr lang="en-US" dirty="0" err="1"/>
              <a:t>einen</a:t>
            </a:r>
            <a:r>
              <a:rPr lang="en-US" dirty="0"/>
              <a:t> </a:t>
            </a:r>
            <a:r>
              <a:rPr lang="en-US" dirty="0" err="1"/>
              <a:t>eigenen</a:t>
            </a:r>
          </a:p>
          <a:p>
            <a:r>
              <a:rPr lang="en-US" dirty="0"/>
              <a:t>  </a:t>
            </a:r>
            <a:r>
              <a:rPr lang="en-US" dirty="0" err="1"/>
              <a:t>SyncController</a:t>
            </a:r>
            <a:r>
              <a:rPr lang="en-US" dirty="0"/>
              <a:t>-Endpoint </a:t>
            </a:r>
            <a:r>
              <a:rPr lang="en-US" dirty="0" err="1"/>
              <a:t>manuell</a:t>
            </a:r>
            <a:r>
              <a:rPr lang="en-US" dirty="0"/>
              <a:t> </a:t>
            </a:r>
            <a:r>
              <a:rPr lang="en-US" dirty="0" err="1"/>
              <a:t>auslösbar</a:t>
            </a:r>
            <a:r>
              <a:rPr lang="en-US" dirty="0"/>
              <a:t> sein </a:t>
            </a:r>
            <a:r>
              <a:rPr lang="en-US" dirty="0" err="1"/>
              <a:t>wird</a:t>
            </a:r>
            <a:r>
              <a:rPr lang="en-US" dirty="0"/>
              <a:t>.</a:t>
            </a:r>
          </a:p>
          <a:p>
            <a:r>
              <a:rPr lang="en-US" dirty="0"/>
              <a:t>  An der </a:t>
            </a:r>
            <a:r>
              <a:rPr lang="en-US" dirty="0" err="1"/>
              <a:t>Außenseite</a:t>
            </a:r>
            <a:r>
              <a:rPr lang="en-US" dirty="0"/>
              <a:t> </a:t>
            </a:r>
            <a:r>
              <a:rPr lang="en-US" dirty="0" err="1"/>
              <a:t>stehen</a:t>
            </a:r>
            <a:r>
              <a:rPr lang="en-US" dirty="0"/>
              <a:t> die Views — function-based Endpoints für Heroes und Team-</a:t>
            </a:r>
            <a:r>
              <a:rPr lang="en-US" dirty="0" err="1"/>
              <a:t>Kompositionen</a:t>
            </a:r>
            <a:r>
              <a:rPr lang="en-US" dirty="0"/>
              <a:t>. Sie </a:t>
            </a:r>
            <a:r>
              <a:rPr lang="en-US" dirty="0" err="1"/>
              <a:t>empfangen</a:t>
            </a:r>
            <a:r>
              <a:rPr lang="en-US" dirty="0"/>
              <a:t> HTTP-</a:t>
            </a:r>
            <a:r>
              <a:rPr lang="en-US" dirty="0" err="1"/>
              <a:t>Anfragen</a:t>
            </a:r>
            <a:r>
              <a:rPr lang="en-US" dirty="0"/>
              <a:t>, </a:t>
            </a:r>
            <a:r>
              <a:rPr lang="en-US" dirty="0" err="1"/>
              <a:t>rufen</a:t>
            </a:r>
            <a:r>
              <a:rPr lang="en-US" dirty="0"/>
              <a:t> die Adapter auf, und </a:t>
            </a:r>
            <a:r>
              <a:rPr lang="en-US" dirty="0" err="1"/>
              <a:t>geben</a:t>
            </a:r>
            <a:r>
              <a:rPr lang="en-US" dirty="0"/>
              <a:t> die </a:t>
            </a:r>
            <a:r>
              <a:rPr lang="en-US" dirty="0" err="1"/>
              <a:t>Daten</a:t>
            </a:r>
            <a:r>
              <a:rPr lang="en-US" dirty="0"/>
              <a:t> </a:t>
            </a:r>
            <a:r>
              <a:rPr lang="en-US" dirty="0" err="1"/>
              <a:t>über</a:t>
            </a:r>
            <a:r>
              <a:rPr lang="en-US" dirty="0"/>
              <a:t> Serializer </a:t>
            </a:r>
            <a:r>
              <a:rPr lang="en-US" dirty="0" err="1"/>
              <a:t>als</a:t>
            </a:r>
            <a:r>
              <a:rPr lang="en-US" dirty="0"/>
              <a:t> JSON </a:t>
            </a:r>
            <a:r>
              <a:rPr lang="en-US" dirty="0" err="1"/>
              <a:t>zurück</a:t>
            </a:r>
            <a:r>
              <a:rPr lang="en-US" dirty="0"/>
              <a:t>. Dabei </a:t>
            </a:r>
            <a:r>
              <a:rPr lang="en-US" dirty="0" err="1"/>
              <a:t>unterscheiden</a:t>
            </a:r>
            <a:r>
              <a:rPr lang="en-US" dirty="0"/>
              <a:t> </a:t>
            </a:r>
            <a:r>
              <a:rPr lang="en-US" dirty="0" err="1"/>
              <a:t>wir</a:t>
            </a:r>
            <a:r>
              <a:rPr lang="en-US" dirty="0"/>
              <a:t> </a:t>
            </a:r>
            <a:r>
              <a:rPr lang="en-US" dirty="0" err="1"/>
              <a:t>zwischen</a:t>
            </a:r>
            <a:r>
              <a:rPr lang="en-US" dirty="0"/>
              <a:t> </a:t>
            </a:r>
            <a:r>
              <a:rPr lang="en-US" dirty="0" err="1"/>
              <a:t>einer</a:t>
            </a:r>
            <a:r>
              <a:rPr lang="en-US" dirty="0"/>
              <a:t> </a:t>
            </a:r>
            <a:r>
              <a:rPr lang="en-US" dirty="0" err="1"/>
              <a:t>kompakten</a:t>
            </a:r>
            <a:r>
              <a:rPr lang="en-US" dirty="0"/>
              <a:t> </a:t>
            </a:r>
            <a:r>
              <a:rPr lang="en-US" dirty="0" err="1"/>
              <a:t>Listenansicht</a:t>
            </a:r>
            <a:r>
              <a:rPr lang="en-US" dirty="0"/>
              <a:t> und </a:t>
            </a:r>
            <a:r>
              <a:rPr lang="en-US" dirty="0" err="1"/>
              <a:t>einer</a:t>
            </a:r>
            <a:r>
              <a:rPr lang="en-US" dirty="0"/>
              <a:t> </a:t>
            </a:r>
            <a:r>
              <a:rPr lang="en-US" dirty="0" err="1"/>
              <a:t>Detailansicht</a:t>
            </a:r>
            <a:r>
              <a:rPr lang="en-US" dirty="0"/>
              <a:t> </a:t>
            </a:r>
            <a:r>
              <a:rPr lang="en-US" dirty="0" err="1"/>
              <a:t>mit</a:t>
            </a:r>
            <a:r>
              <a:rPr lang="en-US" dirty="0"/>
              <a:t> </a:t>
            </a:r>
            <a:r>
              <a:rPr lang="en-US" dirty="0" err="1"/>
              <a:t>allen</a:t>
            </a:r>
            <a:r>
              <a:rPr lang="en-US" dirty="0"/>
              <a:t> </a:t>
            </a:r>
            <a:r>
              <a:rPr lang="en-US" dirty="0" err="1"/>
              <a:t>Feldern</a:t>
            </a:r>
            <a:r>
              <a:rPr lang="en-US" dirty="0"/>
              <a:t> </a:t>
            </a:r>
            <a:r>
              <a:rPr lang="en-US" dirty="0" err="1"/>
              <a:t>inklusive</a:t>
            </a:r>
            <a:r>
              <a:rPr lang="en-US" dirty="0"/>
              <a:t> Abilities.</a:t>
            </a:r>
          </a:p>
          <a:p>
            <a:r>
              <a:rPr lang="en-US" dirty="0"/>
              <a:t>  Das </a:t>
            </a:r>
            <a:r>
              <a:rPr lang="en-US" dirty="0" err="1"/>
              <a:t>Datenbankschema</a:t>
            </a:r>
            <a:r>
              <a:rPr lang="en-US" dirty="0"/>
              <a:t> </a:t>
            </a:r>
            <a:r>
              <a:rPr lang="en-US" dirty="0" err="1"/>
              <a:t>wird</a:t>
            </a:r>
            <a:r>
              <a:rPr lang="en-US" dirty="0"/>
              <a:t> </a:t>
            </a:r>
            <a:r>
              <a:rPr lang="en-US" dirty="0" err="1"/>
              <a:t>über</a:t>
            </a:r>
            <a:r>
              <a:rPr lang="en-US" dirty="0"/>
              <a:t> Django Migrations </a:t>
            </a:r>
            <a:r>
              <a:rPr lang="en-US" dirty="0" err="1"/>
              <a:t>versioniert</a:t>
            </a:r>
            <a:r>
              <a:rPr lang="en-US" dirty="0"/>
              <a:t> und </a:t>
            </a:r>
            <a:r>
              <a:rPr lang="en-US" dirty="0" err="1"/>
              <a:t>beim</a:t>
            </a:r>
            <a:r>
              <a:rPr lang="en-US" dirty="0"/>
              <a:t> Start </a:t>
            </a:r>
            <a:r>
              <a:rPr lang="en-US" dirty="0" err="1"/>
              <a:t>automatisch</a:t>
            </a:r>
            <a:r>
              <a:rPr lang="en-US" dirty="0"/>
              <a:t> </a:t>
            </a:r>
            <a:r>
              <a:rPr lang="en-US" dirty="0" err="1"/>
              <a:t>angewendet</a:t>
            </a:r>
            <a:r>
              <a:rPr lang="en-US" dirty="0"/>
              <a:t>.</a:t>
            </a:r>
          </a:p>
          <a:p>
            <a:r>
              <a:rPr lang="en-US" dirty="0"/>
              <a:t>  Der </a:t>
            </a:r>
            <a:r>
              <a:rPr lang="en-US" dirty="0" err="1"/>
              <a:t>Kernvorteil</a:t>
            </a:r>
            <a:r>
              <a:rPr lang="en-US" dirty="0"/>
              <a:t> des </a:t>
            </a:r>
            <a:r>
              <a:rPr lang="en-US" dirty="0" err="1"/>
              <a:t>ganzen</a:t>
            </a:r>
            <a:r>
              <a:rPr lang="en-US" dirty="0"/>
              <a:t> Ansatzes: </a:t>
            </a:r>
            <a:r>
              <a:rPr lang="en-US" dirty="0" err="1"/>
              <a:t>Jede</a:t>
            </a:r>
            <a:r>
              <a:rPr lang="en-US" dirty="0"/>
              <a:t> </a:t>
            </a:r>
            <a:r>
              <a:rPr lang="en-US" dirty="0" err="1"/>
              <a:t>Komponente</a:t>
            </a:r>
            <a:r>
              <a:rPr lang="en-US" dirty="0"/>
              <a:t> </a:t>
            </a:r>
            <a:r>
              <a:rPr lang="en-US" dirty="0" err="1"/>
              <a:t>ist</a:t>
            </a:r>
            <a:r>
              <a:rPr lang="en-US" dirty="0"/>
              <a:t> </a:t>
            </a:r>
            <a:r>
              <a:rPr lang="en-US" dirty="0" err="1"/>
              <a:t>austauschbar</a:t>
            </a:r>
            <a:r>
              <a:rPr lang="en-US" dirty="0"/>
              <a:t> und </a:t>
            </a:r>
            <a:r>
              <a:rPr lang="en-US" dirty="0" err="1"/>
              <a:t>unabhängig</a:t>
            </a:r>
            <a:r>
              <a:rPr lang="en-US" dirty="0"/>
              <a:t> </a:t>
            </a:r>
            <a:r>
              <a:rPr lang="en-US" dirty="0" err="1"/>
              <a:t>testbar</a:t>
            </a:r>
            <a:r>
              <a:rPr lang="en-US" dirty="0"/>
              <a:t>.</a:t>
            </a:r>
          </a:p>
        </p:txBody>
      </p:sp>
      <p:sp>
        <p:nvSpPr>
          <p:cNvPr id="4" name="Slide Number Placeholder 3">
            <a:extLst>
              <a:ext uri="{FF2B5EF4-FFF2-40B4-BE49-F238E27FC236}">
                <a16:creationId xmlns:a16="http://schemas.microsoft.com/office/drawing/2014/main" id="{5BE065A3-37D2-A806-9EBD-07B66631ACC5}"/>
              </a:ext>
            </a:extLst>
          </p:cNvPr>
          <p:cNvSpPr>
            <a:spLocks noGrp="1"/>
          </p:cNvSpPr>
          <p:nvPr>
            <p:ph type="sldNum" sz="quarter" idx="5"/>
          </p:nvPr>
        </p:nvSpPr>
        <p:spPr/>
        <p:txBody>
          <a:bodyPr/>
          <a:lstStyle/>
          <a:p>
            <a:fld id="{60D61062-E9D8-4DAB-8118-1CF0D558F973}" type="slidenum">
              <a:rPr lang="en-US" smtClean="0"/>
              <a:t>12</a:t>
            </a:fld>
            <a:endParaRPr lang="en-US"/>
          </a:p>
        </p:txBody>
      </p:sp>
    </p:spTree>
    <p:extLst>
      <p:ext uri="{BB962C8B-B14F-4D97-AF65-F5344CB8AC3E}">
        <p14:creationId xmlns:p14="http://schemas.microsoft.com/office/powerpoint/2010/main" val="1588132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C717-CE25-1E7C-54CE-3F1C445C6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BF9-6DDE-E429-702B-16A320FA36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F9B575-3479-3967-22C8-A6FA67319104}"/>
              </a:ext>
            </a:extLst>
          </p:cNvPr>
          <p:cNvSpPr>
            <a:spLocks noGrp="1"/>
          </p:cNvSpPr>
          <p:nvPr>
            <p:ph type="body" idx="1"/>
          </p:nvPr>
        </p:nvSpPr>
        <p:spPr/>
        <p:txBody>
          <a:bodyPr/>
          <a:lstStyle/>
          <a:p>
            <a:r>
              <a:rPr lang="en-US"/>
              <a:t>leo OverFast API Adapter</a:t>
            </a:r>
          </a:p>
          <a:p>
            <a:pPr marL="285750" indent="-285750">
              <a:buFont typeface="Calibri"/>
              <a:buChar char="-"/>
            </a:pPr>
            <a:r>
              <a:rPr lang="en-US">
                <a:ea typeface="+mn-lt"/>
                <a:cs typeface="+mn-lt"/>
              </a:rPr>
              <a:t>Only Component that contacts external API</a:t>
            </a:r>
          </a:p>
          <a:p>
            <a:pPr marL="285750" indent="-285750">
              <a:buFont typeface="Calibri"/>
              <a:buChar char="-"/>
            </a:pPr>
            <a:r>
              <a:rPr lang="en-US"/>
              <a:t>3 API Calls per sync /</a:t>
            </a:r>
            <a:r>
              <a:rPr lang="en-US" err="1"/>
              <a:t>heroes</a:t>
            </a:r>
            <a:r>
              <a:rPr lang="en-US"/>
              <a:t> /hero/{key}, /heroes/stats</a:t>
            </a:r>
          </a:p>
          <a:p>
            <a:pPr marL="285750" indent="-285750">
              <a:buFont typeface="Calibri"/>
              <a:buChar char="-"/>
            </a:pPr>
            <a:r>
              <a:rPr lang="en-US"/>
              <a:t>Map raw JSON to internal </a:t>
            </a:r>
            <a:r>
              <a:rPr lang="en-US" err="1"/>
              <a:t>HeroEntity</a:t>
            </a:r>
            <a:r>
              <a:rPr lang="en-US"/>
              <a:t> Objects</a:t>
            </a:r>
          </a:p>
          <a:p>
            <a:pPr marL="285750" indent="-285750">
              <a:buFont typeface="Calibri"/>
              <a:buChar char="-"/>
            </a:pPr>
            <a:r>
              <a:rPr lang="en-US" err="1"/>
              <a:t>HeroSync</a:t>
            </a:r>
          </a:p>
          <a:p>
            <a:r>
              <a:rPr lang="en-US"/>
              <a:t>Fault Tolerance</a:t>
            </a:r>
          </a:p>
          <a:p>
            <a:pPr marL="285750" indent="-285750">
              <a:buFont typeface="Calibri"/>
              <a:buChar char="-"/>
            </a:pPr>
            <a:r>
              <a:rPr lang="en-US"/>
              <a:t>Local Cache -</a:t>
            </a:r>
          </a:p>
          <a:p>
            <a:pPr marL="285750" indent="-285750">
              <a:buFont typeface="Calibri"/>
              <a:buChar char="-"/>
            </a:pPr>
            <a:r>
              <a:rPr lang="en-US"/>
              <a:t>Retry + Timeout </a:t>
            </a:r>
          </a:p>
          <a:p>
            <a:pPr marL="285750" indent="-285750">
              <a:buFont typeface="Calibri"/>
              <a:buChar char="-"/>
            </a:pPr>
            <a:r>
              <a:rPr lang="en-US"/>
              <a:t>Graceful Degradation</a:t>
            </a:r>
          </a:p>
          <a:p>
            <a:pPr marL="285750" indent="-285750">
              <a:buFont typeface="Calibri"/>
              <a:buChar char="-"/>
            </a:pPr>
            <a:r>
              <a:rPr lang="en-US"/>
              <a:t>Last-Synced Timestamp</a:t>
            </a:r>
          </a:p>
        </p:txBody>
      </p:sp>
      <p:sp>
        <p:nvSpPr>
          <p:cNvPr id="4" name="Slide Number Placeholder 3">
            <a:extLst>
              <a:ext uri="{FF2B5EF4-FFF2-40B4-BE49-F238E27FC236}">
                <a16:creationId xmlns:a16="http://schemas.microsoft.com/office/drawing/2014/main" id="{06AEF177-C111-45BC-8216-63404371770A}"/>
              </a:ext>
            </a:extLst>
          </p:cNvPr>
          <p:cNvSpPr>
            <a:spLocks noGrp="1"/>
          </p:cNvSpPr>
          <p:nvPr>
            <p:ph type="sldNum" sz="quarter" idx="5"/>
          </p:nvPr>
        </p:nvSpPr>
        <p:spPr/>
        <p:txBody>
          <a:bodyPr/>
          <a:lstStyle/>
          <a:p>
            <a:fld id="{60D61062-E9D8-4DAB-8118-1CF0D558F973}" type="slidenum">
              <a:rPr lang="en-US" smtClean="0"/>
              <a:t>13</a:t>
            </a:fld>
            <a:endParaRPr lang="en-US"/>
          </a:p>
        </p:txBody>
      </p:sp>
    </p:spTree>
    <p:extLst>
      <p:ext uri="{BB962C8B-B14F-4D97-AF65-F5344CB8AC3E}">
        <p14:creationId xmlns:p14="http://schemas.microsoft.com/office/powerpoint/2010/main" val="4028203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7F47E-CA25-A6C8-CEC0-D281DCD66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39E17-7266-1061-DC87-56E18ABE80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82B4BC-3554-53C8-4FB0-419EE04D786A}"/>
              </a:ext>
            </a:extLst>
          </p:cNvPr>
          <p:cNvSpPr>
            <a:spLocks noGrp="1"/>
          </p:cNvSpPr>
          <p:nvPr>
            <p:ph type="body" idx="1"/>
          </p:nvPr>
        </p:nvSpPr>
        <p:spPr/>
        <p:txBody>
          <a:bodyPr/>
          <a:lstStyle/>
          <a:p>
            <a:r>
              <a:rPr lang="de-DE" dirty="0"/>
              <a:t>CRUD-Flow für Team </a:t>
            </a:r>
            <a:r>
              <a:rPr lang="de-DE" dirty="0" err="1"/>
              <a:t>Compositions</a:t>
            </a:r>
            <a:endParaRPr lang="de-DE" dirty="0"/>
          </a:p>
          <a:p>
            <a:r>
              <a:rPr lang="de-DE" dirty="0"/>
              <a:t>Nutzer über JWT authentifiziert -&gt; Frontend sendet Teamname + 5 Hero-Keys -&gt; Team </a:t>
            </a:r>
            <a:r>
              <a:rPr lang="de-DE" dirty="0" err="1"/>
              <a:t>Composition</a:t>
            </a:r>
            <a:r>
              <a:rPr lang="de-DE" dirty="0"/>
              <a:t> API = Inbound Adapter -&gt; API prüft Auth + Request-</a:t>
            </a:r>
            <a:r>
              <a:rPr lang="de-DE" dirty="0" err="1"/>
              <a:t>DatenService</a:t>
            </a:r>
            <a:r>
              <a:rPr lang="de-DE" dirty="0"/>
              <a:t> koordiniert Use Case -&gt; Service lädt Heroes über </a:t>
            </a:r>
            <a:r>
              <a:rPr lang="de-DE" sz="1200" kern="1200" dirty="0" err="1">
                <a:solidFill>
                  <a:schemeClr val="tx1"/>
                </a:solidFill>
                <a:latin typeface="+mn-lt"/>
                <a:ea typeface="+mn-ea"/>
                <a:cs typeface="+mn-cs"/>
              </a:rPr>
              <a:t>HeroPort</a:t>
            </a:r>
            <a:r>
              <a:rPr lang="de-DE" sz="1200" kern="1200" dirty="0">
                <a:solidFill>
                  <a:schemeClr val="tx1"/>
                </a:solidFill>
                <a:latin typeface="+mn-lt"/>
                <a:ea typeface="+mn-ea"/>
                <a:cs typeface="+mn-cs"/>
              </a:rPr>
              <a:t> -&gt; </a:t>
            </a:r>
            <a:r>
              <a:rPr lang="de-DE" sz="1200" kern="1200" dirty="0" err="1">
                <a:solidFill>
                  <a:schemeClr val="tx1"/>
                </a:solidFill>
                <a:latin typeface="+mn-lt"/>
                <a:ea typeface="+mn-ea"/>
                <a:cs typeface="+mn-cs"/>
              </a:rPr>
              <a:t>HeroDataBaseAdapter</a:t>
            </a:r>
            <a:r>
              <a:rPr lang="de-DE" dirty="0"/>
              <a:t> liest Rollen aus DB -&gt; </a:t>
            </a:r>
            <a:r>
              <a:rPr lang="de-DE" sz="1200" kern="1200" dirty="0" err="1">
                <a:solidFill>
                  <a:schemeClr val="tx1"/>
                </a:solidFill>
                <a:latin typeface="+mn-lt"/>
                <a:ea typeface="+mn-ea"/>
                <a:cs typeface="+mn-cs"/>
              </a:rPr>
              <a:t>TeamCompositionEntity.create</a:t>
            </a:r>
            <a:r>
              <a:rPr lang="de-DE" sz="1200" kern="1200" dirty="0">
                <a:solidFill>
                  <a:schemeClr val="tx1"/>
                </a:solidFill>
                <a:latin typeface="+mn-lt"/>
                <a:ea typeface="+mn-ea"/>
                <a:cs typeface="+mn-cs"/>
              </a:rPr>
              <a:t>()</a:t>
            </a:r>
            <a:r>
              <a:rPr lang="de-DE" dirty="0"/>
              <a:t> validiert: genau 5 Heroes; keine Duplikate; 1 Tank, 2 Damage, 2 Support</a:t>
            </a:r>
          </a:p>
          <a:p>
            <a:r>
              <a:rPr lang="de-DE" dirty="0"/>
              <a:t>gültige Entity an </a:t>
            </a:r>
            <a:r>
              <a:rPr lang="de-DE" sz="1200" kern="1200" dirty="0" err="1">
                <a:solidFill>
                  <a:schemeClr val="tx1"/>
                </a:solidFill>
                <a:latin typeface="+mn-lt"/>
                <a:ea typeface="+mn-ea"/>
                <a:cs typeface="+mn-cs"/>
              </a:rPr>
              <a:t>TeamCompositionPort</a:t>
            </a:r>
            <a:r>
              <a:rPr lang="de-DE" sz="1200" kern="1200" dirty="0">
                <a:solidFill>
                  <a:schemeClr val="tx1"/>
                </a:solidFill>
                <a:latin typeface="+mn-lt"/>
                <a:ea typeface="+mn-ea"/>
                <a:cs typeface="+mn-cs"/>
              </a:rPr>
              <a:t> -&gt; </a:t>
            </a:r>
            <a:r>
              <a:rPr lang="de-DE" sz="1200" kern="1200" dirty="0" err="1">
                <a:solidFill>
                  <a:schemeClr val="tx1"/>
                </a:solidFill>
                <a:latin typeface="+mn-lt"/>
                <a:ea typeface="+mn-ea"/>
                <a:cs typeface="+mn-cs"/>
              </a:rPr>
              <a:t>TeamCompositionDatabaseAdapter</a:t>
            </a:r>
            <a:r>
              <a:rPr lang="de-DE" dirty="0"/>
              <a:t> speichert per Django ORM</a:t>
            </a:r>
          </a:p>
          <a:p>
            <a:r>
              <a:rPr lang="de-DE" dirty="0"/>
              <a:t>-&gt;</a:t>
            </a:r>
            <a:r>
              <a:rPr lang="de-DE"/>
              <a:t>teststrategie</a:t>
            </a:r>
            <a:endParaRPr lang="en-US" dirty="0"/>
          </a:p>
        </p:txBody>
      </p:sp>
      <p:sp>
        <p:nvSpPr>
          <p:cNvPr id="4" name="Slide Number Placeholder 3">
            <a:extLst>
              <a:ext uri="{FF2B5EF4-FFF2-40B4-BE49-F238E27FC236}">
                <a16:creationId xmlns:a16="http://schemas.microsoft.com/office/drawing/2014/main" id="{D091FCA5-254B-AC95-785B-64CA7F2F2B5E}"/>
              </a:ext>
            </a:extLst>
          </p:cNvPr>
          <p:cNvSpPr>
            <a:spLocks noGrp="1"/>
          </p:cNvSpPr>
          <p:nvPr>
            <p:ph type="sldNum" sz="quarter" idx="5"/>
          </p:nvPr>
        </p:nvSpPr>
        <p:spPr/>
        <p:txBody>
          <a:bodyPr/>
          <a:lstStyle/>
          <a:p>
            <a:fld id="{60D61062-E9D8-4DAB-8118-1CF0D558F973}" type="slidenum">
              <a:rPr lang="en-US" smtClean="0"/>
              <a:t>14</a:t>
            </a:fld>
            <a:endParaRPr lang="en-US"/>
          </a:p>
        </p:txBody>
      </p:sp>
    </p:spTree>
    <p:extLst>
      <p:ext uri="{BB962C8B-B14F-4D97-AF65-F5344CB8AC3E}">
        <p14:creationId xmlns:p14="http://schemas.microsoft.com/office/powerpoint/2010/main" val="2063441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Überblick über verwendete Testtools</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Playwright:E2E-Tests im echten Browser</a:t>
            </a:r>
          </a:p>
          <a:p>
            <a:r>
              <a:rPr lang="de-DE" dirty="0"/>
              <a:t>Backend: Python + Django</a:t>
            </a:r>
          </a:p>
          <a:p>
            <a:r>
              <a:rPr lang="de-DE" dirty="0"/>
              <a:t>Django Test Framework: Test Runner, </a:t>
            </a:r>
            <a:r>
              <a:rPr lang="de-DE" sz="1200" kern="1200" dirty="0">
                <a:solidFill>
                  <a:schemeClr val="tx1"/>
                </a:solidFill>
                <a:latin typeface="+mn-lt"/>
                <a:ea typeface="+mn-ea"/>
                <a:cs typeface="+mn-cs"/>
              </a:rPr>
              <a:t>Django </a:t>
            </a:r>
            <a:r>
              <a:rPr lang="de-DE" sz="1200" kern="1200" dirty="0" err="1">
                <a:solidFill>
                  <a:schemeClr val="tx1"/>
                </a:solidFill>
                <a:latin typeface="+mn-lt"/>
                <a:ea typeface="+mn-ea"/>
                <a:cs typeface="+mn-cs"/>
              </a:rPr>
              <a:t>TestCase</a:t>
            </a:r>
            <a:r>
              <a:rPr lang="de-DE" sz="1200" kern="1200" dirty="0">
                <a:solidFill>
                  <a:schemeClr val="tx1"/>
                </a:solidFill>
                <a:latin typeface="+mn-lt"/>
                <a:ea typeface="+mn-ea"/>
                <a:cs typeface="+mn-cs"/>
              </a:rPr>
              <a:t>, </a:t>
            </a:r>
            <a:r>
              <a:rPr lang="de-DE" dirty="0"/>
              <a:t>separate Testdatenbank, Zugriff auf Models, Views, Django-Kontext</a:t>
            </a:r>
          </a:p>
          <a:p>
            <a:r>
              <a:rPr lang="de-DE" dirty="0"/>
              <a:t>DRF </a:t>
            </a:r>
            <a:r>
              <a:rPr lang="de-DE" dirty="0" err="1"/>
              <a:t>APIClient</a:t>
            </a:r>
            <a:r>
              <a:rPr lang="de-DE" dirty="0"/>
              <a:t>: simuliert API-</a:t>
            </a:r>
            <a:r>
              <a:rPr lang="de-DE" dirty="0" err="1"/>
              <a:t>Requests</a:t>
            </a:r>
            <a:r>
              <a:rPr lang="de-DE" dirty="0"/>
              <a:t> ohne echten Server auf </a:t>
            </a:r>
            <a:r>
              <a:rPr lang="de-DE" sz="1200" kern="1200" dirty="0" err="1">
                <a:solidFill>
                  <a:schemeClr val="tx1"/>
                </a:solidFill>
                <a:latin typeface="+mn-lt"/>
                <a:ea typeface="+mn-ea"/>
                <a:cs typeface="+mn-cs"/>
              </a:rPr>
              <a:t>localhost</a:t>
            </a:r>
            <a:endParaRPr lang="de-DE" dirty="0"/>
          </a:p>
          <a:p>
            <a:r>
              <a:rPr lang="de-DE" dirty="0"/>
              <a:t>Frontend: </a:t>
            </a:r>
            <a:r>
              <a:rPr lang="de-DE" dirty="0" err="1"/>
              <a:t>VitestTest</a:t>
            </a:r>
            <a:r>
              <a:rPr lang="de-DE" dirty="0"/>
              <a:t> Runner + Testframework für </a:t>
            </a:r>
            <a:r>
              <a:rPr lang="de-DE" dirty="0" err="1"/>
              <a:t>TypeScript</a:t>
            </a:r>
            <a:r>
              <a:rPr lang="de-DE" dirty="0"/>
              <a:t>, passt gut zu Vite</a:t>
            </a:r>
          </a:p>
          <a:p>
            <a:r>
              <a:rPr lang="de-DE" dirty="0"/>
              <a:t>React </a:t>
            </a:r>
            <a:r>
              <a:rPr lang="de-DE" dirty="0" err="1"/>
              <a:t>Testing</a:t>
            </a:r>
            <a:r>
              <a:rPr lang="de-DE" dirty="0"/>
              <a:t> Library: rendert React-Komponenten, simuliert Nutzerinteraktionen, prüft UI-Reaktion</a:t>
            </a:r>
          </a:p>
          <a:p>
            <a:r>
              <a:rPr lang="de-DE" dirty="0" err="1"/>
              <a:t>SonarCloud</a:t>
            </a:r>
            <a:r>
              <a:rPr lang="de-DE" dirty="0"/>
              <a:t>/</a:t>
            </a:r>
            <a:r>
              <a:rPr lang="de-DE" dirty="0" err="1"/>
              <a:t>SonarQube</a:t>
            </a:r>
            <a:r>
              <a:rPr lang="de-DE" dirty="0"/>
              <a:t> für Qualität, Coverage, </a:t>
            </a:r>
            <a:r>
              <a:rPr lang="de-DE" dirty="0" err="1"/>
              <a:t>Issues</a:t>
            </a:r>
            <a:endParaRPr lang="de-DE" dirty="0"/>
          </a:p>
          <a:p>
            <a:r>
              <a:rPr lang="de-DE" dirty="0"/>
              <a:t>-&gt; Was wird damit getestet</a:t>
            </a:r>
          </a:p>
        </p:txBody>
      </p:sp>
      <p:sp>
        <p:nvSpPr>
          <p:cNvPr id="4" name="Slide Number Placeholder 3"/>
          <p:cNvSpPr>
            <a:spLocks noGrp="1"/>
          </p:cNvSpPr>
          <p:nvPr>
            <p:ph type="sldNum" sz="quarter" idx="5"/>
          </p:nvPr>
        </p:nvSpPr>
        <p:spPr/>
        <p:txBody>
          <a:bodyPr/>
          <a:lstStyle/>
          <a:p>
            <a:fld id="{60D61062-E9D8-4DAB-8118-1CF0D558F973}" type="slidenum">
              <a:rPr lang="en-US" smtClean="0"/>
              <a:t>15</a:t>
            </a:fld>
            <a:endParaRPr lang="en-US"/>
          </a:p>
        </p:txBody>
      </p:sp>
    </p:spTree>
    <p:extLst>
      <p:ext uri="{BB962C8B-B14F-4D97-AF65-F5344CB8AC3E}">
        <p14:creationId xmlns:p14="http://schemas.microsoft.com/office/powerpoint/2010/main" val="1940387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Übersicht aller Testarten + Tools</a:t>
            </a:r>
          </a:p>
          <a:p>
            <a:r>
              <a:rPr lang="de-DE" dirty="0"/>
              <a:t>Unit Tests: Backend: Domain-/Service-Logik</a:t>
            </a:r>
          </a:p>
          <a:p>
            <a:r>
              <a:rPr lang="de-DE" dirty="0"/>
              <a:t>Frontend: einzelne React-Komponenten</a:t>
            </a:r>
          </a:p>
          <a:p>
            <a:r>
              <a:rPr lang="de-DE" dirty="0"/>
              <a:t>Integration Tests: Backend mit Django </a:t>
            </a:r>
            <a:r>
              <a:rPr lang="de-DE" dirty="0" err="1"/>
              <a:t>TestCase</a:t>
            </a:r>
            <a:r>
              <a:rPr lang="de-DE" dirty="0"/>
              <a:t> + DRF </a:t>
            </a:r>
            <a:r>
              <a:rPr lang="de-DE" dirty="0" err="1"/>
              <a:t>APIClient</a:t>
            </a:r>
            <a:endParaRPr lang="de-DE" dirty="0"/>
          </a:p>
          <a:p>
            <a:r>
              <a:rPr lang="de-DE" dirty="0"/>
              <a:t>keine dedizierten Frontend-Integrationstests</a:t>
            </a:r>
          </a:p>
          <a:p>
            <a:r>
              <a:rPr lang="de-DE" dirty="0"/>
              <a:t>teilweise durch Komponententests + E2E abgedeckt</a:t>
            </a:r>
          </a:p>
          <a:p>
            <a:r>
              <a:rPr lang="de-DE" dirty="0"/>
              <a:t>Security Tests: wichtig wegen user-spezifischer Daten</a:t>
            </a:r>
          </a:p>
          <a:p>
            <a:r>
              <a:rPr lang="de-DE" dirty="0"/>
              <a:t>401 ohne Auth</a:t>
            </a:r>
          </a:p>
          <a:p>
            <a:r>
              <a:rPr lang="de-DE" dirty="0"/>
              <a:t>nur eigene Team </a:t>
            </a:r>
            <a:r>
              <a:rPr lang="de-DE" dirty="0" err="1"/>
              <a:t>Comps</a:t>
            </a:r>
            <a:r>
              <a:rPr lang="de-DE" dirty="0"/>
              <a:t> sichtbar/bearbeitbar</a:t>
            </a:r>
          </a:p>
          <a:p>
            <a:r>
              <a:rPr lang="de-DE" dirty="0"/>
              <a:t>fremde Teams -&gt; 404</a:t>
            </a:r>
          </a:p>
          <a:p>
            <a:r>
              <a:rPr lang="de-DE" dirty="0"/>
              <a:t>Architecture Tests: Strukturregeln für code</a:t>
            </a:r>
          </a:p>
          <a:p>
            <a:r>
              <a:rPr lang="de-DE" dirty="0"/>
              <a:t>Backend: Services importieren keine Adapter/Models</a:t>
            </a:r>
          </a:p>
          <a:p>
            <a:r>
              <a:rPr lang="de-DE" dirty="0"/>
              <a:t>Services kennen nur Ports + Domain</a:t>
            </a:r>
          </a:p>
          <a:p>
            <a:r>
              <a:rPr lang="de-DE" dirty="0"/>
              <a:t>Frontend: keine Importzyklen</a:t>
            </a:r>
          </a:p>
          <a:p>
            <a:r>
              <a:rPr lang="de-DE" dirty="0"/>
              <a:t>geschützte API-Calls über </a:t>
            </a:r>
            <a:r>
              <a:rPr lang="de-DE" sz="1200" kern="1200" dirty="0" err="1">
                <a:solidFill>
                  <a:schemeClr val="tx1"/>
                </a:solidFill>
                <a:latin typeface="+mn-lt"/>
                <a:ea typeface="+mn-ea"/>
                <a:cs typeface="+mn-cs"/>
              </a:rPr>
              <a:t>auth.ts</a:t>
            </a:r>
            <a:endParaRPr lang="de-DE" dirty="0"/>
          </a:p>
          <a:p>
            <a:r>
              <a:rPr lang="de-DE" dirty="0"/>
              <a:t>E2E </a:t>
            </a:r>
            <a:r>
              <a:rPr lang="de-DE" dirty="0" err="1"/>
              <a:t>Playwright</a:t>
            </a:r>
            <a:r>
              <a:rPr lang="de-DE" dirty="0"/>
              <a:t>: Hero suchen/anzeigen, Registrierung/Login, Team erstellen, speichern, laden</a:t>
            </a:r>
          </a:p>
          <a:p>
            <a:r>
              <a:rPr lang="de-DE" dirty="0"/>
              <a:t>Static Analysis: Ruff, </a:t>
            </a:r>
            <a:r>
              <a:rPr lang="de-DE" dirty="0" err="1"/>
              <a:t>ESLint</a:t>
            </a:r>
            <a:r>
              <a:rPr lang="de-DE" dirty="0"/>
              <a:t>, </a:t>
            </a:r>
            <a:r>
              <a:rPr lang="de-DE" dirty="0" err="1"/>
              <a:t>SonarCloud</a:t>
            </a:r>
            <a:r>
              <a:rPr lang="de-DE" dirty="0"/>
              <a:t>/</a:t>
            </a:r>
            <a:r>
              <a:rPr lang="de-DE" dirty="0" err="1"/>
              <a:t>SonarQube</a:t>
            </a:r>
            <a:endParaRPr lang="de-DE" dirty="0"/>
          </a:p>
          <a:p>
            <a:r>
              <a:rPr lang="de-DE" dirty="0"/>
              <a:t>-&gt; </a:t>
            </a:r>
            <a:r>
              <a:rPr lang="de-DE" dirty="0" err="1"/>
              <a:t>automatisierung</a:t>
            </a:r>
            <a:endParaRPr lang="de-DE" dirty="0"/>
          </a:p>
          <a:p>
            <a:endParaRPr lang="en-US" dirty="0"/>
          </a:p>
        </p:txBody>
      </p:sp>
      <p:sp>
        <p:nvSpPr>
          <p:cNvPr id="4" name="Slide Number Placeholder 3"/>
          <p:cNvSpPr>
            <a:spLocks noGrp="1"/>
          </p:cNvSpPr>
          <p:nvPr>
            <p:ph type="sldNum" sz="quarter" idx="5"/>
          </p:nvPr>
        </p:nvSpPr>
        <p:spPr/>
        <p:txBody>
          <a:bodyPr/>
          <a:lstStyle/>
          <a:p>
            <a:fld id="{60D61062-E9D8-4DAB-8118-1CF0D558F973}" type="slidenum">
              <a:rPr lang="en-US" smtClean="0"/>
              <a:t>16</a:t>
            </a:fld>
            <a:endParaRPr lang="en-US"/>
          </a:p>
        </p:txBody>
      </p:sp>
    </p:spTree>
    <p:extLst>
      <p:ext uri="{BB962C8B-B14F-4D97-AF65-F5344CB8AC3E}">
        <p14:creationId xmlns:p14="http://schemas.microsoft.com/office/powerpoint/2010/main" val="128511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t>
            </a:r>
            <a:r>
              <a:rPr lang="en-US" dirty="0" err="1"/>
              <a:t>läuft</a:t>
            </a:r>
            <a:r>
              <a:rPr lang="en-US" dirty="0"/>
              <a:t> </a:t>
            </a:r>
            <a:r>
              <a:rPr lang="en-US" dirty="0" err="1"/>
              <a:t>bei</a:t>
            </a:r>
            <a:r>
              <a:rPr lang="en-US" dirty="0"/>
              <a:t> push auf main und pull requests</a:t>
            </a:r>
          </a:p>
          <a:p>
            <a:r>
              <a:rPr lang="en-US" dirty="0"/>
              <a:t>Linter</a:t>
            </a:r>
          </a:p>
          <a:p>
            <a:r>
              <a:rPr lang="en-US" dirty="0" err="1"/>
              <a:t>Architekturtests</a:t>
            </a:r>
            <a:endParaRPr lang="en-US" dirty="0"/>
          </a:p>
          <a:p>
            <a:r>
              <a:rPr lang="en-US" dirty="0"/>
              <a:t>Unit tests, coverage </a:t>
            </a:r>
            <a:r>
              <a:rPr lang="en-US" dirty="0" err="1"/>
              <a:t>generierung</a:t>
            </a:r>
            <a:r>
              <a:rPr lang="en-US" dirty="0"/>
              <a:t> und integration tests</a:t>
            </a:r>
          </a:p>
          <a:p>
            <a:r>
              <a:rPr lang="en-US" dirty="0"/>
              <a:t>Frontend build</a:t>
            </a:r>
          </a:p>
          <a:p>
            <a:r>
              <a:rPr lang="en-US" dirty="0"/>
              <a:t>Playwright tests</a:t>
            </a:r>
          </a:p>
          <a:p>
            <a:r>
              <a:rPr lang="en-US" dirty="0" err="1"/>
              <a:t>sonarqube</a:t>
            </a:r>
            <a:r>
              <a:rPr lang="en-US" dirty="0"/>
              <a:t> scan</a:t>
            </a:r>
          </a:p>
          <a:p>
            <a:r>
              <a:rPr lang="en-US" dirty="0"/>
              <a:t>0 issues, </a:t>
            </a:r>
            <a:r>
              <a:rPr lang="en-US" dirty="0" err="1"/>
              <a:t>keine</a:t>
            </a:r>
            <a:r>
              <a:rPr lang="en-US" dirty="0"/>
              <a:t> duplications und 87% coverage</a:t>
            </a:r>
          </a:p>
          <a:p>
            <a:endParaRPr lang="en-US" dirty="0"/>
          </a:p>
          <a:p>
            <a:r>
              <a:rPr lang="en-US" dirty="0"/>
              <a:t>-&gt;</a:t>
            </a:r>
            <a:r>
              <a:rPr lang="en-US" dirty="0" err="1"/>
              <a:t>erfahrungen</a:t>
            </a:r>
            <a:r>
              <a:rPr lang="en-US" dirty="0"/>
              <a:t> und learnings</a:t>
            </a:r>
          </a:p>
        </p:txBody>
      </p:sp>
      <p:sp>
        <p:nvSpPr>
          <p:cNvPr id="4" name="Slide Number Placeholder 3"/>
          <p:cNvSpPr>
            <a:spLocks noGrp="1"/>
          </p:cNvSpPr>
          <p:nvPr>
            <p:ph type="sldNum" sz="quarter" idx="5"/>
          </p:nvPr>
        </p:nvSpPr>
        <p:spPr/>
        <p:txBody>
          <a:bodyPr/>
          <a:lstStyle/>
          <a:p>
            <a:fld id="{60D61062-E9D8-4DAB-8118-1CF0D558F973}" type="slidenum">
              <a:rPr lang="en-US" smtClean="0"/>
              <a:t>17</a:t>
            </a:fld>
            <a:endParaRPr lang="en-US"/>
          </a:p>
        </p:txBody>
      </p:sp>
    </p:spTree>
    <p:extLst>
      <p:ext uri="{BB962C8B-B14F-4D97-AF65-F5344CB8AC3E}">
        <p14:creationId xmlns:p14="http://schemas.microsoft.com/office/powerpoint/2010/main" val="2885678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BB8B-640F-08E1-6768-17F6C352A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F5BE1-6FA4-0D86-AC65-5EDC58A2B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24B2C-3184-D558-8CD7-42A2F425C890}"/>
              </a:ext>
            </a:extLst>
          </p:cNvPr>
          <p:cNvSpPr>
            <a:spLocks noGrp="1"/>
          </p:cNvSpPr>
          <p:nvPr>
            <p:ph type="body" idx="1"/>
          </p:nvPr>
        </p:nvSpPr>
        <p:spPr/>
        <p:txBody>
          <a:bodyPr/>
          <a:lstStyle/>
          <a:p>
            <a:r>
              <a:rPr lang="en-US"/>
              <a:t>ursprünglich jest verwenden, da weit verbreitet und empfohlen und auch anbindung mit typescript über babel, aber integration/setup mit typescript war nicht möglich</a:t>
            </a:r>
          </a:p>
          <a:p>
            <a:r>
              <a:rPr lang="en-US"/>
              <a:t>sprung zu Vitest, was nativ zu Vite ist</a:t>
            </a:r>
          </a:p>
        </p:txBody>
      </p:sp>
      <p:sp>
        <p:nvSpPr>
          <p:cNvPr id="4" name="Slide Number Placeholder 3">
            <a:extLst>
              <a:ext uri="{FF2B5EF4-FFF2-40B4-BE49-F238E27FC236}">
                <a16:creationId xmlns:a16="http://schemas.microsoft.com/office/drawing/2014/main" id="{D86C2FC2-74BD-C3F5-1957-D11E78F456D4}"/>
              </a:ext>
            </a:extLst>
          </p:cNvPr>
          <p:cNvSpPr>
            <a:spLocks noGrp="1"/>
          </p:cNvSpPr>
          <p:nvPr>
            <p:ph type="sldNum" sz="quarter" idx="5"/>
          </p:nvPr>
        </p:nvSpPr>
        <p:spPr/>
        <p:txBody>
          <a:bodyPr/>
          <a:lstStyle/>
          <a:p>
            <a:fld id="{60D61062-E9D8-4DAB-8118-1CF0D558F973}" type="slidenum">
              <a:rPr lang="en-US" smtClean="0"/>
              <a:t>18</a:t>
            </a:fld>
            <a:endParaRPr lang="en-US"/>
          </a:p>
        </p:txBody>
      </p:sp>
    </p:spTree>
    <p:extLst>
      <p:ext uri="{BB962C8B-B14F-4D97-AF65-F5344CB8AC3E}">
        <p14:creationId xmlns:p14="http://schemas.microsoft.com/office/powerpoint/2010/main" val="954720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B1662-EC8B-52FB-0987-7EA3CA1A6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844D8-3FEB-A060-B6F3-0F249DA141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F5718B-8520-34AE-90DE-BBB486076B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EE18D-8F50-E020-8034-6FDB32A15AFF}"/>
              </a:ext>
            </a:extLst>
          </p:cNvPr>
          <p:cNvSpPr>
            <a:spLocks noGrp="1"/>
          </p:cNvSpPr>
          <p:nvPr>
            <p:ph type="sldNum" sz="quarter" idx="5"/>
          </p:nvPr>
        </p:nvSpPr>
        <p:spPr/>
        <p:txBody>
          <a:bodyPr/>
          <a:lstStyle/>
          <a:p>
            <a:fld id="{60D61062-E9D8-4DAB-8118-1CF0D558F973}" type="slidenum">
              <a:rPr lang="en-US" smtClean="0"/>
              <a:t>19</a:t>
            </a:fld>
            <a:endParaRPr lang="en-US"/>
          </a:p>
        </p:txBody>
      </p:sp>
    </p:spTree>
    <p:extLst>
      <p:ext uri="{BB962C8B-B14F-4D97-AF65-F5344CB8AC3E}">
        <p14:creationId xmlns:p14="http://schemas.microsoft.com/office/powerpoint/2010/main" val="148744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337485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195856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214301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0BD348-92FB-45D5-94E3-8A197772B7D9}"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1086570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0BD348-92FB-45D5-94E3-8A197772B7D9}"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3382819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0BD348-92FB-45D5-94E3-8A197772B7D9}"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3864995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0BD348-92FB-45D5-94E3-8A197772B7D9}"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14605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1405911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740BD348-92FB-45D5-94E3-8A197772B7D9}" type="datetimeFigureOut">
              <a:rPr lang="en-US" smtClean="0"/>
              <a:t>6/30/2026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1403942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atin typeface="Cascadia Code" panose="020B0609020000020004" pitchFamily="49" charset="0"/>
              </a:defRPr>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0BD348-92FB-45D5-94E3-8A197772B7D9}"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56558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3808587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740BD348-92FB-45D5-94E3-8A197772B7D9}"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200131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2486545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BD348-92FB-45D5-94E3-8A197772B7D9}"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A7E34D-6B37-4BA6-A354-C6C091B434FB}" type="slidenum">
              <a:rPr lang="en-US" smtClean="0"/>
              <a:t>‹Nr.›</a:t>
            </a:fld>
            <a:endParaRPr lang="en-US"/>
          </a:p>
        </p:txBody>
      </p:sp>
    </p:spTree>
    <p:extLst>
      <p:ext uri="{BB962C8B-B14F-4D97-AF65-F5344CB8AC3E}">
        <p14:creationId xmlns:p14="http://schemas.microsoft.com/office/powerpoint/2010/main" val="244209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latin typeface="Cascadia Code" panose="020B0609020000020004" pitchFamily="49" charset="0"/>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latin typeface="Cascadia Code" panose="020B0609020000020004" pitchFamily="49" charset="0"/>
              </a:defRPr>
            </a:lvl1pPr>
          </a:lstStyle>
          <a:p>
            <a:fld id="{740BD348-92FB-45D5-94E3-8A197772B7D9}" type="datetimeFigureOut">
              <a:rPr lang="en-US" smtClean="0"/>
              <a:pPr/>
              <a:t>6/30/2026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latin typeface="Cascadia Code" panose="020B0609020000020004" pitchFamily="49" charset="0"/>
              </a:defRPr>
            </a:lvl1pPr>
          </a:lstStyle>
          <a:p>
            <a:fld id="{05A7E34D-6B37-4BA6-A354-C6C091B434FB}" type="slidenum">
              <a:rPr lang="en-US" smtClean="0"/>
              <a:pPr/>
              <a:t>‹Nr.›</a:t>
            </a:fld>
            <a:endParaRPr lang="en-US"/>
          </a:p>
        </p:txBody>
      </p:sp>
    </p:spTree>
    <p:extLst>
      <p:ext uri="{BB962C8B-B14F-4D97-AF65-F5344CB8AC3E}">
        <p14:creationId xmlns:p14="http://schemas.microsoft.com/office/powerpoint/2010/main" val="1300848249"/>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Lst>
  <p:txStyles>
    <p:titleStyle>
      <a:lvl1pPr algn="l" defTabSz="457200" rtl="0" eaLnBrk="1" latinLnBrk="0" hangingPunct="1">
        <a:spcBef>
          <a:spcPct val="0"/>
        </a:spcBef>
        <a:buNone/>
        <a:defRPr sz="4000" b="1" kern="1200">
          <a:solidFill>
            <a:srgbClr val="FEFEFE"/>
          </a:solidFill>
          <a:latin typeface="Cascadia Code" panose="020B0609020000020004" pitchFamily="49"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Cascadia Code" panose="020B0609020000020004" pitchFamily="49" charset="0"/>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Cascadia Code" panose="020B0609020000020004" pitchFamily="49" charset="0"/>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Cascadia Code" panose="020B0609020000020004" pitchFamily="49" charset="0"/>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Cascadia Code" panose="020B0609020000020004" pitchFamily="49"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4.jpe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hyperlink" Target="https://www.svgrepo.com/svg/353657/django-icon" TargetMode="External"/><Relationship Id="rId13" Type="http://schemas.openxmlformats.org/officeDocument/2006/relationships/hyperlink" Target="https://techicons.dev/icons/react" TargetMode="External"/><Relationship Id="rId3" Type="http://schemas.openxmlformats.org/officeDocument/2006/relationships/hyperlink" Target="https://interfaceingame.com/screenshots/overwatch-2-character-selection/" TargetMode="External"/><Relationship Id="rId7" Type="http://schemas.openxmlformats.org/officeDocument/2006/relationships/hyperlink" Target="https://overwatch.blizzard.com/en-gb/news/23857518/initializing-systems-updating-competitive-play-for-overwatch-2/" TargetMode="External"/><Relationship Id="rId12" Type="http://schemas.openxmlformats.org/officeDocument/2006/relationships/hyperlink" Target="https://techicons.dev/icons/python" TargetMode="External"/><Relationship Id="rId2" Type="http://schemas.openxmlformats.org/officeDocument/2006/relationships/notesSlide" Target="../notesSlides/notesSlide19.xml"/><Relationship Id="rId16" Type="http://schemas.openxmlformats.org/officeDocument/2006/relationships/hyperlink" Target="https://www.streamlinehq.com/icons/download/vitest--31103" TargetMode="External"/><Relationship Id="rId1" Type="http://schemas.openxmlformats.org/officeDocument/2006/relationships/slideLayout" Target="../slideLayouts/slideLayout1.xml"/><Relationship Id="rId6" Type="http://schemas.openxmlformats.org/officeDocument/2006/relationships/hyperlink" Target="https://esports.gg/news/overwatch/overwatch-conquest-event-grants-over-90-loot-boxes/" TargetMode="External"/><Relationship Id="rId11" Type="http://schemas.openxmlformats.org/officeDocument/2006/relationships/hyperlink" Target="https://techicons.dev/icons/postgresql" TargetMode="External"/><Relationship Id="rId5" Type="http://schemas.openxmlformats.org/officeDocument/2006/relationships/hyperlink" Target="https://overwatch.fandom.com/wiki/Mizuki" TargetMode="External"/><Relationship Id="rId15" Type="http://schemas.openxmlformats.org/officeDocument/2006/relationships/hyperlink" Target="https://techicons.dev/icons/typescript" TargetMode="External"/><Relationship Id="rId10" Type="http://schemas.openxmlformats.org/officeDocument/2006/relationships/hyperlink" Target="https://techicons.dev/icons/playwright" TargetMode="External"/><Relationship Id="rId4" Type="http://schemas.openxmlformats.org/officeDocument/2006/relationships/hyperlink" Target="https://overwatch.fandom.com/wiki/King%27s_Row" TargetMode="External"/><Relationship Id="rId9" Type="http://schemas.openxmlformats.org/officeDocument/2006/relationships/hyperlink" Target="https://techicons.dev/icons/docker" TargetMode="External"/><Relationship Id="rId14" Type="http://schemas.openxmlformats.org/officeDocument/2006/relationships/hyperlink" Target="https://techicons.dev/icons/sonarqub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2D5E-789E-474C-70AE-A01E474209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3834BC-5ECC-DBE5-570B-3FCA9E1B6B4D}"/>
              </a:ext>
            </a:extLst>
          </p:cNvPr>
          <p:cNvSpPr/>
          <p:nvPr/>
        </p:nvSpPr>
        <p:spPr>
          <a:xfrm>
            <a:off x="0" y="0"/>
            <a:ext cx="12192000" cy="6858000"/>
          </a:xfrm>
          <a:prstGeom prst="rect">
            <a:avLst/>
          </a:prstGeom>
          <a:pattFill prst="wdUpDiag">
            <a:fgClr>
              <a:srgbClr val="212121"/>
            </a:fgClr>
            <a:bgClr>
              <a:schemeClr val="bg1"/>
            </a:bgClr>
          </a:patt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1990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AE48CA90-930C-EC09-3454-80B48DF4116D}"/>
              </a:ext>
            </a:extLst>
          </p:cNvPr>
          <p:cNvPicPr>
            <a:picLocks noChangeAspect="1"/>
          </p:cNvPicPr>
          <p:nvPr/>
        </p:nvPicPr>
        <p:blipFill>
          <a:blip r:embed="rId3"/>
          <a:srcRect l="17236" t="21618" r="16308" b="11927"/>
          <a:stretch>
            <a:fillRect/>
          </a:stretch>
        </p:blipFill>
        <p:spPr>
          <a:xfrm>
            <a:off x="0" y="-1"/>
            <a:ext cx="12192000" cy="6858001"/>
          </a:xfrm>
          <a:prstGeom prst="rect">
            <a:avLst/>
          </a:prstGeom>
        </p:spPr>
      </p:pic>
      <p:sp>
        <p:nvSpPr>
          <p:cNvPr id="29" name="Rectangle: Rounded Corners 28">
            <a:extLst>
              <a:ext uri="{FF2B5EF4-FFF2-40B4-BE49-F238E27FC236}">
                <a16:creationId xmlns:a16="http://schemas.microsoft.com/office/drawing/2014/main" id="{3A804D6E-D8AE-5DC2-A9BB-54133B494D39}"/>
              </a:ext>
            </a:extLst>
          </p:cNvPr>
          <p:cNvSpPr/>
          <p:nvPr/>
        </p:nvSpPr>
        <p:spPr>
          <a:xfrm>
            <a:off x="2918404" y="757385"/>
            <a:ext cx="5997718" cy="5421745"/>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A86E046F-7483-C7E4-52A4-98882F05B19E}"/>
              </a:ext>
            </a:extLst>
          </p:cNvPr>
          <p:cNvSpPr/>
          <p:nvPr/>
        </p:nvSpPr>
        <p:spPr>
          <a:xfrm>
            <a:off x="3135459" y="974439"/>
            <a:ext cx="5997718" cy="5421745"/>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58E5871-3BE7-39B6-A879-35D68F2A6C65}"/>
              </a:ext>
            </a:extLst>
          </p:cNvPr>
          <p:cNvSpPr/>
          <p:nvPr/>
        </p:nvSpPr>
        <p:spPr>
          <a:xfrm>
            <a:off x="3038475" y="877455"/>
            <a:ext cx="5997718" cy="5421745"/>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F2D11D3-0A40-FDB6-3126-FE39A5160C20}"/>
              </a:ext>
            </a:extLst>
          </p:cNvPr>
          <p:cNvSpPr>
            <a:spLocks noGrp="1"/>
          </p:cNvSpPr>
          <p:nvPr>
            <p:ph type="subTitle" idx="1"/>
          </p:nvPr>
        </p:nvSpPr>
        <p:spPr>
          <a:xfrm>
            <a:off x="4451491" y="5910896"/>
            <a:ext cx="3252071" cy="303175"/>
          </a:xfrm>
        </p:spPr>
        <p:txBody>
          <a:bodyPr>
            <a:normAutofit/>
          </a:bodyPr>
          <a:lstStyle/>
          <a:p>
            <a:pPr algn="ctr"/>
            <a:r>
              <a:rPr lang="en-US" sz="1200">
                <a:latin typeface="Cascadia Code"/>
              </a:rPr>
              <a:t>SQS | </a:t>
            </a:r>
            <a:r>
              <a:rPr lang="en-US" sz="1200" err="1">
                <a:latin typeface="Cascadia Code"/>
              </a:rPr>
              <a:t>Projektarbeit</a:t>
            </a:r>
            <a:r>
              <a:rPr lang="en-US" sz="1200">
                <a:latin typeface="Cascadia Code"/>
              </a:rPr>
              <a:t> | 30.06.2026</a:t>
            </a:r>
          </a:p>
        </p:txBody>
      </p:sp>
      <p:pic>
        <p:nvPicPr>
          <p:cNvPr id="6" name="Picture 5">
            <a:extLst>
              <a:ext uri="{FF2B5EF4-FFF2-40B4-BE49-F238E27FC236}">
                <a16:creationId xmlns:a16="http://schemas.microsoft.com/office/drawing/2014/main" id="{9AB20B94-158E-9606-A5B3-5265F4A98A9F}"/>
              </a:ext>
            </a:extLst>
          </p:cNvPr>
          <p:cNvPicPr>
            <a:picLocks noChangeAspect="1"/>
          </p:cNvPicPr>
          <p:nvPr/>
        </p:nvPicPr>
        <p:blipFill>
          <a:blip r:embed="rId4">
            <a:extLst>
              <a:ext uri="{28A0092B-C50C-407E-A947-70E740481C1C}">
                <a14:useLocalDpi xmlns:a14="http://schemas.microsoft.com/office/drawing/2010/main" val="0"/>
              </a:ext>
            </a:extLst>
          </a:blip>
          <a:srcRect r="50000"/>
          <a:stretch>
            <a:fillRect/>
          </a:stretch>
        </p:blipFill>
        <p:spPr>
          <a:xfrm>
            <a:off x="3423663" y="1050343"/>
            <a:ext cx="5603294" cy="806658"/>
          </a:xfrm>
          <a:prstGeom prst="rect">
            <a:avLst/>
          </a:prstGeom>
        </p:spPr>
      </p:pic>
      <p:sp>
        <p:nvSpPr>
          <p:cNvPr id="9" name="Subtitle 2">
            <a:extLst>
              <a:ext uri="{FF2B5EF4-FFF2-40B4-BE49-F238E27FC236}">
                <a16:creationId xmlns:a16="http://schemas.microsoft.com/office/drawing/2014/main" id="{290EC6B6-1684-78AC-89C0-57F0009B212C}"/>
              </a:ext>
            </a:extLst>
          </p:cNvPr>
          <p:cNvSpPr txBox="1">
            <a:spLocks/>
          </p:cNvSpPr>
          <p:nvPr/>
        </p:nvSpPr>
        <p:spPr>
          <a:xfrm>
            <a:off x="3275879" y="2663659"/>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a:t>A Team Comp Website for Overwatch Player</a:t>
            </a:r>
          </a:p>
        </p:txBody>
      </p:sp>
      <p:grpSp>
        <p:nvGrpSpPr>
          <p:cNvPr id="21" name="Group 20">
            <a:extLst>
              <a:ext uri="{FF2B5EF4-FFF2-40B4-BE49-F238E27FC236}">
                <a16:creationId xmlns:a16="http://schemas.microsoft.com/office/drawing/2014/main" id="{CDCA2D41-AFBB-B095-0C28-FC78BDF8FECB}"/>
              </a:ext>
            </a:extLst>
          </p:cNvPr>
          <p:cNvGrpSpPr/>
          <p:nvPr/>
        </p:nvGrpSpPr>
        <p:grpSpPr>
          <a:xfrm>
            <a:off x="3432899" y="4000838"/>
            <a:ext cx="1706838" cy="1706838"/>
            <a:chOff x="1431267" y="3429000"/>
            <a:chExt cx="1706838" cy="1706838"/>
          </a:xfrm>
        </p:grpSpPr>
        <p:pic>
          <p:nvPicPr>
            <p:cNvPr id="13" name="Picture 12">
              <a:extLst>
                <a:ext uri="{FF2B5EF4-FFF2-40B4-BE49-F238E27FC236}">
                  <a16:creationId xmlns:a16="http://schemas.microsoft.com/office/drawing/2014/main" id="{2F78A368-3EF2-2CFD-1317-05FDC993EC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18" name="TextBox 17">
              <a:extLst>
                <a:ext uri="{FF2B5EF4-FFF2-40B4-BE49-F238E27FC236}">
                  <a16:creationId xmlns:a16="http://schemas.microsoft.com/office/drawing/2014/main" id="{B9377E58-B888-D44A-82E9-F51254AF5A45}"/>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22" name="Group 21">
            <a:extLst>
              <a:ext uri="{FF2B5EF4-FFF2-40B4-BE49-F238E27FC236}">
                <a16:creationId xmlns:a16="http://schemas.microsoft.com/office/drawing/2014/main" id="{8C54B27D-BC2C-BD5B-76F9-CC850093BFB1}"/>
              </a:ext>
            </a:extLst>
          </p:cNvPr>
          <p:cNvGrpSpPr/>
          <p:nvPr/>
        </p:nvGrpSpPr>
        <p:grpSpPr>
          <a:xfrm>
            <a:off x="5226081" y="4000838"/>
            <a:ext cx="1706838" cy="1706838"/>
            <a:chOff x="3467301" y="3429000"/>
            <a:chExt cx="1706838" cy="1706838"/>
          </a:xfrm>
        </p:grpSpPr>
        <p:pic>
          <p:nvPicPr>
            <p:cNvPr id="15" name="Picture 14">
              <a:extLst>
                <a:ext uri="{FF2B5EF4-FFF2-40B4-BE49-F238E27FC236}">
                  <a16:creationId xmlns:a16="http://schemas.microsoft.com/office/drawing/2014/main" id="{CF026D56-0037-7293-5A62-27986F7C51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19" name="TextBox 18">
              <a:extLst>
                <a:ext uri="{FF2B5EF4-FFF2-40B4-BE49-F238E27FC236}">
                  <a16:creationId xmlns:a16="http://schemas.microsoft.com/office/drawing/2014/main" id="{166D139B-7778-6302-CF8C-896C76D40117}"/>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23" name="Group 22">
            <a:extLst>
              <a:ext uri="{FF2B5EF4-FFF2-40B4-BE49-F238E27FC236}">
                <a16:creationId xmlns:a16="http://schemas.microsoft.com/office/drawing/2014/main" id="{9F5DFBB0-C48F-49BA-7B3B-EA7D6988F246}"/>
              </a:ext>
            </a:extLst>
          </p:cNvPr>
          <p:cNvGrpSpPr/>
          <p:nvPr/>
        </p:nvGrpSpPr>
        <p:grpSpPr>
          <a:xfrm>
            <a:off x="7019263" y="4000838"/>
            <a:ext cx="1706839" cy="1706839"/>
            <a:chOff x="5492635" y="3428999"/>
            <a:chExt cx="1706839" cy="1706839"/>
          </a:xfrm>
        </p:grpSpPr>
        <p:pic>
          <p:nvPicPr>
            <p:cNvPr id="17" name="Picture 16">
              <a:extLst>
                <a:ext uri="{FF2B5EF4-FFF2-40B4-BE49-F238E27FC236}">
                  <a16:creationId xmlns:a16="http://schemas.microsoft.com/office/drawing/2014/main" id="{B6687601-15DA-5FB0-7B83-6CDB591723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20" name="TextBox 19">
              <a:extLst>
                <a:ext uri="{FF2B5EF4-FFF2-40B4-BE49-F238E27FC236}">
                  <a16:creationId xmlns:a16="http://schemas.microsoft.com/office/drawing/2014/main" id="{D2A776BA-38A2-58F3-9484-45DD62E432FD}"/>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pic>
        <p:nvPicPr>
          <p:cNvPr id="24" name="Picture 23">
            <a:extLst>
              <a:ext uri="{FF2B5EF4-FFF2-40B4-BE49-F238E27FC236}">
                <a16:creationId xmlns:a16="http://schemas.microsoft.com/office/drawing/2014/main" id="{B2729BB5-0DA5-CCE2-89D7-4D8C79FD030B}"/>
              </a:ext>
            </a:extLst>
          </p:cNvPr>
          <p:cNvPicPr>
            <a:picLocks noChangeAspect="1"/>
          </p:cNvPicPr>
          <p:nvPr/>
        </p:nvPicPr>
        <p:blipFill>
          <a:blip r:embed="rId4">
            <a:extLst>
              <a:ext uri="{28A0092B-C50C-407E-A947-70E740481C1C}">
                <a14:useLocalDpi xmlns:a14="http://schemas.microsoft.com/office/drawing/2010/main" val="0"/>
              </a:ext>
            </a:extLst>
          </a:blip>
          <a:srcRect l="50000"/>
          <a:stretch>
            <a:fillRect/>
          </a:stretch>
        </p:blipFill>
        <p:spPr>
          <a:xfrm>
            <a:off x="3190720" y="1857001"/>
            <a:ext cx="5603293" cy="806658"/>
          </a:xfrm>
          <a:prstGeom prst="rect">
            <a:avLst/>
          </a:prstGeom>
        </p:spPr>
      </p:pic>
    </p:spTree>
    <p:extLst>
      <p:ext uri="{BB962C8B-B14F-4D97-AF65-F5344CB8AC3E}">
        <p14:creationId xmlns:p14="http://schemas.microsoft.com/office/powerpoint/2010/main" val="3749065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4" name="Picture 3" descr="image%20(1).png">
            <a:extLst>
              <a:ext uri="{FF2B5EF4-FFF2-40B4-BE49-F238E27FC236}">
                <a16:creationId xmlns:a16="http://schemas.microsoft.com/office/drawing/2014/main" id="{01008316-84C5-2400-BB2F-542CFF279CA3}"/>
              </a:ext>
            </a:extLst>
          </p:cNvPr>
          <p:cNvPicPr>
            <a:picLocks noChangeAspect="1"/>
          </p:cNvPicPr>
          <p:nvPr/>
        </p:nvPicPr>
        <p:blipFill>
          <a:blip r:embed="rId3"/>
          <a:stretch>
            <a:fillRect/>
          </a:stretch>
        </p:blipFill>
        <p:spPr>
          <a:xfrm>
            <a:off x="158559" y="840513"/>
            <a:ext cx="7694848" cy="4328352"/>
          </a:xfrm>
          <a:prstGeom prst="rect">
            <a:avLst/>
          </a:prstGeom>
        </p:spPr>
      </p:pic>
      <p:grpSp>
        <p:nvGrpSpPr>
          <p:cNvPr id="5" name="Group 4">
            <a:extLst>
              <a:ext uri="{FF2B5EF4-FFF2-40B4-BE49-F238E27FC236}">
                <a16:creationId xmlns:a16="http://schemas.microsoft.com/office/drawing/2014/main" id="{047AC8E6-FAC0-4421-F991-DA59D69309AA}"/>
              </a:ext>
            </a:extLst>
          </p:cNvPr>
          <p:cNvGrpSpPr/>
          <p:nvPr/>
        </p:nvGrpSpPr>
        <p:grpSpPr>
          <a:xfrm>
            <a:off x="158558" y="185257"/>
            <a:ext cx="3107155" cy="510504"/>
            <a:chOff x="100869" y="175489"/>
            <a:chExt cx="2498131" cy="609604"/>
          </a:xfrm>
        </p:grpSpPr>
        <p:sp>
          <p:nvSpPr>
            <p:cNvPr id="6" name="Rectangle: Rounded Corners 5">
              <a:extLst>
                <a:ext uri="{FF2B5EF4-FFF2-40B4-BE49-F238E27FC236}">
                  <a16:creationId xmlns:a16="http://schemas.microsoft.com/office/drawing/2014/main" id="{EC825671-9608-FB3E-9FA1-41D8BE61DA97}"/>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73B4D9F-BD73-29EF-6D6D-E5238E7D80C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ED9C0585-6488-2813-CB62-5749BEBBE1E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Overwatch: Overview</a:t>
              </a:r>
            </a:p>
          </p:txBody>
        </p:sp>
      </p:grpSp>
      <p:sp>
        <p:nvSpPr>
          <p:cNvPr id="9" name="TextBox 8">
            <a:extLst>
              <a:ext uri="{FF2B5EF4-FFF2-40B4-BE49-F238E27FC236}">
                <a16:creationId xmlns:a16="http://schemas.microsoft.com/office/drawing/2014/main" id="{1E7FA835-1C21-66F0-0F9C-7A65D22B3E6D}"/>
              </a:ext>
            </a:extLst>
          </p:cNvPr>
          <p:cNvSpPr txBox="1"/>
          <p:nvPr/>
        </p:nvSpPr>
        <p:spPr>
          <a:xfrm>
            <a:off x="8091172" y="840513"/>
            <a:ext cx="3724851" cy="4247317"/>
          </a:xfrm>
          <a:prstGeom prst="rect">
            <a:avLst/>
          </a:prstGeom>
          <a:noFill/>
        </p:spPr>
        <p:txBody>
          <a:bodyPr wrap="square" rtlCol="0">
            <a:spAutoFit/>
          </a:bodyPr>
          <a:lstStyle/>
          <a:p>
            <a:pPr marL="285750" indent="-285750">
              <a:buFont typeface="Arial" panose="020B0604020202020204" pitchFamily="34" charset="0"/>
              <a:buChar char="•"/>
            </a:pPr>
            <a:r>
              <a:rPr lang="en-US"/>
              <a:t>Online Multiplayer First Person Hero Shooter</a:t>
            </a:r>
          </a:p>
          <a:p>
            <a:pPr marL="285750" indent="-285750">
              <a:buFont typeface="Arial" panose="020B0604020202020204" pitchFamily="34" charset="0"/>
              <a:buChar char="•"/>
            </a:pPr>
            <a:endParaRPr lang="en-US">
              <a:solidFill>
                <a:srgbClr val="00B0F0"/>
              </a:solidFill>
            </a:endParaRPr>
          </a:p>
          <a:p>
            <a:pPr marL="285750" indent="-285750">
              <a:buFont typeface="Arial" panose="020B0604020202020204" pitchFamily="34" charset="0"/>
              <a:buChar char="•"/>
            </a:pPr>
            <a:r>
              <a:rPr lang="en-US"/>
              <a:t>Team consists of:</a:t>
            </a:r>
          </a:p>
          <a:p>
            <a:pPr marL="742950" lvl="1" indent="-285750">
              <a:buFont typeface="Arial" panose="020B0604020202020204" pitchFamily="34" charset="0"/>
              <a:buChar char="•"/>
            </a:pPr>
            <a:r>
              <a:rPr lang="en-US">
                <a:solidFill>
                  <a:srgbClr val="00B0F0"/>
                </a:solidFill>
              </a:rPr>
              <a:t>Tank</a:t>
            </a:r>
          </a:p>
          <a:p>
            <a:pPr marL="742950" lvl="1" indent="-285750">
              <a:buFont typeface="Arial" panose="020B0604020202020204" pitchFamily="34" charset="0"/>
              <a:buChar char="•"/>
            </a:pPr>
            <a:r>
              <a:rPr lang="en-US">
                <a:solidFill>
                  <a:schemeClr val="accent5"/>
                </a:solidFill>
              </a:rPr>
              <a:t>Damage</a:t>
            </a:r>
            <a:r>
              <a:rPr lang="en-US"/>
              <a:t> (2x)</a:t>
            </a:r>
          </a:p>
          <a:p>
            <a:pPr marL="742950" lvl="1" indent="-285750">
              <a:buFont typeface="Arial" panose="020B0604020202020204" pitchFamily="34" charset="0"/>
              <a:buChar char="•"/>
            </a:pPr>
            <a:r>
              <a:rPr lang="en-US">
                <a:solidFill>
                  <a:srgbClr val="92D050"/>
                </a:solidFill>
              </a:rPr>
              <a:t>Support</a:t>
            </a:r>
            <a:r>
              <a:rPr lang="en-US"/>
              <a:t> (2x)</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Selection of </a:t>
            </a:r>
            <a:r>
              <a:rPr lang="en-US">
                <a:solidFill>
                  <a:schemeClr val="accent6"/>
                </a:solidFill>
              </a:rPr>
              <a:t>52 heroes </a:t>
            </a:r>
            <a:r>
              <a:rPr lang="en-US"/>
              <a:t>that exhibit different </a:t>
            </a:r>
            <a:r>
              <a:rPr lang="en-US">
                <a:solidFill>
                  <a:schemeClr val="accent3"/>
                </a:solidFill>
              </a:rPr>
              <a:t>synergistic effects </a:t>
            </a:r>
            <a:r>
              <a:rPr lang="en-US"/>
              <a:t>when combined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In </a:t>
            </a:r>
            <a:r>
              <a:rPr lang="en-US">
                <a:solidFill>
                  <a:schemeClr val="accent1"/>
                </a:solidFill>
              </a:rPr>
              <a:t>Competitive Play</a:t>
            </a:r>
            <a:r>
              <a:rPr lang="en-US"/>
              <a:t>, a good team comp can strongly influence the game</a:t>
            </a:r>
          </a:p>
        </p:txBody>
      </p:sp>
      <p:pic>
        <p:nvPicPr>
          <p:cNvPr id="11" name="Picture 10">
            <a:extLst>
              <a:ext uri="{FF2B5EF4-FFF2-40B4-BE49-F238E27FC236}">
                <a16:creationId xmlns:a16="http://schemas.microsoft.com/office/drawing/2014/main" id="{BE74B447-46D2-F2CD-1B85-D75FC3579FEC}"/>
              </a:ext>
            </a:extLst>
          </p:cNvPr>
          <p:cNvPicPr>
            <a:picLocks noChangeAspect="1"/>
          </p:cNvPicPr>
          <p:nvPr/>
        </p:nvPicPr>
        <p:blipFill>
          <a:blip r:embed="rId4"/>
          <a:stretch>
            <a:fillRect/>
          </a:stretch>
        </p:blipFill>
        <p:spPr>
          <a:xfrm>
            <a:off x="158559" y="5313617"/>
            <a:ext cx="11867186" cy="1310618"/>
          </a:xfrm>
          <a:prstGeom prst="rect">
            <a:avLst/>
          </a:prstGeom>
        </p:spPr>
      </p:pic>
    </p:spTree>
    <p:extLst>
      <p:ext uri="{BB962C8B-B14F-4D97-AF65-F5344CB8AC3E}">
        <p14:creationId xmlns:p14="http://schemas.microsoft.com/office/powerpoint/2010/main" val="9692322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045A3059-FCF9-89C0-12D0-C6CD6F79518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9A93C76E-8867-5FE1-A195-3F26BE607C8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b="9715"/>
          <a:stretch>
            <a:fillRect/>
          </a:stretch>
        </p:blipFill>
        <p:spPr>
          <a:xfrm>
            <a:off x="0" y="-21771"/>
            <a:ext cx="12192000" cy="6879771"/>
          </a:xfrm>
          <a:prstGeom prst="rect">
            <a:avLst/>
          </a:prstGeom>
        </p:spPr>
      </p:pic>
      <p:sp>
        <p:nvSpPr>
          <p:cNvPr id="13" name="Rectangle: Rounded Corners 12">
            <a:extLst>
              <a:ext uri="{FF2B5EF4-FFF2-40B4-BE49-F238E27FC236}">
                <a16:creationId xmlns:a16="http://schemas.microsoft.com/office/drawing/2014/main" id="{220EE6CA-9817-6D29-0B13-82060518AE64}"/>
              </a:ext>
            </a:extLst>
          </p:cNvPr>
          <p:cNvSpPr/>
          <p:nvPr/>
        </p:nvSpPr>
        <p:spPr>
          <a:xfrm>
            <a:off x="362110" y="550023"/>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b="1">
                <a:solidFill>
                  <a:srgbClr val="00B0F0"/>
                </a:solidFill>
              </a:rPr>
              <a:t>                                        Motivation/ Idea</a:t>
            </a:r>
          </a:p>
        </p:txBody>
      </p:sp>
      <p:grpSp>
        <p:nvGrpSpPr>
          <p:cNvPr id="30" name="Group 29">
            <a:extLst>
              <a:ext uri="{FF2B5EF4-FFF2-40B4-BE49-F238E27FC236}">
                <a16:creationId xmlns:a16="http://schemas.microsoft.com/office/drawing/2014/main" id="{96C2956B-646A-8CA2-6993-BB5CD93CB660}"/>
              </a:ext>
            </a:extLst>
          </p:cNvPr>
          <p:cNvGrpSpPr/>
          <p:nvPr/>
        </p:nvGrpSpPr>
        <p:grpSpPr>
          <a:xfrm>
            <a:off x="341426" y="1039299"/>
            <a:ext cx="5044575" cy="971558"/>
            <a:chOff x="544945" y="1570181"/>
            <a:chExt cx="5044575" cy="971558"/>
          </a:xfrm>
          <a:effectLst>
            <a:outerShdw blurRad="50800" dist="38100" dir="2700000" algn="tl" rotWithShape="0">
              <a:prstClr val="black">
                <a:alpha val="40000"/>
              </a:prstClr>
            </a:outerShdw>
          </a:effectLst>
        </p:grpSpPr>
        <p:sp>
          <p:nvSpPr>
            <p:cNvPr id="14" name="Rectangle: Rounded Corners 13">
              <a:extLst>
                <a:ext uri="{FF2B5EF4-FFF2-40B4-BE49-F238E27FC236}">
                  <a16:creationId xmlns:a16="http://schemas.microsoft.com/office/drawing/2014/main" id="{F831D1BD-9E99-A92E-9A04-78A9EE825DB7}"/>
                </a:ext>
              </a:extLst>
            </p:cNvPr>
            <p:cNvSpPr/>
            <p:nvPr/>
          </p:nvSpPr>
          <p:spPr>
            <a:xfrm>
              <a:off x="544945" y="1570181"/>
              <a:ext cx="4960310"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 </a:t>
              </a:r>
              <a:r>
                <a:rPr lang="en-US">
                  <a:solidFill>
                    <a:srgbClr val="00B0F0"/>
                  </a:solidFill>
                </a:rPr>
                <a:t>practical application </a:t>
              </a:r>
              <a:r>
                <a:rPr lang="en-US">
                  <a:solidFill>
                    <a:schemeClr val="tx1"/>
                  </a:solidFill>
                </a:rPr>
                <a:t>that relates to </a:t>
              </a:r>
            </a:p>
            <a:p>
              <a:pPr algn="just"/>
              <a:r>
                <a:rPr lang="en-US">
                  <a:solidFill>
                    <a:schemeClr val="tx1"/>
                  </a:solidFill>
                </a:rPr>
                <a:t>a </a:t>
              </a:r>
              <a:r>
                <a:rPr lang="en-US">
                  <a:solidFill>
                    <a:srgbClr val="00B0F0"/>
                  </a:solidFill>
                </a:rPr>
                <a:t>shared interest </a:t>
              </a:r>
              <a:r>
                <a:rPr lang="en-US">
                  <a:solidFill>
                    <a:schemeClr val="tx1"/>
                  </a:solidFill>
                </a:rPr>
                <a:t>within the team</a:t>
              </a:r>
            </a:p>
          </p:txBody>
        </p:sp>
        <p:sp>
          <p:nvSpPr>
            <p:cNvPr id="16" name="Rectangle: Top Corners Rounded 15">
              <a:extLst>
                <a:ext uri="{FF2B5EF4-FFF2-40B4-BE49-F238E27FC236}">
                  <a16:creationId xmlns:a16="http://schemas.microsoft.com/office/drawing/2014/main" id="{E9D59145-9511-77F3-D893-1E819CEEE3FE}"/>
                </a:ext>
              </a:extLst>
            </p:cNvPr>
            <p:cNvSpPr/>
            <p:nvPr/>
          </p:nvSpPr>
          <p:spPr>
            <a:xfrm rot="5400000">
              <a:off x="4854218" y="1820434"/>
              <a:ext cx="971558"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61A38CDA-9539-BA82-54F7-32B71F0A4B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4" name="Group 33">
            <a:extLst>
              <a:ext uri="{FF2B5EF4-FFF2-40B4-BE49-F238E27FC236}">
                <a16:creationId xmlns:a16="http://schemas.microsoft.com/office/drawing/2014/main" id="{D057E952-FAAC-9CFF-7061-88A059F2C405}"/>
              </a:ext>
            </a:extLst>
          </p:cNvPr>
          <p:cNvGrpSpPr/>
          <p:nvPr/>
        </p:nvGrpSpPr>
        <p:grpSpPr>
          <a:xfrm>
            <a:off x="341426" y="2097072"/>
            <a:ext cx="5065259" cy="979231"/>
            <a:chOff x="544944" y="2652726"/>
            <a:chExt cx="5065259" cy="979231"/>
          </a:xfrm>
          <a:effectLst>
            <a:outerShdw blurRad="50800" dist="38100" dir="2700000" algn="tl" rotWithShape="0">
              <a:prstClr val="black">
                <a:alpha val="40000"/>
              </a:prstClr>
            </a:outerShdw>
          </a:effectLst>
        </p:grpSpPr>
        <p:sp>
          <p:nvSpPr>
            <p:cNvPr id="15" name="Rectangle: Rounded Corners 14">
              <a:extLst>
                <a:ext uri="{FF2B5EF4-FFF2-40B4-BE49-F238E27FC236}">
                  <a16:creationId xmlns:a16="http://schemas.microsoft.com/office/drawing/2014/main" id="{6F67E3A9-3B80-2390-1F7D-08C982C8D48B}"/>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learn </a:t>
              </a:r>
              <a:r>
                <a:rPr lang="en-US">
                  <a:solidFill>
                    <a:srgbClr val="00B0F0"/>
                  </a:solidFill>
                </a:rPr>
                <a:t>new tools </a:t>
              </a:r>
              <a:r>
                <a:rPr lang="en-US">
                  <a:solidFill>
                    <a:schemeClr val="tx1"/>
                  </a:solidFill>
                </a:rPr>
                <a:t>and programming </a:t>
              </a:r>
              <a:r>
                <a:rPr lang="en-US">
                  <a:solidFill>
                    <a:srgbClr val="00B0F0"/>
                  </a:solidFill>
                </a:rPr>
                <a:t>languages</a:t>
              </a:r>
            </a:p>
          </p:txBody>
        </p:sp>
        <p:sp>
          <p:nvSpPr>
            <p:cNvPr id="17" name="Rectangle: Top Corners Rounded 16">
              <a:extLst>
                <a:ext uri="{FF2B5EF4-FFF2-40B4-BE49-F238E27FC236}">
                  <a16:creationId xmlns:a16="http://schemas.microsoft.com/office/drawing/2014/main" id="{73AB1D31-55E0-B7DE-33D2-D5584A3014A9}"/>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B98C5335-F14E-7A31-7636-B220898EF8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33" name="Group 32">
            <a:extLst>
              <a:ext uri="{FF2B5EF4-FFF2-40B4-BE49-F238E27FC236}">
                <a16:creationId xmlns:a16="http://schemas.microsoft.com/office/drawing/2014/main" id="{03863EC9-2ED8-25C2-9AD5-05EE79653421}"/>
              </a:ext>
            </a:extLst>
          </p:cNvPr>
          <p:cNvGrpSpPr/>
          <p:nvPr/>
        </p:nvGrpSpPr>
        <p:grpSpPr>
          <a:xfrm>
            <a:off x="341426" y="4244684"/>
            <a:ext cx="5075665" cy="963883"/>
            <a:chOff x="558941" y="3779970"/>
            <a:chExt cx="5075665" cy="963883"/>
          </a:xfrm>
          <a:effectLst>
            <a:outerShdw blurRad="50800" dist="38100" dir="2700000" algn="tl" rotWithShape="0">
              <a:prstClr val="black">
                <a:alpha val="40000"/>
              </a:prstClr>
            </a:outerShdw>
          </a:effectLst>
        </p:grpSpPr>
        <p:sp>
          <p:nvSpPr>
            <p:cNvPr id="24" name="Rectangle: Rounded Corners 23">
              <a:extLst>
                <a:ext uri="{FF2B5EF4-FFF2-40B4-BE49-F238E27FC236}">
                  <a16:creationId xmlns:a16="http://schemas.microsoft.com/office/drawing/2014/main" id="{1394ABFA-3B38-6E84-9D53-0110E8EE8BD7}"/>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apply learned methods to </a:t>
              </a:r>
              <a:r>
                <a:rPr lang="en-US">
                  <a:solidFill>
                    <a:srgbClr val="00B0F0"/>
                  </a:solidFill>
                </a:rPr>
                <a:t>ensure software quality</a:t>
              </a:r>
            </a:p>
          </p:txBody>
        </p:sp>
        <p:sp>
          <p:nvSpPr>
            <p:cNvPr id="25" name="Rectangle: Top Corners Rounded 24">
              <a:extLst>
                <a:ext uri="{FF2B5EF4-FFF2-40B4-BE49-F238E27FC236}">
                  <a16:creationId xmlns:a16="http://schemas.microsoft.com/office/drawing/2014/main" id="{538C8263-B493-D3AF-63B7-83C5A674A268}"/>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DA1E1CCF-5B72-DC15-7143-67A0F161E9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35" name="Group 34">
            <a:extLst>
              <a:ext uri="{FF2B5EF4-FFF2-40B4-BE49-F238E27FC236}">
                <a16:creationId xmlns:a16="http://schemas.microsoft.com/office/drawing/2014/main" id="{F1022023-C882-B10D-FF7E-65DF852314E0}"/>
              </a:ext>
            </a:extLst>
          </p:cNvPr>
          <p:cNvGrpSpPr/>
          <p:nvPr/>
        </p:nvGrpSpPr>
        <p:grpSpPr>
          <a:xfrm flipH="1">
            <a:off x="6719493" y="1039299"/>
            <a:ext cx="5089662" cy="971558"/>
            <a:chOff x="544945" y="1570181"/>
            <a:chExt cx="5044575" cy="971558"/>
          </a:xfrm>
          <a:effectLst>
            <a:outerShdw blurRad="50800" dist="38100" dir="2700000" algn="tl" rotWithShape="0">
              <a:prstClr val="black">
                <a:alpha val="40000"/>
              </a:prstClr>
            </a:outerShdw>
          </a:effectLst>
        </p:grpSpPr>
        <p:sp>
          <p:nvSpPr>
            <p:cNvPr id="36" name="Rectangle: Rounded Corners 35">
              <a:extLst>
                <a:ext uri="{FF2B5EF4-FFF2-40B4-BE49-F238E27FC236}">
                  <a16:creationId xmlns:a16="http://schemas.microsoft.com/office/drawing/2014/main" id="{2BF4B747-D460-29AC-F8FB-A201867D115A}"/>
                </a:ext>
              </a:extLst>
            </p:cNvPr>
            <p:cNvSpPr/>
            <p:nvPr/>
          </p:nvSpPr>
          <p:spPr>
            <a:xfrm>
              <a:off x="544945" y="1570181"/>
              <a:ext cx="4636921" cy="963881"/>
            </a:xfrm>
            <a:prstGeom prst="roundRect">
              <a:avLst>
                <a:gd name="adj" fmla="val 8843"/>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combination of an </a:t>
              </a:r>
              <a:r>
                <a:rPr lang="en-US">
                  <a:solidFill>
                    <a:srgbClr val="FF3F3F"/>
                  </a:solidFill>
                </a:rPr>
                <a:t>overwatch wiki </a:t>
              </a:r>
              <a:r>
                <a:rPr lang="en-US">
                  <a:solidFill>
                    <a:schemeClr val="tx1"/>
                  </a:solidFill>
                </a:rPr>
                <a:t>for hero lookup and an </a:t>
              </a:r>
              <a:r>
                <a:rPr lang="en-US">
                  <a:solidFill>
                    <a:srgbClr val="FF3F3F"/>
                  </a:solidFill>
                </a:rPr>
                <a:t>excel sheet</a:t>
              </a:r>
            </a:p>
          </p:txBody>
        </p:sp>
        <p:sp>
          <p:nvSpPr>
            <p:cNvPr id="37" name="Rectangle: Top Corners Rounded 36">
              <a:extLst>
                <a:ext uri="{FF2B5EF4-FFF2-40B4-BE49-F238E27FC236}">
                  <a16:creationId xmlns:a16="http://schemas.microsoft.com/office/drawing/2014/main" id="{1CCC4C7B-1C7C-880F-7DD8-8B55E72B7627}"/>
                </a:ext>
              </a:extLst>
            </p:cNvPr>
            <p:cNvSpPr/>
            <p:nvPr/>
          </p:nvSpPr>
          <p:spPr>
            <a:xfrm rot="5400000">
              <a:off x="4854218" y="1820434"/>
              <a:ext cx="971558" cy="471052"/>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2AF4AD30-B3DF-3E55-A66E-D592F594CF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3458" y="1825914"/>
              <a:ext cx="526062" cy="452413"/>
            </a:xfrm>
            <a:prstGeom prst="rect">
              <a:avLst/>
            </a:prstGeom>
          </p:spPr>
        </p:pic>
      </p:grpSp>
      <p:grpSp>
        <p:nvGrpSpPr>
          <p:cNvPr id="39" name="Group 38">
            <a:extLst>
              <a:ext uri="{FF2B5EF4-FFF2-40B4-BE49-F238E27FC236}">
                <a16:creationId xmlns:a16="http://schemas.microsoft.com/office/drawing/2014/main" id="{746B1E01-0823-EEC6-3814-EFBF4E59265E}"/>
              </a:ext>
            </a:extLst>
          </p:cNvPr>
          <p:cNvGrpSpPr/>
          <p:nvPr/>
        </p:nvGrpSpPr>
        <p:grpSpPr>
          <a:xfrm flipH="1">
            <a:off x="6733615" y="2092061"/>
            <a:ext cx="5065258" cy="971558"/>
            <a:chOff x="544945" y="2660402"/>
            <a:chExt cx="5065258" cy="971558"/>
          </a:xfrm>
          <a:effectLst>
            <a:outerShdw blurRad="50800" dist="38100" dir="2700000" algn="tl" rotWithShape="0">
              <a:prstClr val="black">
                <a:alpha val="40000"/>
              </a:prstClr>
            </a:outerShdw>
          </a:effectLst>
        </p:grpSpPr>
        <p:sp>
          <p:nvSpPr>
            <p:cNvPr id="40" name="Rectangle: Rounded Corners 39">
              <a:extLst>
                <a:ext uri="{FF2B5EF4-FFF2-40B4-BE49-F238E27FC236}">
                  <a16:creationId xmlns:a16="http://schemas.microsoft.com/office/drawing/2014/main" id="{D81B7422-9452-BC83-A7F3-7C11279142AC}"/>
                </a:ext>
              </a:extLst>
            </p:cNvPr>
            <p:cNvSpPr/>
            <p:nvPr/>
          </p:nvSpPr>
          <p:spPr>
            <a:xfrm>
              <a:off x="544945" y="2660402"/>
              <a:ext cx="4668084"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lvl="1" algn="r"/>
              <a:r>
                <a:rPr lang="en-US">
                  <a:solidFill>
                    <a:schemeClr val="tx1"/>
                  </a:solidFill>
                </a:rPr>
                <a:t>browse and view detailed overviews of Overwatch </a:t>
              </a:r>
              <a:r>
                <a:rPr lang="en-US">
                  <a:solidFill>
                    <a:srgbClr val="FF3F3F"/>
                  </a:solidFill>
                </a:rPr>
                <a:t>heroes and their stats</a:t>
              </a:r>
            </a:p>
          </p:txBody>
        </p:sp>
        <p:sp>
          <p:nvSpPr>
            <p:cNvPr id="41" name="Rectangle: Top Corners Rounded 40">
              <a:extLst>
                <a:ext uri="{FF2B5EF4-FFF2-40B4-BE49-F238E27FC236}">
                  <a16:creationId xmlns:a16="http://schemas.microsoft.com/office/drawing/2014/main" id="{51F5B8F8-11CB-C9C8-8506-0AAB1B30D4EA}"/>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FD86941D-37F5-52A2-2B42-81F91B50F9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43" name="Group 42">
            <a:extLst>
              <a:ext uri="{FF2B5EF4-FFF2-40B4-BE49-F238E27FC236}">
                <a16:creationId xmlns:a16="http://schemas.microsoft.com/office/drawing/2014/main" id="{19E5382B-4CD0-2725-1AE9-1A2AE9ED2904}"/>
              </a:ext>
            </a:extLst>
          </p:cNvPr>
          <p:cNvGrpSpPr/>
          <p:nvPr/>
        </p:nvGrpSpPr>
        <p:grpSpPr>
          <a:xfrm flipH="1">
            <a:off x="6698783" y="4244683"/>
            <a:ext cx="5131080" cy="963881"/>
            <a:chOff x="558942" y="3779970"/>
            <a:chExt cx="5131080" cy="963881"/>
          </a:xfrm>
          <a:effectLst>
            <a:outerShdw blurRad="50800" dist="38100" dir="2700000" algn="tl" rotWithShape="0">
              <a:prstClr val="black">
                <a:alpha val="40000"/>
              </a:prstClr>
            </a:outerShdw>
          </a:effectLst>
        </p:grpSpPr>
        <p:sp>
          <p:nvSpPr>
            <p:cNvPr id="44" name="Rectangle: Rounded Corners 43">
              <a:extLst>
                <a:ext uri="{FF2B5EF4-FFF2-40B4-BE49-F238E27FC236}">
                  <a16:creationId xmlns:a16="http://schemas.microsoft.com/office/drawing/2014/main" id="{79DAA70E-80FF-516B-2200-B7E33127127D}"/>
                </a:ext>
              </a:extLst>
            </p:cNvPr>
            <p:cNvSpPr/>
            <p:nvPr/>
          </p:nvSpPr>
          <p:spPr>
            <a:xfrm>
              <a:off x="558942" y="3779970"/>
              <a:ext cx="469907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an </a:t>
              </a:r>
              <a:r>
                <a:rPr lang="en-US">
                  <a:solidFill>
                    <a:srgbClr val="FF3F3F"/>
                  </a:solidFill>
                </a:rPr>
                <a:t>easy to use </a:t>
              </a:r>
              <a:r>
                <a:rPr lang="en-US">
                  <a:solidFill>
                    <a:schemeClr val="tx1"/>
                  </a:solidFill>
                </a:rPr>
                <a:t>and </a:t>
              </a:r>
              <a:r>
                <a:rPr lang="en-US">
                  <a:solidFill>
                    <a:srgbClr val="FF3F3F"/>
                  </a:solidFill>
                </a:rPr>
                <a:t>intuitive</a:t>
              </a:r>
              <a:r>
                <a:rPr lang="en-US">
                  <a:solidFill>
                    <a:schemeClr val="tx1"/>
                  </a:solidFill>
                </a:rPr>
                <a:t> application for Overwatch players</a:t>
              </a:r>
            </a:p>
          </p:txBody>
        </p:sp>
        <p:sp>
          <p:nvSpPr>
            <p:cNvPr id="45" name="Rectangle: Top Corners Rounded 44">
              <a:extLst>
                <a:ext uri="{FF2B5EF4-FFF2-40B4-BE49-F238E27FC236}">
                  <a16:creationId xmlns:a16="http://schemas.microsoft.com/office/drawing/2014/main" id="{72C2E66C-B66E-5151-80C8-2354BFCC1685}"/>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8D5E1BB2-79E9-8ADD-DFA2-DB3640D427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
        <p:nvSpPr>
          <p:cNvPr id="47" name="Rectangle: Rounded Corners 46">
            <a:extLst>
              <a:ext uri="{FF2B5EF4-FFF2-40B4-BE49-F238E27FC236}">
                <a16:creationId xmlns:a16="http://schemas.microsoft.com/office/drawing/2014/main" id="{BBCE98F2-8F8C-AEBB-CF03-2B6715FEE9E4}"/>
              </a:ext>
            </a:extLst>
          </p:cNvPr>
          <p:cNvSpPr/>
          <p:nvPr/>
        </p:nvSpPr>
        <p:spPr>
          <a:xfrm>
            <a:off x="6742037" y="545577"/>
            <a:ext cx="5044575" cy="397164"/>
          </a:xfrm>
          <a:prstGeom prst="roundRect">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r>
              <a:rPr lang="en-US" b="1">
                <a:solidFill>
                  <a:srgbClr val="FF3F3F"/>
                </a:solidFill>
              </a:rPr>
              <a:t>   Concept/ Product</a:t>
            </a:r>
          </a:p>
        </p:txBody>
      </p:sp>
      <p:sp>
        <p:nvSpPr>
          <p:cNvPr id="48" name="TextBox 47">
            <a:extLst>
              <a:ext uri="{FF2B5EF4-FFF2-40B4-BE49-F238E27FC236}">
                <a16:creationId xmlns:a16="http://schemas.microsoft.com/office/drawing/2014/main" id="{96408E50-8851-7C76-D0D9-52CB196E49F5}"/>
              </a:ext>
            </a:extLst>
          </p:cNvPr>
          <p:cNvSpPr txBox="1"/>
          <p:nvPr/>
        </p:nvSpPr>
        <p:spPr>
          <a:xfrm>
            <a:off x="5661713" y="3249887"/>
            <a:ext cx="694421" cy="769441"/>
          </a:xfrm>
          <a:prstGeom prst="rect">
            <a:avLst/>
          </a:prstGeom>
          <a:noFill/>
          <a:effectLst>
            <a:outerShdw blurRad="50800" dist="50800" dir="5400000" algn="ctr" rotWithShape="0">
              <a:srgbClr val="000000">
                <a:alpha val="91000"/>
              </a:srgbClr>
            </a:outerShdw>
          </a:effectLst>
        </p:spPr>
        <p:txBody>
          <a:bodyPr wrap="none" rtlCol="0">
            <a:spAutoFit/>
          </a:bodyPr>
          <a:lstStyle/>
          <a:p>
            <a:r>
              <a:rPr lang="en-US" sz="4400" b="1" i="1">
                <a:effectLst>
                  <a:outerShdw blurRad="38100" dist="38100" dir="2700000" algn="tl">
                    <a:srgbClr val="000000">
                      <a:alpha val="43137"/>
                    </a:srgbClr>
                  </a:outerShdw>
                </a:effectLst>
                <a:latin typeface="Agency FB" panose="020B0503020202020204" pitchFamily="34" charset="0"/>
                <a:cs typeface="Aharoni" panose="020F0502020204030204" pitchFamily="2" charset="-79"/>
              </a:rPr>
              <a:t>VS</a:t>
            </a:r>
          </a:p>
        </p:txBody>
      </p:sp>
      <p:grpSp>
        <p:nvGrpSpPr>
          <p:cNvPr id="49" name="Group 48">
            <a:extLst>
              <a:ext uri="{FF2B5EF4-FFF2-40B4-BE49-F238E27FC236}">
                <a16:creationId xmlns:a16="http://schemas.microsoft.com/office/drawing/2014/main" id="{025912D5-F671-6789-3B48-E0795B7F2197}"/>
              </a:ext>
            </a:extLst>
          </p:cNvPr>
          <p:cNvGrpSpPr/>
          <p:nvPr/>
        </p:nvGrpSpPr>
        <p:grpSpPr>
          <a:xfrm>
            <a:off x="346673" y="3162832"/>
            <a:ext cx="5065259" cy="979231"/>
            <a:chOff x="544944" y="2652726"/>
            <a:chExt cx="5065259" cy="979231"/>
          </a:xfrm>
          <a:effectLst>
            <a:outerShdw blurRad="50800" dist="38100" dir="2700000" algn="tl" rotWithShape="0">
              <a:prstClr val="black">
                <a:alpha val="40000"/>
              </a:prstClr>
            </a:outerShdw>
          </a:effectLst>
        </p:grpSpPr>
        <p:sp>
          <p:nvSpPr>
            <p:cNvPr id="50" name="Rectangle: Rounded Corners 49">
              <a:extLst>
                <a:ext uri="{FF2B5EF4-FFF2-40B4-BE49-F238E27FC236}">
                  <a16:creationId xmlns:a16="http://schemas.microsoft.com/office/drawing/2014/main" id="{F68652BD-96F8-CE65-120D-E13940F54F11}"/>
                </a:ext>
              </a:extLst>
            </p:cNvPr>
            <p:cNvSpPr/>
            <p:nvPr/>
          </p:nvSpPr>
          <p:spPr>
            <a:xfrm>
              <a:off x="544944" y="2660402"/>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experience </a:t>
              </a:r>
              <a:r>
                <a:rPr lang="en-US">
                  <a:solidFill>
                    <a:srgbClr val="00B0F0"/>
                  </a:solidFill>
                </a:rPr>
                <a:t>production</a:t>
              </a:r>
              <a:r>
                <a:rPr lang="en-US">
                  <a:solidFill>
                    <a:schemeClr val="tx1"/>
                  </a:solidFill>
                </a:rPr>
                <a:t> of a website application</a:t>
              </a:r>
            </a:p>
          </p:txBody>
        </p:sp>
        <p:sp>
          <p:nvSpPr>
            <p:cNvPr id="51" name="Rectangle: Top Corners Rounded 50">
              <a:extLst>
                <a:ext uri="{FF2B5EF4-FFF2-40B4-BE49-F238E27FC236}">
                  <a16:creationId xmlns:a16="http://schemas.microsoft.com/office/drawing/2014/main" id="{71EBB4AC-AE00-9497-48C7-016A6296004E}"/>
                </a:ext>
              </a:extLst>
            </p:cNvPr>
            <p:cNvSpPr/>
            <p:nvPr/>
          </p:nvSpPr>
          <p:spPr>
            <a:xfrm rot="5400000">
              <a:off x="4850381" y="2906816"/>
              <a:ext cx="979231"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63265BDF-3B7D-8D2D-B004-2C0DAFA924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53" name="Group 52">
            <a:extLst>
              <a:ext uri="{FF2B5EF4-FFF2-40B4-BE49-F238E27FC236}">
                <a16:creationId xmlns:a16="http://schemas.microsoft.com/office/drawing/2014/main" id="{E2737D29-8217-A04A-3352-7799F1EA5EAF}"/>
              </a:ext>
            </a:extLst>
          </p:cNvPr>
          <p:cNvGrpSpPr/>
          <p:nvPr/>
        </p:nvGrpSpPr>
        <p:grpSpPr>
          <a:xfrm>
            <a:off x="341426" y="5317574"/>
            <a:ext cx="5075665" cy="963883"/>
            <a:chOff x="558941" y="3779970"/>
            <a:chExt cx="5075665" cy="963883"/>
          </a:xfrm>
          <a:effectLst>
            <a:outerShdw blurRad="50800" dist="38100" dir="2700000" algn="tl" rotWithShape="0">
              <a:prstClr val="black">
                <a:alpha val="40000"/>
              </a:prstClr>
            </a:outerShdw>
          </a:effectLst>
        </p:grpSpPr>
        <p:sp>
          <p:nvSpPr>
            <p:cNvPr id="54" name="Rectangle: Rounded Corners 53">
              <a:extLst>
                <a:ext uri="{FF2B5EF4-FFF2-40B4-BE49-F238E27FC236}">
                  <a16:creationId xmlns:a16="http://schemas.microsoft.com/office/drawing/2014/main" id="{F8EB0127-8A5F-A3CB-A7C1-8FEC5CF7A9DC}"/>
                </a:ext>
              </a:extLst>
            </p:cNvPr>
            <p:cNvSpPr/>
            <p:nvPr/>
          </p:nvSpPr>
          <p:spPr>
            <a:xfrm>
              <a:off x="558941" y="3779970"/>
              <a:ext cx="4719783"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a:solidFill>
                    <a:schemeClr val="tx1"/>
                  </a:solidFill>
                </a:rPr>
                <a:t>hypothetical solution to a </a:t>
              </a:r>
              <a:r>
                <a:rPr lang="en-US">
                  <a:solidFill>
                    <a:srgbClr val="00AAE6"/>
                  </a:solidFill>
                </a:rPr>
                <a:t>similar problem </a:t>
              </a:r>
              <a:r>
                <a:rPr lang="en-US">
                  <a:solidFill>
                    <a:schemeClr val="tx1"/>
                  </a:solidFill>
                </a:rPr>
                <a:t>that a friend of ours had</a:t>
              </a:r>
            </a:p>
          </p:txBody>
        </p:sp>
        <p:sp>
          <p:nvSpPr>
            <p:cNvPr id="55" name="Rectangle: Top Corners Rounded 54">
              <a:extLst>
                <a:ext uri="{FF2B5EF4-FFF2-40B4-BE49-F238E27FC236}">
                  <a16:creationId xmlns:a16="http://schemas.microsoft.com/office/drawing/2014/main" id="{3EA4F10E-A16A-F49B-8505-FC399AC2044B}"/>
                </a:ext>
              </a:extLst>
            </p:cNvPr>
            <p:cNvSpPr/>
            <p:nvPr/>
          </p:nvSpPr>
          <p:spPr>
            <a:xfrm rot="5400000">
              <a:off x="4853199" y="4026386"/>
              <a:ext cx="963882" cy="471052"/>
            </a:xfrm>
            <a:prstGeom prst="round2Same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3C1F59C0-B310-C65F-9A16-8BD558FB28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5177" y="4007351"/>
              <a:ext cx="599429" cy="515508"/>
            </a:xfrm>
            <a:prstGeom prst="rect">
              <a:avLst/>
            </a:prstGeom>
          </p:spPr>
        </p:pic>
      </p:grpSp>
      <p:grpSp>
        <p:nvGrpSpPr>
          <p:cNvPr id="57" name="Group 56">
            <a:extLst>
              <a:ext uri="{FF2B5EF4-FFF2-40B4-BE49-F238E27FC236}">
                <a16:creationId xmlns:a16="http://schemas.microsoft.com/office/drawing/2014/main" id="{05783837-7E14-1F3D-63DC-84FDC1E68556}"/>
              </a:ext>
            </a:extLst>
          </p:cNvPr>
          <p:cNvGrpSpPr/>
          <p:nvPr/>
        </p:nvGrpSpPr>
        <p:grpSpPr>
          <a:xfrm flipH="1">
            <a:off x="6750674" y="3159435"/>
            <a:ext cx="5065258" cy="971558"/>
            <a:chOff x="544945" y="2660402"/>
            <a:chExt cx="5065258" cy="971558"/>
          </a:xfrm>
          <a:effectLst>
            <a:outerShdw blurRad="50800" dist="38100" dir="2700000" algn="tl" rotWithShape="0">
              <a:prstClr val="black">
                <a:alpha val="40000"/>
              </a:prstClr>
            </a:outerShdw>
          </a:effectLst>
        </p:grpSpPr>
        <p:sp>
          <p:nvSpPr>
            <p:cNvPr id="58" name="Rectangle: Rounded Corners 57">
              <a:extLst>
                <a:ext uri="{FF2B5EF4-FFF2-40B4-BE49-F238E27FC236}">
                  <a16:creationId xmlns:a16="http://schemas.microsoft.com/office/drawing/2014/main" id="{C70F5EE8-1F34-58A8-6714-2129B3E450DE}"/>
                </a:ext>
              </a:extLst>
            </p:cNvPr>
            <p:cNvSpPr/>
            <p:nvPr/>
          </p:nvSpPr>
          <p:spPr>
            <a:xfrm>
              <a:off x="544945" y="2660402"/>
              <a:ext cx="4668085"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with a </a:t>
              </a:r>
              <a:r>
                <a:rPr lang="en-US">
                  <a:solidFill>
                    <a:srgbClr val="FF3F3F"/>
                  </a:solidFill>
                </a:rPr>
                <a:t>personal account</a:t>
              </a:r>
              <a:r>
                <a:rPr lang="en-US">
                  <a:solidFill>
                    <a:schemeClr val="tx1"/>
                  </a:solidFill>
                </a:rPr>
                <a:t>, </a:t>
              </a:r>
              <a:r>
                <a:rPr lang="en-US">
                  <a:solidFill>
                    <a:srgbClr val="FF3F3F"/>
                  </a:solidFill>
                </a:rPr>
                <a:t>create</a:t>
              </a:r>
              <a:r>
                <a:rPr lang="en-US">
                  <a:solidFill>
                    <a:schemeClr val="tx1"/>
                  </a:solidFill>
                </a:rPr>
                <a:t> new </a:t>
              </a:r>
              <a:r>
                <a:rPr lang="en-US">
                  <a:solidFill>
                    <a:srgbClr val="FF3F3F"/>
                  </a:solidFill>
                </a:rPr>
                <a:t>team comps </a:t>
              </a:r>
              <a:r>
                <a:rPr lang="en-US">
                  <a:solidFill>
                    <a:schemeClr val="tx1"/>
                  </a:solidFill>
                </a:rPr>
                <a:t>and </a:t>
              </a:r>
              <a:r>
                <a:rPr lang="en-US">
                  <a:solidFill>
                    <a:srgbClr val="FF3F3F"/>
                  </a:solidFill>
                </a:rPr>
                <a:t>modify</a:t>
              </a:r>
              <a:r>
                <a:rPr lang="en-US">
                  <a:solidFill>
                    <a:schemeClr val="tx1"/>
                  </a:solidFill>
                </a:rPr>
                <a:t> one of your existing ones</a:t>
              </a:r>
            </a:p>
          </p:txBody>
        </p:sp>
        <p:sp>
          <p:nvSpPr>
            <p:cNvPr id="59" name="Rectangle: Top Corners Rounded 58">
              <a:extLst>
                <a:ext uri="{FF2B5EF4-FFF2-40B4-BE49-F238E27FC236}">
                  <a16:creationId xmlns:a16="http://schemas.microsoft.com/office/drawing/2014/main" id="{B7F977B9-F6EB-C19E-AA1B-018C14260C85}"/>
                </a:ext>
              </a:extLst>
            </p:cNvPr>
            <p:cNvSpPr/>
            <p:nvPr/>
          </p:nvSpPr>
          <p:spPr>
            <a:xfrm rot="5400000">
              <a:off x="4881899" y="2903658"/>
              <a:ext cx="971555" cy="485049"/>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Picture 59">
              <a:extLst>
                <a:ext uri="{FF2B5EF4-FFF2-40B4-BE49-F238E27FC236}">
                  <a16:creationId xmlns:a16="http://schemas.microsoft.com/office/drawing/2014/main" id="{6B8DCC5A-3724-660C-1DB6-E7B1D863ED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7883" y="2896955"/>
              <a:ext cx="542320" cy="477241"/>
            </a:xfrm>
            <a:prstGeom prst="rect">
              <a:avLst/>
            </a:prstGeom>
          </p:spPr>
        </p:pic>
      </p:grpSp>
      <p:grpSp>
        <p:nvGrpSpPr>
          <p:cNvPr id="61" name="Group 60">
            <a:extLst>
              <a:ext uri="{FF2B5EF4-FFF2-40B4-BE49-F238E27FC236}">
                <a16:creationId xmlns:a16="http://schemas.microsoft.com/office/drawing/2014/main" id="{04E74AD4-A52B-7C57-72A2-04E169A58728}"/>
              </a:ext>
            </a:extLst>
          </p:cNvPr>
          <p:cNvGrpSpPr/>
          <p:nvPr/>
        </p:nvGrpSpPr>
        <p:grpSpPr>
          <a:xfrm flipH="1">
            <a:off x="6719493" y="5322254"/>
            <a:ext cx="5131080" cy="963881"/>
            <a:chOff x="558942" y="3779970"/>
            <a:chExt cx="5131080" cy="963881"/>
          </a:xfrm>
          <a:effectLst>
            <a:outerShdw blurRad="50800" dist="38100" dir="2700000" algn="tl" rotWithShape="0">
              <a:prstClr val="black">
                <a:alpha val="40000"/>
              </a:prstClr>
            </a:outerShdw>
          </a:effectLst>
        </p:grpSpPr>
        <p:sp>
          <p:nvSpPr>
            <p:cNvPr id="62" name="Rectangle: Rounded Corners 61">
              <a:extLst>
                <a:ext uri="{FF2B5EF4-FFF2-40B4-BE49-F238E27FC236}">
                  <a16:creationId xmlns:a16="http://schemas.microsoft.com/office/drawing/2014/main" id="{336A0C70-A8F5-1022-504F-73BDA4101D5B}"/>
                </a:ext>
              </a:extLst>
            </p:cNvPr>
            <p:cNvSpPr/>
            <p:nvPr/>
          </p:nvSpPr>
          <p:spPr>
            <a:xfrm>
              <a:off x="558942" y="3779970"/>
              <a:ext cx="4641696" cy="963881"/>
            </a:xfrm>
            <a:prstGeom prst="roundRect">
              <a:avLst>
                <a:gd name="adj" fmla="val 9821"/>
              </a:avLst>
            </a:prstGeom>
            <a:solidFill>
              <a:schemeClr val="bg1">
                <a:lumMod val="85000"/>
                <a:lumOff val="15000"/>
              </a:schemeClr>
            </a:solidFill>
            <a:ln>
              <a:solidFill>
                <a:schemeClr val="bg1">
                  <a:lumMod val="95000"/>
                  <a:lumOff val="5000"/>
                </a:schemeClr>
              </a:solidFill>
            </a:ln>
          </p:spPr>
          <p:style>
            <a:lnRef idx="2">
              <a:schemeClr val="dk1"/>
            </a:lnRef>
            <a:fillRef idx="1">
              <a:schemeClr val="lt1"/>
            </a:fillRef>
            <a:effectRef idx="0">
              <a:schemeClr val="dk1"/>
            </a:effectRef>
            <a:fontRef idx="minor">
              <a:schemeClr val="dk1"/>
            </a:fontRef>
          </p:style>
          <p:txBody>
            <a:bodyPr rtlCol="0" anchor="ctr"/>
            <a:lstStyle/>
            <a:p>
              <a:pPr algn="r"/>
              <a:r>
                <a:rPr lang="en-US">
                  <a:solidFill>
                    <a:schemeClr val="tx1"/>
                  </a:solidFill>
                </a:rPr>
                <a:t>creation and modification of a team composition </a:t>
              </a:r>
              <a:r>
                <a:rPr lang="en-US">
                  <a:solidFill>
                    <a:srgbClr val="FF3F3F"/>
                  </a:solidFill>
                </a:rPr>
                <a:t>within a single application</a:t>
              </a:r>
            </a:p>
          </p:txBody>
        </p:sp>
        <p:sp>
          <p:nvSpPr>
            <p:cNvPr id="63" name="Rectangle: Top Corners Rounded 62">
              <a:extLst>
                <a:ext uri="{FF2B5EF4-FFF2-40B4-BE49-F238E27FC236}">
                  <a16:creationId xmlns:a16="http://schemas.microsoft.com/office/drawing/2014/main" id="{F32A0CDC-ABEB-06D3-3685-BB9BC5105D6A}"/>
                </a:ext>
              </a:extLst>
            </p:cNvPr>
            <p:cNvSpPr/>
            <p:nvPr/>
          </p:nvSpPr>
          <p:spPr>
            <a:xfrm rot="5400000">
              <a:off x="4913976" y="4015550"/>
              <a:ext cx="956207" cy="485050"/>
            </a:xfrm>
            <a:prstGeom prst="round2SameRect">
              <a:avLst/>
            </a:prstGeom>
            <a:solidFill>
              <a:srgbClr val="FF3F3F"/>
            </a:solidFill>
            <a:ln>
              <a:solidFill>
                <a:srgbClr val="FF3F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Picture 63">
              <a:extLst>
                <a:ext uri="{FF2B5EF4-FFF2-40B4-BE49-F238E27FC236}">
                  <a16:creationId xmlns:a16="http://schemas.microsoft.com/office/drawing/2014/main" id="{FDEF9FA6-01DD-F4E9-0B13-675978124F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0593" y="4007351"/>
              <a:ext cx="599429" cy="515508"/>
            </a:xfrm>
            <a:prstGeom prst="rect">
              <a:avLst/>
            </a:prstGeom>
          </p:spPr>
        </p:pic>
      </p:grpSp>
    </p:spTree>
    <p:extLst>
      <p:ext uri="{BB962C8B-B14F-4D97-AF65-F5344CB8AC3E}">
        <p14:creationId xmlns:p14="http://schemas.microsoft.com/office/powerpoint/2010/main" val="28741233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0-#ppt_w/2"/>
                                          </p:val>
                                        </p:tav>
                                        <p:tav tm="100000">
                                          <p:val>
                                            <p:strVal val="#ppt_x"/>
                                          </p:val>
                                        </p:tav>
                                      </p:tavLst>
                                    </p:anim>
                                    <p:anim calcmode="lin" valueType="num">
                                      <p:cBhvr additive="base">
                                        <p:cTn id="13"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fill="hold"/>
                                        <p:tgtEl>
                                          <p:spTgt spid="34"/>
                                        </p:tgtEl>
                                        <p:attrNameLst>
                                          <p:attrName>ppt_x</p:attrName>
                                        </p:attrNameLst>
                                      </p:cBhvr>
                                      <p:tavLst>
                                        <p:tav tm="0">
                                          <p:val>
                                            <p:strVal val="0-#ppt_w/2"/>
                                          </p:val>
                                        </p:tav>
                                        <p:tav tm="100000">
                                          <p:val>
                                            <p:strVal val="#ppt_x"/>
                                          </p:val>
                                        </p:tav>
                                      </p:tavLst>
                                    </p:anim>
                                    <p:anim calcmode="lin" valueType="num">
                                      <p:cBhvr additive="base">
                                        <p:cTn id="19"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0-#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additive="base">
                                        <p:cTn id="30" dur="500" fill="hold"/>
                                        <p:tgtEl>
                                          <p:spTgt spid="33"/>
                                        </p:tgtEl>
                                        <p:attrNameLst>
                                          <p:attrName>ppt_x</p:attrName>
                                        </p:attrNameLst>
                                      </p:cBhvr>
                                      <p:tavLst>
                                        <p:tav tm="0">
                                          <p:val>
                                            <p:strVal val="0-#ppt_w/2"/>
                                          </p:val>
                                        </p:tav>
                                        <p:tav tm="100000">
                                          <p:val>
                                            <p:strVal val="#ppt_x"/>
                                          </p:val>
                                        </p:tav>
                                      </p:tavLst>
                                    </p:anim>
                                    <p:anim calcmode="lin" valueType="num">
                                      <p:cBhvr additive="base">
                                        <p:cTn id="3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53"/>
                                        </p:tgtEl>
                                        <p:attrNameLst>
                                          <p:attrName>style.visibility</p:attrName>
                                        </p:attrNameLst>
                                      </p:cBhvr>
                                      <p:to>
                                        <p:strVal val="visible"/>
                                      </p:to>
                                    </p:set>
                                    <p:anim calcmode="lin" valueType="num">
                                      <p:cBhvr additive="base">
                                        <p:cTn id="36" dur="500" fill="hold"/>
                                        <p:tgtEl>
                                          <p:spTgt spid="53"/>
                                        </p:tgtEl>
                                        <p:attrNameLst>
                                          <p:attrName>ppt_x</p:attrName>
                                        </p:attrNameLst>
                                      </p:cBhvr>
                                      <p:tavLst>
                                        <p:tav tm="0">
                                          <p:val>
                                            <p:strVal val="0-#ppt_w/2"/>
                                          </p:val>
                                        </p:tav>
                                        <p:tav tm="100000">
                                          <p:val>
                                            <p:strVal val="#ppt_x"/>
                                          </p:val>
                                        </p:tav>
                                      </p:tavLst>
                                    </p:anim>
                                    <p:anim calcmode="lin" valueType="num">
                                      <p:cBhvr additive="base">
                                        <p:cTn id="37"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fill="hold"/>
                                        <p:tgtEl>
                                          <p:spTgt spid="35"/>
                                        </p:tgtEl>
                                        <p:attrNameLst>
                                          <p:attrName>ppt_x</p:attrName>
                                        </p:attrNameLst>
                                      </p:cBhvr>
                                      <p:tavLst>
                                        <p:tav tm="0">
                                          <p:val>
                                            <p:strVal val="1+#ppt_w/2"/>
                                          </p:val>
                                        </p:tav>
                                        <p:tav tm="100000">
                                          <p:val>
                                            <p:strVal val="#ppt_x"/>
                                          </p:val>
                                        </p:tav>
                                      </p:tavLst>
                                    </p:anim>
                                    <p:anim calcmode="lin" valueType="num">
                                      <p:cBhvr additive="base">
                                        <p:cTn id="5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nodeType="click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nodeType="clickEffect">
                                  <p:stCondLst>
                                    <p:cond delay="0"/>
                                  </p:stCondLst>
                                  <p:childTnLst>
                                    <p:set>
                                      <p:cBhvr>
                                        <p:cTn id="63" dur="1" fill="hold">
                                          <p:stCondLst>
                                            <p:cond delay="0"/>
                                          </p:stCondLst>
                                        </p:cTn>
                                        <p:tgtEl>
                                          <p:spTgt spid="57"/>
                                        </p:tgtEl>
                                        <p:attrNameLst>
                                          <p:attrName>style.visibility</p:attrName>
                                        </p:attrNameLst>
                                      </p:cBhvr>
                                      <p:to>
                                        <p:strVal val="visible"/>
                                      </p:to>
                                    </p:set>
                                    <p:anim calcmode="lin" valueType="num">
                                      <p:cBhvr additive="base">
                                        <p:cTn id="64" dur="500" fill="hold"/>
                                        <p:tgtEl>
                                          <p:spTgt spid="57"/>
                                        </p:tgtEl>
                                        <p:attrNameLst>
                                          <p:attrName>ppt_x</p:attrName>
                                        </p:attrNameLst>
                                      </p:cBhvr>
                                      <p:tavLst>
                                        <p:tav tm="0">
                                          <p:val>
                                            <p:strVal val="1+#ppt_w/2"/>
                                          </p:val>
                                        </p:tav>
                                        <p:tav tm="100000">
                                          <p:val>
                                            <p:strVal val="#ppt_x"/>
                                          </p:val>
                                        </p:tav>
                                      </p:tavLst>
                                    </p:anim>
                                    <p:anim calcmode="lin" valueType="num">
                                      <p:cBhvr additive="base">
                                        <p:cTn id="65"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43"/>
                                        </p:tgtEl>
                                        <p:attrNameLst>
                                          <p:attrName>style.visibility</p:attrName>
                                        </p:attrNameLst>
                                      </p:cBhvr>
                                      <p:to>
                                        <p:strVal val="visible"/>
                                      </p:to>
                                    </p:set>
                                    <p:anim calcmode="lin" valueType="num">
                                      <p:cBhvr additive="base">
                                        <p:cTn id="70" dur="500" fill="hold"/>
                                        <p:tgtEl>
                                          <p:spTgt spid="43"/>
                                        </p:tgtEl>
                                        <p:attrNameLst>
                                          <p:attrName>ppt_x</p:attrName>
                                        </p:attrNameLst>
                                      </p:cBhvr>
                                      <p:tavLst>
                                        <p:tav tm="0">
                                          <p:val>
                                            <p:strVal val="1+#ppt_w/2"/>
                                          </p:val>
                                        </p:tav>
                                        <p:tav tm="100000">
                                          <p:val>
                                            <p:strVal val="#ppt_x"/>
                                          </p:val>
                                        </p:tav>
                                      </p:tavLst>
                                    </p:anim>
                                    <p:anim calcmode="lin" valueType="num">
                                      <p:cBhvr additive="base">
                                        <p:cTn id="71"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2" fill="hold" nodeType="clickEffect">
                                  <p:stCondLst>
                                    <p:cond delay="0"/>
                                  </p:stCondLst>
                                  <p:childTnLst>
                                    <p:set>
                                      <p:cBhvr>
                                        <p:cTn id="75" dur="1" fill="hold">
                                          <p:stCondLst>
                                            <p:cond delay="0"/>
                                          </p:stCondLst>
                                        </p:cTn>
                                        <p:tgtEl>
                                          <p:spTgt spid="61"/>
                                        </p:tgtEl>
                                        <p:attrNameLst>
                                          <p:attrName>style.visibility</p:attrName>
                                        </p:attrNameLst>
                                      </p:cBhvr>
                                      <p:to>
                                        <p:strVal val="visible"/>
                                      </p:to>
                                    </p:set>
                                    <p:anim calcmode="lin" valueType="num">
                                      <p:cBhvr additive="base">
                                        <p:cTn id="76" dur="500" fill="hold"/>
                                        <p:tgtEl>
                                          <p:spTgt spid="61"/>
                                        </p:tgtEl>
                                        <p:attrNameLst>
                                          <p:attrName>ppt_x</p:attrName>
                                        </p:attrNameLst>
                                      </p:cBhvr>
                                      <p:tavLst>
                                        <p:tav tm="0">
                                          <p:val>
                                            <p:strVal val="1+#ppt_w/2"/>
                                          </p:val>
                                        </p:tav>
                                        <p:tav tm="100000">
                                          <p:val>
                                            <p:strVal val="#ppt_x"/>
                                          </p:val>
                                        </p:tav>
                                      </p:tavLst>
                                    </p:anim>
                                    <p:anim calcmode="lin" valueType="num">
                                      <p:cBhvr additive="base">
                                        <p:cTn id="77"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7" grpId="0" animBg="1"/>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91B0457-FAA8-1F65-B273-A9BE0B2569E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94A9914-2710-32B3-C35A-06338D271617}"/>
              </a:ext>
            </a:extLst>
          </p:cNvPr>
          <p:cNvPicPr>
            <a:picLocks noChangeAspect="1"/>
          </p:cNvPicPr>
          <p:nvPr/>
        </p:nvPicPr>
        <p:blipFill>
          <a:blip r:embed="rId3">
            <a:extLst>
              <a:ext uri="{28A0092B-C50C-407E-A947-70E740481C1C}">
                <a14:useLocalDpi xmlns:a14="http://schemas.microsoft.com/office/drawing/2010/main" val="0"/>
              </a:ext>
            </a:extLst>
          </a:blip>
          <a:srcRect l="4832" t="494" r="4113" b="-494"/>
          <a:stretch>
            <a:fillRect/>
          </a:stretch>
        </p:blipFill>
        <p:spPr>
          <a:xfrm>
            <a:off x="3278909" y="214364"/>
            <a:ext cx="8377382" cy="4487655"/>
          </a:xfrm>
          <a:prstGeom prst="rect">
            <a:avLst/>
          </a:prstGeom>
        </p:spPr>
      </p:pic>
      <p:pic>
        <p:nvPicPr>
          <p:cNvPr id="12" name="Picture 11">
            <a:extLst>
              <a:ext uri="{FF2B5EF4-FFF2-40B4-BE49-F238E27FC236}">
                <a16:creationId xmlns:a16="http://schemas.microsoft.com/office/drawing/2014/main" id="{4363DBB8-DC90-E5B8-8FB5-EECCFE346B39}"/>
              </a:ext>
            </a:extLst>
          </p:cNvPr>
          <p:cNvPicPr>
            <a:picLocks noChangeAspect="1"/>
          </p:cNvPicPr>
          <p:nvPr/>
        </p:nvPicPr>
        <p:blipFill>
          <a:blip r:embed="rId4">
            <a:extLst>
              <a:ext uri="{28A0092B-C50C-407E-A947-70E740481C1C}">
                <a14:useLocalDpi xmlns:a14="http://schemas.microsoft.com/office/drawing/2010/main" val="0"/>
              </a:ext>
            </a:extLst>
          </a:blip>
          <a:srcRect l="63970" r="11288"/>
          <a:stretch>
            <a:fillRect/>
          </a:stretch>
        </p:blipFill>
        <p:spPr>
          <a:xfrm>
            <a:off x="8721589" y="214364"/>
            <a:ext cx="2263862" cy="4462944"/>
          </a:xfrm>
          <a:prstGeom prst="rect">
            <a:avLst/>
          </a:prstGeom>
        </p:spPr>
      </p:pic>
      <p:grpSp>
        <p:nvGrpSpPr>
          <p:cNvPr id="21" name="Group 20">
            <a:extLst>
              <a:ext uri="{FF2B5EF4-FFF2-40B4-BE49-F238E27FC236}">
                <a16:creationId xmlns:a16="http://schemas.microsoft.com/office/drawing/2014/main" id="{704DD963-C084-BA4B-774B-3F0195ABB2D0}"/>
              </a:ext>
            </a:extLst>
          </p:cNvPr>
          <p:cNvGrpSpPr/>
          <p:nvPr/>
        </p:nvGrpSpPr>
        <p:grpSpPr>
          <a:xfrm>
            <a:off x="120459" y="214364"/>
            <a:ext cx="3011786" cy="510504"/>
            <a:chOff x="100869" y="175489"/>
            <a:chExt cx="2498131" cy="609604"/>
          </a:xfrm>
        </p:grpSpPr>
        <p:sp>
          <p:nvSpPr>
            <p:cNvPr id="20" name="Rectangle: Rounded Corners 19">
              <a:extLst>
                <a:ext uri="{FF2B5EF4-FFF2-40B4-BE49-F238E27FC236}">
                  <a16:creationId xmlns:a16="http://schemas.microsoft.com/office/drawing/2014/main" id="{98F1F695-F3CC-8240-F050-8DEA15DE3CA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25F567F-923F-E064-49B1-19856C7C98CD}"/>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423C4D7-3ADB-1C5F-11E6-8B3181AF7940}"/>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Design/Mockup</a:t>
              </a:r>
            </a:p>
          </p:txBody>
        </p:sp>
      </p:grpSp>
      <p:pic>
        <p:nvPicPr>
          <p:cNvPr id="25" name="Picture 24" descr="Character Selection - Overwatch 2 | Interface In Game">
            <a:extLst>
              <a:ext uri="{FF2B5EF4-FFF2-40B4-BE49-F238E27FC236}">
                <a16:creationId xmlns:a16="http://schemas.microsoft.com/office/drawing/2014/main" id="{CF99F6EA-F445-300C-72A3-55A28FF57812}"/>
              </a:ext>
            </a:extLst>
          </p:cNvPr>
          <p:cNvPicPr>
            <a:picLocks noChangeAspect="1"/>
          </p:cNvPicPr>
          <p:nvPr/>
        </p:nvPicPr>
        <p:blipFill>
          <a:blip r:embed="rId5"/>
          <a:srcRect l="26667" t="47216" r="27443" b="26925"/>
          <a:stretch>
            <a:fillRect/>
          </a:stretch>
        </p:blipFill>
        <p:spPr>
          <a:xfrm>
            <a:off x="3160116" y="4960580"/>
            <a:ext cx="4581711" cy="1452223"/>
          </a:xfrm>
          <a:prstGeom prst="rect">
            <a:avLst/>
          </a:prstGeom>
        </p:spPr>
      </p:pic>
      <p:pic>
        <p:nvPicPr>
          <p:cNvPr id="27" name="Picture 26">
            <a:extLst>
              <a:ext uri="{FF2B5EF4-FFF2-40B4-BE49-F238E27FC236}">
                <a16:creationId xmlns:a16="http://schemas.microsoft.com/office/drawing/2014/main" id="{88D8EF0D-F5F7-3E67-8999-CBB93F678D7D}"/>
              </a:ext>
            </a:extLst>
          </p:cNvPr>
          <p:cNvPicPr>
            <a:picLocks noChangeAspect="1"/>
          </p:cNvPicPr>
          <p:nvPr/>
        </p:nvPicPr>
        <p:blipFill>
          <a:blip r:embed="rId6"/>
          <a:stretch>
            <a:fillRect/>
          </a:stretch>
        </p:blipFill>
        <p:spPr>
          <a:xfrm>
            <a:off x="369041" y="905169"/>
            <a:ext cx="2616540" cy="5435600"/>
          </a:xfrm>
          <a:prstGeom prst="rect">
            <a:avLst/>
          </a:prstGeom>
        </p:spPr>
      </p:pic>
      <p:sp>
        <p:nvSpPr>
          <p:cNvPr id="37" name="TextBox 36">
            <a:extLst>
              <a:ext uri="{FF2B5EF4-FFF2-40B4-BE49-F238E27FC236}">
                <a16:creationId xmlns:a16="http://schemas.microsoft.com/office/drawing/2014/main" id="{02C14EE1-7278-07C4-3BB0-F3A22C220904}"/>
              </a:ext>
            </a:extLst>
          </p:cNvPr>
          <p:cNvSpPr txBox="1"/>
          <p:nvPr/>
        </p:nvSpPr>
        <p:spPr>
          <a:xfrm>
            <a:off x="8028938" y="5086526"/>
            <a:ext cx="3906596" cy="1200329"/>
          </a:xfrm>
          <a:prstGeom prst="rect">
            <a:avLst/>
          </a:prstGeom>
          <a:noFill/>
        </p:spPr>
        <p:txBody>
          <a:bodyPr wrap="square" rtlCol="0">
            <a:spAutoFit/>
          </a:bodyPr>
          <a:lstStyle/>
          <a:p>
            <a:r>
              <a:rPr lang="en-US"/>
              <a:t>Design Philosophy:</a:t>
            </a:r>
          </a:p>
          <a:p>
            <a:pPr marL="285750" indent="-285750">
              <a:buFont typeface="Arial" panose="020B0604020202020204" pitchFamily="34" charset="0"/>
              <a:buChar char="•"/>
            </a:pPr>
            <a:r>
              <a:rPr lang="en-US">
                <a:solidFill>
                  <a:srgbClr val="00B0F0"/>
                </a:solidFill>
              </a:rPr>
              <a:t>match in game </a:t>
            </a:r>
            <a:r>
              <a:rPr lang="en-US"/>
              <a:t>conventions and designs</a:t>
            </a:r>
          </a:p>
          <a:p>
            <a:pPr marL="285750" indent="-285750">
              <a:buFont typeface="Arial" panose="020B0604020202020204" pitchFamily="34" charset="0"/>
              <a:buChar char="•"/>
            </a:pPr>
            <a:r>
              <a:rPr lang="en-US"/>
              <a:t>further inspirations from </a:t>
            </a:r>
            <a:r>
              <a:rPr lang="en-US">
                <a:solidFill>
                  <a:srgbClr val="00B0F0"/>
                </a:solidFill>
              </a:rPr>
              <a:t>fanwiki</a:t>
            </a:r>
          </a:p>
        </p:txBody>
      </p:sp>
      <p:sp>
        <p:nvSpPr>
          <p:cNvPr id="39" name="TextBox 38">
            <a:extLst>
              <a:ext uri="{FF2B5EF4-FFF2-40B4-BE49-F238E27FC236}">
                <a16:creationId xmlns:a16="http://schemas.microsoft.com/office/drawing/2014/main" id="{BFE05C66-5724-CBCC-7755-4EB15EEE6BA1}"/>
              </a:ext>
            </a:extLst>
          </p:cNvPr>
          <p:cNvSpPr txBox="1"/>
          <p:nvPr/>
        </p:nvSpPr>
        <p:spPr>
          <a:xfrm>
            <a:off x="369042" y="6356561"/>
            <a:ext cx="2644622" cy="230832"/>
          </a:xfrm>
          <a:prstGeom prst="rect">
            <a:avLst/>
          </a:prstGeom>
          <a:noFill/>
        </p:spPr>
        <p:txBody>
          <a:bodyPr wrap="square">
            <a:spAutoFit/>
          </a:bodyPr>
          <a:lstStyle/>
          <a:p>
            <a:r>
              <a:rPr lang="en-US" sz="900"/>
              <a:t>https://overwatch.fandom.com/wiki/Mizuki</a:t>
            </a:r>
          </a:p>
        </p:txBody>
      </p:sp>
      <p:sp>
        <p:nvSpPr>
          <p:cNvPr id="42" name="TextBox 41">
            <a:extLst>
              <a:ext uri="{FF2B5EF4-FFF2-40B4-BE49-F238E27FC236}">
                <a16:creationId xmlns:a16="http://schemas.microsoft.com/office/drawing/2014/main" id="{1A33E8B9-4391-6BB0-AD9F-28B1ECA32AD5}"/>
              </a:ext>
            </a:extLst>
          </p:cNvPr>
          <p:cNvSpPr txBox="1"/>
          <p:nvPr/>
        </p:nvSpPr>
        <p:spPr>
          <a:xfrm>
            <a:off x="3160116" y="6440529"/>
            <a:ext cx="5053472" cy="230832"/>
          </a:xfrm>
          <a:prstGeom prst="rect">
            <a:avLst/>
          </a:prstGeom>
          <a:noFill/>
        </p:spPr>
        <p:txBody>
          <a:bodyPr wrap="square">
            <a:spAutoFit/>
          </a:bodyPr>
          <a:lstStyle/>
          <a:p>
            <a:r>
              <a:rPr lang="en-US" sz="900"/>
              <a:t>https://interfaceingame.com/screenshots/overwatch-2-character-selection/</a:t>
            </a:r>
          </a:p>
        </p:txBody>
      </p:sp>
      <p:grpSp>
        <p:nvGrpSpPr>
          <p:cNvPr id="2" name="Group 1">
            <a:extLst>
              <a:ext uri="{FF2B5EF4-FFF2-40B4-BE49-F238E27FC236}">
                <a16:creationId xmlns:a16="http://schemas.microsoft.com/office/drawing/2014/main" id="{ED71D97C-BB14-338C-B6AF-9AE31D1941C4}"/>
              </a:ext>
            </a:extLst>
          </p:cNvPr>
          <p:cNvGrpSpPr/>
          <p:nvPr/>
        </p:nvGrpSpPr>
        <p:grpSpPr>
          <a:xfrm>
            <a:off x="3013664" y="665017"/>
            <a:ext cx="5199924" cy="2844801"/>
            <a:chOff x="3013664" y="665017"/>
            <a:chExt cx="5199924" cy="2844801"/>
          </a:xfrm>
        </p:grpSpPr>
        <p:cxnSp>
          <p:nvCxnSpPr>
            <p:cNvPr id="29" name="Straight Arrow Connector 28">
              <a:extLst>
                <a:ext uri="{FF2B5EF4-FFF2-40B4-BE49-F238E27FC236}">
                  <a16:creationId xmlns:a16="http://schemas.microsoft.com/office/drawing/2014/main" id="{7441401D-FBD4-ACA6-D29B-3C28DB584832}"/>
                </a:ext>
              </a:extLst>
            </p:cNvPr>
            <p:cNvCxnSpPr>
              <a:cxnSpLocks/>
            </p:cNvCxnSpPr>
            <p:nvPr/>
          </p:nvCxnSpPr>
          <p:spPr>
            <a:xfrm flipV="1">
              <a:off x="3013664" y="2313709"/>
              <a:ext cx="2371136" cy="510504"/>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5" name="Rectangle 44">
              <a:extLst>
                <a:ext uri="{FF2B5EF4-FFF2-40B4-BE49-F238E27FC236}">
                  <a16:creationId xmlns:a16="http://schemas.microsoft.com/office/drawing/2014/main" id="{781262B8-AD79-A96F-6D76-CECBAD46F7EB}"/>
                </a:ext>
              </a:extLst>
            </p:cNvPr>
            <p:cNvSpPr/>
            <p:nvPr/>
          </p:nvSpPr>
          <p:spPr>
            <a:xfrm>
              <a:off x="5384800" y="665017"/>
              <a:ext cx="2828788" cy="2844801"/>
            </a:xfrm>
            <a:prstGeom prst="rect">
              <a:avLst/>
            </a:prstGeom>
            <a:noFill/>
            <a:ln w="38100">
              <a:solidFill>
                <a:srgbClr val="00AAE6"/>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D09E1AAF-C125-39F1-06FD-BB695CF85557}"/>
              </a:ext>
            </a:extLst>
          </p:cNvPr>
          <p:cNvGrpSpPr/>
          <p:nvPr/>
        </p:nvGrpSpPr>
        <p:grpSpPr>
          <a:xfrm>
            <a:off x="4006750" y="3592598"/>
            <a:ext cx="4352160" cy="1367982"/>
            <a:chOff x="4006750" y="3592598"/>
            <a:chExt cx="4352160" cy="1367982"/>
          </a:xfrm>
        </p:grpSpPr>
        <p:cxnSp>
          <p:nvCxnSpPr>
            <p:cNvPr id="31" name="Straight Arrow Connector 30">
              <a:extLst>
                <a:ext uri="{FF2B5EF4-FFF2-40B4-BE49-F238E27FC236}">
                  <a16:creationId xmlns:a16="http://schemas.microsoft.com/office/drawing/2014/main" id="{86ABA493-734E-B935-1B35-DEE2939C14C6}"/>
                </a:ext>
              </a:extLst>
            </p:cNvPr>
            <p:cNvCxnSpPr>
              <a:cxnSpLocks/>
            </p:cNvCxnSpPr>
            <p:nvPr/>
          </p:nvCxnSpPr>
          <p:spPr>
            <a:xfrm flipV="1">
              <a:off x="4359564" y="4544291"/>
              <a:ext cx="0" cy="416289"/>
            </a:xfrm>
            <a:prstGeom prst="straightConnector1">
              <a:avLst/>
            </a:prstGeom>
            <a:ln w="38100">
              <a:solidFill>
                <a:srgbClr val="00AAE6"/>
              </a:solidFill>
              <a:headEnd type="triangle"/>
              <a:tailEnd type="none"/>
            </a:ln>
          </p:spPr>
          <p:style>
            <a:lnRef idx="3">
              <a:schemeClr val="dk1"/>
            </a:lnRef>
            <a:fillRef idx="0">
              <a:schemeClr val="dk1"/>
            </a:fillRef>
            <a:effectRef idx="2">
              <a:schemeClr val="dk1"/>
            </a:effectRef>
            <a:fontRef idx="minor">
              <a:schemeClr val="tx1"/>
            </a:fontRef>
          </p:style>
        </p:cxnSp>
        <p:sp>
          <p:nvSpPr>
            <p:cNvPr id="46" name="Rectangle 45">
              <a:extLst>
                <a:ext uri="{FF2B5EF4-FFF2-40B4-BE49-F238E27FC236}">
                  <a16:creationId xmlns:a16="http://schemas.microsoft.com/office/drawing/2014/main" id="{8449D0C2-85AE-34A4-1198-4FB08E5EE577}"/>
                </a:ext>
              </a:extLst>
            </p:cNvPr>
            <p:cNvSpPr/>
            <p:nvPr/>
          </p:nvSpPr>
          <p:spPr>
            <a:xfrm>
              <a:off x="4006750" y="3592598"/>
              <a:ext cx="4352160" cy="951693"/>
            </a:xfrm>
            <a:prstGeom prst="rect">
              <a:avLst/>
            </a:prstGeom>
            <a:noFill/>
            <a:ln w="38100">
              <a:solidFill>
                <a:srgbClr val="00AA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2781742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right)">
                                      <p:cBhvr>
                                        <p:cTn id="24" dur="500"/>
                                        <p:tgtEl>
                                          <p:spTgt spid="2"/>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500"/>
                                        <p:tgtEl>
                                          <p:spTgt spid="3"/>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DBD94D-370D-A22A-EC2D-6C501B92187B}"/>
              </a:ext>
            </a:extLst>
          </p:cNvPr>
          <p:cNvSpPr txBox="1"/>
          <p:nvPr/>
        </p:nvSpPr>
        <p:spPr>
          <a:xfrm>
            <a:off x="3050722" y="3244334"/>
            <a:ext cx="6101442" cy="369332"/>
          </a:xfrm>
          <a:prstGeom prst="rect">
            <a:avLst/>
          </a:prstGeom>
          <a:noFill/>
        </p:spPr>
        <p:txBody>
          <a:bodyPr wrap="square">
            <a:spAutoFit/>
          </a:bodyPr>
          <a:lstStyle/>
          <a:p>
            <a:endParaRPr lang="en-US"/>
          </a:p>
        </p:txBody>
      </p:sp>
      <p:pic>
        <p:nvPicPr>
          <p:cNvPr id="15" name="Graphic 14">
            <a:extLst>
              <a:ext uri="{FF2B5EF4-FFF2-40B4-BE49-F238E27FC236}">
                <a16:creationId xmlns:a16="http://schemas.microsoft.com/office/drawing/2014/main" id="{26A0A8B7-F56D-D315-94E4-A5A514BAE2D4}"/>
              </a:ext>
            </a:extLst>
          </p:cNvPr>
          <p:cNvPicPr>
            <a:picLocks noChangeAspect="1"/>
          </p:cNvPicPr>
          <p:nvPr/>
        </p:nvPicPr>
        <p:blipFill>
          <a:blip r:embed="rId3">
            <a:extLst>
              <a:ext uri="{28A0092B-C50C-407E-A947-70E740481C1C}">
                <a14:useLocalDpi xmlns:a14="http://schemas.microsoft.com/office/drawing/2010/main" val="0"/>
              </a:ext>
            </a:extLst>
          </a:blip>
          <a:srcRect l="4893" t="5840" r="4698" b="11358"/>
          <a:stretch>
            <a:fillRect/>
          </a:stretch>
        </p:blipFill>
        <p:spPr>
          <a:xfrm>
            <a:off x="279202" y="641951"/>
            <a:ext cx="11633595" cy="5943429"/>
          </a:xfrm>
          <a:prstGeom prst="rect">
            <a:avLst/>
          </a:prstGeom>
        </p:spPr>
      </p:pic>
      <p:grpSp>
        <p:nvGrpSpPr>
          <p:cNvPr id="16" name="Group 15">
            <a:extLst>
              <a:ext uri="{FF2B5EF4-FFF2-40B4-BE49-F238E27FC236}">
                <a16:creationId xmlns:a16="http://schemas.microsoft.com/office/drawing/2014/main" id="{BBF737F6-4D57-E84C-44F1-4614D699BB14}"/>
              </a:ext>
            </a:extLst>
          </p:cNvPr>
          <p:cNvGrpSpPr/>
          <p:nvPr/>
        </p:nvGrpSpPr>
        <p:grpSpPr>
          <a:xfrm>
            <a:off x="120458" y="131213"/>
            <a:ext cx="2333031" cy="474526"/>
            <a:chOff x="100869" y="175489"/>
            <a:chExt cx="2498131" cy="609604"/>
          </a:xfrm>
        </p:grpSpPr>
        <p:sp>
          <p:nvSpPr>
            <p:cNvPr id="17" name="Rectangle: Rounded Corners 16">
              <a:extLst>
                <a:ext uri="{FF2B5EF4-FFF2-40B4-BE49-F238E27FC236}">
                  <a16:creationId xmlns:a16="http://schemas.microsoft.com/office/drawing/2014/main" id="{D2ECE065-799A-A272-905A-27E3971D99F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FB8A7D7-3B10-1B27-9F7A-AA7561FE252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DA9B5445-5E28-9F9F-603B-A8686C4AC62B}"/>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t>Component View</a:t>
              </a:r>
            </a:p>
          </p:txBody>
        </p:sp>
      </p:grpSp>
    </p:spTree>
    <p:extLst>
      <p:ext uri="{BB962C8B-B14F-4D97-AF65-F5344CB8AC3E}">
        <p14:creationId xmlns:p14="http://schemas.microsoft.com/office/powerpoint/2010/main" val="202643423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B291355-BD0C-6A81-D303-FA851AA3D4FA}"/>
              </a:ext>
            </a:extLst>
          </p:cNvPr>
          <p:cNvPicPr>
            <a:picLocks noChangeAspect="1"/>
          </p:cNvPicPr>
          <p:nvPr/>
        </p:nvPicPr>
        <p:blipFill>
          <a:blip r:embed="rId3">
            <a:extLst>
              <a:ext uri="{28A0092B-C50C-407E-A947-70E740481C1C}">
                <a14:useLocalDpi xmlns:a14="http://schemas.microsoft.com/office/drawing/2010/main" val="0"/>
              </a:ext>
            </a:extLst>
          </a:blip>
          <a:srcRect l="3599" r="3849"/>
          <a:stretch>
            <a:fillRect/>
          </a:stretch>
        </p:blipFill>
        <p:spPr>
          <a:xfrm>
            <a:off x="834328" y="972074"/>
            <a:ext cx="10523343" cy="5546124"/>
          </a:xfrm>
          <a:prstGeom prst="rect">
            <a:avLst/>
          </a:prstGeom>
        </p:spPr>
      </p:pic>
      <p:grpSp>
        <p:nvGrpSpPr>
          <p:cNvPr id="22" name="Group 21">
            <a:extLst>
              <a:ext uri="{FF2B5EF4-FFF2-40B4-BE49-F238E27FC236}">
                <a16:creationId xmlns:a16="http://schemas.microsoft.com/office/drawing/2014/main" id="{46DC917D-67F4-95BF-FDE7-15803F8AACBB}"/>
              </a:ext>
            </a:extLst>
          </p:cNvPr>
          <p:cNvGrpSpPr/>
          <p:nvPr/>
        </p:nvGrpSpPr>
        <p:grpSpPr>
          <a:xfrm>
            <a:off x="120458" y="214364"/>
            <a:ext cx="3286771" cy="474526"/>
            <a:chOff x="100869" y="175489"/>
            <a:chExt cx="2498131" cy="609604"/>
          </a:xfrm>
        </p:grpSpPr>
        <p:sp>
          <p:nvSpPr>
            <p:cNvPr id="23" name="Rectangle: Rounded Corners 22">
              <a:extLst>
                <a:ext uri="{FF2B5EF4-FFF2-40B4-BE49-F238E27FC236}">
                  <a16:creationId xmlns:a16="http://schemas.microsoft.com/office/drawing/2014/main" id="{EB47B9EC-9470-9C5F-72B8-4728E7AB968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5E80D1CC-D64D-BE70-546D-1BD45F035FC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F5E44917-49A9-DFED-F3B7-717F8F6A7A3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Component Breakdown</a:t>
              </a:r>
            </a:p>
          </p:txBody>
        </p:sp>
      </p:grpSp>
      <p:pic>
        <p:nvPicPr>
          <p:cNvPr id="27" name="Picture 26">
            <a:extLst>
              <a:ext uri="{FF2B5EF4-FFF2-40B4-BE49-F238E27FC236}">
                <a16:creationId xmlns:a16="http://schemas.microsoft.com/office/drawing/2014/main" id="{4245F244-6A96-806D-1114-208FC8118F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199" y="1310659"/>
            <a:ext cx="5962227" cy="3846407"/>
          </a:xfrm>
          <a:prstGeom prst="rect">
            <a:avLst/>
          </a:prstGeom>
        </p:spPr>
      </p:pic>
      <p:pic>
        <p:nvPicPr>
          <p:cNvPr id="28" name="Picture 27">
            <a:extLst>
              <a:ext uri="{FF2B5EF4-FFF2-40B4-BE49-F238E27FC236}">
                <a16:creationId xmlns:a16="http://schemas.microsoft.com/office/drawing/2014/main" id="{EE7705ED-F231-4EB8-551E-4F3E0C55FD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6465" y="2458591"/>
            <a:ext cx="2668677" cy="3006709"/>
          </a:xfrm>
          <a:prstGeom prst="rect">
            <a:avLst/>
          </a:prstGeom>
        </p:spPr>
      </p:pic>
      <p:pic>
        <p:nvPicPr>
          <p:cNvPr id="29" name="Picture 28">
            <a:extLst>
              <a:ext uri="{FF2B5EF4-FFF2-40B4-BE49-F238E27FC236}">
                <a16:creationId xmlns:a16="http://schemas.microsoft.com/office/drawing/2014/main" id="{D27D61E8-ECAC-579C-9197-29AEB7AF45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22765" y="5433163"/>
            <a:ext cx="2722378" cy="1067830"/>
          </a:xfrm>
          <a:prstGeom prst="rect">
            <a:avLst/>
          </a:prstGeom>
        </p:spPr>
      </p:pic>
      <p:pic>
        <p:nvPicPr>
          <p:cNvPr id="30" name="Picture 29">
            <a:extLst>
              <a:ext uri="{FF2B5EF4-FFF2-40B4-BE49-F238E27FC236}">
                <a16:creationId xmlns:a16="http://schemas.microsoft.com/office/drawing/2014/main" id="{AA2819F4-B0B7-34B6-F71A-BAFD010267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1261" y="1527156"/>
            <a:ext cx="2668678" cy="989709"/>
          </a:xfrm>
          <a:prstGeom prst="rect">
            <a:avLst/>
          </a:prstGeom>
        </p:spPr>
      </p:pic>
      <p:pic>
        <p:nvPicPr>
          <p:cNvPr id="31" name="Picture 30">
            <a:extLst>
              <a:ext uri="{FF2B5EF4-FFF2-40B4-BE49-F238E27FC236}">
                <a16:creationId xmlns:a16="http://schemas.microsoft.com/office/drawing/2014/main" id="{93ECDE7B-06F4-9316-1C65-D667F91EA5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5205" y="5122284"/>
            <a:ext cx="6084803" cy="1427883"/>
          </a:xfrm>
          <a:prstGeom prst="rect">
            <a:avLst/>
          </a:prstGeom>
        </p:spPr>
      </p:pic>
    </p:spTree>
    <p:extLst>
      <p:ext uri="{BB962C8B-B14F-4D97-AF65-F5344CB8AC3E}">
        <p14:creationId xmlns:p14="http://schemas.microsoft.com/office/powerpoint/2010/main" val="1363468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DE1EFC5-272B-B672-E415-3E71777EAA54}"/>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07F66E80-6F10-6F33-D823-023A3214BA6A}"/>
              </a:ext>
            </a:extLst>
          </p:cNvPr>
          <p:cNvGrpSpPr/>
          <p:nvPr/>
        </p:nvGrpSpPr>
        <p:grpSpPr>
          <a:xfrm>
            <a:off x="148493" y="161965"/>
            <a:ext cx="3602913" cy="517238"/>
            <a:chOff x="100869" y="175489"/>
            <a:chExt cx="2498131" cy="609604"/>
          </a:xfrm>
        </p:grpSpPr>
        <p:sp>
          <p:nvSpPr>
            <p:cNvPr id="20" name="Rectangle: Rounded Corners 19">
              <a:extLst>
                <a:ext uri="{FF2B5EF4-FFF2-40B4-BE49-F238E27FC236}">
                  <a16:creationId xmlns:a16="http://schemas.microsoft.com/office/drawing/2014/main" id="{620B2678-1FC9-4F2D-6C7C-A2B3C7B94348}"/>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F61AE4-BF38-813B-BB30-50AEB6E3415A}"/>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1CDB9263-8299-7E3B-4461-232416A5FD7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Frontend: Implementation</a:t>
              </a:r>
            </a:p>
          </p:txBody>
        </p:sp>
      </p:grpSp>
      <p:sp>
        <p:nvSpPr>
          <p:cNvPr id="3" name="TextBox 2">
            <a:extLst>
              <a:ext uri="{FF2B5EF4-FFF2-40B4-BE49-F238E27FC236}">
                <a16:creationId xmlns:a16="http://schemas.microsoft.com/office/drawing/2014/main" id="{77FFAF50-D356-382F-CD73-08B545CFB69C}"/>
              </a:ext>
            </a:extLst>
          </p:cNvPr>
          <p:cNvSpPr txBox="1"/>
          <p:nvPr/>
        </p:nvSpPr>
        <p:spPr>
          <a:xfrm>
            <a:off x="3048000" y="3246643"/>
            <a:ext cx="6096000" cy="369332"/>
          </a:xfrm>
          <a:prstGeom prst="rect">
            <a:avLst/>
          </a:prstGeom>
          <a:noFill/>
        </p:spPr>
        <p:txBody>
          <a:bodyPr wrap="square">
            <a:spAutoFit/>
          </a:bodyPr>
          <a:lstStyle/>
          <a:p>
            <a:endParaRPr lang="en-US"/>
          </a:p>
        </p:txBody>
      </p:sp>
      <p:sp>
        <p:nvSpPr>
          <p:cNvPr id="5" name="TextBox 4">
            <a:extLst>
              <a:ext uri="{FF2B5EF4-FFF2-40B4-BE49-F238E27FC236}">
                <a16:creationId xmlns:a16="http://schemas.microsoft.com/office/drawing/2014/main" id="{A3A1D065-23A8-512F-8D14-831D7BB94D41}"/>
              </a:ext>
            </a:extLst>
          </p:cNvPr>
          <p:cNvSpPr txBox="1"/>
          <p:nvPr/>
        </p:nvSpPr>
        <p:spPr>
          <a:xfrm>
            <a:off x="3048000" y="3246643"/>
            <a:ext cx="6096000" cy="369332"/>
          </a:xfrm>
          <a:prstGeom prst="rect">
            <a:avLst/>
          </a:prstGeom>
          <a:noFill/>
        </p:spPr>
        <p:txBody>
          <a:bodyPr wrap="square">
            <a:spAutoFit/>
          </a:bodyPr>
          <a:lstStyle/>
          <a:p>
            <a:endParaRPr lang="en-US"/>
          </a:p>
        </p:txBody>
      </p:sp>
      <p:pic>
        <p:nvPicPr>
          <p:cNvPr id="7" name="Picture 6">
            <a:extLst>
              <a:ext uri="{FF2B5EF4-FFF2-40B4-BE49-F238E27FC236}">
                <a16:creationId xmlns:a16="http://schemas.microsoft.com/office/drawing/2014/main" id="{B21ECF13-4552-1BCD-DF83-B29B19CA9B4A}"/>
              </a:ext>
            </a:extLst>
          </p:cNvPr>
          <p:cNvPicPr>
            <a:picLocks noChangeAspect="1"/>
          </p:cNvPicPr>
          <p:nvPr/>
        </p:nvPicPr>
        <p:blipFill>
          <a:blip r:embed="rId3">
            <a:extLst>
              <a:ext uri="{28A0092B-C50C-407E-A947-70E740481C1C}">
                <a14:useLocalDpi xmlns:a14="http://schemas.microsoft.com/office/drawing/2010/main" val="0"/>
              </a:ext>
            </a:extLst>
          </a:blip>
          <a:srcRect t="10536" b="5146"/>
          <a:stretch>
            <a:fillRect/>
          </a:stretch>
        </p:blipFill>
        <p:spPr>
          <a:xfrm>
            <a:off x="466127" y="1774782"/>
            <a:ext cx="7765302" cy="3682385"/>
          </a:xfrm>
          <a:prstGeom prst="roundRect">
            <a:avLst>
              <a:gd name="adj" fmla="val 13694"/>
            </a:avLst>
          </a:prstGeom>
          <a:ln>
            <a:solidFill>
              <a:srgbClr val="00B0F0"/>
            </a:solidFill>
          </a:ln>
        </p:spPr>
      </p:pic>
      <p:pic>
        <p:nvPicPr>
          <p:cNvPr id="14" name="Picture 13">
            <a:extLst>
              <a:ext uri="{FF2B5EF4-FFF2-40B4-BE49-F238E27FC236}">
                <a16:creationId xmlns:a16="http://schemas.microsoft.com/office/drawing/2014/main" id="{F783F6AB-8731-58A1-6394-CD0812837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0413" y="4141982"/>
            <a:ext cx="929706" cy="929706"/>
          </a:xfrm>
          <a:prstGeom prst="rect">
            <a:avLst/>
          </a:prstGeom>
        </p:spPr>
      </p:pic>
      <p:pic>
        <p:nvPicPr>
          <p:cNvPr id="15" name="Picture 14">
            <a:extLst>
              <a:ext uri="{FF2B5EF4-FFF2-40B4-BE49-F238E27FC236}">
                <a16:creationId xmlns:a16="http://schemas.microsoft.com/office/drawing/2014/main" id="{58274567-545A-55A2-39EC-47DA02C6E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44952" y="4141981"/>
            <a:ext cx="929707" cy="929707"/>
          </a:xfrm>
          <a:prstGeom prst="rect">
            <a:avLst/>
          </a:prstGeom>
        </p:spPr>
      </p:pic>
      <p:pic>
        <p:nvPicPr>
          <p:cNvPr id="16" name="Picture 15">
            <a:extLst>
              <a:ext uri="{FF2B5EF4-FFF2-40B4-BE49-F238E27FC236}">
                <a16:creationId xmlns:a16="http://schemas.microsoft.com/office/drawing/2014/main" id="{AA7C0C9E-536D-2F3C-B554-CBBFD641F5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96167" y="4141981"/>
            <a:ext cx="929706" cy="929706"/>
          </a:xfrm>
          <a:prstGeom prst="rect">
            <a:avLst/>
          </a:prstGeom>
        </p:spPr>
      </p:pic>
      <p:sp>
        <p:nvSpPr>
          <p:cNvPr id="17" name="TextBox 16">
            <a:extLst>
              <a:ext uri="{FF2B5EF4-FFF2-40B4-BE49-F238E27FC236}">
                <a16:creationId xmlns:a16="http://schemas.microsoft.com/office/drawing/2014/main" id="{8DF05649-A58F-3367-8974-3DD770B68A12}"/>
              </a:ext>
            </a:extLst>
          </p:cNvPr>
          <p:cNvSpPr txBox="1"/>
          <p:nvPr/>
        </p:nvSpPr>
        <p:spPr>
          <a:xfrm>
            <a:off x="8560413" y="2085974"/>
            <a:ext cx="3001012" cy="1754326"/>
          </a:xfrm>
          <a:prstGeom prst="rect">
            <a:avLst/>
          </a:prstGeom>
          <a:noFill/>
        </p:spPr>
        <p:txBody>
          <a:bodyPr wrap="square" rtlCol="0">
            <a:spAutoFit/>
          </a:bodyPr>
          <a:lstStyle/>
          <a:p>
            <a:pPr marL="285750" indent="-285750">
              <a:buFont typeface="Arial" panose="020B0604020202020204" pitchFamily="34" charset="0"/>
              <a:buChar char="•"/>
            </a:pPr>
            <a:r>
              <a:rPr lang="en-US"/>
              <a:t>Implementierung über </a:t>
            </a:r>
            <a:r>
              <a:rPr lang="en-US">
                <a:solidFill>
                  <a:srgbClr val="00B0F0"/>
                </a:solidFill>
              </a:rPr>
              <a:t>React</a:t>
            </a:r>
            <a:r>
              <a:rPr lang="en-US"/>
              <a:t> mit </a:t>
            </a:r>
            <a:r>
              <a:rPr lang="en-US">
                <a:solidFill>
                  <a:srgbClr val="00B0F0"/>
                </a:solidFill>
              </a:rPr>
              <a:t>Typescript</a:t>
            </a:r>
            <a:r>
              <a:rPr lang="en-US"/>
              <a:t> in Kombination mit </a:t>
            </a:r>
            <a:r>
              <a:rPr lang="en-US">
                <a:solidFill>
                  <a:schemeClr val="accent2"/>
                </a:solidFill>
              </a:rPr>
              <a:t>Vite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Testing über </a:t>
            </a:r>
            <a:r>
              <a:rPr lang="en-US">
                <a:solidFill>
                  <a:schemeClr val="accent2"/>
                </a:solidFill>
              </a:rPr>
              <a:t>Vitest</a:t>
            </a:r>
            <a:r>
              <a:rPr lang="en-US"/>
              <a:t> und </a:t>
            </a:r>
            <a:r>
              <a:rPr lang="en-US">
                <a:solidFill>
                  <a:srgbClr val="00B0F0"/>
                </a:solidFill>
              </a:rPr>
              <a:t>React Testing Library</a:t>
            </a:r>
          </a:p>
        </p:txBody>
      </p:sp>
    </p:spTree>
    <p:extLst>
      <p:ext uri="{BB962C8B-B14F-4D97-AF65-F5344CB8AC3E}">
        <p14:creationId xmlns:p14="http://schemas.microsoft.com/office/powerpoint/2010/main" val="41902269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85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50"/>
                                        <p:tgtEl>
                                          <p:spTgt spid="15"/>
                                        </p:tgtEl>
                                      </p:cBhvr>
                                    </p:animEffect>
                                  </p:childTnLst>
                                </p:cTn>
                              </p:par>
                            </p:childTnLst>
                          </p:cTn>
                        </p:par>
                        <p:par>
                          <p:cTn id="16" fill="hold">
                            <p:stCondLst>
                              <p:cond delay="12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35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9E6DA5C8-732B-7B59-EAA2-8131C3E1E83F}"/>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FC90AAAF-27E1-0AA6-CE6F-0EA87B5633EA}"/>
              </a:ext>
            </a:extLst>
          </p:cNvPr>
          <p:cNvGrpSpPr/>
          <p:nvPr/>
        </p:nvGrpSpPr>
        <p:grpSpPr>
          <a:xfrm>
            <a:off x="2988613" y="2661393"/>
            <a:ext cx="6214773" cy="1535213"/>
            <a:chOff x="2918404" y="2666673"/>
            <a:chExt cx="6214773" cy="1535213"/>
          </a:xfrm>
        </p:grpSpPr>
        <p:sp>
          <p:nvSpPr>
            <p:cNvPr id="29" name="Rectangle: Rounded Corners 28">
              <a:extLst>
                <a:ext uri="{FF2B5EF4-FFF2-40B4-BE49-F238E27FC236}">
                  <a16:creationId xmlns:a16="http://schemas.microsoft.com/office/drawing/2014/main" id="{0A457A43-5942-927F-3AD3-60F8843C6557}"/>
                </a:ext>
              </a:extLst>
            </p:cNvPr>
            <p:cNvSpPr/>
            <p:nvPr/>
          </p:nvSpPr>
          <p:spPr>
            <a:xfrm>
              <a:off x="2918404" y="2666673"/>
              <a:ext cx="5997718" cy="1318159"/>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2CB93CCC-CDA2-3C45-80D9-793A713F863B}"/>
                </a:ext>
              </a:extLst>
            </p:cNvPr>
            <p:cNvSpPr/>
            <p:nvPr/>
          </p:nvSpPr>
          <p:spPr>
            <a:xfrm>
              <a:off x="3135459" y="2883727"/>
              <a:ext cx="5997718" cy="1318159"/>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6BF13907-A8AB-784A-C8CF-5338FB2F55F9}"/>
                </a:ext>
              </a:extLst>
            </p:cNvPr>
            <p:cNvSpPr/>
            <p:nvPr/>
          </p:nvSpPr>
          <p:spPr>
            <a:xfrm>
              <a:off x="3038475" y="2786743"/>
              <a:ext cx="5997718" cy="1318159"/>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BAD3E45-E568-3B25-2E76-A2CB57FCD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8331" y="2863011"/>
              <a:ext cx="5538006" cy="1210491"/>
            </a:xfrm>
            <a:prstGeom prst="rect">
              <a:avLst/>
            </a:prstGeom>
          </p:spPr>
        </p:pic>
      </p:grpSp>
    </p:spTree>
    <p:extLst>
      <p:ext uri="{BB962C8B-B14F-4D97-AF65-F5344CB8AC3E}">
        <p14:creationId xmlns:p14="http://schemas.microsoft.com/office/powerpoint/2010/main" val="363669978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A1D2F761-6AC0-D023-65D5-A7E913EA54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382" y="789227"/>
            <a:ext cx="11007360" cy="3406588"/>
          </a:xfrm>
          <a:prstGeom prst="rect">
            <a:avLst/>
          </a:prstGeom>
        </p:spPr>
      </p:pic>
      <p:grpSp>
        <p:nvGrpSpPr>
          <p:cNvPr id="4" name="Group 3">
            <a:extLst>
              <a:ext uri="{FF2B5EF4-FFF2-40B4-BE49-F238E27FC236}">
                <a16:creationId xmlns:a16="http://schemas.microsoft.com/office/drawing/2014/main" id="{126CFF86-1C87-C7DD-9225-284A1411A166}"/>
              </a:ext>
            </a:extLst>
          </p:cNvPr>
          <p:cNvGrpSpPr/>
          <p:nvPr/>
        </p:nvGrpSpPr>
        <p:grpSpPr>
          <a:xfrm>
            <a:off x="4527525" y="3051431"/>
            <a:ext cx="5063759" cy="3317329"/>
            <a:chOff x="1488141" y="3613252"/>
            <a:chExt cx="4607859" cy="2393101"/>
          </a:xfrm>
        </p:grpSpPr>
        <p:sp>
          <p:nvSpPr>
            <p:cNvPr id="2" name="Rectangle: Rounded Corners 1">
              <a:extLst>
                <a:ext uri="{FF2B5EF4-FFF2-40B4-BE49-F238E27FC236}">
                  <a16:creationId xmlns:a16="http://schemas.microsoft.com/office/drawing/2014/main" id="{21BA4CB3-12E0-7B8B-CAFA-1814E0ECBDC1}"/>
                </a:ext>
              </a:extLst>
            </p:cNvPr>
            <p:cNvSpPr/>
            <p:nvPr/>
          </p:nvSpPr>
          <p:spPr>
            <a:xfrm>
              <a:off x="1488141" y="3613252"/>
              <a:ext cx="4607859" cy="2393101"/>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D6D6AA3D-94B4-D1B1-C5B1-C8170483B072}"/>
                </a:ext>
              </a:extLst>
            </p:cNvPr>
            <p:cNvSpPr txBox="1"/>
            <p:nvPr/>
          </p:nvSpPr>
          <p:spPr>
            <a:xfrm>
              <a:off x="1789394" y="3956117"/>
              <a:ext cx="4236265" cy="1964008"/>
            </a:xfrm>
            <a:prstGeom prst="rect">
              <a:avLst/>
            </a:prstGeom>
            <a:noFill/>
          </p:spPr>
          <p:txBody>
            <a:bodyPr wrap="square" lIns="91440" tIns="45720" rIns="91440" bIns="45720" rtlCol="0" anchor="t">
              <a:spAutoFit/>
            </a:bodyPr>
            <a:lstStyle/>
            <a:p>
              <a:r>
                <a:rPr lang="en-US"/>
                <a:t>Functionality: </a:t>
              </a:r>
            </a:p>
            <a:p>
              <a:pPr marL="285750" indent="-285750">
                <a:buFont typeface="Arial" panose="020B0604020202020204" pitchFamily="34" charset="0"/>
                <a:buChar char="•"/>
              </a:pPr>
              <a:r>
                <a:rPr lang="en-US">
                  <a:solidFill>
                    <a:srgbClr val="92D050"/>
                  </a:solidFill>
                </a:rPr>
                <a:t>Serves hero data </a:t>
              </a:r>
              <a:r>
                <a:rPr lang="en-US"/>
                <a:t>via </a:t>
              </a:r>
              <a:r>
                <a:rPr lang="en-US">
                  <a:solidFill>
                    <a:srgbClr val="92D050"/>
                  </a:solidFill>
                </a:rPr>
                <a:t>REST API</a:t>
              </a:r>
            </a:p>
            <a:p>
              <a:pPr marL="285750" indent="-285750">
                <a:buFont typeface="Arial" panose="020B0604020202020204" pitchFamily="34" charset="0"/>
                <a:buChar char="•"/>
              </a:pPr>
              <a:r>
                <a:rPr lang="en-US">
                  <a:solidFill>
                    <a:srgbClr val="00B0F0"/>
                  </a:solidFill>
                </a:rPr>
                <a:t>Sync</a:t>
              </a:r>
              <a:r>
                <a:rPr lang="en-US"/>
                <a:t> hero data from </a:t>
              </a:r>
              <a:r>
                <a:rPr lang="en-US">
                  <a:solidFill>
                    <a:srgbClr val="00B0F0"/>
                  </a:solidFill>
                </a:rPr>
                <a:t>external API</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50"/>
                  </a:solidFill>
                </a:rPr>
                <a:t>Manages user accounts </a:t>
              </a:r>
              <a:r>
                <a:rPr lang="en-US"/>
                <a:t>– registration, login, logout</a:t>
              </a:r>
            </a:p>
            <a:p>
              <a:pPr marL="285750" indent="-285750">
                <a:buFont typeface="Arial" panose="020B0604020202020204" pitchFamily="34" charset="0"/>
                <a:buChar char="•"/>
              </a:pPr>
              <a:r>
                <a:rPr lang="en-US"/>
                <a:t>Allows authenticated users to manage </a:t>
              </a:r>
              <a:r>
                <a:rPr lang="en-US">
                  <a:solidFill>
                    <a:schemeClr val="accent3"/>
                  </a:solidFill>
                </a:rPr>
                <a:t>team compositions</a:t>
              </a:r>
            </a:p>
            <a:p>
              <a:pPr marL="285750" indent="-285750">
                <a:buFont typeface="Calibri"/>
                <a:buChar char="-"/>
              </a:pPr>
              <a:endParaRPr lang="en-US"/>
            </a:p>
          </p:txBody>
        </p:sp>
      </p:grpSp>
      <p:grpSp>
        <p:nvGrpSpPr>
          <p:cNvPr id="17" name="Group 16">
            <a:extLst>
              <a:ext uri="{FF2B5EF4-FFF2-40B4-BE49-F238E27FC236}">
                <a16:creationId xmlns:a16="http://schemas.microsoft.com/office/drawing/2014/main" id="{B68DE19C-26EC-4B49-07E8-8D8BE937F467}"/>
              </a:ext>
            </a:extLst>
          </p:cNvPr>
          <p:cNvGrpSpPr/>
          <p:nvPr/>
        </p:nvGrpSpPr>
        <p:grpSpPr>
          <a:xfrm>
            <a:off x="731580" y="4055716"/>
            <a:ext cx="3054878" cy="2313044"/>
            <a:chOff x="7547640" y="4545106"/>
            <a:chExt cx="2807046" cy="1984110"/>
          </a:xfrm>
        </p:grpSpPr>
        <p:sp>
          <p:nvSpPr>
            <p:cNvPr id="13" name="Rectangle: Rounded Corners 12">
              <a:extLst>
                <a:ext uri="{FF2B5EF4-FFF2-40B4-BE49-F238E27FC236}">
                  <a16:creationId xmlns:a16="http://schemas.microsoft.com/office/drawing/2014/main" id="{D23ADD75-50D6-0691-1A15-1E639044E9C5}"/>
                </a:ext>
              </a:extLst>
            </p:cNvPr>
            <p:cNvSpPr/>
            <p:nvPr/>
          </p:nvSpPr>
          <p:spPr>
            <a:xfrm>
              <a:off x="7547640" y="4545106"/>
              <a:ext cx="2807046" cy="198411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3">
              <a:extLst>
                <a:ext uri="{FF2B5EF4-FFF2-40B4-BE49-F238E27FC236}">
                  <a16:creationId xmlns:a16="http://schemas.microsoft.com/office/drawing/2014/main" id="{185E1F90-D02C-AFB5-2C00-477BF6AD0026}"/>
                </a:ext>
              </a:extLst>
            </p:cNvPr>
            <p:cNvSpPr txBox="1"/>
            <p:nvPr/>
          </p:nvSpPr>
          <p:spPr>
            <a:xfrm>
              <a:off x="7705195" y="4659998"/>
              <a:ext cx="2491935" cy="1754326"/>
            </a:xfrm>
            <a:prstGeom prst="rect">
              <a:avLst/>
            </a:prstGeom>
            <a:noFill/>
          </p:spPr>
          <p:txBody>
            <a:bodyPr wrap="square" lIns="91440" tIns="45720" rIns="91440" bIns="45720" rtlCol="0" anchor="t">
              <a:spAutoFit/>
            </a:bodyPr>
            <a:lstStyle/>
            <a:p>
              <a:pPr algn="ctr"/>
              <a:r>
                <a:rPr lang="en-US">
                  <a:solidFill>
                    <a:schemeClr val="accent6"/>
                  </a:solidFill>
                </a:rPr>
                <a:t>Technology Stack</a:t>
              </a:r>
            </a:p>
            <a:p>
              <a:pPr algn="ctr"/>
              <a:r>
                <a:rPr lang="en-US"/>
                <a:t> </a:t>
              </a:r>
            </a:p>
            <a:p>
              <a:pPr algn="ctr"/>
              <a:r>
                <a:rPr lang="en-US"/>
                <a:t>Python + Django </a:t>
              </a:r>
            </a:p>
            <a:p>
              <a:pPr algn="ctr"/>
              <a:r>
                <a:rPr lang="en-US" err="1"/>
                <a:t>PostgresSQL</a:t>
              </a:r>
              <a:r>
                <a:rPr lang="en-US"/>
                <a:t> 16</a:t>
              </a:r>
            </a:p>
            <a:p>
              <a:pPr algn="ctr"/>
              <a:r>
                <a:rPr lang="en-US"/>
                <a:t>JWT (Simple JWT)</a:t>
              </a:r>
            </a:p>
            <a:p>
              <a:pPr algn="ctr"/>
              <a:r>
                <a:rPr lang="en-US"/>
                <a:t>Docker </a:t>
              </a:r>
            </a:p>
          </p:txBody>
        </p:sp>
      </p:grpSp>
      <p:grpSp>
        <p:nvGrpSpPr>
          <p:cNvPr id="6" name="Group 5">
            <a:extLst>
              <a:ext uri="{FF2B5EF4-FFF2-40B4-BE49-F238E27FC236}">
                <a16:creationId xmlns:a16="http://schemas.microsoft.com/office/drawing/2014/main" id="{44579E1E-9CB1-632D-D47A-A551AB756A72}"/>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F6A04523-B684-0A5E-D0F7-0C431E466BD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615F75B-A2AF-4FD3-99DE-3EE4709E83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EA4F9CF-F98A-6B16-B6D7-CA70C5AC4387}"/>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Backend Overview</a:t>
              </a:r>
            </a:p>
          </p:txBody>
        </p:sp>
      </p:grpSp>
      <p:pic>
        <p:nvPicPr>
          <p:cNvPr id="10" name="Picture 9">
            <a:extLst>
              <a:ext uri="{FF2B5EF4-FFF2-40B4-BE49-F238E27FC236}">
                <a16:creationId xmlns:a16="http://schemas.microsoft.com/office/drawing/2014/main" id="{4C681A8B-C4DC-DDAC-9D42-DB14D9835B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886" y="3110499"/>
            <a:ext cx="742013" cy="742013"/>
          </a:xfrm>
          <a:prstGeom prst="rect">
            <a:avLst/>
          </a:prstGeom>
        </p:spPr>
      </p:pic>
      <p:pic>
        <p:nvPicPr>
          <p:cNvPr id="12" name="Picture 11">
            <a:extLst>
              <a:ext uri="{FF2B5EF4-FFF2-40B4-BE49-F238E27FC236}">
                <a16:creationId xmlns:a16="http://schemas.microsoft.com/office/drawing/2014/main" id="{9B8A2DD7-926A-D36F-D44C-9034073757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1199" y="3051432"/>
            <a:ext cx="742013" cy="742013"/>
          </a:xfrm>
          <a:prstGeom prst="rect">
            <a:avLst/>
          </a:prstGeom>
        </p:spPr>
      </p:pic>
      <p:pic>
        <p:nvPicPr>
          <p:cNvPr id="14" name="Picture 13">
            <a:extLst>
              <a:ext uri="{FF2B5EF4-FFF2-40B4-BE49-F238E27FC236}">
                <a16:creationId xmlns:a16="http://schemas.microsoft.com/office/drawing/2014/main" id="{7C27D073-34D6-C6D6-47D0-BBEC5D8AB449}"/>
              </a:ext>
            </a:extLst>
          </p:cNvPr>
          <p:cNvPicPr>
            <a:picLocks noChangeAspect="1"/>
          </p:cNvPicPr>
          <p:nvPr/>
        </p:nvPicPr>
        <p:blipFill>
          <a:blip r:embed="rId6">
            <a:extLst>
              <a:ext uri="{28A0092B-C50C-407E-A947-70E740481C1C}">
                <a14:useLocalDpi xmlns:a14="http://schemas.microsoft.com/office/drawing/2010/main" val="0"/>
              </a:ext>
            </a:extLst>
          </a:blip>
          <a:srcRect t="13431" b="15790"/>
          <a:stretch>
            <a:fillRect/>
          </a:stretch>
        </p:blipFill>
        <p:spPr>
          <a:xfrm>
            <a:off x="3076839" y="3051432"/>
            <a:ext cx="1048353" cy="742013"/>
          </a:xfrm>
          <a:prstGeom prst="rect">
            <a:avLst/>
          </a:prstGeom>
        </p:spPr>
      </p:pic>
      <p:pic>
        <p:nvPicPr>
          <p:cNvPr id="16" name="Picture 15">
            <a:extLst>
              <a:ext uri="{FF2B5EF4-FFF2-40B4-BE49-F238E27FC236}">
                <a16:creationId xmlns:a16="http://schemas.microsoft.com/office/drawing/2014/main" id="{F68D8440-AA7A-5406-EE76-6256669407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59019" y="3051432"/>
            <a:ext cx="742013" cy="742013"/>
          </a:xfrm>
          <a:prstGeom prst="rect">
            <a:avLst/>
          </a:prstGeom>
        </p:spPr>
      </p:pic>
    </p:spTree>
    <p:extLst>
      <p:ext uri="{BB962C8B-B14F-4D97-AF65-F5344CB8AC3E}">
        <p14:creationId xmlns:p14="http://schemas.microsoft.com/office/powerpoint/2010/main" val="255525315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75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50"/>
                                        <p:tgtEl>
                                          <p:spTgt spid="12"/>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par>
                          <p:cTn id="20" fill="hold">
                            <p:stCondLst>
                              <p:cond delay="125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500"/>
                                        <p:tgtEl>
                                          <p:spTgt spid="24"/>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6F2A5CA-1569-2266-532E-A56C42083AC4}"/>
            </a:ext>
          </a:extLst>
        </p:cNvPr>
        <p:cNvGrpSpPr/>
        <p:nvPr/>
      </p:nvGrpSpPr>
      <p:grpSpPr>
        <a:xfrm>
          <a:off x="0" y="0"/>
          <a:ext cx="0" cy="0"/>
          <a:chOff x="0" y="0"/>
          <a:chExt cx="0" cy="0"/>
        </a:xfrm>
      </p:grpSpPr>
      <p:pic>
        <p:nvPicPr>
          <p:cNvPr id="6" name="Grafik 5" descr="Ein Bild, das Text, Elektronik, Screenshot, Software enthält.&#10;&#10;KI-generierte Inhalte können fehlerhaft sein.">
            <a:extLst>
              <a:ext uri="{FF2B5EF4-FFF2-40B4-BE49-F238E27FC236}">
                <a16:creationId xmlns:a16="http://schemas.microsoft.com/office/drawing/2014/main" id="{3C57BDF9-0AA2-06FE-3DE2-B3A3F1AF8602}"/>
              </a:ext>
            </a:extLst>
          </p:cNvPr>
          <p:cNvPicPr>
            <a:picLocks noChangeAspect="1"/>
          </p:cNvPicPr>
          <p:nvPr/>
        </p:nvPicPr>
        <p:blipFill>
          <a:blip r:embed="rId3"/>
          <a:stretch>
            <a:fillRect/>
          </a:stretch>
        </p:blipFill>
        <p:spPr>
          <a:xfrm>
            <a:off x="464706" y="984750"/>
            <a:ext cx="8107002" cy="4208782"/>
          </a:xfrm>
          <a:prstGeom prst="roundRect">
            <a:avLst>
              <a:gd name="adj" fmla="val 6772"/>
            </a:avLst>
          </a:prstGeom>
        </p:spPr>
      </p:pic>
      <p:grpSp>
        <p:nvGrpSpPr>
          <p:cNvPr id="7" name="Group 6">
            <a:extLst>
              <a:ext uri="{FF2B5EF4-FFF2-40B4-BE49-F238E27FC236}">
                <a16:creationId xmlns:a16="http://schemas.microsoft.com/office/drawing/2014/main" id="{E7CFB436-7667-5F40-E593-0ACFCD779C24}"/>
              </a:ext>
            </a:extLst>
          </p:cNvPr>
          <p:cNvGrpSpPr/>
          <p:nvPr/>
        </p:nvGrpSpPr>
        <p:grpSpPr>
          <a:xfrm>
            <a:off x="229316" y="181707"/>
            <a:ext cx="3003742" cy="510504"/>
            <a:chOff x="100869" y="175489"/>
            <a:chExt cx="2498131" cy="609604"/>
          </a:xfrm>
        </p:grpSpPr>
        <p:sp>
          <p:nvSpPr>
            <p:cNvPr id="8" name="Rectangle: Rounded Corners 7">
              <a:extLst>
                <a:ext uri="{FF2B5EF4-FFF2-40B4-BE49-F238E27FC236}">
                  <a16:creationId xmlns:a16="http://schemas.microsoft.com/office/drawing/2014/main" id="{49FE5991-DFC4-B890-5B93-50214C22F59A}"/>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596A0-B6D1-E1DB-9B99-089F84793567}"/>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3B667EB-EB14-5126-289A-C39816827C5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Django Framework</a:t>
              </a:r>
              <a:endParaRPr lang="de-DE"/>
            </a:p>
          </p:txBody>
        </p:sp>
      </p:grpSp>
      <p:sp>
        <p:nvSpPr>
          <p:cNvPr id="11" name="TextBox 3">
            <a:extLst>
              <a:ext uri="{FF2B5EF4-FFF2-40B4-BE49-F238E27FC236}">
                <a16:creationId xmlns:a16="http://schemas.microsoft.com/office/drawing/2014/main" id="{B4554F1F-A14C-D24F-FB33-D92C3C708675}"/>
              </a:ext>
            </a:extLst>
          </p:cNvPr>
          <p:cNvSpPr txBox="1"/>
          <p:nvPr/>
        </p:nvSpPr>
        <p:spPr>
          <a:xfrm>
            <a:off x="8781861" y="965482"/>
            <a:ext cx="3198929" cy="424731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Use it as a </a:t>
            </a:r>
            <a:r>
              <a:rPr lang="en-US">
                <a:solidFill>
                  <a:srgbClr val="00B050"/>
                </a:solidFill>
              </a:rPr>
              <a:t>REST API backend with DRF</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Talks to PostgreSQL via </a:t>
            </a:r>
            <a:r>
              <a:rPr lang="en-US">
                <a:solidFill>
                  <a:srgbClr val="92D050"/>
                </a:solidFill>
              </a:rPr>
              <a:t>built-in ORM</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solidFill>
                  <a:srgbClr val="00B0F0"/>
                </a:solidFill>
              </a:rPr>
              <a:t>Management Commands </a:t>
            </a:r>
            <a:r>
              <a:rPr lang="en-US"/>
              <a:t>(</a:t>
            </a:r>
            <a:r>
              <a:rPr lang="en-US" err="1"/>
              <a:t>e.g</a:t>
            </a:r>
            <a:r>
              <a:rPr lang="en-US"/>
              <a:t> </a:t>
            </a:r>
            <a:r>
              <a:rPr lang="en-US" err="1"/>
              <a:t>sync_heroes</a:t>
            </a:r>
            <a:r>
              <a:rPr lang="en-US"/>
              <a:t> on startup)</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ea typeface="+mn-lt"/>
                <a:cs typeface="+mn-lt"/>
              </a:rPr>
              <a:t>DRF includes a </a:t>
            </a:r>
            <a:r>
              <a:rPr lang="en-US">
                <a:solidFill>
                  <a:schemeClr val="accent3"/>
                </a:solidFill>
                <a:ea typeface="+mn-lt"/>
                <a:cs typeface="+mn-lt"/>
              </a:rPr>
              <a:t>browsable API </a:t>
            </a:r>
            <a:r>
              <a:rPr lang="en-US">
                <a:ea typeface="+mn-lt"/>
                <a:cs typeface="+mn-lt"/>
              </a:rPr>
              <a:t>— every endpoint can be viewed and tested directly in the browser</a:t>
            </a:r>
            <a:endParaRPr lang="en-US"/>
          </a:p>
        </p:txBody>
      </p:sp>
      <p:sp>
        <p:nvSpPr>
          <p:cNvPr id="13" name="TextBox 12">
            <a:extLst>
              <a:ext uri="{FF2B5EF4-FFF2-40B4-BE49-F238E27FC236}">
                <a16:creationId xmlns:a16="http://schemas.microsoft.com/office/drawing/2014/main" id="{B6B12756-D725-1DC3-6A7C-9DD36EB7AB64}"/>
              </a:ext>
            </a:extLst>
          </p:cNvPr>
          <p:cNvSpPr txBox="1"/>
          <p:nvPr/>
        </p:nvSpPr>
        <p:spPr>
          <a:xfrm>
            <a:off x="464706" y="5486072"/>
            <a:ext cx="6097508" cy="923330"/>
          </a:xfrm>
          <a:prstGeom prst="rect">
            <a:avLst/>
          </a:prstGeom>
          <a:noFill/>
        </p:spPr>
        <p:txBody>
          <a:bodyPr wrap="square" lIns="91440" tIns="45720" rIns="91440" bIns="45720" anchor="t">
            <a:spAutoFit/>
          </a:bodyPr>
          <a:lstStyle/>
          <a:p>
            <a:r>
              <a:rPr lang="en-US">
                <a:solidFill>
                  <a:srgbClr val="00B0F0"/>
                </a:solidFill>
              </a:rPr>
              <a:t>Python</a:t>
            </a:r>
            <a:r>
              <a:rPr lang="en-US"/>
              <a:t> web framework</a:t>
            </a:r>
          </a:p>
          <a:p>
            <a:r>
              <a:rPr lang="en-US"/>
              <a:t>Handles </a:t>
            </a:r>
            <a:r>
              <a:rPr lang="en-US">
                <a:solidFill>
                  <a:srgbClr val="0070C0"/>
                </a:solidFill>
              </a:rPr>
              <a:t>routing, database access, authentication </a:t>
            </a:r>
            <a:r>
              <a:rPr lang="en-US"/>
              <a:t>out of the box</a:t>
            </a:r>
          </a:p>
        </p:txBody>
      </p:sp>
    </p:spTree>
    <p:extLst>
      <p:ext uri="{BB962C8B-B14F-4D97-AF65-F5344CB8AC3E}">
        <p14:creationId xmlns:p14="http://schemas.microsoft.com/office/powerpoint/2010/main" val="13271385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xEl>
                                              <p:pRg st="0" end="0"/>
                                            </p:txEl>
                                          </p:spTgt>
                                        </p:tgtEl>
                                        <p:attrNameLst>
                                          <p:attrName>style.visibility</p:attrName>
                                        </p:attrNameLst>
                                      </p:cBhvr>
                                      <p:to>
                                        <p:strVal val="visible"/>
                                      </p:to>
                                    </p:set>
                                    <p:animEffect transition="in" filter="fade">
                                      <p:cBhvr>
                                        <p:cTn id="16" dur="500"/>
                                        <p:tgtEl>
                                          <p:spTgt spid="1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500"/>
                                        <p:tgtEl>
                                          <p:spTgt spid="11">
                                            <p:txEl>
                                              <p:pRg st="2" end="2"/>
                                            </p:txEl>
                                          </p:spTgt>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1">
                                            <p:txEl>
                                              <p:pRg st="4" end="4"/>
                                            </p:txEl>
                                          </p:spTgt>
                                        </p:tgtEl>
                                        <p:attrNameLst>
                                          <p:attrName>style.visibility</p:attrName>
                                        </p:attrNameLst>
                                      </p:cBhvr>
                                      <p:to>
                                        <p:strVal val="visible"/>
                                      </p:to>
                                    </p:set>
                                    <p:animEffect transition="in" filter="fade">
                                      <p:cBhvr>
                                        <p:cTn id="24" dur="500"/>
                                        <p:tgtEl>
                                          <p:spTgt spid="11">
                                            <p:txEl>
                                              <p:pRg st="4" end="4"/>
                                            </p:txEl>
                                          </p:spTgt>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F0299D28-A674-357D-B336-3FB22493D1D1}"/>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D1A0B83-38CE-0DFC-C42B-E77B5AA72254}"/>
              </a:ext>
            </a:extLst>
          </p:cNvPr>
          <p:cNvGrpSpPr/>
          <p:nvPr/>
        </p:nvGrpSpPr>
        <p:grpSpPr>
          <a:xfrm>
            <a:off x="196659" y="166739"/>
            <a:ext cx="3200966" cy="510504"/>
            <a:chOff x="100869" y="175489"/>
            <a:chExt cx="2498131" cy="609604"/>
          </a:xfrm>
        </p:grpSpPr>
        <p:sp>
          <p:nvSpPr>
            <p:cNvPr id="13" name="Rectangle: Rounded Corners 12">
              <a:extLst>
                <a:ext uri="{FF2B5EF4-FFF2-40B4-BE49-F238E27FC236}">
                  <a16:creationId xmlns:a16="http://schemas.microsoft.com/office/drawing/2014/main" id="{6D5BFC59-EC36-C06B-709E-0A57F3275F3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3EFD1C2A-7AB6-8225-4C73-586D93E0C839}"/>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BF1C570E-A625-DB6E-71DC-6A29999F3141}"/>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algn="ctr"/>
              <a:r>
                <a:rPr lang="en-US">
                  <a:ea typeface="+mn-lt"/>
                  <a:cs typeface="+mn-lt"/>
                </a:rPr>
                <a:t>Backend Architecture</a:t>
              </a:r>
              <a:endParaRPr lang="de-DE"/>
            </a:p>
          </p:txBody>
        </p:sp>
      </p:grpSp>
      <p:pic>
        <p:nvPicPr>
          <p:cNvPr id="2" name="Grafik 1">
            <a:extLst>
              <a:ext uri="{FF2B5EF4-FFF2-40B4-BE49-F238E27FC236}">
                <a16:creationId xmlns:a16="http://schemas.microsoft.com/office/drawing/2014/main" id="{BAA2CD60-170C-CA61-E53D-F78B441FF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120" y="215247"/>
            <a:ext cx="16271094" cy="7076632"/>
          </a:xfrm>
          <a:prstGeom prst="rect">
            <a:avLst/>
          </a:prstGeom>
        </p:spPr>
      </p:pic>
      <p:sp>
        <p:nvSpPr>
          <p:cNvPr id="3" name="Rectangle: Rounded Corners 2">
            <a:extLst>
              <a:ext uri="{FF2B5EF4-FFF2-40B4-BE49-F238E27FC236}">
                <a16:creationId xmlns:a16="http://schemas.microsoft.com/office/drawing/2014/main" id="{A52898A7-6E3A-4871-9F08-A4CC33402FB0}"/>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114B4BE5-8328-F6FD-180B-654D800FA607}"/>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5F5534C9-67DB-0CCF-5734-67F39FA53495}"/>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23103047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F5074FD-88E1-CA38-0BAA-5562F55423A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F5D71380-490B-BD1E-FD5D-FEDCF3BE5329}"/>
              </a:ext>
            </a:extLst>
          </p:cNvPr>
          <p:cNvGrpSpPr/>
          <p:nvPr/>
        </p:nvGrpSpPr>
        <p:grpSpPr>
          <a:xfrm>
            <a:off x="196658" y="166739"/>
            <a:ext cx="4560399" cy="510504"/>
            <a:chOff x="100869" y="175489"/>
            <a:chExt cx="2498131" cy="609604"/>
          </a:xfrm>
        </p:grpSpPr>
        <p:sp>
          <p:nvSpPr>
            <p:cNvPr id="13" name="Rectangle: Rounded Corners 12">
              <a:extLst>
                <a:ext uri="{FF2B5EF4-FFF2-40B4-BE49-F238E27FC236}">
                  <a16:creationId xmlns:a16="http://schemas.microsoft.com/office/drawing/2014/main" id="{76AE6D1B-83F6-0F58-65D9-14B93D6BB09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96455419-F51F-1620-F500-6C800C7A8E10}"/>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C2440A1-0FC0-83EA-BE54-46652B78B52C}"/>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a:t>Hero Data – External API Integration</a:t>
              </a:r>
            </a:p>
          </p:txBody>
        </p:sp>
      </p:grpSp>
      <p:pic>
        <p:nvPicPr>
          <p:cNvPr id="5" name="Grafik 4">
            <a:extLst>
              <a:ext uri="{FF2B5EF4-FFF2-40B4-BE49-F238E27FC236}">
                <a16:creationId xmlns:a16="http://schemas.microsoft.com/office/drawing/2014/main" id="{DFFBB931-1BD3-6FE8-0244-A707B7CC20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67" y="-867151"/>
            <a:ext cx="11617933" cy="8393242"/>
          </a:xfrm>
          <a:prstGeom prst="rect">
            <a:avLst/>
          </a:prstGeom>
        </p:spPr>
      </p:pic>
      <p:sp>
        <p:nvSpPr>
          <p:cNvPr id="2" name="Rectangle: Rounded Corners 1">
            <a:extLst>
              <a:ext uri="{FF2B5EF4-FFF2-40B4-BE49-F238E27FC236}">
                <a16:creationId xmlns:a16="http://schemas.microsoft.com/office/drawing/2014/main" id="{620B34B9-69D8-E37B-B019-D36B004EB68A}"/>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3" name="Rectangle: Rounded Corners 2">
            <a:extLst>
              <a:ext uri="{FF2B5EF4-FFF2-40B4-BE49-F238E27FC236}">
                <a16:creationId xmlns:a16="http://schemas.microsoft.com/office/drawing/2014/main" id="{DDC9744D-3FA1-4F5D-67AA-31B9E8FAF6A0}"/>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4" name="Rectangle: Rounded Corners 3">
            <a:extLst>
              <a:ext uri="{FF2B5EF4-FFF2-40B4-BE49-F238E27FC236}">
                <a16:creationId xmlns:a16="http://schemas.microsoft.com/office/drawing/2014/main" id="{FCF1E2F2-5090-21F9-1F38-CBE4332E0FF4}"/>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6316838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D4EFE986-A3A2-54B0-99E3-E5B024E10F28}"/>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CB40336-B4A4-C42E-8D34-A9484638E040}"/>
              </a:ext>
            </a:extLst>
          </p:cNvPr>
          <p:cNvGrpSpPr/>
          <p:nvPr/>
        </p:nvGrpSpPr>
        <p:grpSpPr>
          <a:xfrm>
            <a:off x="196658" y="166739"/>
            <a:ext cx="4909598" cy="510504"/>
            <a:chOff x="100869" y="175489"/>
            <a:chExt cx="2498131" cy="609604"/>
          </a:xfrm>
        </p:grpSpPr>
        <p:sp>
          <p:nvSpPr>
            <p:cNvPr id="13" name="Rectangle: Rounded Corners 12">
              <a:extLst>
                <a:ext uri="{FF2B5EF4-FFF2-40B4-BE49-F238E27FC236}">
                  <a16:creationId xmlns:a16="http://schemas.microsoft.com/office/drawing/2014/main" id="{A0A0498A-8976-6CD6-219A-8CFDDBBC72E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91FAD74-E124-498A-61C0-EBB188F3663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A39B87D-AEE8-CDBA-C905-AA708B5AAA04}"/>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r>
                <a:rPr lang="en-US"/>
                <a:t>Team Composition – Secure CRUD Flow</a:t>
              </a:r>
            </a:p>
          </p:txBody>
        </p:sp>
      </p:grpSp>
      <p:pic>
        <p:nvPicPr>
          <p:cNvPr id="2" name="Grafik 1">
            <a:extLst>
              <a:ext uri="{FF2B5EF4-FFF2-40B4-BE49-F238E27FC236}">
                <a16:creationId xmlns:a16="http://schemas.microsoft.com/office/drawing/2014/main" id="{01037AB2-29EF-899F-592D-3B6805FFA9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5510" y="725751"/>
            <a:ext cx="11851774" cy="6528859"/>
          </a:xfrm>
          <a:prstGeom prst="rect">
            <a:avLst/>
          </a:prstGeom>
        </p:spPr>
      </p:pic>
      <p:sp>
        <p:nvSpPr>
          <p:cNvPr id="3" name="Rectangle: Rounded Corners 2">
            <a:extLst>
              <a:ext uri="{FF2B5EF4-FFF2-40B4-BE49-F238E27FC236}">
                <a16:creationId xmlns:a16="http://schemas.microsoft.com/office/drawing/2014/main" id="{7E177B61-D30B-FDB3-E6AC-BEBE03B3817B}"/>
              </a:ext>
            </a:extLst>
          </p:cNvPr>
          <p:cNvSpPr/>
          <p:nvPr/>
        </p:nvSpPr>
        <p:spPr>
          <a:xfrm>
            <a:off x="10808208" y="6099048"/>
            <a:ext cx="1188720" cy="438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Ports</a:t>
            </a:r>
          </a:p>
        </p:txBody>
      </p:sp>
      <p:sp>
        <p:nvSpPr>
          <p:cNvPr id="4" name="Rectangle: Rounded Corners 3">
            <a:extLst>
              <a:ext uri="{FF2B5EF4-FFF2-40B4-BE49-F238E27FC236}">
                <a16:creationId xmlns:a16="http://schemas.microsoft.com/office/drawing/2014/main" id="{6E562AB2-7772-5221-AE3E-4795A8BD6A75}"/>
              </a:ext>
            </a:extLst>
          </p:cNvPr>
          <p:cNvSpPr/>
          <p:nvPr/>
        </p:nvSpPr>
        <p:spPr>
          <a:xfrm>
            <a:off x="10808208" y="5529072"/>
            <a:ext cx="1188720" cy="43891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Adapter</a:t>
            </a:r>
          </a:p>
        </p:txBody>
      </p:sp>
      <p:sp>
        <p:nvSpPr>
          <p:cNvPr id="5" name="Rectangle: Rounded Corners 4">
            <a:extLst>
              <a:ext uri="{FF2B5EF4-FFF2-40B4-BE49-F238E27FC236}">
                <a16:creationId xmlns:a16="http://schemas.microsoft.com/office/drawing/2014/main" id="{D14C3793-D285-68FB-5E6C-C4416D32BEA2}"/>
              </a:ext>
            </a:extLst>
          </p:cNvPr>
          <p:cNvSpPr/>
          <p:nvPr/>
        </p:nvSpPr>
        <p:spPr>
          <a:xfrm>
            <a:off x="10808208" y="4967177"/>
            <a:ext cx="1188720" cy="438912"/>
          </a:xfrm>
          <a:prstGeom prst="roundRect">
            <a:avLst/>
          </a:prstGeom>
          <a:solidFill>
            <a:srgbClr val="008E40"/>
          </a:solidFill>
          <a:ln>
            <a:solidFill>
              <a:srgbClr val="005828"/>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Core</a:t>
            </a:r>
          </a:p>
        </p:txBody>
      </p:sp>
    </p:spTree>
    <p:extLst>
      <p:ext uri="{BB962C8B-B14F-4D97-AF65-F5344CB8AC3E}">
        <p14:creationId xmlns:p14="http://schemas.microsoft.com/office/powerpoint/2010/main" val="190295188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3FC159-2D87-4CC5-024C-8C0E7E7F96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39" y="815698"/>
            <a:ext cx="4385723" cy="3863340"/>
          </a:xfrm>
          <a:prstGeom prst="rect">
            <a:avLst/>
          </a:prstGeom>
        </p:spPr>
      </p:pic>
      <p:grpSp>
        <p:nvGrpSpPr>
          <p:cNvPr id="31" name="Group 30">
            <a:extLst>
              <a:ext uri="{FF2B5EF4-FFF2-40B4-BE49-F238E27FC236}">
                <a16:creationId xmlns:a16="http://schemas.microsoft.com/office/drawing/2014/main" id="{94EF6650-E687-B73D-B501-BB63E45881A3}"/>
              </a:ext>
            </a:extLst>
          </p:cNvPr>
          <p:cNvGrpSpPr/>
          <p:nvPr/>
        </p:nvGrpSpPr>
        <p:grpSpPr>
          <a:xfrm>
            <a:off x="5454505" y="4951235"/>
            <a:ext cx="5881606" cy="1545111"/>
            <a:chOff x="5178280" y="4627089"/>
            <a:chExt cx="5881606" cy="1545111"/>
          </a:xfrm>
        </p:grpSpPr>
        <p:sp>
          <p:nvSpPr>
            <p:cNvPr id="26" name="Rectangle: Rounded Corners 25">
              <a:extLst>
                <a:ext uri="{FF2B5EF4-FFF2-40B4-BE49-F238E27FC236}">
                  <a16:creationId xmlns:a16="http://schemas.microsoft.com/office/drawing/2014/main" id="{7A338395-F157-3B98-C805-CD6C8D593024}"/>
                </a:ext>
              </a:extLst>
            </p:cNvPr>
            <p:cNvSpPr/>
            <p:nvPr/>
          </p:nvSpPr>
          <p:spPr>
            <a:xfrm>
              <a:off x="5178280" y="4627089"/>
              <a:ext cx="5881606"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CFCDDAB-F78A-5119-87A7-789A6FD700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542" y="4643578"/>
              <a:ext cx="1415034" cy="1415034"/>
            </a:xfrm>
            <a:prstGeom prst="rect">
              <a:avLst/>
            </a:prstGeom>
          </p:spPr>
        </p:pic>
        <p:sp>
          <p:nvSpPr>
            <p:cNvPr id="21" name="TextBox 20">
              <a:extLst>
                <a:ext uri="{FF2B5EF4-FFF2-40B4-BE49-F238E27FC236}">
                  <a16:creationId xmlns:a16="http://schemas.microsoft.com/office/drawing/2014/main" id="{5C7E98CA-BE3A-F4E5-1DAC-10B644509555}"/>
                </a:ext>
              </a:extLst>
            </p:cNvPr>
            <p:cNvSpPr txBox="1"/>
            <p:nvPr/>
          </p:nvSpPr>
          <p:spPr>
            <a:xfrm>
              <a:off x="7242048" y="4760505"/>
              <a:ext cx="3575304" cy="1200329"/>
            </a:xfrm>
            <a:prstGeom prst="rect">
              <a:avLst/>
            </a:prstGeom>
            <a:noFill/>
          </p:spPr>
          <p:txBody>
            <a:bodyPr wrap="square" rtlCol="0">
              <a:spAutoFit/>
            </a:bodyPr>
            <a:lstStyle/>
            <a:p>
              <a:pPr marL="285750" indent="-285750">
                <a:buFont typeface="Arial" panose="020B0604020202020204" pitchFamily="34" charset="0"/>
                <a:buChar char="•"/>
              </a:pPr>
              <a:r>
                <a:rPr lang="en-US">
                  <a:solidFill>
                    <a:srgbClr val="92D050"/>
                  </a:solidFill>
                </a:rPr>
                <a:t>Vitest</a:t>
              </a:r>
              <a:r>
                <a:rPr lang="en-US"/>
                <a:t>: integrated testing framework that works well with Vite + React Testing Library</a:t>
              </a:r>
            </a:p>
          </p:txBody>
        </p:sp>
      </p:grpSp>
      <p:grpSp>
        <p:nvGrpSpPr>
          <p:cNvPr id="32" name="Group 31">
            <a:extLst>
              <a:ext uri="{FF2B5EF4-FFF2-40B4-BE49-F238E27FC236}">
                <a16:creationId xmlns:a16="http://schemas.microsoft.com/office/drawing/2014/main" id="{0FAFF8E2-42A1-D58A-6B28-9896317D0A12}"/>
              </a:ext>
            </a:extLst>
          </p:cNvPr>
          <p:cNvGrpSpPr/>
          <p:nvPr/>
        </p:nvGrpSpPr>
        <p:grpSpPr>
          <a:xfrm>
            <a:off x="5454505" y="2742285"/>
            <a:ext cx="5881606" cy="1936753"/>
            <a:chOff x="5178280" y="2452378"/>
            <a:chExt cx="5881606" cy="1936753"/>
          </a:xfrm>
        </p:grpSpPr>
        <p:sp>
          <p:nvSpPr>
            <p:cNvPr id="25" name="Rectangle: Rounded Corners 24">
              <a:extLst>
                <a:ext uri="{FF2B5EF4-FFF2-40B4-BE49-F238E27FC236}">
                  <a16:creationId xmlns:a16="http://schemas.microsoft.com/office/drawing/2014/main" id="{38DD843C-4FB8-1900-4B0C-F776D76BBFDF}"/>
                </a:ext>
              </a:extLst>
            </p:cNvPr>
            <p:cNvSpPr/>
            <p:nvPr/>
          </p:nvSpPr>
          <p:spPr>
            <a:xfrm>
              <a:off x="5178280" y="2452378"/>
              <a:ext cx="5881606" cy="1936753"/>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DBE3BA7-DD77-165A-190B-F01B3B5FC4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79542" y="2669244"/>
              <a:ext cx="1415034" cy="1415034"/>
            </a:xfrm>
            <a:prstGeom prst="rect">
              <a:avLst/>
            </a:prstGeom>
          </p:spPr>
        </p:pic>
        <p:sp>
          <p:nvSpPr>
            <p:cNvPr id="22" name="TextBox 21">
              <a:extLst>
                <a:ext uri="{FF2B5EF4-FFF2-40B4-BE49-F238E27FC236}">
                  <a16:creationId xmlns:a16="http://schemas.microsoft.com/office/drawing/2014/main" id="{8893FE29-EAC9-1CB3-C52B-A48183722C00}"/>
                </a:ext>
              </a:extLst>
            </p:cNvPr>
            <p:cNvSpPr txBox="1"/>
            <p:nvPr/>
          </p:nvSpPr>
          <p:spPr>
            <a:xfrm>
              <a:off x="7340019" y="2638097"/>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rgbClr val="00B050"/>
                  </a:solidFill>
                </a:rPr>
                <a:t>Django Testing</a:t>
              </a:r>
              <a:r>
                <a:rPr lang="en-US"/>
                <a:t>: </a:t>
              </a:r>
              <a:r>
                <a:rPr lang="en-US">
                  <a:ea typeface="+mn-lt"/>
                  <a:cs typeface="+mn-lt"/>
                </a:rPr>
                <a:t>integrated testing framework with automatic database setup, and full access to Django models and views</a:t>
              </a:r>
              <a:r>
                <a:rPr lang="en-US"/>
                <a:t> </a:t>
              </a:r>
            </a:p>
          </p:txBody>
        </p:sp>
      </p:grpSp>
      <p:grpSp>
        <p:nvGrpSpPr>
          <p:cNvPr id="2" name="Group 1">
            <a:extLst>
              <a:ext uri="{FF2B5EF4-FFF2-40B4-BE49-F238E27FC236}">
                <a16:creationId xmlns:a16="http://schemas.microsoft.com/office/drawing/2014/main" id="{95A05B2B-798C-D67A-D5AB-5A2813306B16}"/>
              </a:ext>
            </a:extLst>
          </p:cNvPr>
          <p:cNvGrpSpPr/>
          <p:nvPr/>
        </p:nvGrpSpPr>
        <p:grpSpPr>
          <a:xfrm>
            <a:off x="5454505" y="692211"/>
            <a:ext cx="5881605" cy="1779459"/>
            <a:chOff x="5454505" y="692211"/>
            <a:chExt cx="5881605" cy="1779459"/>
          </a:xfrm>
        </p:grpSpPr>
        <p:sp>
          <p:nvSpPr>
            <p:cNvPr id="24" name="Rectangle: Rounded Corners 23">
              <a:extLst>
                <a:ext uri="{FF2B5EF4-FFF2-40B4-BE49-F238E27FC236}">
                  <a16:creationId xmlns:a16="http://schemas.microsoft.com/office/drawing/2014/main" id="{C6714A7C-75B5-7273-B67F-4F410CBCA09C}"/>
                </a:ext>
              </a:extLst>
            </p:cNvPr>
            <p:cNvSpPr/>
            <p:nvPr/>
          </p:nvSpPr>
          <p:spPr>
            <a:xfrm>
              <a:off x="5454505" y="692211"/>
              <a:ext cx="5881605" cy="1779459"/>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CA8E082-B358-C36B-4CDD-BE8ADD0797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55766" y="874423"/>
              <a:ext cx="1415034" cy="1415034"/>
            </a:xfrm>
            <a:prstGeom prst="rect">
              <a:avLst/>
            </a:prstGeom>
          </p:spPr>
        </p:pic>
        <p:sp>
          <p:nvSpPr>
            <p:cNvPr id="23" name="TextBox 22">
              <a:extLst>
                <a:ext uri="{FF2B5EF4-FFF2-40B4-BE49-F238E27FC236}">
                  <a16:creationId xmlns:a16="http://schemas.microsoft.com/office/drawing/2014/main" id="{DD7C4107-49FE-93BF-03DE-7B596BC9E621}"/>
                </a:ext>
              </a:extLst>
            </p:cNvPr>
            <p:cNvSpPr txBox="1"/>
            <p:nvPr/>
          </p:nvSpPr>
          <p:spPr>
            <a:xfrm>
              <a:off x="7609997" y="873171"/>
              <a:ext cx="3575304"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solidFill>
                    <a:schemeClr val="accent5">
                      <a:lumMod val="75000"/>
                    </a:schemeClr>
                  </a:solidFill>
                </a:rPr>
                <a:t>Playwright</a:t>
              </a:r>
              <a:r>
                <a:rPr lang="en-US"/>
                <a:t>: </a:t>
              </a:r>
              <a:r>
                <a:rPr lang="en-US">
                  <a:ea typeface="+mn-lt"/>
                  <a:cs typeface="+mn-lt"/>
                </a:rPr>
                <a:t>tests the complete application by automating user interactions in a real browser</a:t>
              </a:r>
            </a:p>
          </p:txBody>
        </p:sp>
      </p:grpSp>
      <p:grpSp>
        <p:nvGrpSpPr>
          <p:cNvPr id="3" name="Group 2">
            <a:extLst>
              <a:ext uri="{FF2B5EF4-FFF2-40B4-BE49-F238E27FC236}">
                <a16:creationId xmlns:a16="http://schemas.microsoft.com/office/drawing/2014/main" id="{9E267646-CF4C-F37F-487E-B291C8241136}"/>
              </a:ext>
            </a:extLst>
          </p:cNvPr>
          <p:cNvGrpSpPr/>
          <p:nvPr/>
        </p:nvGrpSpPr>
        <p:grpSpPr>
          <a:xfrm>
            <a:off x="834385" y="4805090"/>
            <a:ext cx="4084896" cy="1789486"/>
            <a:chOff x="834385" y="4805090"/>
            <a:chExt cx="4084896" cy="1789486"/>
          </a:xfrm>
        </p:grpSpPr>
        <p:sp>
          <p:nvSpPr>
            <p:cNvPr id="30" name="Rectangle: Rounded Corners 29">
              <a:extLst>
                <a:ext uri="{FF2B5EF4-FFF2-40B4-BE49-F238E27FC236}">
                  <a16:creationId xmlns:a16="http://schemas.microsoft.com/office/drawing/2014/main" id="{56E3996E-0C3C-53D0-84D2-58E2A2AFDC90}"/>
                </a:ext>
              </a:extLst>
            </p:cNvPr>
            <p:cNvSpPr/>
            <p:nvPr/>
          </p:nvSpPr>
          <p:spPr>
            <a:xfrm>
              <a:off x="834385" y="4805090"/>
              <a:ext cx="3963629" cy="1759450"/>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F498DEE4-3954-124D-1927-62B662171C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9241" y="4835126"/>
              <a:ext cx="1759450" cy="1759450"/>
            </a:xfrm>
            <a:prstGeom prst="rect">
              <a:avLst/>
            </a:prstGeom>
          </p:spPr>
        </p:pic>
        <p:sp>
          <p:nvSpPr>
            <p:cNvPr id="29" name="TextBox 28">
              <a:extLst>
                <a:ext uri="{FF2B5EF4-FFF2-40B4-BE49-F238E27FC236}">
                  <a16:creationId xmlns:a16="http://schemas.microsoft.com/office/drawing/2014/main" id="{FBBE64A4-EB99-D6FA-9170-412E73BF2FE8}"/>
                </a:ext>
              </a:extLst>
            </p:cNvPr>
            <p:cNvSpPr txBox="1"/>
            <p:nvPr/>
          </p:nvSpPr>
          <p:spPr>
            <a:xfrm>
              <a:off x="1343977" y="5517532"/>
              <a:ext cx="3575304" cy="646331"/>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Static Analysis via </a:t>
              </a:r>
              <a:r>
                <a:rPr lang="en-US">
                  <a:solidFill>
                    <a:schemeClr val="accent2"/>
                  </a:solidFill>
                </a:rPr>
                <a:t>SonarCloud</a:t>
              </a:r>
            </a:p>
          </p:txBody>
        </p:sp>
      </p:grpSp>
      <p:grpSp>
        <p:nvGrpSpPr>
          <p:cNvPr id="33" name="Group 32">
            <a:extLst>
              <a:ext uri="{FF2B5EF4-FFF2-40B4-BE49-F238E27FC236}">
                <a16:creationId xmlns:a16="http://schemas.microsoft.com/office/drawing/2014/main" id="{097AAE15-65ED-A2A1-DC0E-E1855B70ED5D}"/>
              </a:ext>
            </a:extLst>
          </p:cNvPr>
          <p:cNvGrpSpPr/>
          <p:nvPr/>
        </p:nvGrpSpPr>
        <p:grpSpPr>
          <a:xfrm>
            <a:off x="270963" y="282263"/>
            <a:ext cx="3003742" cy="510504"/>
            <a:chOff x="100869" y="175489"/>
            <a:chExt cx="2498131" cy="609604"/>
          </a:xfrm>
        </p:grpSpPr>
        <p:sp>
          <p:nvSpPr>
            <p:cNvPr id="34" name="Rectangle: Rounded Corners 33">
              <a:extLst>
                <a:ext uri="{FF2B5EF4-FFF2-40B4-BE49-F238E27FC236}">
                  <a16:creationId xmlns:a16="http://schemas.microsoft.com/office/drawing/2014/main" id="{C35B677E-556D-CA12-FB3B-D39C2A0D7BF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93B5A298-0ABC-5283-1AA7-7B61F6687AC2}"/>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B667F068-49A6-EB14-2679-5C142EEF4A82}"/>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Tools</a:t>
              </a:r>
            </a:p>
          </p:txBody>
        </p:sp>
      </p:grpSp>
    </p:spTree>
    <p:extLst>
      <p:ext uri="{BB962C8B-B14F-4D97-AF65-F5344CB8AC3E}">
        <p14:creationId xmlns:p14="http://schemas.microsoft.com/office/powerpoint/2010/main" val="803127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081B5522-2129-A809-A5AE-083D24AC36DC}"/>
              </a:ext>
            </a:extLst>
          </p:cNvPr>
          <p:cNvGrpSpPr/>
          <p:nvPr/>
        </p:nvGrpSpPr>
        <p:grpSpPr>
          <a:xfrm>
            <a:off x="270963" y="282263"/>
            <a:ext cx="3003742" cy="510504"/>
            <a:chOff x="100869" y="175489"/>
            <a:chExt cx="2498131" cy="609604"/>
          </a:xfrm>
        </p:grpSpPr>
        <p:sp>
          <p:nvSpPr>
            <p:cNvPr id="7" name="Rectangle: Rounded Corners 6">
              <a:extLst>
                <a:ext uri="{FF2B5EF4-FFF2-40B4-BE49-F238E27FC236}">
                  <a16:creationId xmlns:a16="http://schemas.microsoft.com/office/drawing/2014/main" id="{3E39FA50-27E2-C752-708B-07538FF7946D}"/>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52AC505-B28D-4695-9312-8B5D78DC4CAB}"/>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397645C-5D54-85E3-D711-AACEB0BA92FD}"/>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Testing Levels</a:t>
              </a:r>
            </a:p>
          </p:txBody>
        </p:sp>
      </p:grpSp>
      <p:pic>
        <p:nvPicPr>
          <p:cNvPr id="2" name="Grafik 1" descr="Ein Bild, das Text, Screenshot, Schrift, Zahl enthält.&#10;&#10;KI-generierte Inhalte können fehlerhaft sein.">
            <a:extLst>
              <a:ext uri="{FF2B5EF4-FFF2-40B4-BE49-F238E27FC236}">
                <a16:creationId xmlns:a16="http://schemas.microsoft.com/office/drawing/2014/main" id="{29C03F2F-525B-3271-D123-5F638813AD57}"/>
              </a:ext>
            </a:extLst>
          </p:cNvPr>
          <p:cNvPicPr>
            <a:picLocks noChangeAspect="1"/>
          </p:cNvPicPr>
          <p:nvPr/>
        </p:nvPicPr>
        <p:blipFill>
          <a:blip r:embed="rId3"/>
          <a:stretch>
            <a:fillRect/>
          </a:stretch>
        </p:blipFill>
        <p:spPr>
          <a:xfrm>
            <a:off x="1917102" y="1206708"/>
            <a:ext cx="8364044" cy="5144125"/>
          </a:xfrm>
          <a:prstGeom prst="roundRect">
            <a:avLst>
              <a:gd name="adj" fmla="val 1913"/>
            </a:avLst>
          </a:prstGeom>
        </p:spPr>
      </p:pic>
    </p:spTree>
    <p:extLst>
      <p:ext uri="{BB962C8B-B14F-4D97-AF65-F5344CB8AC3E}">
        <p14:creationId xmlns:p14="http://schemas.microsoft.com/office/powerpoint/2010/main" val="145872323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217DFC8C-B355-FD96-0BA9-42F83FA920E4}"/>
            </a:ext>
          </a:extLst>
        </p:cNvPr>
        <p:cNvGrpSpPr/>
        <p:nvPr/>
      </p:nvGrpSpPr>
      <p:grpSpPr>
        <a:xfrm>
          <a:off x="0" y="0"/>
          <a:ext cx="0" cy="0"/>
          <a:chOff x="0" y="0"/>
          <a:chExt cx="0" cy="0"/>
        </a:xfrm>
      </p:grpSpPr>
      <p:pic>
        <p:nvPicPr>
          <p:cNvPr id="5" name="Grafik 4" descr="Ein Bild, das Text, Screenshot, Display, Software enthält.&#10;&#10;KI-generierte Inhalte können fehlerhaft sein.">
            <a:extLst>
              <a:ext uri="{FF2B5EF4-FFF2-40B4-BE49-F238E27FC236}">
                <a16:creationId xmlns:a16="http://schemas.microsoft.com/office/drawing/2014/main" id="{CD41657F-767A-E589-8582-B04F052FA53A}"/>
              </a:ext>
            </a:extLst>
          </p:cNvPr>
          <p:cNvPicPr>
            <a:picLocks noChangeAspect="1"/>
          </p:cNvPicPr>
          <p:nvPr/>
        </p:nvPicPr>
        <p:blipFill>
          <a:blip r:embed="rId3"/>
          <a:srcRect l="25403" r="49616"/>
          <a:stretch>
            <a:fillRect/>
          </a:stretch>
        </p:blipFill>
        <p:spPr>
          <a:xfrm>
            <a:off x="4092472" y="950613"/>
            <a:ext cx="2464617" cy="2185807"/>
          </a:xfrm>
          <a:prstGeom prst="roundRect">
            <a:avLst>
              <a:gd name="adj" fmla="val 8616"/>
            </a:avLst>
          </a:prstGeom>
        </p:spPr>
      </p:pic>
      <p:grpSp>
        <p:nvGrpSpPr>
          <p:cNvPr id="6" name="Group 5">
            <a:extLst>
              <a:ext uri="{FF2B5EF4-FFF2-40B4-BE49-F238E27FC236}">
                <a16:creationId xmlns:a16="http://schemas.microsoft.com/office/drawing/2014/main" id="{37691EE8-D213-4C55-7911-114FC0CCAB5A}"/>
              </a:ext>
            </a:extLst>
          </p:cNvPr>
          <p:cNvGrpSpPr/>
          <p:nvPr/>
        </p:nvGrpSpPr>
        <p:grpSpPr>
          <a:xfrm>
            <a:off x="359448" y="328697"/>
            <a:ext cx="3261132" cy="510504"/>
            <a:chOff x="100869" y="175489"/>
            <a:chExt cx="2498131" cy="609604"/>
          </a:xfrm>
        </p:grpSpPr>
        <p:sp>
          <p:nvSpPr>
            <p:cNvPr id="7" name="Rectangle: Rounded Corners 6">
              <a:extLst>
                <a:ext uri="{FF2B5EF4-FFF2-40B4-BE49-F238E27FC236}">
                  <a16:creationId xmlns:a16="http://schemas.microsoft.com/office/drawing/2014/main" id="{3D2AC005-9DBB-1983-0114-A14CCE3D2E3B}"/>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8D5CFA6-EDB8-944C-1A07-2A8AEDE1B441}"/>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97FA10B-5A75-3169-2D9D-3E46A297A2AF}"/>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SonarCloud &amp; CI Pipeline</a:t>
              </a:r>
              <a:endParaRPr lang="de-DE"/>
            </a:p>
          </p:txBody>
        </p:sp>
      </p:grpSp>
      <p:sp>
        <p:nvSpPr>
          <p:cNvPr id="12" name="Rectangle: Rounded Corners 11">
            <a:extLst>
              <a:ext uri="{FF2B5EF4-FFF2-40B4-BE49-F238E27FC236}">
                <a16:creationId xmlns:a16="http://schemas.microsoft.com/office/drawing/2014/main" id="{8EE9D11F-643A-719B-6BF9-7EADCB8DC6DF}"/>
              </a:ext>
            </a:extLst>
          </p:cNvPr>
          <p:cNvSpPr/>
          <p:nvPr/>
        </p:nvSpPr>
        <p:spPr>
          <a:xfrm>
            <a:off x="1107436" y="1282718"/>
            <a:ext cx="2513145" cy="5573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 Push/ Pull Request</a:t>
            </a:r>
          </a:p>
        </p:txBody>
      </p:sp>
      <p:sp>
        <p:nvSpPr>
          <p:cNvPr id="13" name="Rectangle: Rounded Corners 12">
            <a:extLst>
              <a:ext uri="{FF2B5EF4-FFF2-40B4-BE49-F238E27FC236}">
                <a16:creationId xmlns:a16="http://schemas.microsoft.com/office/drawing/2014/main" id="{40F50DD1-7A8D-78FD-7104-4BDAA2EFA5CC}"/>
              </a:ext>
            </a:extLst>
          </p:cNvPr>
          <p:cNvSpPr/>
          <p:nvPr/>
        </p:nvSpPr>
        <p:spPr>
          <a:xfrm>
            <a:off x="1107435" y="1974414"/>
            <a:ext cx="2513145" cy="55738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t>2. Static Checks</a:t>
            </a:r>
          </a:p>
        </p:txBody>
      </p:sp>
      <p:sp>
        <p:nvSpPr>
          <p:cNvPr id="14" name="Rectangle: Rounded Corners 13">
            <a:extLst>
              <a:ext uri="{FF2B5EF4-FFF2-40B4-BE49-F238E27FC236}">
                <a16:creationId xmlns:a16="http://schemas.microsoft.com/office/drawing/2014/main" id="{56D6C6DF-D6AB-4C9F-F883-C6AD1172C6F7}"/>
              </a:ext>
            </a:extLst>
          </p:cNvPr>
          <p:cNvSpPr/>
          <p:nvPr/>
        </p:nvSpPr>
        <p:spPr>
          <a:xfrm>
            <a:off x="1107435" y="2681602"/>
            <a:ext cx="2513145" cy="5573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t>3. Architecture</a:t>
            </a:r>
          </a:p>
        </p:txBody>
      </p:sp>
      <p:sp>
        <p:nvSpPr>
          <p:cNvPr id="15" name="Rectangle: Rounded Corners 14">
            <a:extLst>
              <a:ext uri="{FF2B5EF4-FFF2-40B4-BE49-F238E27FC236}">
                <a16:creationId xmlns:a16="http://schemas.microsoft.com/office/drawing/2014/main" id="{A41D44CC-24FD-9112-7640-E568F91E2BAA}"/>
              </a:ext>
            </a:extLst>
          </p:cNvPr>
          <p:cNvSpPr/>
          <p:nvPr/>
        </p:nvSpPr>
        <p:spPr>
          <a:xfrm>
            <a:off x="1107435" y="3361811"/>
            <a:ext cx="2513145" cy="557382"/>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lIns="91440" tIns="45720" rIns="91440" bIns="45720" rtlCol="0" anchor="ctr"/>
          <a:lstStyle/>
          <a:p>
            <a:pPr algn="ctr"/>
            <a:r>
              <a:rPr lang="en-US"/>
              <a:t>4. Tests &amp; Coverage</a:t>
            </a:r>
          </a:p>
        </p:txBody>
      </p:sp>
      <p:sp>
        <p:nvSpPr>
          <p:cNvPr id="16" name="Rectangle: Rounded Corners 15">
            <a:extLst>
              <a:ext uri="{FF2B5EF4-FFF2-40B4-BE49-F238E27FC236}">
                <a16:creationId xmlns:a16="http://schemas.microsoft.com/office/drawing/2014/main" id="{A1D48406-39CA-8E45-8C1F-921F6C3536E9}"/>
              </a:ext>
            </a:extLst>
          </p:cNvPr>
          <p:cNvSpPr/>
          <p:nvPr/>
        </p:nvSpPr>
        <p:spPr>
          <a:xfrm>
            <a:off x="1107435" y="4042020"/>
            <a:ext cx="2513145" cy="557382"/>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5. Build</a:t>
            </a:r>
          </a:p>
        </p:txBody>
      </p:sp>
      <p:sp>
        <p:nvSpPr>
          <p:cNvPr id="17" name="Rectangle: Rounded Corners 16">
            <a:extLst>
              <a:ext uri="{FF2B5EF4-FFF2-40B4-BE49-F238E27FC236}">
                <a16:creationId xmlns:a16="http://schemas.microsoft.com/office/drawing/2014/main" id="{5E7987C4-B32B-8815-7839-B1DEF8BF437D}"/>
              </a:ext>
            </a:extLst>
          </p:cNvPr>
          <p:cNvSpPr/>
          <p:nvPr/>
        </p:nvSpPr>
        <p:spPr>
          <a:xfrm>
            <a:off x="1107435" y="4722229"/>
            <a:ext cx="2513145" cy="557382"/>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6. E2E Tests</a:t>
            </a:r>
          </a:p>
        </p:txBody>
      </p:sp>
      <p:sp>
        <p:nvSpPr>
          <p:cNvPr id="18" name="Rectangle: Rounded Corners 17">
            <a:extLst>
              <a:ext uri="{FF2B5EF4-FFF2-40B4-BE49-F238E27FC236}">
                <a16:creationId xmlns:a16="http://schemas.microsoft.com/office/drawing/2014/main" id="{A3536466-CFE0-438A-0A57-F3DA42C01667}"/>
              </a:ext>
            </a:extLst>
          </p:cNvPr>
          <p:cNvSpPr/>
          <p:nvPr/>
        </p:nvSpPr>
        <p:spPr>
          <a:xfrm>
            <a:off x="1107435" y="5392848"/>
            <a:ext cx="2513145" cy="673857"/>
          </a:xfrm>
          <a:prstGeom prst="round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7. SonarCloud Quality Gate</a:t>
            </a:r>
          </a:p>
        </p:txBody>
      </p:sp>
      <p:sp>
        <p:nvSpPr>
          <p:cNvPr id="19" name="Arrow: Down 18">
            <a:extLst>
              <a:ext uri="{FF2B5EF4-FFF2-40B4-BE49-F238E27FC236}">
                <a16:creationId xmlns:a16="http://schemas.microsoft.com/office/drawing/2014/main" id="{7F0FC84F-B0FF-389F-E423-EA154635DFD9}"/>
              </a:ext>
            </a:extLst>
          </p:cNvPr>
          <p:cNvSpPr/>
          <p:nvPr/>
        </p:nvSpPr>
        <p:spPr>
          <a:xfrm>
            <a:off x="123123" y="1167506"/>
            <a:ext cx="810703" cy="48991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270" lIns="91440" tIns="45720" rIns="91440" bIns="45720" rtlCol="0" anchor="ctr"/>
          <a:lstStyle/>
          <a:p>
            <a:pPr algn="ctr"/>
            <a:r>
              <a:rPr lang="de-DE" err="1">
                <a:ea typeface="+mn-lt"/>
                <a:cs typeface="+mn-lt"/>
              </a:rPr>
              <a:t>CI Pipeline</a:t>
            </a:r>
            <a:endParaRPr lang="en-US" err="1"/>
          </a:p>
        </p:txBody>
      </p:sp>
      <p:pic>
        <p:nvPicPr>
          <p:cNvPr id="20" name="Grafik 4" descr="Ein Bild, das Text, Screenshot, Display, Software enthält.&#10;&#10;KI-generierte Inhalte können fehlerhaft sein.">
            <a:extLst>
              <a:ext uri="{FF2B5EF4-FFF2-40B4-BE49-F238E27FC236}">
                <a16:creationId xmlns:a16="http://schemas.microsoft.com/office/drawing/2014/main" id="{342E05C4-9EEA-5F74-A238-97BEEA3E99BD}"/>
              </a:ext>
            </a:extLst>
          </p:cNvPr>
          <p:cNvPicPr>
            <a:picLocks noChangeAspect="1"/>
          </p:cNvPicPr>
          <p:nvPr/>
        </p:nvPicPr>
        <p:blipFill>
          <a:blip r:embed="rId3"/>
          <a:srcRect l="49616"/>
          <a:stretch>
            <a:fillRect/>
          </a:stretch>
        </p:blipFill>
        <p:spPr>
          <a:xfrm>
            <a:off x="6680188" y="933199"/>
            <a:ext cx="5010561" cy="2203222"/>
          </a:xfrm>
          <a:prstGeom prst="roundRect">
            <a:avLst>
              <a:gd name="adj" fmla="val 6315"/>
            </a:avLst>
          </a:prstGeom>
        </p:spPr>
      </p:pic>
      <p:pic>
        <p:nvPicPr>
          <p:cNvPr id="22" name="Picture 21">
            <a:extLst>
              <a:ext uri="{FF2B5EF4-FFF2-40B4-BE49-F238E27FC236}">
                <a16:creationId xmlns:a16="http://schemas.microsoft.com/office/drawing/2014/main" id="{3552B577-EDE8-ED4B-F6A9-F48591920B71}"/>
              </a:ext>
            </a:extLst>
          </p:cNvPr>
          <p:cNvPicPr>
            <a:picLocks noChangeAspect="1"/>
          </p:cNvPicPr>
          <p:nvPr/>
        </p:nvPicPr>
        <p:blipFill>
          <a:blip r:embed="rId4"/>
          <a:stretch>
            <a:fillRect/>
          </a:stretch>
        </p:blipFill>
        <p:spPr>
          <a:xfrm>
            <a:off x="6680188" y="3300911"/>
            <a:ext cx="2399377" cy="2935501"/>
          </a:xfrm>
          <a:prstGeom prst="roundRect">
            <a:avLst>
              <a:gd name="adj" fmla="val 6993"/>
            </a:avLst>
          </a:prstGeom>
        </p:spPr>
      </p:pic>
      <p:pic>
        <p:nvPicPr>
          <p:cNvPr id="24" name="Picture 23">
            <a:extLst>
              <a:ext uri="{FF2B5EF4-FFF2-40B4-BE49-F238E27FC236}">
                <a16:creationId xmlns:a16="http://schemas.microsoft.com/office/drawing/2014/main" id="{51FA3806-7B5D-E686-6F30-0CF688711590}"/>
              </a:ext>
            </a:extLst>
          </p:cNvPr>
          <p:cNvPicPr>
            <a:picLocks noChangeAspect="1"/>
          </p:cNvPicPr>
          <p:nvPr/>
        </p:nvPicPr>
        <p:blipFill>
          <a:blip r:embed="rId5"/>
          <a:stretch>
            <a:fillRect/>
          </a:stretch>
        </p:blipFill>
        <p:spPr>
          <a:xfrm>
            <a:off x="9291876" y="3281919"/>
            <a:ext cx="2398873" cy="2954493"/>
          </a:xfrm>
          <a:prstGeom prst="roundRect">
            <a:avLst>
              <a:gd name="adj" fmla="val 4447"/>
            </a:avLst>
          </a:prstGeom>
        </p:spPr>
      </p:pic>
      <p:pic>
        <p:nvPicPr>
          <p:cNvPr id="48" name="Picture 47">
            <a:extLst>
              <a:ext uri="{FF2B5EF4-FFF2-40B4-BE49-F238E27FC236}">
                <a16:creationId xmlns:a16="http://schemas.microsoft.com/office/drawing/2014/main" id="{D796888F-723C-E81D-EBA9-B6E031EA7D66}"/>
              </a:ext>
            </a:extLst>
          </p:cNvPr>
          <p:cNvPicPr>
            <a:picLocks noChangeAspect="1"/>
          </p:cNvPicPr>
          <p:nvPr/>
        </p:nvPicPr>
        <p:blipFill>
          <a:blip r:embed="rId6"/>
          <a:stretch>
            <a:fillRect/>
          </a:stretch>
        </p:blipFill>
        <p:spPr>
          <a:xfrm>
            <a:off x="4092472" y="3281920"/>
            <a:ext cx="2398873" cy="2954493"/>
          </a:xfrm>
          <a:prstGeom prst="roundRect">
            <a:avLst>
              <a:gd name="adj" fmla="val 7064"/>
            </a:avLst>
          </a:prstGeom>
        </p:spPr>
      </p:pic>
    </p:spTree>
    <p:extLst>
      <p:ext uri="{BB962C8B-B14F-4D97-AF65-F5344CB8AC3E}">
        <p14:creationId xmlns:p14="http://schemas.microsoft.com/office/powerpoint/2010/main" val="9375225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anim calcmode="lin" valueType="num">
                                      <p:cBhvr>
                                        <p:cTn id="8" dur="500" fill="hold"/>
                                        <p:tgtEl>
                                          <p:spTgt spid="19"/>
                                        </p:tgtEl>
                                        <p:attrNameLst>
                                          <p:attrName>ppt_x</p:attrName>
                                        </p:attrNameLst>
                                      </p:cBhvr>
                                      <p:tavLst>
                                        <p:tav tm="0">
                                          <p:val>
                                            <p:strVal val="#ppt_x"/>
                                          </p:val>
                                        </p:tav>
                                        <p:tav tm="100000">
                                          <p:val>
                                            <p:strVal val="#ppt_x"/>
                                          </p:val>
                                        </p:tav>
                                      </p:tavLst>
                                    </p:anim>
                                    <p:anim calcmode="lin" valueType="num">
                                      <p:cBhvr>
                                        <p:cTn id="9" dur="5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1"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ntr" presetSubtype="1"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0-#ppt_h/2"/>
                                          </p:val>
                                        </p:tav>
                                        <p:tav tm="100000">
                                          <p:val>
                                            <p:strVal val="#ppt_y"/>
                                          </p:val>
                                        </p:tav>
                                      </p:tavLst>
                                    </p:anim>
                                  </p:childTnLst>
                                </p:cTn>
                              </p:par>
                            </p:childTnLst>
                          </p:cTn>
                        </p:par>
                        <p:par>
                          <p:cTn id="35" fill="hold">
                            <p:stCondLst>
                              <p:cond delay="3000"/>
                            </p:stCondLst>
                            <p:childTnLst>
                              <p:par>
                                <p:cTn id="36" presetID="2" presetClass="entr" presetSubtype="1"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0-#ppt_h/2"/>
                                          </p:val>
                                        </p:tav>
                                        <p:tav tm="100000">
                                          <p:val>
                                            <p:strVal val="#ppt_y"/>
                                          </p:val>
                                        </p:tav>
                                      </p:tavLst>
                                    </p:anim>
                                  </p:childTnLst>
                                </p:cTn>
                              </p:par>
                            </p:childTnLst>
                          </p:cTn>
                        </p:par>
                        <p:par>
                          <p:cTn id="40" fill="hold">
                            <p:stCondLst>
                              <p:cond delay="3500"/>
                            </p:stCondLst>
                            <p:childTnLst>
                              <p:par>
                                <p:cTn id="41" presetID="2" presetClass="entr" presetSubtype="1"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anim calcmode="lin" valueType="num">
                                      <p:cBhvr>
                                        <p:cTn id="50" dur="500" fill="hold"/>
                                        <p:tgtEl>
                                          <p:spTgt spid="5"/>
                                        </p:tgtEl>
                                        <p:attrNameLst>
                                          <p:attrName>ppt_x</p:attrName>
                                        </p:attrNameLst>
                                      </p:cBhvr>
                                      <p:tavLst>
                                        <p:tav tm="0">
                                          <p:val>
                                            <p:strVal val="#ppt_x"/>
                                          </p:val>
                                        </p:tav>
                                        <p:tav tm="100000">
                                          <p:val>
                                            <p:strVal val="#ppt_x"/>
                                          </p:val>
                                        </p:tav>
                                      </p:tavLst>
                                    </p:anim>
                                    <p:anim calcmode="lin" valueType="num">
                                      <p:cBhvr>
                                        <p:cTn id="51" dur="500" fill="hold"/>
                                        <p:tgtEl>
                                          <p:spTgt spid="5"/>
                                        </p:tgtEl>
                                        <p:attrNameLst>
                                          <p:attrName>ppt_y</p:attrName>
                                        </p:attrNameLst>
                                      </p:cBhvr>
                                      <p:tavLst>
                                        <p:tav tm="0">
                                          <p:val>
                                            <p:strVal val="#ppt_y-.1"/>
                                          </p:val>
                                        </p:tav>
                                        <p:tav tm="100000">
                                          <p:val>
                                            <p:strVal val="#ppt_y"/>
                                          </p:val>
                                        </p:tav>
                                      </p:tavLst>
                                    </p:anim>
                                  </p:childTnLst>
                                </p:cTn>
                              </p:par>
                            </p:childTnLst>
                          </p:cTn>
                        </p:par>
                        <p:par>
                          <p:cTn id="52" fill="hold">
                            <p:stCondLst>
                              <p:cond delay="500"/>
                            </p:stCondLst>
                            <p:childTnLst>
                              <p:par>
                                <p:cTn id="53" presetID="47"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anim calcmode="lin" valueType="num">
                                      <p:cBhvr>
                                        <p:cTn id="56" dur="500" fill="hold"/>
                                        <p:tgtEl>
                                          <p:spTgt spid="20"/>
                                        </p:tgtEl>
                                        <p:attrNameLst>
                                          <p:attrName>ppt_x</p:attrName>
                                        </p:attrNameLst>
                                      </p:cBhvr>
                                      <p:tavLst>
                                        <p:tav tm="0">
                                          <p:val>
                                            <p:strVal val="#ppt_x"/>
                                          </p:val>
                                        </p:tav>
                                        <p:tav tm="100000">
                                          <p:val>
                                            <p:strVal val="#ppt_x"/>
                                          </p:val>
                                        </p:tav>
                                      </p:tavLst>
                                    </p:anim>
                                    <p:anim calcmode="lin" valueType="num">
                                      <p:cBhvr>
                                        <p:cTn id="57" dur="500" fill="hold"/>
                                        <p:tgtEl>
                                          <p:spTgt spid="20"/>
                                        </p:tgtEl>
                                        <p:attrNameLst>
                                          <p:attrName>ppt_y</p:attrName>
                                        </p:attrNameLst>
                                      </p:cBhvr>
                                      <p:tavLst>
                                        <p:tav tm="0">
                                          <p:val>
                                            <p:strVal val="#ppt_y-.1"/>
                                          </p:val>
                                        </p:tav>
                                        <p:tav tm="100000">
                                          <p:val>
                                            <p:strVal val="#ppt_y"/>
                                          </p:val>
                                        </p:tav>
                                      </p:tavLst>
                                    </p:anim>
                                  </p:childTnLst>
                                </p:cTn>
                              </p:par>
                            </p:childTnLst>
                          </p:cTn>
                        </p:par>
                        <p:par>
                          <p:cTn id="58" fill="hold">
                            <p:stCondLst>
                              <p:cond delay="1000"/>
                            </p:stCondLst>
                            <p:childTnLst>
                              <p:par>
                                <p:cTn id="59" presetID="47" presetClass="entr" presetSubtype="0" fill="hold" nodeType="after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anim calcmode="lin" valueType="num">
                                      <p:cBhvr>
                                        <p:cTn id="62" dur="500" fill="hold"/>
                                        <p:tgtEl>
                                          <p:spTgt spid="48"/>
                                        </p:tgtEl>
                                        <p:attrNameLst>
                                          <p:attrName>ppt_x</p:attrName>
                                        </p:attrNameLst>
                                      </p:cBhvr>
                                      <p:tavLst>
                                        <p:tav tm="0">
                                          <p:val>
                                            <p:strVal val="#ppt_x"/>
                                          </p:val>
                                        </p:tav>
                                        <p:tav tm="100000">
                                          <p:val>
                                            <p:strVal val="#ppt_x"/>
                                          </p:val>
                                        </p:tav>
                                      </p:tavLst>
                                    </p:anim>
                                    <p:anim calcmode="lin" valueType="num">
                                      <p:cBhvr>
                                        <p:cTn id="63" dur="500" fill="hold"/>
                                        <p:tgtEl>
                                          <p:spTgt spid="48"/>
                                        </p:tgtEl>
                                        <p:attrNameLst>
                                          <p:attrName>ppt_y</p:attrName>
                                        </p:attrNameLst>
                                      </p:cBhvr>
                                      <p:tavLst>
                                        <p:tav tm="0">
                                          <p:val>
                                            <p:strVal val="#ppt_y-.1"/>
                                          </p:val>
                                        </p:tav>
                                        <p:tav tm="100000">
                                          <p:val>
                                            <p:strVal val="#ppt_y"/>
                                          </p:val>
                                        </p:tav>
                                      </p:tavLst>
                                    </p:anim>
                                  </p:childTnLst>
                                </p:cTn>
                              </p:par>
                            </p:childTnLst>
                          </p:cTn>
                        </p:par>
                        <p:par>
                          <p:cTn id="64" fill="hold">
                            <p:stCondLst>
                              <p:cond delay="1500"/>
                            </p:stCondLst>
                            <p:childTnLst>
                              <p:par>
                                <p:cTn id="65" presetID="47" presetClass="entr" presetSubtype="0"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ppt_x</p:attrName>
                                        </p:attrNameLst>
                                      </p:cBhvr>
                                      <p:tavLst>
                                        <p:tav tm="0">
                                          <p:val>
                                            <p:strVal val="#ppt_x"/>
                                          </p:val>
                                        </p:tav>
                                        <p:tav tm="100000">
                                          <p:val>
                                            <p:strVal val="#ppt_x"/>
                                          </p:val>
                                        </p:tav>
                                      </p:tavLst>
                                    </p:anim>
                                    <p:anim calcmode="lin" valueType="num">
                                      <p:cBhvr>
                                        <p:cTn id="69" dur="500" fill="hold"/>
                                        <p:tgtEl>
                                          <p:spTgt spid="22"/>
                                        </p:tgtEl>
                                        <p:attrNameLst>
                                          <p:attrName>ppt_y</p:attrName>
                                        </p:attrNameLst>
                                      </p:cBhvr>
                                      <p:tavLst>
                                        <p:tav tm="0">
                                          <p:val>
                                            <p:strVal val="#ppt_y-.1"/>
                                          </p:val>
                                        </p:tav>
                                        <p:tav tm="100000">
                                          <p:val>
                                            <p:strVal val="#ppt_y"/>
                                          </p:val>
                                        </p:tav>
                                      </p:tavLst>
                                    </p:anim>
                                  </p:childTnLst>
                                </p:cTn>
                              </p:par>
                            </p:childTnLst>
                          </p:cTn>
                        </p:par>
                        <p:par>
                          <p:cTn id="70" fill="hold">
                            <p:stCondLst>
                              <p:cond delay="2000"/>
                            </p:stCondLst>
                            <p:childTnLst>
                              <p:par>
                                <p:cTn id="71" presetID="47" presetClass="entr" presetSubtype="0" fill="hold"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anim calcmode="lin" valueType="num">
                                      <p:cBhvr>
                                        <p:cTn id="74" dur="500" fill="hold"/>
                                        <p:tgtEl>
                                          <p:spTgt spid="24"/>
                                        </p:tgtEl>
                                        <p:attrNameLst>
                                          <p:attrName>ppt_x</p:attrName>
                                        </p:attrNameLst>
                                      </p:cBhvr>
                                      <p:tavLst>
                                        <p:tav tm="0">
                                          <p:val>
                                            <p:strVal val="#ppt_x"/>
                                          </p:val>
                                        </p:tav>
                                        <p:tav tm="100000">
                                          <p:val>
                                            <p:strVal val="#ppt_x"/>
                                          </p:val>
                                        </p:tav>
                                      </p:tavLst>
                                    </p:anim>
                                    <p:anim calcmode="lin" valueType="num">
                                      <p:cBhvr>
                                        <p:cTn id="75"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C9AC1252-6573-8341-2313-BD778C7718C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DDF73AA-2221-C83B-9C79-637C6994861F}"/>
              </a:ext>
            </a:extLst>
          </p:cNvPr>
          <p:cNvGrpSpPr/>
          <p:nvPr/>
        </p:nvGrpSpPr>
        <p:grpSpPr>
          <a:xfrm>
            <a:off x="343208" y="860672"/>
            <a:ext cx="1706838" cy="1706838"/>
            <a:chOff x="1431267" y="3429000"/>
            <a:chExt cx="1706838" cy="1706838"/>
          </a:xfrm>
        </p:grpSpPr>
        <p:pic>
          <p:nvPicPr>
            <p:cNvPr id="3" name="Picture 2">
              <a:extLst>
                <a:ext uri="{FF2B5EF4-FFF2-40B4-BE49-F238E27FC236}">
                  <a16:creationId xmlns:a16="http://schemas.microsoft.com/office/drawing/2014/main" id="{9A64E63C-0291-9AD5-6E70-64DD2373E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267" y="3429000"/>
              <a:ext cx="1706838" cy="1706838"/>
            </a:xfrm>
            <a:prstGeom prst="rect">
              <a:avLst/>
            </a:prstGeom>
          </p:spPr>
        </p:pic>
        <p:sp>
          <p:nvSpPr>
            <p:cNvPr id="4" name="TextBox 3">
              <a:extLst>
                <a:ext uri="{FF2B5EF4-FFF2-40B4-BE49-F238E27FC236}">
                  <a16:creationId xmlns:a16="http://schemas.microsoft.com/office/drawing/2014/main" id="{436C8013-531D-F28F-EA65-BF1AFB645829}"/>
                </a:ext>
              </a:extLst>
            </p:cNvPr>
            <p:cNvSpPr txBox="1"/>
            <p:nvPr/>
          </p:nvSpPr>
          <p:spPr>
            <a:xfrm>
              <a:off x="1865251" y="3931544"/>
              <a:ext cx="955711" cy="646331"/>
            </a:xfrm>
            <a:prstGeom prst="rect">
              <a:avLst/>
            </a:prstGeom>
            <a:noFill/>
          </p:spPr>
          <p:txBody>
            <a:bodyPr wrap="none" rtlCol="0">
              <a:spAutoFit/>
            </a:bodyPr>
            <a:lstStyle/>
            <a:p>
              <a:r>
                <a:rPr lang="en-US"/>
                <a:t>Fabian</a:t>
              </a:r>
            </a:p>
            <a:p>
              <a:r>
                <a:rPr lang="en-US"/>
                <a:t>Reinelt</a:t>
              </a:r>
            </a:p>
          </p:txBody>
        </p:sp>
      </p:grpSp>
      <p:grpSp>
        <p:nvGrpSpPr>
          <p:cNvPr id="6" name="Group 5">
            <a:extLst>
              <a:ext uri="{FF2B5EF4-FFF2-40B4-BE49-F238E27FC236}">
                <a16:creationId xmlns:a16="http://schemas.microsoft.com/office/drawing/2014/main" id="{CEEB5AF5-951B-54E6-0AB2-68468B1CB1D6}"/>
              </a:ext>
            </a:extLst>
          </p:cNvPr>
          <p:cNvGrpSpPr/>
          <p:nvPr/>
        </p:nvGrpSpPr>
        <p:grpSpPr>
          <a:xfrm>
            <a:off x="343208" y="2817198"/>
            <a:ext cx="1706838" cy="1706838"/>
            <a:chOff x="3467301" y="3429000"/>
            <a:chExt cx="1706838" cy="1706838"/>
          </a:xfrm>
        </p:grpSpPr>
        <p:pic>
          <p:nvPicPr>
            <p:cNvPr id="7" name="Picture 6">
              <a:extLst>
                <a:ext uri="{FF2B5EF4-FFF2-40B4-BE49-F238E27FC236}">
                  <a16:creationId xmlns:a16="http://schemas.microsoft.com/office/drawing/2014/main" id="{79660B64-AE95-8CC2-1B1D-DB1A098CF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7301" y="3429000"/>
              <a:ext cx="1706838" cy="1706838"/>
            </a:xfrm>
            <a:prstGeom prst="rect">
              <a:avLst/>
            </a:prstGeom>
          </p:spPr>
        </p:pic>
        <p:sp>
          <p:nvSpPr>
            <p:cNvPr id="8" name="TextBox 7">
              <a:extLst>
                <a:ext uri="{FF2B5EF4-FFF2-40B4-BE49-F238E27FC236}">
                  <a16:creationId xmlns:a16="http://schemas.microsoft.com/office/drawing/2014/main" id="{91F1F359-D972-5735-A56E-B3EA58AE9288}"/>
                </a:ext>
              </a:extLst>
            </p:cNvPr>
            <p:cNvSpPr txBox="1"/>
            <p:nvPr/>
          </p:nvSpPr>
          <p:spPr>
            <a:xfrm>
              <a:off x="3742806" y="3783808"/>
              <a:ext cx="1269899" cy="923330"/>
            </a:xfrm>
            <a:prstGeom prst="rect">
              <a:avLst/>
            </a:prstGeom>
            <a:noFill/>
          </p:spPr>
          <p:txBody>
            <a:bodyPr wrap="none" rtlCol="0">
              <a:spAutoFit/>
            </a:bodyPr>
            <a:lstStyle/>
            <a:p>
              <a:pPr algn="ctr"/>
              <a:r>
                <a:rPr lang="en-US"/>
                <a:t>Leonardo</a:t>
              </a:r>
            </a:p>
            <a:p>
              <a:pPr algn="ctr"/>
              <a:r>
                <a:rPr lang="en-US"/>
                <a:t>Kharraz</a:t>
              </a:r>
            </a:p>
            <a:p>
              <a:pPr algn="ctr"/>
              <a:r>
                <a:rPr lang="en-US"/>
                <a:t>Tavakol</a:t>
              </a:r>
            </a:p>
          </p:txBody>
        </p:sp>
      </p:grpSp>
      <p:grpSp>
        <p:nvGrpSpPr>
          <p:cNvPr id="10" name="Group 9">
            <a:extLst>
              <a:ext uri="{FF2B5EF4-FFF2-40B4-BE49-F238E27FC236}">
                <a16:creationId xmlns:a16="http://schemas.microsoft.com/office/drawing/2014/main" id="{1A5734DB-0D85-F95E-03B7-EE1B25E16AB3}"/>
              </a:ext>
            </a:extLst>
          </p:cNvPr>
          <p:cNvGrpSpPr/>
          <p:nvPr/>
        </p:nvGrpSpPr>
        <p:grpSpPr>
          <a:xfrm>
            <a:off x="343207" y="4773724"/>
            <a:ext cx="1706839" cy="1706839"/>
            <a:chOff x="5492635" y="3428999"/>
            <a:chExt cx="1706839" cy="1706839"/>
          </a:xfrm>
        </p:grpSpPr>
        <p:pic>
          <p:nvPicPr>
            <p:cNvPr id="12" name="Picture 11">
              <a:extLst>
                <a:ext uri="{FF2B5EF4-FFF2-40B4-BE49-F238E27FC236}">
                  <a16:creationId xmlns:a16="http://schemas.microsoft.com/office/drawing/2014/main" id="{E89B5611-3A0D-1078-2AC9-38BF5414E3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2635" y="3428999"/>
              <a:ext cx="1706839" cy="1706839"/>
            </a:xfrm>
            <a:prstGeom prst="rect">
              <a:avLst/>
            </a:prstGeom>
          </p:spPr>
        </p:pic>
        <p:sp>
          <p:nvSpPr>
            <p:cNvPr id="14" name="TextBox 13">
              <a:extLst>
                <a:ext uri="{FF2B5EF4-FFF2-40B4-BE49-F238E27FC236}">
                  <a16:creationId xmlns:a16="http://schemas.microsoft.com/office/drawing/2014/main" id="{76536BDC-B8DB-E2B1-DF10-D99ACC336BBC}"/>
                </a:ext>
              </a:extLst>
            </p:cNvPr>
            <p:cNvSpPr txBox="1"/>
            <p:nvPr/>
          </p:nvSpPr>
          <p:spPr>
            <a:xfrm>
              <a:off x="5941840" y="3758775"/>
              <a:ext cx="936475" cy="923330"/>
            </a:xfrm>
            <a:prstGeom prst="rect">
              <a:avLst/>
            </a:prstGeom>
            <a:noFill/>
          </p:spPr>
          <p:txBody>
            <a:bodyPr wrap="none" rtlCol="0">
              <a:spAutoFit/>
            </a:bodyPr>
            <a:lstStyle/>
            <a:p>
              <a:pPr algn="ctr"/>
              <a:r>
                <a:rPr lang="en-US"/>
                <a:t>Julia</a:t>
              </a:r>
            </a:p>
            <a:p>
              <a:pPr algn="ctr"/>
              <a:r>
                <a:rPr lang="en-US"/>
                <a:t>Ihren- </a:t>
              </a:r>
            </a:p>
            <a:p>
              <a:pPr algn="ctr"/>
              <a:r>
                <a:rPr lang="en-US"/>
                <a:t>berger</a:t>
              </a:r>
            </a:p>
          </p:txBody>
        </p:sp>
      </p:grpSp>
      <p:grpSp>
        <p:nvGrpSpPr>
          <p:cNvPr id="15" name="Group 14">
            <a:extLst>
              <a:ext uri="{FF2B5EF4-FFF2-40B4-BE49-F238E27FC236}">
                <a16:creationId xmlns:a16="http://schemas.microsoft.com/office/drawing/2014/main" id="{F2DB7872-D6B1-384C-7500-3DE4BA9B6587}"/>
              </a:ext>
            </a:extLst>
          </p:cNvPr>
          <p:cNvGrpSpPr/>
          <p:nvPr/>
        </p:nvGrpSpPr>
        <p:grpSpPr>
          <a:xfrm>
            <a:off x="148493" y="161965"/>
            <a:ext cx="2376993" cy="517238"/>
            <a:chOff x="100869" y="175489"/>
            <a:chExt cx="2498131" cy="609604"/>
          </a:xfrm>
        </p:grpSpPr>
        <p:sp>
          <p:nvSpPr>
            <p:cNvPr id="16" name="Rectangle: Rounded Corners 15">
              <a:extLst>
                <a:ext uri="{FF2B5EF4-FFF2-40B4-BE49-F238E27FC236}">
                  <a16:creationId xmlns:a16="http://schemas.microsoft.com/office/drawing/2014/main" id="{F2F22F03-5E20-2097-B05B-CBC092EE9993}"/>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5037A3A-023B-D8AE-4656-1D6BECBFBDF6}"/>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7C7416C-FE6E-325D-0D76-97810C3C5369}"/>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Post-Mortem</a:t>
              </a:r>
            </a:p>
          </p:txBody>
        </p:sp>
      </p:grpSp>
      <p:sp>
        <p:nvSpPr>
          <p:cNvPr id="20" name="Rectangle: Rounded Corners 19">
            <a:extLst>
              <a:ext uri="{FF2B5EF4-FFF2-40B4-BE49-F238E27FC236}">
                <a16:creationId xmlns:a16="http://schemas.microsoft.com/office/drawing/2014/main" id="{9DA53F26-D3C7-83D7-EEF7-D98E9ECF2F83}"/>
              </a:ext>
            </a:extLst>
          </p:cNvPr>
          <p:cNvSpPr/>
          <p:nvPr/>
        </p:nvSpPr>
        <p:spPr>
          <a:xfrm>
            <a:off x="3022908" y="4792609"/>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285750" indent="-285750">
              <a:buFont typeface="Arial" panose="020B0604020202020204" pitchFamily="34" charset="0"/>
              <a:buChar char="•"/>
            </a:pPr>
            <a:r>
              <a:rPr lang="en-US"/>
              <a:t>sehr viel zu Frontend Development gelernt (React, Vite, Typescript)</a:t>
            </a:r>
          </a:p>
          <a:p>
            <a:pPr marL="285750" indent="-285750">
              <a:buFont typeface="Arial" panose="020B0604020202020204" pitchFamily="34" charset="0"/>
              <a:buChar char="•"/>
            </a:pPr>
            <a:r>
              <a:rPr lang="en-US"/>
              <a:t>Erfahrung mit Testing Tools</a:t>
            </a:r>
          </a:p>
        </p:txBody>
      </p:sp>
      <p:sp>
        <p:nvSpPr>
          <p:cNvPr id="24" name="Rectangle: Rounded Corners 23">
            <a:extLst>
              <a:ext uri="{FF2B5EF4-FFF2-40B4-BE49-F238E27FC236}">
                <a16:creationId xmlns:a16="http://schemas.microsoft.com/office/drawing/2014/main" id="{126D43CF-4225-6D6A-8355-D607E82A7AB5}"/>
              </a:ext>
            </a:extLst>
          </p:cNvPr>
          <p:cNvSpPr/>
          <p:nvPr/>
        </p:nvSpPr>
        <p:spPr>
          <a:xfrm>
            <a:off x="3022908" y="286111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a:t>Python </a:t>
            </a:r>
            <a:r>
              <a:rPr lang="en-US" err="1"/>
              <a:t>Programmierung</a:t>
            </a:r>
            <a:r>
              <a:rPr lang="en-US"/>
              <a:t> und </a:t>
            </a:r>
            <a:r>
              <a:rPr lang="en-US" err="1"/>
              <a:t>Aufsetzen</a:t>
            </a:r>
            <a:r>
              <a:rPr lang="en-US"/>
              <a:t> </a:t>
            </a:r>
            <a:r>
              <a:rPr lang="en-US" err="1"/>
              <a:t>eines</a:t>
            </a:r>
            <a:r>
              <a:rPr lang="en-US"/>
              <a:t> Backends</a:t>
            </a:r>
          </a:p>
          <a:p>
            <a:pPr marL="285750" indent="-285750">
              <a:buFont typeface="Arial" panose="020B0604020202020204" pitchFamily="34" charset="0"/>
              <a:buChar char="•"/>
            </a:pPr>
            <a:r>
              <a:rPr lang="en-US"/>
              <a:t>Integration-Tests &amp; </a:t>
            </a:r>
            <a:r>
              <a:rPr lang="en-US" err="1"/>
              <a:t>ausfallsicherere</a:t>
            </a:r>
            <a:r>
              <a:rPr lang="en-US"/>
              <a:t> </a:t>
            </a:r>
            <a:r>
              <a:rPr lang="en-US" err="1"/>
              <a:t>Anbindung</a:t>
            </a:r>
            <a:r>
              <a:rPr lang="en-US"/>
              <a:t> </a:t>
            </a:r>
            <a:r>
              <a:rPr lang="en-US" err="1"/>
              <a:t>einer</a:t>
            </a:r>
            <a:r>
              <a:rPr lang="en-US"/>
              <a:t> </a:t>
            </a:r>
            <a:r>
              <a:rPr lang="en-US" err="1"/>
              <a:t>externen</a:t>
            </a:r>
            <a:r>
              <a:rPr lang="en-US"/>
              <a:t> API</a:t>
            </a:r>
          </a:p>
        </p:txBody>
      </p:sp>
      <p:sp>
        <p:nvSpPr>
          <p:cNvPr id="25" name="Rectangle: Rounded Corners 24">
            <a:extLst>
              <a:ext uri="{FF2B5EF4-FFF2-40B4-BE49-F238E27FC236}">
                <a16:creationId xmlns:a16="http://schemas.microsoft.com/office/drawing/2014/main" id="{639D9A85-D7C7-BE1D-C2F4-7D07D75010AA}"/>
              </a:ext>
            </a:extLst>
          </p:cNvPr>
          <p:cNvSpPr/>
          <p:nvPr/>
        </p:nvSpPr>
        <p:spPr>
          <a:xfrm>
            <a:off x="3022908" y="913825"/>
            <a:ext cx="7862805" cy="1545111"/>
          </a:xfrm>
          <a:prstGeom prst="roundRect">
            <a:avLst/>
          </a:prstGeom>
          <a:solidFill>
            <a:schemeClr val="bg1">
              <a:lumMod val="85000"/>
              <a:lumOff val="15000"/>
            </a:schemeClr>
          </a:solid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err="1"/>
              <a:t>Umfassende</a:t>
            </a:r>
            <a:r>
              <a:rPr lang="en-US"/>
              <a:t> </a:t>
            </a:r>
            <a:r>
              <a:rPr lang="en-US" err="1"/>
              <a:t>Teststrategie</a:t>
            </a:r>
            <a:r>
              <a:rPr lang="en-US"/>
              <a:t> </a:t>
            </a:r>
            <a:r>
              <a:rPr lang="en-US" err="1"/>
              <a:t>selbst</a:t>
            </a:r>
            <a:r>
              <a:rPr lang="en-US"/>
              <a:t> </a:t>
            </a:r>
            <a:r>
              <a:rPr lang="en-US" err="1"/>
              <a:t>umgesetzt</a:t>
            </a:r>
            <a:endParaRPr lang="de-DE" err="1"/>
          </a:p>
          <a:p>
            <a:pPr marL="285750" indent="-285750">
              <a:buFont typeface="Arial" panose="020B0604020202020204" pitchFamily="34" charset="0"/>
              <a:buChar char="•"/>
            </a:pPr>
            <a:r>
              <a:rPr lang="en-US" err="1"/>
              <a:t>Erfahrung</a:t>
            </a:r>
            <a:r>
              <a:rPr lang="en-US"/>
              <a:t> </a:t>
            </a:r>
            <a:r>
              <a:rPr lang="en-US" err="1"/>
              <a:t>mit</a:t>
            </a:r>
            <a:r>
              <a:rPr lang="en-US"/>
              <a:t> Projekt-Setup und Tool-Integration </a:t>
            </a:r>
            <a:r>
              <a:rPr lang="en-US" err="1"/>
              <a:t>gesammelt</a:t>
            </a:r>
          </a:p>
        </p:txBody>
      </p:sp>
    </p:spTree>
    <p:extLst>
      <p:ext uri="{BB962C8B-B14F-4D97-AF65-F5344CB8AC3E}">
        <p14:creationId xmlns:p14="http://schemas.microsoft.com/office/powerpoint/2010/main" val="29001599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wdUpDiag">
          <a:fgClr>
            <a:schemeClr val="bg2"/>
          </a:fgClr>
          <a:bgClr>
            <a:schemeClr val="bg1"/>
          </a:bgClr>
        </a:pattFill>
        <a:effectLst/>
      </p:bgPr>
    </p:bg>
    <p:spTree>
      <p:nvGrpSpPr>
        <p:cNvPr id="1" name="">
          <a:extLst>
            <a:ext uri="{FF2B5EF4-FFF2-40B4-BE49-F238E27FC236}">
              <a16:creationId xmlns:a16="http://schemas.microsoft.com/office/drawing/2014/main" id="{B7EC46D7-460E-49A9-EAE5-5AD992EF0B9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D468AB3-6FE2-00AE-9111-AB3801E1EDA8}"/>
              </a:ext>
            </a:extLst>
          </p:cNvPr>
          <p:cNvSpPr/>
          <p:nvPr/>
        </p:nvSpPr>
        <p:spPr>
          <a:xfrm>
            <a:off x="251011" y="1039906"/>
            <a:ext cx="11689977" cy="5334000"/>
          </a:xfrm>
          <a:prstGeom prst="roundRect">
            <a:avLst/>
          </a:prstGeom>
          <a:solidFill>
            <a:schemeClr val="bg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7FC4F3-683F-21ED-FF15-2B8F27FA792F}"/>
              </a:ext>
            </a:extLst>
          </p:cNvPr>
          <p:cNvSpPr txBox="1"/>
          <p:nvPr/>
        </p:nvSpPr>
        <p:spPr>
          <a:xfrm>
            <a:off x="641926" y="1567859"/>
            <a:ext cx="10908145" cy="427809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Character Selection: </a:t>
            </a:r>
            <a:r>
              <a:rPr lang="en-US" sz="1600">
                <a:hlinkClick r:id="rId3"/>
              </a:rPr>
              <a:t>https://interfaceingame.com/screenshots/overwatch-2-character-selection/</a:t>
            </a:r>
            <a:endParaRPr lang="en-US" sz="1600"/>
          </a:p>
          <a:p>
            <a:pPr marL="285750" indent="-285750">
              <a:buFont typeface="Arial" panose="020B0604020202020204" pitchFamily="34" charset="0"/>
              <a:buChar char="•"/>
            </a:pPr>
            <a:r>
              <a:rPr lang="en-US" sz="1600"/>
              <a:t>King’s Row Screencap: </a:t>
            </a:r>
            <a:r>
              <a:rPr lang="en-US" sz="1600">
                <a:hlinkClick r:id="rId4"/>
              </a:rPr>
              <a:t>https://overwatch.fandom.com/wiki/King%27s_Row</a:t>
            </a:r>
            <a:endParaRPr lang="en-US" sz="1600"/>
          </a:p>
          <a:p>
            <a:pPr marL="285750" indent="-285750">
              <a:buFont typeface="Arial" panose="020B0604020202020204" pitchFamily="34" charset="0"/>
              <a:buChar char="•"/>
            </a:pPr>
            <a:r>
              <a:rPr lang="en-US" sz="1600"/>
              <a:t>Mizuki Overview: </a:t>
            </a:r>
            <a:r>
              <a:rPr lang="en-US" sz="1600">
                <a:hlinkClick r:id="rId5"/>
              </a:rPr>
              <a:t>https://overwatch.fandom.com/wiki/Mizuki</a:t>
            </a:r>
            <a:endParaRPr lang="en-US" sz="1600"/>
          </a:p>
          <a:p>
            <a:pPr marL="285750" indent="-285750">
              <a:buFont typeface="Arial" panose="020B0604020202020204" pitchFamily="34" charset="0"/>
              <a:buChar char="•"/>
            </a:pPr>
            <a:r>
              <a:rPr lang="en-US" sz="1600"/>
              <a:t>Title Splash Art: </a:t>
            </a:r>
            <a:r>
              <a:rPr lang="en-US" sz="1600">
                <a:hlinkClick r:id="rId6"/>
              </a:rPr>
              <a:t>https://esports.gg/news/overwatch/overwatch-conquest-event-grants-over-90-loot-boxes/</a:t>
            </a:r>
            <a:endParaRPr lang="en-US" sz="1600"/>
          </a:p>
          <a:p>
            <a:pPr marL="285750" indent="-285750">
              <a:buFont typeface="Arial" panose="020B0604020202020204" pitchFamily="34" charset="0"/>
              <a:buChar char="•"/>
            </a:pPr>
            <a:r>
              <a:rPr lang="en-US" sz="1600"/>
              <a:t>Team Overview: </a:t>
            </a:r>
            <a:r>
              <a:rPr lang="en-US" sz="1600">
                <a:hlinkClick r:id="rId7"/>
              </a:rPr>
              <a:t>https://overwatch.blizzard.com/en-gb/news/23857518/initializing-systems-updating-competitive-play-for-overwatch-2/</a:t>
            </a: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Django Logo: </a:t>
            </a:r>
            <a:r>
              <a:rPr lang="en-US" sz="1600">
                <a:hlinkClick r:id="rId8"/>
              </a:rPr>
              <a:t>https://www.svgrepo.com/svg/353657/django-icon</a:t>
            </a:r>
            <a:endParaRPr lang="en-US" sz="1600"/>
          </a:p>
          <a:p>
            <a:pPr marL="285750" indent="-285750">
              <a:buFont typeface="Arial" panose="020B0604020202020204" pitchFamily="34" charset="0"/>
              <a:buChar char="•"/>
            </a:pPr>
            <a:r>
              <a:rPr lang="en-US" sz="1600"/>
              <a:t>Docker Logo: </a:t>
            </a:r>
            <a:r>
              <a:rPr lang="en-US" sz="1600">
                <a:hlinkClick r:id="rId9"/>
              </a:rPr>
              <a:t>https://techicons.dev/icons/docker</a:t>
            </a:r>
            <a:endParaRPr lang="en-US" sz="1600"/>
          </a:p>
          <a:p>
            <a:pPr marL="285750" indent="-285750">
              <a:buFont typeface="Arial" panose="020B0604020202020204" pitchFamily="34" charset="0"/>
              <a:buChar char="•"/>
            </a:pPr>
            <a:r>
              <a:rPr lang="en-US" sz="1600"/>
              <a:t>Playwright Logo: </a:t>
            </a:r>
            <a:r>
              <a:rPr lang="en-US" sz="1600">
                <a:hlinkClick r:id="rId10"/>
              </a:rPr>
              <a:t>https://techicons.dev/icons/playwright</a:t>
            </a:r>
            <a:endParaRPr lang="en-US" sz="1600"/>
          </a:p>
          <a:p>
            <a:pPr marL="285750" indent="-285750">
              <a:buFont typeface="Arial" panose="020B0604020202020204" pitchFamily="34" charset="0"/>
              <a:buChar char="•"/>
            </a:pPr>
            <a:r>
              <a:rPr lang="en-US" sz="1600"/>
              <a:t>PostgreSQL Logo: </a:t>
            </a:r>
            <a:r>
              <a:rPr lang="en-US" sz="1600">
                <a:hlinkClick r:id="rId11"/>
              </a:rPr>
              <a:t>https://techicons.dev/icons/postgresql</a:t>
            </a:r>
            <a:endParaRPr lang="en-US" sz="1600"/>
          </a:p>
          <a:p>
            <a:pPr marL="285750" indent="-285750">
              <a:buFont typeface="Arial" panose="020B0604020202020204" pitchFamily="34" charset="0"/>
              <a:buChar char="•"/>
            </a:pPr>
            <a:r>
              <a:rPr lang="en-US" sz="1600"/>
              <a:t>Python Logo: </a:t>
            </a:r>
            <a:r>
              <a:rPr lang="en-US" sz="1600">
                <a:hlinkClick r:id="rId12"/>
              </a:rPr>
              <a:t>https://techicons.dev/icons/python</a:t>
            </a:r>
            <a:endParaRPr lang="en-US" sz="1600"/>
          </a:p>
          <a:p>
            <a:pPr marL="285750" indent="-285750">
              <a:buFont typeface="Arial" panose="020B0604020202020204" pitchFamily="34" charset="0"/>
              <a:buChar char="•"/>
            </a:pPr>
            <a:r>
              <a:rPr lang="en-US" sz="1600"/>
              <a:t>React Logo: </a:t>
            </a:r>
            <a:r>
              <a:rPr lang="en-US" sz="1600">
                <a:hlinkClick r:id="rId13"/>
              </a:rPr>
              <a:t>https://techicons.dev/icons/react</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SonarQube Logo: </a:t>
            </a:r>
            <a:r>
              <a:rPr lang="en-US" sz="1600">
                <a:hlinkClick r:id="rId14"/>
              </a:rPr>
              <a:t>https://techicons.dev/icons/sonarqube</a:t>
            </a:r>
            <a:endParaRPr lang="en-US" sz="1600"/>
          </a:p>
          <a:p>
            <a:pPr marL="285750" indent="-285750">
              <a:buFont typeface="Arial" panose="020B0604020202020204" pitchFamily="34" charset="0"/>
              <a:buChar char="•"/>
            </a:pPr>
            <a:r>
              <a:rPr lang="en-US" sz="1600"/>
              <a:t>Typescript Logo: </a:t>
            </a:r>
            <a:r>
              <a:rPr lang="en-US" sz="1600">
                <a:hlinkClick r:id="rId15"/>
              </a:rPr>
              <a:t>https://techicons.dev/icons/typescript</a:t>
            </a:r>
            <a:endParaRPr lang="en-US" sz="1600"/>
          </a:p>
          <a:p>
            <a:pPr marL="285750" indent="-285750">
              <a:buFont typeface="Arial" panose="020B0604020202020204" pitchFamily="34" charset="0"/>
              <a:buChar char="•"/>
            </a:pPr>
            <a:r>
              <a:rPr lang="en-US" sz="1600" err="1"/>
              <a:t>Vitest</a:t>
            </a:r>
            <a:r>
              <a:rPr lang="en-US" sz="1600"/>
              <a:t> Logo: </a:t>
            </a:r>
            <a:r>
              <a:rPr lang="en-US" sz="1600">
                <a:hlinkClick r:id="rId16"/>
              </a:rPr>
              <a:t>https://www.streamlinehq.com/icons/download/vitest--31103</a:t>
            </a:r>
            <a:endParaRPr lang="en-US" sz="1600"/>
          </a:p>
        </p:txBody>
      </p:sp>
      <p:grpSp>
        <p:nvGrpSpPr>
          <p:cNvPr id="5" name="Group 4">
            <a:extLst>
              <a:ext uri="{FF2B5EF4-FFF2-40B4-BE49-F238E27FC236}">
                <a16:creationId xmlns:a16="http://schemas.microsoft.com/office/drawing/2014/main" id="{77435E6E-3E88-5B64-DAFB-26FA35E28D3C}"/>
              </a:ext>
            </a:extLst>
          </p:cNvPr>
          <p:cNvGrpSpPr/>
          <p:nvPr/>
        </p:nvGrpSpPr>
        <p:grpSpPr>
          <a:xfrm>
            <a:off x="270963" y="282263"/>
            <a:ext cx="3003742" cy="510504"/>
            <a:chOff x="100869" y="175489"/>
            <a:chExt cx="2498131" cy="609604"/>
          </a:xfrm>
        </p:grpSpPr>
        <p:sp>
          <p:nvSpPr>
            <p:cNvPr id="6" name="Rectangle: Rounded Corners 5">
              <a:extLst>
                <a:ext uri="{FF2B5EF4-FFF2-40B4-BE49-F238E27FC236}">
                  <a16:creationId xmlns:a16="http://schemas.microsoft.com/office/drawing/2014/main" id="{A1A5710D-A353-AF25-16AD-86C152947429}"/>
                </a:ext>
              </a:extLst>
            </p:cNvPr>
            <p:cNvSpPr/>
            <p:nvPr/>
          </p:nvSpPr>
          <p:spPr>
            <a:xfrm>
              <a:off x="100869" y="175489"/>
              <a:ext cx="2447329" cy="489528"/>
            </a:xfrm>
            <a:prstGeom prst="roundRect">
              <a:avLst>
                <a:gd name="adj" fmla="val 29193"/>
              </a:avLst>
            </a:prstGeom>
            <a:solidFill>
              <a:schemeClr val="accent6">
                <a:lumMod val="7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C59FF7C0-DEA4-C370-907E-552B867AD4FE}"/>
                </a:ext>
              </a:extLst>
            </p:cNvPr>
            <p:cNvSpPr/>
            <p:nvPr/>
          </p:nvSpPr>
          <p:spPr>
            <a:xfrm>
              <a:off x="170143" y="295565"/>
              <a:ext cx="2428857" cy="489528"/>
            </a:xfrm>
            <a:prstGeom prst="roundRect">
              <a:avLst>
                <a:gd name="adj" fmla="val 29193"/>
              </a:avLst>
            </a:prstGeom>
            <a:solidFill>
              <a:srgbClr val="00B0F0"/>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6A545313-CDD3-F46E-94D0-8DF41C1EA488}"/>
                </a:ext>
              </a:extLst>
            </p:cNvPr>
            <p:cNvSpPr/>
            <p:nvPr/>
          </p:nvSpPr>
          <p:spPr>
            <a:xfrm>
              <a:off x="170143" y="233413"/>
              <a:ext cx="2378056" cy="489528"/>
            </a:xfrm>
            <a:prstGeom prst="roundRect">
              <a:avLst>
                <a:gd name="adj" fmla="val 29193"/>
              </a:avLst>
            </a:prstGeom>
            <a:solidFill>
              <a:schemeClr val="bg1">
                <a:lumMod val="85000"/>
                <a:lumOff val="15000"/>
              </a:schemeClr>
            </a:solidFill>
            <a:ln>
              <a:solidFill>
                <a:schemeClr val="bg1">
                  <a:lumMod val="95000"/>
                  <a:lumOff val="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t>Image Sources</a:t>
              </a:r>
            </a:p>
          </p:txBody>
        </p:sp>
      </p:grpSp>
    </p:spTree>
    <p:extLst>
      <p:ext uri="{BB962C8B-B14F-4D97-AF65-F5344CB8AC3E}">
        <p14:creationId xmlns:p14="http://schemas.microsoft.com/office/powerpoint/2010/main" val="418581314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C77BD-68A5-0E5E-F84E-C8503C7486C0}"/>
            </a:ext>
          </a:extLst>
        </p:cNvPr>
        <p:cNvGrpSpPr/>
        <p:nvPr/>
      </p:nvGrpSpPr>
      <p:grpSpPr>
        <a:xfrm>
          <a:off x="0" y="0"/>
          <a:ext cx="0" cy="0"/>
          <a:chOff x="0" y="0"/>
          <a:chExt cx="0" cy="0"/>
        </a:xfrm>
      </p:grpSpPr>
      <p:pic>
        <p:nvPicPr>
          <p:cNvPr id="27" name="Picture 26" descr="Overwatch: Jetzt auf Xbox erhältlich | Xbox">
            <a:extLst>
              <a:ext uri="{FF2B5EF4-FFF2-40B4-BE49-F238E27FC236}">
                <a16:creationId xmlns:a16="http://schemas.microsoft.com/office/drawing/2014/main" id="{87B17662-245E-74E3-0282-7671B25E713D}"/>
              </a:ext>
            </a:extLst>
          </p:cNvPr>
          <p:cNvPicPr>
            <a:picLocks noGrp="1" noRot="1" noChangeAspect="1" noMove="1" noResize="1" noEditPoints="1" noAdjustHandles="1" noChangeArrowheads="1" noChangeShapeType="1" noCrop="1"/>
          </p:cNvPicPr>
          <p:nvPr/>
        </p:nvPicPr>
        <p:blipFill>
          <a:blip r:embed="rId2"/>
          <a:srcRect l="17236" t="21618" r="16308" b="11927"/>
          <a:stretch>
            <a:fillRect/>
          </a:stretch>
        </p:blipFill>
        <p:spPr>
          <a:xfrm>
            <a:off x="0" y="-1"/>
            <a:ext cx="12192000" cy="6858001"/>
          </a:xfrm>
          <a:prstGeom prst="rect">
            <a:avLst/>
          </a:prstGeom>
        </p:spPr>
      </p:pic>
      <p:grpSp>
        <p:nvGrpSpPr>
          <p:cNvPr id="2" name="Group 1">
            <a:extLst>
              <a:ext uri="{FF2B5EF4-FFF2-40B4-BE49-F238E27FC236}">
                <a16:creationId xmlns:a16="http://schemas.microsoft.com/office/drawing/2014/main" id="{EF73669A-01EF-BE1C-46A0-B2D1482D57E4}"/>
              </a:ext>
            </a:extLst>
          </p:cNvPr>
          <p:cNvGrpSpPr/>
          <p:nvPr/>
        </p:nvGrpSpPr>
        <p:grpSpPr>
          <a:xfrm>
            <a:off x="2988613" y="1719626"/>
            <a:ext cx="6214773" cy="3418746"/>
            <a:chOff x="2918404" y="1468312"/>
            <a:chExt cx="6214773" cy="3418746"/>
          </a:xfrm>
        </p:grpSpPr>
        <p:sp>
          <p:nvSpPr>
            <p:cNvPr id="29" name="Rectangle: Rounded Corners 28">
              <a:extLst>
                <a:ext uri="{FF2B5EF4-FFF2-40B4-BE49-F238E27FC236}">
                  <a16:creationId xmlns:a16="http://schemas.microsoft.com/office/drawing/2014/main" id="{63C7C6B6-CDBF-CB6F-D30F-E99C90827BA3}"/>
                </a:ext>
              </a:extLst>
            </p:cNvPr>
            <p:cNvSpPr/>
            <p:nvPr/>
          </p:nvSpPr>
          <p:spPr>
            <a:xfrm>
              <a:off x="2918404" y="1468312"/>
              <a:ext cx="5997718" cy="3201692"/>
            </a:xfrm>
            <a:prstGeom prst="roundRect">
              <a:avLst>
                <a:gd name="adj" fmla="val 6551"/>
              </a:avLst>
            </a:prstGeom>
            <a:solidFill>
              <a:schemeClr val="accent6"/>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FFF901B-51AD-C899-D242-AB64F280D4FB}"/>
                </a:ext>
              </a:extLst>
            </p:cNvPr>
            <p:cNvSpPr/>
            <p:nvPr/>
          </p:nvSpPr>
          <p:spPr>
            <a:xfrm>
              <a:off x="3135459" y="1685366"/>
              <a:ext cx="5997718" cy="3201692"/>
            </a:xfrm>
            <a:prstGeom prst="roundRect">
              <a:avLst>
                <a:gd name="adj" fmla="val 6551"/>
              </a:avLst>
            </a:prstGeom>
            <a:solidFill>
              <a:srgbClr val="00B0F0"/>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7FB68E37-100A-BB09-4634-89213CF3D63B}"/>
                </a:ext>
              </a:extLst>
            </p:cNvPr>
            <p:cNvSpPr/>
            <p:nvPr/>
          </p:nvSpPr>
          <p:spPr>
            <a:xfrm>
              <a:off x="3038475" y="1588382"/>
              <a:ext cx="5997718" cy="3201692"/>
            </a:xfrm>
            <a:prstGeom prst="roundRect">
              <a:avLst>
                <a:gd name="adj" fmla="val 6551"/>
              </a:avLst>
            </a:prstGeom>
            <a:solidFill>
              <a:srgbClr val="212121"/>
            </a:solidFill>
            <a:ln>
              <a:solidFill>
                <a:srgbClr val="21212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6D013E-D973-052B-3D17-04289B0EE3EB}"/>
                </a:ext>
              </a:extLst>
            </p:cNvPr>
            <p:cNvSpPr txBox="1">
              <a:spLocks/>
            </p:cNvSpPr>
            <p:nvPr/>
          </p:nvSpPr>
          <p:spPr>
            <a:xfrm>
              <a:off x="3294353" y="3919303"/>
              <a:ext cx="5603293" cy="5305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Cascadia Code" panose="020B0609020000020004" pitchFamily="49" charset="0"/>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Cascadia Code" panose="020B0609020000020004" pitchFamily="49" charset="0"/>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Cascadia Code" panose="020B0609020000020004" pitchFamily="49" charset="0"/>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Cascadia Code" panose="020B0609020000020004" pitchFamily="49" charset="0"/>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ctr"/>
              <a:r>
                <a:rPr lang="en-US" sz="2400"/>
                <a:t>Thanks for listening!</a:t>
              </a:r>
            </a:p>
          </p:txBody>
        </p:sp>
        <p:grpSp>
          <p:nvGrpSpPr>
            <p:cNvPr id="5" name="Group 4">
              <a:extLst>
                <a:ext uri="{FF2B5EF4-FFF2-40B4-BE49-F238E27FC236}">
                  <a16:creationId xmlns:a16="http://schemas.microsoft.com/office/drawing/2014/main" id="{130B86CE-7E74-6E67-0EBD-B0899EB7F8F3}"/>
                </a:ext>
              </a:extLst>
            </p:cNvPr>
            <p:cNvGrpSpPr/>
            <p:nvPr/>
          </p:nvGrpSpPr>
          <p:grpSpPr>
            <a:xfrm>
              <a:off x="3513099" y="1972682"/>
              <a:ext cx="5165801" cy="1491672"/>
              <a:chOff x="3176869" y="1823697"/>
              <a:chExt cx="5836237" cy="1613316"/>
            </a:xfrm>
          </p:grpSpPr>
          <p:pic>
            <p:nvPicPr>
              <p:cNvPr id="6" name="Picture 5">
                <a:extLst>
                  <a:ext uri="{FF2B5EF4-FFF2-40B4-BE49-F238E27FC236}">
                    <a16:creationId xmlns:a16="http://schemas.microsoft.com/office/drawing/2014/main" id="{6A8FBF06-EF2A-B144-A095-96C288B89B41}"/>
                  </a:ext>
                </a:extLst>
              </p:cNvPr>
              <p:cNvPicPr>
                <a:picLocks noChangeAspect="1"/>
              </p:cNvPicPr>
              <p:nvPr/>
            </p:nvPicPr>
            <p:blipFill>
              <a:blip r:embed="rId3">
                <a:extLst>
                  <a:ext uri="{28A0092B-C50C-407E-A947-70E740481C1C}">
                    <a14:useLocalDpi xmlns:a14="http://schemas.microsoft.com/office/drawing/2010/main" val="0"/>
                  </a:ext>
                </a:extLst>
              </a:blip>
              <a:srcRect r="50000"/>
              <a:stretch>
                <a:fillRect/>
              </a:stretch>
            </p:blipFill>
            <p:spPr>
              <a:xfrm>
                <a:off x="3409812" y="1823697"/>
                <a:ext cx="5603294" cy="806658"/>
              </a:xfrm>
              <a:prstGeom prst="rect">
                <a:avLst/>
              </a:prstGeom>
            </p:spPr>
          </p:pic>
          <p:pic>
            <p:nvPicPr>
              <p:cNvPr id="24" name="Picture 23">
                <a:extLst>
                  <a:ext uri="{FF2B5EF4-FFF2-40B4-BE49-F238E27FC236}">
                    <a16:creationId xmlns:a16="http://schemas.microsoft.com/office/drawing/2014/main" id="{10CC1A77-4234-B41D-B1B1-5911607815A0}"/>
                  </a:ext>
                </a:extLst>
              </p:cNvPr>
              <p:cNvPicPr>
                <a:picLocks noChangeAspect="1"/>
              </p:cNvPicPr>
              <p:nvPr/>
            </p:nvPicPr>
            <p:blipFill>
              <a:blip r:embed="rId3">
                <a:extLst>
                  <a:ext uri="{28A0092B-C50C-407E-A947-70E740481C1C}">
                    <a14:useLocalDpi xmlns:a14="http://schemas.microsoft.com/office/drawing/2010/main" val="0"/>
                  </a:ext>
                </a:extLst>
              </a:blip>
              <a:srcRect l="50000"/>
              <a:stretch>
                <a:fillRect/>
              </a:stretch>
            </p:blipFill>
            <p:spPr>
              <a:xfrm>
                <a:off x="3176869" y="2630355"/>
                <a:ext cx="5603293" cy="806658"/>
              </a:xfrm>
              <a:prstGeom prst="rect">
                <a:avLst/>
              </a:prstGeom>
            </p:spPr>
          </p:pic>
        </p:grpSp>
      </p:grpSp>
    </p:spTree>
    <p:extLst>
      <p:ext uri="{BB962C8B-B14F-4D97-AF65-F5344CB8AC3E}">
        <p14:creationId xmlns:p14="http://schemas.microsoft.com/office/powerpoint/2010/main" val="1100718080"/>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0</TotalTime>
  <Words>1624</Words>
  <Application>Microsoft Office PowerPoint</Application>
  <PresentationFormat>Breitbild</PresentationFormat>
  <Paragraphs>238</Paragraphs>
  <Slides>20</Slides>
  <Notes>19</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20</vt:i4>
      </vt:variant>
    </vt:vector>
  </HeadingPairs>
  <TitlesOfParts>
    <vt:vector size="27" baseType="lpstr">
      <vt:lpstr>Agency FB</vt:lpstr>
      <vt:lpstr>Aptos</vt:lpstr>
      <vt:lpstr>Arial</vt:lpstr>
      <vt:lpstr>Calibri</vt:lpstr>
      <vt:lpstr>Cascadia Code</vt:lpstr>
      <vt:lpstr>Wingdings 2</vt:lpstr>
      <vt:lpstr>Quotable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Ihrenberger</dc:creator>
  <cp:lastModifiedBy>Fabian Reinelt</cp:lastModifiedBy>
  <cp:revision>4</cp:revision>
  <dcterms:created xsi:type="dcterms:W3CDTF">2025-03-21T16:11:25Z</dcterms:created>
  <dcterms:modified xsi:type="dcterms:W3CDTF">2026-06-29T22:33:30Z</dcterms:modified>
</cp:coreProperties>
</file>