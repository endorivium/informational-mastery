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96" r:id="rId3"/>
    <p:sldId id="294" r:id="rId4"/>
    <p:sldId id="261" r:id="rId5"/>
    <p:sldId id="297" r:id="rId6"/>
    <p:sldId id="295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280" autoAdjust="0"/>
  </p:normalViewPr>
  <p:slideViewPr>
    <p:cSldViewPr snapToGrid="0">
      <p:cViewPr varScale="1">
        <p:scale>
          <a:sx n="90" d="100"/>
          <a:sy n="90" d="100"/>
        </p:scale>
        <p:origin x="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7BABE-DFE6-4DB4-AA76-CA6853D56AA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7FE0D-8C76-4AAA-9817-70953D6F4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0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B529-FF0A-8C88-F369-C3DB2AB6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FDC52-CD55-7A9B-8C3E-E78B007D3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BE905-7A52-7038-9703-F405D6C98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Bildsrauschen wie salt and pepper noise (weiß/schwarz pixel) durch übertragungs- oder hardwarefehler</a:t>
            </a:r>
          </a:p>
          <a:p>
            <a:r>
              <a:rPr lang="de-DE"/>
              <a:t>Mehrere herangehensweisen das zu lösen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98B65-53D0-47BE-C35A-5663078C9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28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Eindimensional definiert alle möglichen nachbarschaften</a:t>
            </a:r>
          </a:p>
          <a:p>
            <a:r>
              <a:rPr lang="en-US"/>
              <a:t>willkürlich gewählte regeln ergeben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Populärste darstellung ist john conways game of life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7FE0D-8C76-4AAA-9817-70953D6F4D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87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B999-0590-BF6C-67EA-D1E12B26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7D90C-FDD2-EB85-6A99-AE9A0262D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BF7FF-007C-E463-4B66-903DE1F9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7D59B-4389-BE96-490B-23FB4CD14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2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3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6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0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7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9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3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5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48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77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21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8501C9F1-A044-4B44-84F3-9EEE0D898BB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B449D2A4-2242-41DE-9243-37A18012E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7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atureofcode.com/cellular-automata/#variations-on-traditional-ca" TargetMode="External"/><Relationship Id="rId2" Type="http://schemas.openxmlformats.org/officeDocument/2006/relationships/hyperlink" Target="https://en.wikipedia.org/wiki/Cellular_automat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11042-026-21455-8" TargetMode="External"/><Relationship Id="rId5" Type="http://schemas.openxmlformats.org/officeDocument/2006/relationships/hyperlink" Target="https://medium.com/@zar_373/understanding-image-noise-exploring-different-kinds-of-noises-in-image-processing-dcd26c6c9e5a" TargetMode="External"/><Relationship Id="rId4" Type="http://schemas.openxmlformats.org/officeDocument/2006/relationships/hyperlink" Target="https://doi.org/10.1007/978-3-319-53043-7_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DA8D-040A-0704-F68B-F4156DAFE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10" y="1429711"/>
            <a:ext cx="10572000" cy="2971051"/>
          </a:xfrm>
        </p:spPr>
        <p:txBody>
          <a:bodyPr/>
          <a:lstStyle/>
          <a:p>
            <a:r>
              <a:rPr lang="en-US"/>
              <a:t>Noise Filtering</a:t>
            </a:r>
            <a:br>
              <a:rPr lang="en-US"/>
            </a:br>
            <a:r>
              <a:rPr lang="en-US"/>
              <a:t>basierend auf</a:t>
            </a:r>
            <a:br>
              <a:rPr lang="en-US"/>
            </a:br>
            <a:r>
              <a:rPr lang="en-US"/>
              <a:t>Zelluläre Automaten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873D7-C550-62BE-8D60-C46B512B8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5587647"/>
            <a:ext cx="10572000" cy="665372"/>
          </a:xfrm>
        </p:spPr>
        <p:txBody>
          <a:bodyPr>
            <a:noAutofit/>
          </a:bodyPr>
          <a:lstStyle/>
          <a:p>
            <a:r>
              <a:rPr lang="en-US" sz="1400"/>
              <a:t>Zwischenpräsentation 13.05.26</a:t>
            </a:r>
          </a:p>
          <a:p>
            <a:r>
              <a:rPr lang="en-US" sz="1400"/>
              <a:t>Julia Ihrenberger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9469A-EEBD-FCA3-511A-5D5F3AA47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183" y="242827"/>
            <a:ext cx="4123290" cy="2968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58F079-9BC2-FB6C-C983-5C8A877442C7}"/>
              </a:ext>
            </a:extLst>
          </p:cNvPr>
          <p:cNvSpPr txBox="1"/>
          <p:nvPr/>
        </p:nvSpPr>
        <p:spPr>
          <a:xfrm>
            <a:off x="7763183" y="3274458"/>
            <a:ext cx="41232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Bilderquelle: [1]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2982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4D8C9-61FE-9482-28A1-D50D3F8A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326174-4BDF-B589-5205-888A5373134C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85CA1B-F369-426A-8F71-53449348FCBA}"/>
              </a:ext>
            </a:extLst>
          </p:cNvPr>
          <p:cNvGrpSpPr/>
          <p:nvPr/>
        </p:nvGrpSpPr>
        <p:grpSpPr>
          <a:xfrm>
            <a:off x="7974970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AF8903-40E4-45B0-62E5-121ADCFEE17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D84B5BD-A31E-9C5E-07CD-D015CCB3562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Noise Filtering: Mean Filter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48512DD-29C5-5048-F6EB-4191E61811CD}"/>
              </a:ext>
            </a:extLst>
          </p:cNvPr>
          <p:cNvSpPr txBox="1"/>
          <p:nvPr/>
        </p:nvSpPr>
        <p:spPr>
          <a:xfrm>
            <a:off x="248652" y="6346392"/>
            <a:ext cx="7066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/>
              <a:t>Bilderquelle: https://sandaminimadhushika96.medium.com/mean-filter-in-image-processing-66fe7bb733e4</a:t>
            </a:r>
            <a:endParaRPr lang="en-US" sz="10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38AD9F-F2E5-7475-4576-97ED8043A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1" y="1211813"/>
            <a:ext cx="6315075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649999-24C3-67EA-8752-21CE31461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23" y="1215421"/>
            <a:ext cx="2352675" cy="2352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DF7A34-E3FC-E84C-062C-7B2D8EC86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299" y="1211813"/>
            <a:ext cx="2352675" cy="23526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65DDBF1-7007-2492-B88B-114EB00E439F}"/>
              </a:ext>
            </a:extLst>
          </p:cNvPr>
          <p:cNvSpPr txBox="1"/>
          <p:nvPr/>
        </p:nvSpPr>
        <p:spPr>
          <a:xfrm>
            <a:off x="3216804" y="3806886"/>
            <a:ext cx="5758387" cy="2117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Beispiel Noise Filter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Mean Filter ist ein </a:t>
            </a:r>
            <a:r>
              <a:rPr lang="en-US">
                <a:solidFill>
                  <a:srgbClr val="00B0F0"/>
                </a:solidFill>
              </a:rPr>
              <a:t>simpler linearer Filter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jedes Pixel wird durch </a:t>
            </a:r>
            <a:r>
              <a:rPr lang="en-US">
                <a:solidFill>
                  <a:schemeClr val="accent3"/>
                </a:solidFill>
              </a:rPr>
              <a:t>Durchschnittswert</a:t>
            </a:r>
            <a:r>
              <a:rPr lang="en-US"/>
              <a:t> seiner Nachbarn ersetzt</a:t>
            </a:r>
          </a:p>
          <a:p>
            <a:pPr>
              <a:lnSpc>
                <a:spcPct val="150000"/>
              </a:lnSpc>
            </a:pPr>
            <a:r>
              <a:rPr lang="en-US"/>
              <a:t>&gt; Ziel: </a:t>
            </a:r>
            <a:r>
              <a:rPr lang="en-US">
                <a:solidFill>
                  <a:srgbClr val="92D050"/>
                </a:solidFill>
              </a:rPr>
              <a:t>Reduktion von Bildrauschen</a:t>
            </a:r>
          </a:p>
        </p:txBody>
      </p:sp>
    </p:spTree>
    <p:extLst>
      <p:ext uri="{BB962C8B-B14F-4D97-AF65-F5344CB8AC3E}">
        <p14:creationId xmlns:p14="http://schemas.microsoft.com/office/powerpoint/2010/main" val="2615640556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Zelluläre Automaten (CA)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625AFA-6793-29BD-BAAA-06F356746C5C}"/>
              </a:ext>
            </a:extLst>
          </p:cNvPr>
          <p:cNvSpPr txBox="1"/>
          <p:nvPr/>
        </p:nvSpPr>
        <p:spPr>
          <a:xfrm>
            <a:off x="4642338" y="6216013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Bilderquelle: [1], [2]</a:t>
            </a:r>
            <a:endParaRPr lang="en-US" sz="1000"/>
          </a:p>
        </p:txBody>
      </p:sp>
      <p:pic>
        <p:nvPicPr>
          <p:cNvPr id="1030" name="Picture 6" descr="Figure 7.1: A 2D grid of cells, each with a state of on or off. A neighborhood is a subsection of the large grid, usually consisting of all the cells adjacent to a given cell (circled).">
            <a:extLst>
              <a:ext uri="{FF2B5EF4-FFF2-40B4-BE49-F238E27FC236}">
                <a16:creationId xmlns:a16="http://schemas.microsoft.com/office/drawing/2014/main" id="{A5BB6683-70FB-27A5-6039-DCFDE41CB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4" r="13729"/>
          <a:stretch>
            <a:fillRect/>
          </a:stretch>
        </p:blipFill>
        <p:spPr bwMode="auto">
          <a:xfrm>
            <a:off x="623471" y="780515"/>
            <a:ext cx="4387271" cy="278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gure 7.8: A ruleset shows the outcome for each possible configuration of three cells.">
            <a:extLst>
              <a:ext uri="{FF2B5EF4-FFF2-40B4-BE49-F238E27FC236}">
                <a16:creationId xmlns:a16="http://schemas.microsoft.com/office/drawing/2014/main" id="{63FD285B-7632-3291-6782-52A02E2F5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5" r="11542"/>
          <a:stretch>
            <a:fillRect/>
          </a:stretch>
        </p:blipFill>
        <p:spPr bwMode="auto">
          <a:xfrm>
            <a:off x="5665996" y="1488062"/>
            <a:ext cx="5902533" cy="138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gure 7.6: The state of a cell at generation 1 is a function of the previous generation’s neighborhood.">
            <a:extLst>
              <a:ext uri="{FF2B5EF4-FFF2-40B4-BE49-F238E27FC236}">
                <a16:creationId xmlns:a16="http://schemas.microsoft.com/office/drawing/2014/main" id="{D5E29E9B-A02D-23C7-3288-15DB05BAD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0" r="4520"/>
          <a:stretch>
            <a:fillRect/>
          </a:stretch>
        </p:blipFill>
        <p:spPr bwMode="auto">
          <a:xfrm>
            <a:off x="5665996" y="2963171"/>
            <a:ext cx="5902533" cy="139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AFC12C-4A53-F221-1791-6471D9319E00}"/>
              </a:ext>
            </a:extLst>
          </p:cNvPr>
          <p:cNvSpPr txBox="1"/>
          <p:nvPr/>
        </p:nvSpPr>
        <p:spPr>
          <a:xfrm>
            <a:off x="5665996" y="4884019"/>
            <a:ext cx="577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Regeln</a:t>
            </a:r>
            <a:r>
              <a:rPr lang="en-US"/>
              <a:t> definieren </a:t>
            </a:r>
            <a:r>
              <a:rPr lang="en-US">
                <a:solidFill>
                  <a:srgbClr val="00B0F0"/>
                </a:solidFill>
              </a:rPr>
              <a:t>“Evolution” der Zelle </a:t>
            </a:r>
            <a:r>
              <a:rPr lang="en-US"/>
              <a:t>über Zellenbestand in </a:t>
            </a:r>
            <a:r>
              <a:rPr lang="en-US">
                <a:solidFill>
                  <a:srgbClr val="00B0F0"/>
                </a:solidFill>
              </a:rPr>
              <a:t>Nachbarschaft</a:t>
            </a:r>
          </a:p>
        </p:txBody>
      </p:sp>
      <p:pic>
        <p:nvPicPr>
          <p:cNvPr id="11" name="Picture 2" descr="undefined">
            <a:extLst>
              <a:ext uri="{FF2B5EF4-FFF2-40B4-BE49-F238E27FC236}">
                <a16:creationId xmlns:a16="http://schemas.microsoft.com/office/drawing/2014/main" id="{592BF42F-E022-A55C-3940-3D1FDFB71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961" y="4338870"/>
            <a:ext cx="1944820" cy="194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undefined">
            <a:extLst>
              <a:ext uri="{FF2B5EF4-FFF2-40B4-BE49-F238E27FC236}">
                <a16:creationId xmlns:a16="http://schemas.microsoft.com/office/drawing/2014/main" id="{1AC236B4-58BA-92A4-81B9-7EACA2118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83" y="4338870"/>
            <a:ext cx="1944820" cy="194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EBE46B-E110-4313-B8FB-81666F40FB8E}"/>
              </a:ext>
            </a:extLst>
          </p:cNvPr>
          <p:cNvSpPr txBox="1"/>
          <p:nvPr/>
        </p:nvSpPr>
        <p:spPr>
          <a:xfrm>
            <a:off x="790375" y="4007012"/>
            <a:ext cx="1869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Von Neumann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439DA8-604F-778C-CB11-EA15A946D0CC}"/>
              </a:ext>
            </a:extLst>
          </p:cNvPr>
          <p:cNvSpPr txBox="1"/>
          <p:nvPr/>
        </p:nvSpPr>
        <p:spPr>
          <a:xfrm>
            <a:off x="2964553" y="4007011"/>
            <a:ext cx="1869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Moore</a:t>
            </a:r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AB5B-079C-D07E-01EC-C05D18A8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DBAC-5966-7915-822B-409974A0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F308EE-794D-3375-4BC5-3BFC527F7E08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585AA0-756C-B022-31B2-E2F45A178FBE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E23C2E-4874-53B6-3C83-1499ECA0ECD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B82BD2-5E23-EC17-3347-9F93BA440E6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Zelluläre Automaten (CA)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6E44754-0D0B-C60B-771D-3637357F2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" y="1285517"/>
            <a:ext cx="5377832" cy="3872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A88895-50EA-0491-28BA-CBA50AE9E560}"/>
              </a:ext>
            </a:extLst>
          </p:cNvPr>
          <p:cNvSpPr txBox="1"/>
          <p:nvPr/>
        </p:nvSpPr>
        <p:spPr>
          <a:xfrm>
            <a:off x="7820056" y="6378366"/>
            <a:ext cx="41232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Bilderquelle: [1]</a:t>
            </a:r>
            <a:endParaRPr lang="en-US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13029C-ED70-F725-81A2-CD05B785A250}"/>
              </a:ext>
            </a:extLst>
          </p:cNvPr>
          <p:cNvSpPr txBox="1"/>
          <p:nvPr/>
        </p:nvSpPr>
        <p:spPr>
          <a:xfrm>
            <a:off x="7038864" y="1124199"/>
            <a:ext cx="4062163" cy="419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Simple</a:t>
            </a:r>
            <a:r>
              <a:rPr lang="en-US"/>
              <a:t> Regeln führen zu </a:t>
            </a:r>
            <a:r>
              <a:rPr lang="en-US">
                <a:solidFill>
                  <a:srgbClr val="92D050"/>
                </a:solidFill>
              </a:rPr>
              <a:t>komplexe</a:t>
            </a:r>
            <a:r>
              <a:rPr lang="en-US"/>
              <a:t> Systeme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Emergentes</a:t>
            </a:r>
            <a:r>
              <a:rPr lang="en-US"/>
              <a:t> Verhalten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Möglichkeit zur </a:t>
            </a:r>
            <a:r>
              <a:rPr lang="en-US">
                <a:solidFill>
                  <a:srgbClr val="00B0F0"/>
                </a:solidFill>
              </a:rPr>
              <a:t>Parallelisierung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/>
              <a:t>&gt; hat Potential zu </a:t>
            </a:r>
            <a:r>
              <a:rPr lang="en-US">
                <a:solidFill>
                  <a:schemeClr val="accent6"/>
                </a:solidFill>
              </a:rPr>
              <a:t>simplen aber effektiven Noise Filtering Algorithmen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0D013C-7921-82CC-9448-A62C2664775B}"/>
              </a:ext>
            </a:extLst>
          </p:cNvPr>
          <p:cNvSpPr txBox="1"/>
          <p:nvPr/>
        </p:nvSpPr>
        <p:spPr>
          <a:xfrm>
            <a:off x="818712" y="5230077"/>
            <a:ext cx="5377832" cy="69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John Conway’s Game of Life demonstriert die Erzeugung von “gliders” über ein simples Regelwerk (vier Regeln)</a:t>
            </a:r>
          </a:p>
        </p:txBody>
      </p:sp>
    </p:spTree>
    <p:extLst>
      <p:ext uri="{BB962C8B-B14F-4D97-AF65-F5344CB8AC3E}">
        <p14:creationId xmlns:p14="http://schemas.microsoft.com/office/powerpoint/2010/main" val="147444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8136-EA87-06B0-8960-9761DE331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057" y="2387050"/>
            <a:ext cx="8693886" cy="2083899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Ziel der Arbeit ist die Beleuchtung der Herangehensweise an und der Vergleich von CA-basierten Noise Filtern aus einer Sammlung an Studien, welche zwischen 2001 und 2025 publiziert wurden</a:t>
            </a:r>
          </a:p>
        </p:txBody>
      </p:sp>
    </p:spTree>
    <p:extLst>
      <p:ext uri="{BB962C8B-B14F-4D97-AF65-F5344CB8AC3E}">
        <p14:creationId xmlns:p14="http://schemas.microsoft.com/office/powerpoint/2010/main" val="87469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7964B-803F-DA5F-58C7-4C7F926C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21A149-57C9-9221-E921-6702C42591C8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3873E0-EF02-4FDC-747C-DADD3A0EC3CF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FF6E17-3157-EA6C-6024-386354F46683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FD6DDB-533B-8516-E1A1-B4F55B3FA05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Meilensteine/ Aktuelle Probleme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0D031E4-94DC-819D-5F76-3AE2491C2557}"/>
              </a:ext>
            </a:extLst>
          </p:cNvPr>
          <p:cNvSpPr txBox="1"/>
          <p:nvPr/>
        </p:nvSpPr>
        <p:spPr>
          <a:xfrm>
            <a:off x="1726645" y="3113410"/>
            <a:ext cx="7384108" cy="2948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Recherche</a:t>
            </a:r>
            <a:r>
              <a:rPr lang="en-US"/>
              <a:t> fertig bis </a:t>
            </a:r>
            <a:r>
              <a:rPr lang="en-US">
                <a:solidFill>
                  <a:schemeClr val="accent3"/>
                </a:solidFill>
              </a:rPr>
              <a:t>23.05.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First Draft: </a:t>
            </a:r>
            <a:r>
              <a:rPr lang="en-US">
                <a:solidFill>
                  <a:srgbClr val="00B0F0"/>
                </a:solidFill>
              </a:rPr>
              <a:t>Theoretischer Teil </a:t>
            </a:r>
            <a:r>
              <a:rPr lang="en-US"/>
              <a:t>bis </a:t>
            </a:r>
            <a:r>
              <a:rPr lang="en-US">
                <a:solidFill>
                  <a:srgbClr val="00B0F0"/>
                </a:solidFill>
              </a:rPr>
              <a:t>Anfang Juni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Praktischer Teil </a:t>
            </a:r>
            <a:r>
              <a:rPr lang="en-US"/>
              <a:t>bis </a:t>
            </a:r>
            <a:r>
              <a:rPr lang="en-US">
                <a:solidFill>
                  <a:srgbClr val="92D050"/>
                </a:solidFill>
              </a:rPr>
              <a:t>Mitte/Ende Juni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Vergleich: falls möglich</a:t>
            </a:r>
            <a:endParaRPr lang="en-US">
              <a:solidFill>
                <a:srgbClr val="92D05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sonst: Alternative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/>
                </a:solidFill>
              </a:rPr>
              <a:t>Proofreading</a:t>
            </a:r>
            <a:r>
              <a:rPr lang="en-US"/>
              <a:t> und </a:t>
            </a:r>
            <a:r>
              <a:rPr lang="en-US">
                <a:solidFill>
                  <a:schemeClr val="accent6"/>
                </a:solidFill>
              </a:rPr>
              <a:t>Editing</a:t>
            </a:r>
            <a:r>
              <a:rPr lang="en-US"/>
              <a:t> bis </a:t>
            </a:r>
            <a:r>
              <a:rPr lang="en-US">
                <a:solidFill>
                  <a:schemeClr val="accent6"/>
                </a:solidFill>
              </a:rPr>
              <a:t>Ende Juni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/>
                </a:solidFill>
              </a:rPr>
              <a:t>Deadline 07.07.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CC786-A1CC-9BE1-48C4-CC171884CF74}"/>
              </a:ext>
            </a:extLst>
          </p:cNvPr>
          <p:cNvSpPr txBox="1"/>
          <p:nvPr/>
        </p:nvSpPr>
        <p:spPr>
          <a:xfrm>
            <a:off x="1726645" y="1070996"/>
            <a:ext cx="8513437" cy="17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chemeClr val="accent4"/>
                </a:solidFill>
              </a:rPr>
              <a:t>Problem: </a:t>
            </a:r>
            <a:r>
              <a:rPr lang="en-US"/>
              <a:t>Praktische Implementation und Vergleich wahrscheinlich nicht möglich (Zeitmangel, unzureichende Algorithmusbeschreibungen)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accent4"/>
                </a:solidFill>
              </a:rPr>
              <a:t>Alternative: </a:t>
            </a:r>
            <a:r>
              <a:rPr lang="en-US"/>
              <a:t>(Comparative) Survey of Cellular Automata based Filters und einfache Implementierung</a:t>
            </a:r>
          </a:p>
        </p:txBody>
      </p:sp>
    </p:spTree>
    <p:extLst>
      <p:ext uri="{BB962C8B-B14F-4D97-AF65-F5344CB8AC3E}">
        <p14:creationId xmlns:p14="http://schemas.microsoft.com/office/powerpoint/2010/main" val="3559856291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8E9371-7E2F-FAD9-94A5-3E4AB2D573C6}"/>
              </a:ext>
            </a:extLst>
          </p:cNvPr>
          <p:cNvSpPr/>
          <p:nvPr/>
        </p:nvSpPr>
        <p:spPr>
          <a:xfrm>
            <a:off x="248652" y="326575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B923-4DCB-CC32-DEC5-16CA3D187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827" y="1025575"/>
            <a:ext cx="10828343" cy="4993173"/>
          </a:xfrm>
        </p:spPr>
        <p:txBody>
          <a:bodyPr>
            <a:noAutofit/>
          </a:bodyPr>
          <a:lstStyle/>
          <a:p>
            <a:r>
              <a:rPr lang="en-US" sz="1400"/>
              <a:t>Grundlegendes Konzept von Zellulären Automaten:</a:t>
            </a:r>
          </a:p>
          <a:p>
            <a:pPr lvl="1"/>
            <a:r>
              <a:rPr lang="en-US" sz="1200"/>
              <a:t>[1] Wikipedia für grundlegenden Überblick (</a:t>
            </a:r>
            <a:r>
              <a:rPr lang="en-US" sz="1200">
                <a:hlinkClick r:id="rId2"/>
              </a:rPr>
              <a:t>https://en.wikipedia.org/wiki/Cellular_automaton</a:t>
            </a:r>
            <a:r>
              <a:rPr lang="en-US" sz="1200"/>
              <a:t>)</a:t>
            </a:r>
          </a:p>
          <a:p>
            <a:pPr lvl="1"/>
            <a:r>
              <a:rPr lang="en-US" sz="1200"/>
              <a:t>[2] The Nature of Code by Daniel Shiffman (</a:t>
            </a:r>
            <a:r>
              <a:rPr lang="en-US" sz="1200">
                <a:hlinkClick r:id="rId3"/>
              </a:rPr>
              <a:t>https://natureofcode.com/cellular-automata/#variations-on-traditional-ca</a:t>
            </a:r>
            <a:r>
              <a:rPr lang="en-US" sz="1200"/>
              <a:t>)</a:t>
            </a:r>
          </a:p>
          <a:p>
            <a:pPr lvl="1"/>
            <a:r>
              <a:rPr lang="en-US" sz="1200"/>
              <a:t>[3] Hadeler, KP., Müller, J. (2017). Cellular Automata: Basic Definitions. In: Cellular Automata: Analysis and Applications. Springer Monographs in Mathematics. Springer, Cham. </a:t>
            </a:r>
            <a:r>
              <a:rPr lang="en-US" sz="1200">
                <a:hlinkClick r:id="rId4"/>
              </a:rPr>
              <a:t>https://doi.org/10.1007/978-3-319-53043-7_2</a:t>
            </a:r>
            <a:endParaRPr lang="en-US" sz="1200"/>
          </a:p>
          <a:p>
            <a:r>
              <a:rPr lang="en-US" sz="1400"/>
              <a:t>Noise und Noise Filtering:</a:t>
            </a:r>
          </a:p>
          <a:p>
            <a:pPr lvl="1"/>
            <a:r>
              <a:rPr lang="en-US" sz="1200"/>
              <a:t>[4] Understanding Image Noise by Zargul Ansari (</a:t>
            </a:r>
            <a:r>
              <a:rPr lang="en-US" sz="1200">
                <a:hlinkClick r:id="rId5"/>
              </a:rPr>
              <a:t>https://medium.com/@zar_373/understanding-image-noise-exploring-different-kinds-of-noises-in-image-processing-dcd26c6c9e5a</a:t>
            </a:r>
            <a:r>
              <a:rPr lang="en-US" sz="1200"/>
              <a:t>)</a:t>
            </a:r>
          </a:p>
          <a:p>
            <a:pPr lvl="1"/>
            <a:r>
              <a:rPr lang="en-US" sz="1200"/>
              <a:t>[5] K. Ahmad, J. Khan and M. S. U. D. Iqbal, "A comparative study of Different Denoising Techniques in Digital Image Processing," </a:t>
            </a:r>
            <a:r>
              <a:rPr lang="en-US" sz="1200" i="1"/>
              <a:t>2019 8th International Conference on Modeling Simulation and Applied Optimization (ICMSAO)</a:t>
            </a:r>
            <a:r>
              <a:rPr lang="en-US" sz="1200"/>
              <a:t>, Manama, Bahrain, 2019, pp. 1-6, doi: 10.1109/ICMSAO.2019.8880389.</a:t>
            </a:r>
            <a:br>
              <a:rPr lang="en-US" sz="1200"/>
            </a:br>
            <a:endParaRPr lang="en-US" sz="1200"/>
          </a:p>
          <a:p>
            <a:r>
              <a:rPr lang="en-US" sz="1600"/>
              <a:t>Noise Filtering durch Nutzung von Zelluläre Automaten</a:t>
            </a:r>
          </a:p>
          <a:p>
            <a:pPr lvl="1"/>
            <a:r>
              <a:rPr lang="en-US" sz="1200"/>
              <a:t>[6] G.-T. Kong and U.-S. Choi, “A cellular automata-based method for salt-and-pepper noise removal in images,” Multimedia Tools and Applications, vol. 85, no. 3, Mar. 2026, doi: </a:t>
            </a:r>
            <a:r>
              <a:rPr lang="en-US" sz="1200">
                <a:hlinkClick r:id="rId6"/>
              </a:rPr>
              <a:t>https://doi.org/10.1007/s11042-026-21455-8</a:t>
            </a:r>
            <a:r>
              <a:rPr lang="en-US" sz="1200"/>
              <a:t>.</a:t>
            </a:r>
          </a:p>
          <a:p>
            <a:pPr lvl="1"/>
            <a:endParaRPr lang="en-US" sz="1200"/>
          </a:p>
          <a:p>
            <a:r>
              <a:rPr lang="en-US" sz="1400"/>
              <a:t>Ungefähr 11 Werke zu CA-based Noise Filtering gefunden und gelesen, 5 weitere gefunden</a:t>
            </a:r>
          </a:p>
          <a:p>
            <a:r>
              <a:rPr lang="en-US" sz="1400"/>
              <a:t>Neustes Werk von 2025 (2026)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9247D1-7E99-6136-1CF8-301591C44C0C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7AB856-8826-2FFE-D329-1D153A600297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51FD5C-1D22-E827-E3FB-5A15CC745780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Einstiegsliteratur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1050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TechSlides</Template>
  <TotalTime>256</TotalTime>
  <Words>547</Words>
  <Application>Microsoft Office PowerPoint</Application>
  <PresentationFormat>Widescreen</PresentationFormat>
  <Paragraphs>58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Cascadia Code</vt:lpstr>
      <vt:lpstr>Wingdings 2</vt:lpstr>
      <vt:lpstr>TechSlides</vt:lpstr>
      <vt:lpstr>Noise Filtering basierend auf Zelluläre Automaten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I.</dc:creator>
  <cp:lastModifiedBy>Julia I.</cp:lastModifiedBy>
  <cp:revision>234</cp:revision>
  <dcterms:created xsi:type="dcterms:W3CDTF">2026-05-11T19:05:16Z</dcterms:created>
  <dcterms:modified xsi:type="dcterms:W3CDTF">2026-05-13T08:30:34Z</dcterms:modified>
</cp:coreProperties>
</file>