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11"/>
  </p:notesMasterIdLst>
  <p:sldIdLst>
    <p:sldId id="306" r:id="rId2"/>
    <p:sldId id="302" r:id="rId3"/>
    <p:sldId id="315" r:id="rId4"/>
    <p:sldId id="316" r:id="rId5"/>
    <p:sldId id="317" r:id="rId6"/>
    <p:sldId id="318" r:id="rId7"/>
    <p:sldId id="314" r:id="rId8"/>
    <p:sldId id="319" r:id="rId9"/>
    <p:sldId id="30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A5BF"/>
    <a:srgbClr val="8664B0"/>
    <a:srgbClr val="46B1E6"/>
    <a:srgbClr val="000000"/>
    <a:srgbClr val="212121"/>
    <a:srgbClr val="24DC84"/>
    <a:srgbClr val="007FDE"/>
    <a:srgbClr val="0086EA"/>
    <a:srgbClr val="D25AB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2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43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49CF-A02E-E20F-BEAF-04353732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D3469-3D17-1F6D-C55A-77C102958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AC5A5-630D-9F50-CE41-EF2A25A6E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8DEC-B1A5-1D73-B55B-BE02DC388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7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2594-422A-5312-D9A7-5B12431A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4FC12-680B-E71F-89B2-FB8FA952E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349AB-A1C2-6C9E-A4C2-0F8C22859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8BE2-C077-A1CC-6938-08658E613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2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B163-DC2F-A9F5-ECEF-A3A1FB914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25937-3AD9-3495-4A5D-00309C521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56F4A-A69A-5389-5F3F-620E79F6C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AD21A-3845-FEBD-095A-8F695EB3A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95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5EFC4-8C92-235A-7047-4964C1508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7857F-D102-C3DC-04E3-96F8AB8A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54F444-663C-DE5F-AB17-B638E5ED2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9D21D-C670-374D-1A57-8FE9A112A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92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EA9B-34BC-85C1-294B-C5403D29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CAE33-499F-57C1-0B7C-2E2CC643C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3A90-542E-1E64-7752-D2315FD96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0B9DA-CE20-689E-A932-A260C0E7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8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7F73-44EA-26C7-0EC5-D4611F9D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5E3F4-7362-F0AA-DBA3-21B930030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7B395-472A-54C4-1DC3-65EB3623A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10256-73BA-C20A-232F-C9E6DB8AE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13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FE40-5DF8-623F-549B-A6448C7F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12638-C4FD-2F4E-A65F-ACEE491F2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A3DEA-BB45-54FE-8984-7BCCCD26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0D63-C52E-1341-F732-4D6092C1C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97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7B15-6CC9-5292-3284-16076A49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781E1-317B-6E8F-9F7E-86001F2F7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FEE55-0CD0-B0E9-DF24-78656F9A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3117-2282-E4A7-8C8E-9A75B3FDF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5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68B6-EE62-C3DF-7314-2A5704D7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EA1E87-4E64-2CC8-7890-FEE5180BF5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5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6A6D2-B2BA-4A66-D35C-27B359B0CBA7}"/>
              </a:ext>
            </a:extLst>
          </p:cNvPr>
          <p:cNvSpPr>
            <a:spLocks/>
          </p:cNvSpPr>
          <p:nvPr/>
        </p:nvSpPr>
        <p:spPr>
          <a:xfrm>
            <a:off x="248652" y="233412"/>
            <a:ext cx="11694695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61811-C283-F6CC-A91D-DC791575DE70}"/>
              </a:ext>
            </a:extLst>
          </p:cNvPr>
          <p:cNvGrpSpPr/>
          <p:nvPr/>
        </p:nvGrpSpPr>
        <p:grpSpPr>
          <a:xfrm>
            <a:off x="248651" y="233412"/>
            <a:ext cx="11694695" cy="661937"/>
            <a:chOff x="248651" y="233412"/>
            <a:chExt cx="11694695" cy="6619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653909-56EC-7190-1871-427870C43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51" y="233412"/>
              <a:ext cx="11694695" cy="66193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9747C2-AA67-61ED-F486-351D83CAAC4C}"/>
                </a:ext>
              </a:extLst>
            </p:cNvPr>
            <p:cNvSpPr/>
            <p:nvPr/>
          </p:nvSpPr>
          <p:spPr>
            <a:xfrm>
              <a:off x="881207" y="283392"/>
              <a:ext cx="2100118" cy="561975"/>
            </a:xfrm>
            <a:prstGeom prst="rect">
              <a:avLst/>
            </a:prstGeom>
            <a:solidFill>
              <a:srgbClr val="161717"/>
            </a:solidFill>
            <a:ln>
              <a:solidFill>
                <a:srgbClr val="161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175495-9298-0535-B3F0-05A61F509538}"/>
                </a:ext>
              </a:extLst>
            </p:cNvPr>
            <p:cNvSpPr txBox="1"/>
            <p:nvPr/>
          </p:nvSpPr>
          <p:spPr>
            <a:xfrm>
              <a:off x="881206" y="379713"/>
              <a:ext cx="117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Beck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00AB2E-27CD-3810-ECAB-7DFE2F8F2ADF}"/>
              </a:ext>
            </a:extLst>
          </p:cNvPr>
          <p:cNvGrpSpPr/>
          <p:nvPr/>
        </p:nvGrpSpPr>
        <p:grpSpPr>
          <a:xfrm flipH="1">
            <a:off x="6857999" y="1055076"/>
            <a:ext cx="4681397" cy="565723"/>
            <a:chOff x="881206" y="4365557"/>
            <a:chExt cx="3981938" cy="565723"/>
          </a:xfrm>
          <a:solidFill>
            <a:srgbClr val="B2A5BF"/>
          </a:solidFill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65207A01-4DA7-571C-115B-ADA507AE371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5557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DF2BDB7-DC98-23CC-4C28-635728A1E0DA}"/>
                </a:ext>
              </a:extLst>
            </p:cNvPr>
            <p:cNvSpPr>
              <a:spLocks/>
            </p:cNvSpPr>
            <p:nvPr/>
          </p:nvSpPr>
          <p:spPr>
            <a:xfrm>
              <a:off x="1164785" y="4371746"/>
              <a:ext cx="3698359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Ist euch sowas schonmal passiert?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75211C-170A-5070-78FC-027CD2C78746}"/>
              </a:ext>
            </a:extLst>
          </p:cNvPr>
          <p:cNvGrpSpPr/>
          <p:nvPr/>
        </p:nvGrpSpPr>
        <p:grpSpPr>
          <a:xfrm>
            <a:off x="584026" y="1730441"/>
            <a:ext cx="4372022" cy="841685"/>
            <a:chOff x="888826" y="4371483"/>
            <a:chExt cx="3495408" cy="841685"/>
          </a:xfrm>
          <a:solidFill>
            <a:srgbClr val="46B1E6"/>
          </a:solidFill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5DB7D4B4-AB00-18E5-6C27-AC152BA3A19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82FE9B-E954-F064-B8CE-8A106D1FB8B7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3219450" cy="841422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hast du lust mit mir zu diesem einen </a:t>
              </a:r>
            </a:p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event hinzugehen?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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4679DD1-7BB1-F140-5F91-6AF16E78F35F}"/>
              </a:ext>
            </a:extLst>
          </p:cNvPr>
          <p:cNvSpPr txBox="1"/>
          <p:nvPr/>
        </p:nvSpPr>
        <p:spPr>
          <a:xfrm>
            <a:off x="1282700" y="5986647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  <a:lumOff val="35000"/>
                  </a:schemeClr>
                </a:solidFill>
              </a:rPr>
              <a:t>Typing...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C78076-C37F-EFAD-6A7F-73677E2BEAD9}"/>
              </a:ext>
            </a:extLst>
          </p:cNvPr>
          <p:cNvSpPr/>
          <p:nvPr/>
        </p:nvSpPr>
        <p:spPr>
          <a:xfrm>
            <a:off x="248651" y="233412"/>
            <a:ext cx="11694695" cy="6760274"/>
          </a:xfrm>
          <a:prstGeom prst="rect">
            <a:avLst/>
          </a:prstGeom>
          <a:noFill/>
          <a:ln w="57150">
            <a:solidFill>
              <a:srgbClr val="16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79B1A5-2F40-A9DF-903A-D637232B1BD6}"/>
              </a:ext>
            </a:extLst>
          </p:cNvPr>
          <p:cNvGrpSpPr/>
          <p:nvPr/>
        </p:nvGrpSpPr>
        <p:grpSpPr>
          <a:xfrm flipH="1">
            <a:off x="10268711" y="2687391"/>
            <a:ext cx="1270685" cy="559534"/>
            <a:chOff x="881206" y="4371746"/>
            <a:chExt cx="1080829" cy="559534"/>
          </a:xfrm>
          <a:solidFill>
            <a:srgbClr val="8664B0"/>
          </a:solidFill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78DEC73-6B6A-0220-AEDA-627833B3BEC7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747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B4ABAE-EEE9-3E5A-125F-860A8179150E}"/>
                </a:ext>
              </a:extLst>
            </p:cNvPr>
            <p:cNvSpPr>
              <a:spLocks/>
            </p:cNvSpPr>
            <p:nvPr/>
          </p:nvSpPr>
          <p:spPr>
            <a:xfrm>
              <a:off x="1164787" y="4371746"/>
              <a:ext cx="797248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A06688-D31B-138C-FB2D-301B7BC9A8A3}"/>
              </a:ext>
            </a:extLst>
          </p:cNvPr>
          <p:cNvGrpSpPr/>
          <p:nvPr/>
        </p:nvGrpSpPr>
        <p:grpSpPr>
          <a:xfrm>
            <a:off x="584026" y="3499632"/>
            <a:ext cx="2780966" cy="507913"/>
            <a:chOff x="888826" y="4371483"/>
            <a:chExt cx="2223367" cy="507913"/>
          </a:xfrm>
          <a:solidFill>
            <a:srgbClr val="46B1E6"/>
          </a:solidFill>
        </p:grpSpPr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5A5F9A06-F3AA-8C50-6B8C-726143C17AB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788C1D-86F1-9302-8C9A-8E7C9DECE0DC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1947409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okay, dann halt nicht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FD0F4-FF18-5BB0-0F66-B79BBFD36338}"/>
              </a:ext>
            </a:extLst>
          </p:cNvPr>
          <p:cNvGrpSpPr/>
          <p:nvPr/>
        </p:nvGrpSpPr>
        <p:grpSpPr>
          <a:xfrm flipH="1">
            <a:off x="7973567" y="4734646"/>
            <a:ext cx="3565829" cy="559534"/>
            <a:chOff x="881206" y="4371746"/>
            <a:chExt cx="3033050" cy="559534"/>
          </a:xfrm>
          <a:solidFill>
            <a:srgbClr val="8664B0"/>
          </a:solidFill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5C5858C9-8728-AB3A-0A75-C552DCC928F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747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6390824-5C38-21C4-B696-25A33148B1A2}"/>
                </a:ext>
              </a:extLst>
            </p:cNvPr>
            <p:cNvSpPr>
              <a:spLocks/>
            </p:cNvSpPr>
            <p:nvPr/>
          </p:nvSpPr>
          <p:spPr>
            <a:xfrm>
              <a:off x="1164787" y="4371746"/>
              <a:ext cx="2749469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ich hab doch okay gesagt?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165E27-DB3B-F713-A5FC-DEB317FAEBD1}"/>
              </a:ext>
            </a:extLst>
          </p:cNvPr>
          <p:cNvGrpSpPr/>
          <p:nvPr/>
        </p:nvGrpSpPr>
        <p:grpSpPr>
          <a:xfrm>
            <a:off x="584026" y="5182740"/>
            <a:ext cx="2111549" cy="472187"/>
            <a:chOff x="888826" y="4371483"/>
            <a:chExt cx="1688172" cy="472187"/>
          </a:xfrm>
          <a:solidFill>
            <a:srgbClr val="46B1E6"/>
          </a:solidFill>
        </p:grpSpPr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871660AE-96A7-32D1-4F34-F0B7F57435C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EB21C19-05CF-3232-A5DD-8D57D8CDF940}"/>
                </a:ext>
              </a:extLst>
            </p:cNvPr>
            <p:cNvSpPr>
              <a:spLocks/>
            </p:cNvSpPr>
            <p:nvPr/>
          </p:nvSpPr>
          <p:spPr>
            <a:xfrm>
              <a:off x="1164785" y="4371746"/>
              <a:ext cx="1412213" cy="471924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schon okay...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574A5-25C1-E677-0E70-9CB076A3D5B6}"/>
              </a:ext>
            </a:extLst>
          </p:cNvPr>
          <p:cNvGrpSpPr/>
          <p:nvPr/>
        </p:nvGrpSpPr>
        <p:grpSpPr>
          <a:xfrm>
            <a:off x="584026" y="4152205"/>
            <a:ext cx="3466766" cy="507913"/>
            <a:chOff x="888826" y="4371483"/>
            <a:chExt cx="2771660" cy="507913"/>
          </a:xfrm>
          <a:solidFill>
            <a:srgbClr val="46B1E6"/>
          </a:solidFill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0368A78C-20B9-E4BC-E2FA-E5D8BB7F707D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43BA147-EC3A-5DE5-A8E8-DD5BC53CA810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2495702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musst dich nich zwingen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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6DB6976-B4F2-A3F5-85D9-E126C9E61833}"/>
              </a:ext>
            </a:extLst>
          </p:cNvPr>
          <p:cNvSpPr>
            <a:spLocks/>
          </p:cNvSpPr>
          <p:nvPr/>
        </p:nvSpPr>
        <p:spPr>
          <a:xfrm>
            <a:off x="310143" y="5884170"/>
            <a:ext cx="11591844" cy="8367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22C0A-FA0E-3022-98C4-549587CA9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43" y="5782804"/>
            <a:ext cx="11571707" cy="80241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346815C-0ADB-9A4E-83D7-06D58629BCA3}"/>
              </a:ext>
            </a:extLst>
          </p:cNvPr>
          <p:cNvSpPr/>
          <p:nvPr/>
        </p:nvSpPr>
        <p:spPr>
          <a:xfrm>
            <a:off x="-3" y="6720908"/>
            <a:ext cx="12192000" cy="506423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EABE-9886-8F3B-E78B-12D70C6C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D67648-AAB8-F5C3-0673-F496AB121B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43F342-020D-ACAF-112D-FDE78057B101}"/>
              </a:ext>
            </a:extLst>
          </p:cNvPr>
          <p:cNvGrpSpPr/>
          <p:nvPr/>
        </p:nvGrpSpPr>
        <p:grpSpPr>
          <a:xfrm flipH="1">
            <a:off x="10206393" y="434901"/>
            <a:ext cx="1387649" cy="601903"/>
            <a:chOff x="850726" y="852150"/>
            <a:chExt cx="1387649" cy="601903"/>
          </a:xfrm>
          <a:solidFill>
            <a:srgbClr val="8664B0"/>
          </a:solidFill>
        </p:grpSpPr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0A27AA9A-BC53-C98C-5C94-3922D249B84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852150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49EED43-519F-A2F1-CEAF-D6E90F35DD3F}"/>
                </a:ext>
              </a:extLst>
            </p:cNvPr>
            <p:cNvSpPr>
              <a:spLocks/>
            </p:cNvSpPr>
            <p:nvPr/>
          </p:nvSpPr>
          <p:spPr>
            <a:xfrm>
              <a:off x="1126684" y="852413"/>
              <a:ext cx="1111691" cy="60164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 hey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6472DF-87E2-DE1B-40AD-BFD4BBA3D218}"/>
              </a:ext>
            </a:extLst>
          </p:cNvPr>
          <p:cNvGrpSpPr/>
          <p:nvPr/>
        </p:nvGrpSpPr>
        <p:grpSpPr>
          <a:xfrm flipH="1">
            <a:off x="9615843" y="1267211"/>
            <a:ext cx="1978199" cy="674254"/>
            <a:chOff x="850726" y="2014627"/>
            <a:chExt cx="1978199" cy="674254"/>
          </a:xfrm>
          <a:solidFill>
            <a:srgbClr val="8664B0"/>
          </a:solidFill>
        </p:grpSpPr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80F060C1-AEB0-2165-92C3-782F992B02A9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2014627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84445EE-DD6A-3378-3039-E609DC5DF368}"/>
                </a:ext>
              </a:extLst>
            </p:cNvPr>
            <p:cNvSpPr>
              <a:spLocks/>
            </p:cNvSpPr>
            <p:nvPr/>
          </p:nvSpPr>
          <p:spPr>
            <a:xfrm>
              <a:off x="1126684" y="2014627"/>
              <a:ext cx="1702241" cy="67425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wie geht’s?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01658E-42BB-9074-7C35-14C43F26F024}"/>
              </a:ext>
            </a:extLst>
          </p:cNvPr>
          <p:cNvGrpSpPr/>
          <p:nvPr/>
        </p:nvGrpSpPr>
        <p:grpSpPr>
          <a:xfrm flipH="1">
            <a:off x="7720368" y="2176927"/>
            <a:ext cx="3873674" cy="841685"/>
            <a:chOff x="850726" y="3118672"/>
            <a:chExt cx="3873674" cy="841685"/>
          </a:xfrm>
          <a:solidFill>
            <a:srgbClr val="8664B0"/>
          </a:solidFill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81655491-8E15-337D-8FE4-D83BD739EBEA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3118672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8764DEF-3359-95DB-EFFE-CAE873FC9EA3}"/>
                </a:ext>
              </a:extLst>
            </p:cNvPr>
            <p:cNvSpPr>
              <a:spLocks/>
            </p:cNvSpPr>
            <p:nvPr/>
          </p:nvSpPr>
          <p:spPr>
            <a:xfrm>
              <a:off x="1126684" y="3118935"/>
              <a:ext cx="3597716" cy="84142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hast du die woche lust was </a:t>
              </a:r>
            </a:p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zu machen?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2048F6-48D5-F359-7219-29E3529D353D}"/>
              </a:ext>
            </a:extLst>
          </p:cNvPr>
          <p:cNvGrpSpPr/>
          <p:nvPr/>
        </p:nvGrpSpPr>
        <p:grpSpPr>
          <a:xfrm flipH="1">
            <a:off x="8634768" y="3254337"/>
            <a:ext cx="2959274" cy="642932"/>
            <a:chOff x="574501" y="3844401"/>
            <a:chExt cx="2959274" cy="642932"/>
          </a:xfrm>
          <a:solidFill>
            <a:srgbClr val="8664B0"/>
          </a:solidFill>
        </p:grpSpPr>
        <p:sp>
          <p:nvSpPr>
            <p:cNvPr id="43" name="Right Triangle 42">
              <a:extLst>
                <a:ext uri="{FF2B5EF4-FFF2-40B4-BE49-F238E27FC236}">
                  <a16:creationId xmlns:a16="http://schemas.microsoft.com/office/drawing/2014/main" id="{B5378F05-946A-9861-F398-076826B8ADC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74501" y="38444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BC1D011-01D6-323F-384A-EE29EAE4262F}"/>
                </a:ext>
              </a:extLst>
            </p:cNvPr>
            <p:cNvSpPr>
              <a:spLocks/>
            </p:cNvSpPr>
            <p:nvPr/>
          </p:nvSpPr>
          <p:spPr>
            <a:xfrm>
              <a:off x="850459" y="3844401"/>
              <a:ext cx="2683316" cy="6429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vielleicht dienstag?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E305D-4A64-0F9D-DD82-E2AB5D4DCCAA}"/>
              </a:ext>
            </a:extLst>
          </p:cNvPr>
          <p:cNvGrpSpPr/>
          <p:nvPr/>
        </p:nvGrpSpPr>
        <p:grpSpPr>
          <a:xfrm>
            <a:off x="752302" y="4500173"/>
            <a:ext cx="6520565" cy="1156962"/>
            <a:chOff x="5806990" y="2923421"/>
            <a:chExt cx="6520565" cy="1156962"/>
          </a:xfrm>
          <a:solidFill>
            <a:srgbClr val="46B1E6"/>
          </a:solidFill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83F01BC9-C2B8-85C9-3D5C-2B4BE6577676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31625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2443607-160A-25B9-2734-24193DBF17D8}"/>
                </a:ext>
              </a:extLst>
            </p:cNvPr>
            <p:cNvSpPr>
              <a:spLocks/>
            </p:cNvSpPr>
            <p:nvPr/>
          </p:nvSpPr>
          <p:spPr>
            <a:xfrm>
              <a:off x="6082947" y="2923421"/>
              <a:ext cx="6244608" cy="115696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600" b="1">
                  <a:latin typeface="Roboto" panose="02000000000000000000" pitchFamily="2" charset="0"/>
                  <a:ea typeface="Roboto" panose="02000000000000000000" pitchFamily="2" charset="0"/>
                </a:rPr>
                <a:t>  “Communication” Style!?!!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9A2F2A3-F432-B2DD-BAF0-202CDB13B8AA}"/>
              </a:ext>
            </a:extLst>
          </p:cNvPr>
          <p:cNvSpPr txBox="1"/>
          <p:nvPr/>
        </p:nvSpPr>
        <p:spPr>
          <a:xfrm>
            <a:off x="4540228" y="6588289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Abgeändertes Beispiel von McCulloch (2019, Chapter 4)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9026658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C8D4-2815-E10E-D372-A9A841EA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9290B8-C828-B385-7243-E5E50A6FCA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A78922-BF82-F3CB-D6A7-10BABF652B22}"/>
              </a:ext>
            </a:extLst>
          </p:cNvPr>
          <p:cNvGrpSpPr/>
          <p:nvPr/>
        </p:nvGrpSpPr>
        <p:grpSpPr>
          <a:xfrm flipH="1">
            <a:off x="10206393" y="434901"/>
            <a:ext cx="1387649" cy="601903"/>
            <a:chOff x="850726" y="852150"/>
            <a:chExt cx="1387649" cy="601903"/>
          </a:xfrm>
          <a:solidFill>
            <a:srgbClr val="8664B0"/>
          </a:solidFill>
        </p:grpSpPr>
        <p:sp>
          <p:nvSpPr>
            <p:cNvPr id="67" name="Right Triangle 66">
              <a:extLst>
                <a:ext uri="{FF2B5EF4-FFF2-40B4-BE49-F238E27FC236}">
                  <a16:creationId xmlns:a16="http://schemas.microsoft.com/office/drawing/2014/main" id="{20E468E5-A4C6-42F9-3C73-A5C018E3A09D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852150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88E102E-C940-6248-18B9-AD22AB89CAED}"/>
                </a:ext>
              </a:extLst>
            </p:cNvPr>
            <p:cNvSpPr>
              <a:spLocks/>
            </p:cNvSpPr>
            <p:nvPr/>
          </p:nvSpPr>
          <p:spPr>
            <a:xfrm>
              <a:off x="1126684" y="852413"/>
              <a:ext cx="1111691" cy="60164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 hey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4914BCE-1392-3AD8-2657-70AE1558DBDB}"/>
              </a:ext>
            </a:extLst>
          </p:cNvPr>
          <p:cNvGrpSpPr/>
          <p:nvPr/>
        </p:nvGrpSpPr>
        <p:grpSpPr>
          <a:xfrm flipH="1">
            <a:off x="9615843" y="1267211"/>
            <a:ext cx="1978199" cy="674254"/>
            <a:chOff x="850726" y="2014627"/>
            <a:chExt cx="1978199" cy="674254"/>
          </a:xfrm>
          <a:solidFill>
            <a:srgbClr val="8664B0"/>
          </a:solidFill>
        </p:grpSpPr>
        <p:sp>
          <p:nvSpPr>
            <p:cNvPr id="70" name="Right Triangle 69">
              <a:extLst>
                <a:ext uri="{FF2B5EF4-FFF2-40B4-BE49-F238E27FC236}">
                  <a16:creationId xmlns:a16="http://schemas.microsoft.com/office/drawing/2014/main" id="{5FF283CD-4BAF-4263-BD47-997AED34EC8F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2014627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E819C42-C9E1-BB83-2D1E-3F687147928D}"/>
                </a:ext>
              </a:extLst>
            </p:cNvPr>
            <p:cNvSpPr>
              <a:spLocks/>
            </p:cNvSpPr>
            <p:nvPr/>
          </p:nvSpPr>
          <p:spPr>
            <a:xfrm>
              <a:off x="1126684" y="2014627"/>
              <a:ext cx="1702241" cy="67425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wie geht’s?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B665DD5-5D18-973F-8511-163016097906}"/>
              </a:ext>
            </a:extLst>
          </p:cNvPr>
          <p:cNvGrpSpPr/>
          <p:nvPr/>
        </p:nvGrpSpPr>
        <p:grpSpPr>
          <a:xfrm flipH="1">
            <a:off x="7720368" y="2176927"/>
            <a:ext cx="3873674" cy="841685"/>
            <a:chOff x="850726" y="3118672"/>
            <a:chExt cx="3873674" cy="841685"/>
          </a:xfrm>
          <a:solidFill>
            <a:srgbClr val="8664B0"/>
          </a:solidFill>
        </p:grpSpPr>
        <p:sp>
          <p:nvSpPr>
            <p:cNvPr id="73" name="Right Triangle 72">
              <a:extLst>
                <a:ext uri="{FF2B5EF4-FFF2-40B4-BE49-F238E27FC236}">
                  <a16:creationId xmlns:a16="http://schemas.microsoft.com/office/drawing/2014/main" id="{CAF0F77D-1825-1FB2-D909-31F0574067DE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3118672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96A4AADA-BCFB-F052-79F4-EA18ABF953D7}"/>
                </a:ext>
              </a:extLst>
            </p:cNvPr>
            <p:cNvSpPr>
              <a:spLocks/>
            </p:cNvSpPr>
            <p:nvPr/>
          </p:nvSpPr>
          <p:spPr>
            <a:xfrm>
              <a:off x="1126684" y="3118935"/>
              <a:ext cx="3597716" cy="84142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hast du die woche lust was </a:t>
              </a:r>
            </a:p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zu machen?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585FECF-4387-1F30-DF74-267674296F17}"/>
              </a:ext>
            </a:extLst>
          </p:cNvPr>
          <p:cNvGrpSpPr/>
          <p:nvPr/>
        </p:nvGrpSpPr>
        <p:grpSpPr>
          <a:xfrm flipH="1">
            <a:off x="8634768" y="3254337"/>
            <a:ext cx="2959274" cy="642932"/>
            <a:chOff x="574501" y="3844401"/>
            <a:chExt cx="2959274" cy="642932"/>
          </a:xfrm>
          <a:solidFill>
            <a:srgbClr val="8664B0"/>
          </a:solidFill>
        </p:grpSpPr>
        <p:sp>
          <p:nvSpPr>
            <p:cNvPr id="76" name="Right Triangle 75">
              <a:extLst>
                <a:ext uri="{FF2B5EF4-FFF2-40B4-BE49-F238E27FC236}">
                  <a16:creationId xmlns:a16="http://schemas.microsoft.com/office/drawing/2014/main" id="{8407F376-B72B-81F8-BEF4-51AE9FF1A240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74501" y="38444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90434541-45B0-F2FC-0482-4345452FD6B3}"/>
                </a:ext>
              </a:extLst>
            </p:cNvPr>
            <p:cNvSpPr>
              <a:spLocks/>
            </p:cNvSpPr>
            <p:nvPr/>
          </p:nvSpPr>
          <p:spPr>
            <a:xfrm>
              <a:off x="850459" y="3844401"/>
              <a:ext cx="2683316" cy="6429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vielleicht dienstag?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AB167D43-E371-82B9-5DDA-0DA7F572333F}"/>
              </a:ext>
            </a:extLst>
          </p:cNvPr>
          <p:cNvSpPr txBox="1"/>
          <p:nvPr/>
        </p:nvSpPr>
        <p:spPr>
          <a:xfrm>
            <a:off x="4540228" y="6588289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Abgeändertes Beispiel von McCulloch (2019, Chapter 4)</a:t>
            </a:r>
            <a:endParaRPr lang="en-US" sz="120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4CE73ED-864B-6358-AFA5-16F45B53C166}"/>
              </a:ext>
            </a:extLst>
          </p:cNvPr>
          <p:cNvGrpSpPr/>
          <p:nvPr/>
        </p:nvGrpSpPr>
        <p:grpSpPr>
          <a:xfrm>
            <a:off x="752302" y="5409937"/>
            <a:ext cx="6266476" cy="910290"/>
            <a:chOff x="5806990" y="2923158"/>
            <a:chExt cx="6266476" cy="910290"/>
          </a:xfrm>
          <a:solidFill>
            <a:srgbClr val="46B1E6"/>
          </a:solidFill>
        </p:grpSpPr>
        <p:sp>
          <p:nvSpPr>
            <p:cNvPr id="92" name="Right Triangle 91">
              <a:extLst>
                <a:ext uri="{FF2B5EF4-FFF2-40B4-BE49-F238E27FC236}">
                  <a16:creationId xmlns:a16="http://schemas.microsoft.com/office/drawing/2014/main" id="{62C1F061-AD4F-8D34-836A-1A544B76042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052BEFB9-9824-7112-50EC-C3E03002499F}"/>
                </a:ext>
              </a:extLst>
            </p:cNvPr>
            <p:cNvSpPr>
              <a:spLocks/>
            </p:cNvSpPr>
            <p:nvPr/>
          </p:nvSpPr>
          <p:spPr>
            <a:xfrm>
              <a:off x="6082947" y="2923421"/>
              <a:ext cx="5990519" cy="91002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aber dienstag kann ich nicht...bin gerade “sehr” </a:t>
              </a:r>
            </a:p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beschäftigt......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74506E1-B959-8841-AC1A-9663F4B5D73B}"/>
              </a:ext>
            </a:extLst>
          </p:cNvPr>
          <p:cNvGrpSpPr/>
          <p:nvPr/>
        </p:nvGrpSpPr>
        <p:grpSpPr>
          <a:xfrm>
            <a:off x="752302" y="4455413"/>
            <a:ext cx="2959274" cy="726582"/>
            <a:chOff x="5806990" y="2923158"/>
            <a:chExt cx="2959274" cy="726582"/>
          </a:xfrm>
          <a:solidFill>
            <a:srgbClr val="46B1E6"/>
          </a:solidFill>
        </p:grpSpPr>
        <p:sp>
          <p:nvSpPr>
            <p:cNvPr id="95" name="Right Triangle 94">
              <a:extLst>
                <a:ext uri="{FF2B5EF4-FFF2-40B4-BE49-F238E27FC236}">
                  <a16:creationId xmlns:a16="http://schemas.microsoft.com/office/drawing/2014/main" id="{5EA5ED5C-977B-EA0A-C9EF-9C72047B2A2D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FF46CD89-C831-FA08-2DC2-87898B39DF58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2683316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können wir machen...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8181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E0C4-8ECD-3240-7D3B-51FFFD62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AE43E-9CB1-F24F-EF6A-0A7D75B569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0F303B-EC1E-1BC8-9DC2-A2549C5BE778}"/>
              </a:ext>
            </a:extLst>
          </p:cNvPr>
          <p:cNvGrpSpPr/>
          <p:nvPr/>
        </p:nvGrpSpPr>
        <p:grpSpPr>
          <a:xfrm flipH="1">
            <a:off x="10206393" y="434901"/>
            <a:ext cx="1387649" cy="601903"/>
            <a:chOff x="850726" y="852150"/>
            <a:chExt cx="1387649" cy="601903"/>
          </a:xfrm>
          <a:solidFill>
            <a:srgbClr val="8664B0"/>
          </a:solidFill>
        </p:grpSpPr>
        <p:sp>
          <p:nvSpPr>
            <p:cNvPr id="27" name="Right Triangle 26">
              <a:extLst>
                <a:ext uri="{FF2B5EF4-FFF2-40B4-BE49-F238E27FC236}">
                  <a16:creationId xmlns:a16="http://schemas.microsoft.com/office/drawing/2014/main" id="{91FB46A9-175F-D0A6-A9E7-DF9C896CBFE6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852150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BB8C3FE-8667-C3A1-23CC-4D5E9FCF8A92}"/>
                </a:ext>
              </a:extLst>
            </p:cNvPr>
            <p:cNvSpPr>
              <a:spLocks/>
            </p:cNvSpPr>
            <p:nvPr/>
          </p:nvSpPr>
          <p:spPr>
            <a:xfrm>
              <a:off x="1126684" y="852413"/>
              <a:ext cx="1111691" cy="60164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 hey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68A097-E28F-4699-ED7F-683AB01A8C4B}"/>
              </a:ext>
            </a:extLst>
          </p:cNvPr>
          <p:cNvGrpSpPr/>
          <p:nvPr/>
        </p:nvGrpSpPr>
        <p:grpSpPr>
          <a:xfrm flipH="1">
            <a:off x="9615843" y="1267211"/>
            <a:ext cx="1978199" cy="674254"/>
            <a:chOff x="850726" y="2014627"/>
            <a:chExt cx="1978199" cy="674254"/>
          </a:xfrm>
          <a:solidFill>
            <a:srgbClr val="8664B0"/>
          </a:solidFill>
        </p:grpSpPr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C795E779-8E5D-D802-D3E3-108D57A3A2E0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2014627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1C37DE1-273A-8788-52A3-E3EA7B6F6EEA}"/>
                </a:ext>
              </a:extLst>
            </p:cNvPr>
            <p:cNvSpPr>
              <a:spLocks/>
            </p:cNvSpPr>
            <p:nvPr/>
          </p:nvSpPr>
          <p:spPr>
            <a:xfrm>
              <a:off x="1126684" y="2014627"/>
              <a:ext cx="1702241" cy="67425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wie geht’s?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D3265A-93EB-219C-5F18-8A7F361967E8}"/>
              </a:ext>
            </a:extLst>
          </p:cNvPr>
          <p:cNvGrpSpPr/>
          <p:nvPr/>
        </p:nvGrpSpPr>
        <p:grpSpPr>
          <a:xfrm flipH="1">
            <a:off x="7720368" y="2176927"/>
            <a:ext cx="3873674" cy="841685"/>
            <a:chOff x="850726" y="3118672"/>
            <a:chExt cx="3873674" cy="841685"/>
          </a:xfrm>
          <a:solidFill>
            <a:srgbClr val="8664B0"/>
          </a:solidFill>
        </p:grpSpPr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B060FDFD-9ADD-B611-AA3B-8E9EACCEC3A6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50726" y="3118672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F9CDAC77-408C-8FAC-3DD1-89B762A9DEF6}"/>
                </a:ext>
              </a:extLst>
            </p:cNvPr>
            <p:cNvSpPr>
              <a:spLocks/>
            </p:cNvSpPr>
            <p:nvPr/>
          </p:nvSpPr>
          <p:spPr>
            <a:xfrm>
              <a:off x="1126684" y="3118935"/>
              <a:ext cx="3597716" cy="84142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hast du die woche lust was </a:t>
              </a:r>
            </a:p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zu machen?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3DEEAD-93BE-F0A0-7328-BF5EE9A4BC6C}"/>
              </a:ext>
            </a:extLst>
          </p:cNvPr>
          <p:cNvGrpSpPr/>
          <p:nvPr/>
        </p:nvGrpSpPr>
        <p:grpSpPr>
          <a:xfrm flipH="1">
            <a:off x="8634768" y="3254337"/>
            <a:ext cx="2959274" cy="642932"/>
            <a:chOff x="574501" y="3844401"/>
            <a:chExt cx="2959274" cy="642932"/>
          </a:xfrm>
          <a:solidFill>
            <a:srgbClr val="8664B0"/>
          </a:solidFill>
        </p:grpSpPr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A65A2A84-3661-BB8F-7BE0-500570FF70AB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74501" y="38444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5E01B304-5E23-5B10-9992-D95D7F0375EF}"/>
                </a:ext>
              </a:extLst>
            </p:cNvPr>
            <p:cNvSpPr>
              <a:spLocks/>
            </p:cNvSpPr>
            <p:nvPr/>
          </p:nvSpPr>
          <p:spPr>
            <a:xfrm>
              <a:off x="850459" y="3844401"/>
              <a:ext cx="2683316" cy="64293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vielleicht dienstag?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F0A8027-BCF0-BB0A-D2FC-47D6889F2A95}"/>
              </a:ext>
            </a:extLst>
          </p:cNvPr>
          <p:cNvGrpSpPr/>
          <p:nvPr/>
        </p:nvGrpSpPr>
        <p:grpSpPr>
          <a:xfrm>
            <a:off x="752302" y="4508377"/>
            <a:ext cx="4370031" cy="841810"/>
            <a:chOff x="574501" y="3844401"/>
            <a:chExt cx="4370031" cy="841810"/>
          </a:xfrm>
          <a:solidFill>
            <a:srgbClr val="46B1E6"/>
          </a:solidFill>
        </p:grpSpPr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C2003A4D-A6FA-2660-0D1D-EA785800416E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74501" y="3844401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1CA10AA6-9A2D-0E18-AFF0-3CAA61F138F1}"/>
                </a:ext>
              </a:extLst>
            </p:cNvPr>
            <p:cNvSpPr>
              <a:spLocks/>
            </p:cNvSpPr>
            <p:nvPr/>
          </p:nvSpPr>
          <p:spPr>
            <a:xfrm>
              <a:off x="850458" y="3844401"/>
              <a:ext cx="4094074" cy="84181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nur wenn du willst!! wir müssen </a:t>
              </a:r>
            </a:p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nich!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8D95EF2-95AC-5B44-6E56-44CF4070DA7C}"/>
              </a:ext>
            </a:extLst>
          </p:cNvPr>
          <p:cNvGrpSpPr/>
          <p:nvPr/>
        </p:nvGrpSpPr>
        <p:grpSpPr>
          <a:xfrm>
            <a:off x="752302" y="5606856"/>
            <a:ext cx="4243032" cy="643196"/>
            <a:chOff x="5806990" y="2923158"/>
            <a:chExt cx="4243032" cy="643196"/>
          </a:xfrm>
          <a:solidFill>
            <a:srgbClr val="46B1E6"/>
          </a:solidFill>
        </p:grpSpPr>
        <p:sp>
          <p:nvSpPr>
            <p:cNvPr id="82" name="Right Triangle 81">
              <a:extLst>
                <a:ext uri="{FF2B5EF4-FFF2-40B4-BE49-F238E27FC236}">
                  <a16:creationId xmlns:a16="http://schemas.microsoft.com/office/drawing/2014/main" id="{ED5630B6-1F5B-15A7-60B4-3A7408B8C4C9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C1028DA4-3102-48BD-D909-F0ED814B455C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3967074" cy="64293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was wollen wir dann machen??? 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E27B3DD-ACBD-3394-F481-3ABCE83504DF}"/>
              </a:ext>
            </a:extLst>
          </p:cNvPr>
          <p:cNvSpPr txBox="1"/>
          <p:nvPr/>
        </p:nvSpPr>
        <p:spPr>
          <a:xfrm>
            <a:off x="4540228" y="6588289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Übertriebene Darstellung vom Schreibstil einer Freundin und meinem Dad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464385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9524-7C5C-AF99-9A81-282EFD30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95EF7-4607-ACDF-1AC3-C42FFEBAF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DC048-C0E5-8CC2-D064-A4317CB6FF54}"/>
              </a:ext>
            </a:extLst>
          </p:cNvPr>
          <p:cNvSpPr txBox="1"/>
          <p:nvPr/>
        </p:nvSpPr>
        <p:spPr>
          <a:xfrm>
            <a:off x="4417702" y="251570"/>
            <a:ext cx="3695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Amasis MT Pro Black" panose="02040A04050005020304" pitchFamily="18" charset="0"/>
              </a:rPr>
              <a:t>Schemata und</a:t>
            </a:r>
          </a:p>
          <a:p>
            <a:pPr algn="ctr"/>
            <a:r>
              <a:rPr lang="en-US" sz="3200">
                <a:latin typeface="Amasis MT Pro Black" panose="02040A04050005020304" pitchFamily="18" charset="0"/>
              </a:rPr>
              <a:t>Personal Bias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E2CC9-1996-EE78-E838-86E507DC628D}"/>
              </a:ext>
            </a:extLst>
          </p:cNvPr>
          <p:cNvSpPr txBox="1"/>
          <p:nvPr/>
        </p:nvSpPr>
        <p:spPr>
          <a:xfrm>
            <a:off x="4540228" y="6581001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cf.: Keysar (1994), Tyagi (2024)</a:t>
            </a:r>
            <a:endParaRPr lang="en-US" sz="1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1275AF-D7E4-4B2A-C59C-DAEF2060F9D2}"/>
              </a:ext>
            </a:extLst>
          </p:cNvPr>
          <p:cNvGrpSpPr/>
          <p:nvPr/>
        </p:nvGrpSpPr>
        <p:grpSpPr>
          <a:xfrm>
            <a:off x="10626030" y="2510347"/>
            <a:ext cx="914400" cy="918653"/>
            <a:chOff x="1382313" y="3927756"/>
            <a:chExt cx="914400" cy="918653"/>
          </a:xfrm>
        </p:grpSpPr>
        <p:pic>
          <p:nvPicPr>
            <p:cNvPr id="7" name="Graphic 6" descr="Eye with solid fill">
              <a:extLst>
                <a:ext uri="{FF2B5EF4-FFF2-40B4-BE49-F238E27FC236}">
                  <a16:creationId xmlns:a16="http://schemas.microsoft.com/office/drawing/2014/main" id="{DE8E85B6-4A00-9DE6-B883-C4BE09083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2313" y="3927756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Close with solid fill">
              <a:extLst>
                <a:ext uri="{FF2B5EF4-FFF2-40B4-BE49-F238E27FC236}">
                  <a16:creationId xmlns:a16="http://schemas.microsoft.com/office/drawing/2014/main" id="{1DC3A293-03DC-5B2D-A923-1BF1254D7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2313" y="3932009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5608E1-222B-8F5F-D241-7088861E58C3}"/>
              </a:ext>
            </a:extLst>
          </p:cNvPr>
          <p:cNvGrpSpPr/>
          <p:nvPr/>
        </p:nvGrpSpPr>
        <p:grpSpPr>
          <a:xfrm>
            <a:off x="10626030" y="3831098"/>
            <a:ext cx="929174" cy="914400"/>
            <a:chOff x="1367539" y="4771420"/>
            <a:chExt cx="929174" cy="914400"/>
          </a:xfrm>
        </p:grpSpPr>
        <p:pic>
          <p:nvPicPr>
            <p:cNvPr id="8" name="Graphic 7" descr="Ear with solid fill">
              <a:extLst>
                <a:ext uri="{FF2B5EF4-FFF2-40B4-BE49-F238E27FC236}">
                  <a16:creationId xmlns:a16="http://schemas.microsoft.com/office/drawing/2014/main" id="{2C8F8C1E-38B4-0A7E-DE23-D34E2A01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82313" y="4771420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Close with solid fill">
              <a:extLst>
                <a:ext uri="{FF2B5EF4-FFF2-40B4-BE49-F238E27FC236}">
                  <a16:creationId xmlns:a16="http://schemas.microsoft.com/office/drawing/2014/main" id="{CB42EEA3-8443-BB32-E6F0-E84CC3B5F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67539" y="477142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657819-25E8-101A-D070-8388ACD4B8CF}"/>
              </a:ext>
            </a:extLst>
          </p:cNvPr>
          <p:cNvGrpSpPr/>
          <p:nvPr/>
        </p:nvGrpSpPr>
        <p:grpSpPr>
          <a:xfrm>
            <a:off x="3216320" y="2805654"/>
            <a:ext cx="2959274" cy="726582"/>
            <a:chOff x="5806990" y="2923158"/>
            <a:chExt cx="2959274" cy="726582"/>
          </a:xfrm>
          <a:solidFill>
            <a:srgbClr val="46B1E6"/>
          </a:solidFill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6BBB1ECB-5DE3-D78B-3B2F-87771358AD5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FA43834-4E94-7485-CE74-4AE9820E2CE6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2683316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können wir machen...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1F90B1-7D24-E14F-27AB-994A17710AE7}"/>
              </a:ext>
            </a:extLst>
          </p:cNvPr>
          <p:cNvGrpSpPr/>
          <p:nvPr/>
        </p:nvGrpSpPr>
        <p:grpSpPr>
          <a:xfrm>
            <a:off x="403579" y="2308161"/>
            <a:ext cx="2562225" cy="2562225"/>
            <a:chOff x="679827" y="1513774"/>
            <a:chExt cx="2562225" cy="2562225"/>
          </a:xfrm>
        </p:grpSpPr>
        <p:pic>
          <p:nvPicPr>
            <p:cNvPr id="43" name="Graphic 42" descr="Head with gears outline">
              <a:extLst>
                <a:ext uri="{FF2B5EF4-FFF2-40B4-BE49-F238E27FC236}">
                  <a16:creationId xmlns:a16="http://schemas.microsoft.com/office/drawing/2014/main" id="{2355C2BC-D811-0554-36DF-22F7A006B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9827" y="1513774"/>
              <a:ext cx="2562225" cy="2562225"/>
            </a:xfrm>
            <a:prstGeom prst="rect">
              <a:avLst/>
            </a:prstGeom>
          </p:spPr>
        </p:pic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31A47ADB-9B74-9A5E-FF5E-C3F2181A1642}"/>
                </a:ext>
              </a:extLst>
            </p:cNvPr>
            <p:cNvSpPr>
              <a:spLocks/>
            </p:cNvSpPr>
            <p:nvPr/>
          </p:nvSpPr>
          <p:spPr>
            <a:xfrm>
              <a:off x="1178351" y="1826984"/>
              <a:ext cx="1357459" cy="1319753"/>
            </a:xfrm>
            <a:prstGeom prst="flowChartConnector">
              <a:avLst/>
            </a:prstGeom>
            <a:pattFill prst="wdUpDiag">
              <a:fgClr>
                <a:srgbClr val="21212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DC3D516-DD06-E5D6-74D5-6D5F989FA625}"/>
              </a:ext>
            </a:extLst>
          </p:cNvPr>
          <p:cNvSpPr/>
          <p:nvPr/>
        </p:nvSpPr>
        <p:spPr>
          <a:xfrm>
            <a:off x="2839974" y="1864717"/>
            <a:ext cx="158123" cy="3661915"/>
          </a:xfrm>
          <a:prstGeom prst="rect">
            <a:avLst/>
          </a:prstGeom>
          <a:pattFill prst="horzBrick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5085B4-E99F-3EB6-5D69-DB76C537B611}"/>
              </a:ext>
            </a:extLst>
          </p:cNvPr>
          <p:cNvGrpSpPr/>
          <p:nvPr/>
        </p:nvGrpSpPr>
        <p:grpSpPr>
          <a:xfrm>
            <a:off x="8165410" y="2309027"/>
            <a:ext cx="2562225" cy="2562225"/>
            <a:chOff x="8670148" y="2256221"/>
            <a:chExt cx="2562225" cy="256222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65122D-89A8-348E-84DB-53481CBDB558}"/>
                </a:ext>
              </a:extLst>
            </p:cNvPr>
            <p:cNvGrpSpPr/>
            <p:nvPr/>
          </p:nvGrpSpPr>
          <p:grpSpPr>
            <a:xfrm flipH="1">
              <a:off x="8670148" y="2256221"/>
              <a:ext cx="2562225" cy="2562225"/>
              <a:chOff x="615819" y="1678366"/>
              <a:chExt cx="2562225" cy="2562225"/>
            </a:xfrm>
          </p:grpSpPr>
          <p:pic>
            <p:nvPicPr>
              <p:cNvPr id="12" name="Graphic 11" descr="Head with gears outline">
                <a:extLst>
                  <a:ext uri="{FF2B5EF4-FFF2-40B4-BE49-F238E27FC236}">
                    <a16:creationId xmlns:a16="http://schemas.microsoft.com/office/drawing/2014/main" id="{F6BD6A16-58B2-4741-FA81-837129E1D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15819" y="1678366"/>
                <a:ext cx="2562225" cy="2562225"/>
              </a:xfrm>
              <a:prstGeom prst="rect">
                <a:avLst/>
              </a:prstGeom>
            </p:spPr>
          </p:pic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74952605-4EE6-3013-8429-EED952109E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96775" y="1948804"/>
                <a:ext cx="1357459" cy="1319753"/>
              </a:xfrm>
              <a:prstGeom prst="flowChartConnector">
                <a:avLst/>
              </a:prstGeom>
              <a:pattFill prst="wdUpDiag">
                <a:fgClr>
                  <a:srgbClr val="21212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5A28895-1EA0-4640-18EC-C1D321B17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5341" y="2568144"/>
              <a:ext cx="1013740" cy="1013740"/>
            </a:xfrm>
            <a:prstGeom prst="rect">
              <a:avLst/>
            </a:prstGeom>
          </p:spPr>
        </p:pic>
      </p:grp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7AB8B55-27F3-09B2-AD81-EF8D8A0ABF9F}"/>
              </a:ext>
            </a:extLst>
          </p:cNvPr>
          <p:cNvSpPr/>
          <p:nvPr/>
        </p:nvSpPr>
        <p:spPr>
          <a:xfrm>
            <a:off x="6265468" y="5246106"/>
            <a:ext cx="1466740" cy="5760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unehrlich?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16A8628-1769-033E-356B-7F3BBFDAEE0D}"/>
              </a:ext>
            </a:extLst>
          </p:cNvPr>
          <p:cNvSpPr/>
          <p:nvPr/>
        </p:nvSpPr>
        <p:spPr>
          <a:xfrm>
            <a:off x="5443262" y="1864717"/>
            <a:ext cx="1344778" cy="5687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zögert?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404C3D-F646-5297-A929-EB7BD23E8A05}"/>
              </a:ext>
            </a:extLst>
          </p:cNvPr>
          <p:cNvGrpSpPr/>
          <p:nvPr/>
        </p:nvGrpSpPr>
        <p:grpSpPr>
          <a:xfrm>
            <a:off x="3210027" y="4039106"/>
            <a:ext cx="4590620" cy="726582"/>
            <a:chOff x="5806990" y="2923158"/>
            <a:chExt cx="4590620" cy="726582"/>
          </a:xfrm>
          <a:solidFill>
            <a:srgbClr val="46B1E6"/>
          </a:solidFill>
        </p:grpSpPr>
        <p:sp>
          <p:nvSpPr>
            <p:cNvPr id="60" name="Right Triangle 59">
              <a:extLst>
                <a:ext uri="{FF2B5EF4-FFF2-40B4-BE49-F238E27FC236}">
                  <a16:creationId xmlns:a16="http://schemas.microsoft.com/office/drawing/2014/main" id="{552D1AD9-7F91-D704-0255-B4DB500CB73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5B359DA-D0EC-95CE-3687-415692EB0264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4314662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aber dienstag kann ich nicht...bin gerade “sehr” beschäftigt......</a:t>
              </a:r>
            </a:p>
          </p:txBody>
        </p:sp>
      </p:grp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7576949-8095-A0B4-9B8D-D2188255565F}"/>
              </a:ext>
            </a:extLst>
          </p:cNvPr>
          <p:cNvCxnSpPr>
            <a:cxnSpLocks/>
            <a:stCxn id="49" idx="2"/>
            <a:endCxn id="56" idx="3"/>
          </p:cNvCxnSpPr>
          <p:nvPr/>
        </p:nvCxnSpPr>
        <p:spPr>
          <a:xfrm rot="5400000">
            <a:off x="7725115" y="3641784"/>
            <a:ext cx="1899452" cy="188526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EE65882-62F8-6746-1ACC-F259E53CA8EB}"/>
              </a:ext>
            </a:extLst>
          </p:cNvPr>
          <p:cNvCxnSpPr>
            <a:cxnSpLocks/>
            <a:stCxn id="49" idx="0"/>
            <a:endCxn id="57" idx="3"/>
          </p:cNvCxnSpPr>
          <p:nvPr/>
        </p:nvCxnSpPr>
        <p:spPr>
          <a:xfrm rot="16200000" flipV="1">
            <a:off x="7966821" y="970297"/>
            <a:ext cx="471872" cy="28294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6CE705B-F87C-D258-6CC3-6065495E78D1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265468" y="3127820"/>
            <a:ext cx="2845135" cy="412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31E38E-7725-4885-6936-AAABB192323A}"/>
              </a:ext>
            </a:extLst>
          </p:cNvPr>
          <p:cNvCxnSpPr>
            <a:cxnSpLocks/>
          </p:cNvCxnSpPr>
          <p:nvPr/>
        </p:nvCxnSpPr>
        <p:spPr>
          <a:xfrm flipV="1">
            <a:off x="7879123" y="3238511"/>
            <a:ext cx="1234236" cy="11263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25088"/>
      </p:ext>
    </p:extLst>
  </p:cSld>
  <p:clrMapOvr>
    <a:masterClrMapping/>
  </p:clrMapOvr>
  <p:transition spd="slow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7F31-DDA5-7630-3158-F118DC4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5C493-00D6-CB97-87A1-68BCD72EE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4AC0661-C826-D23F-A4D3-B18CA9EF1E2B}"/>
              </a:ext>
            </a:extLst>
          </p:cNvPr>
          <p:cNvSpPr/>
          <p:nvPr/>
        </p:nvSpPr>
        <p:spPr>
          <a:xfrm>
            <a:off x="491067" y="491067"/>
            <a:ext cx="3373966" cy="1253066"/>
          </a:xfrm>
          <a:prstGeom prst="wedgeRoundRectCallout">
            <a:avLst>
              <a:gd name="adj1" fmla="val 32982"/>
              <a:gd name="adj2" fmla="val 126689"/>
              <a:gd name="adj3" fmla="val 16667"/>
            </a:avLst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8531F92-492E-3C47-B9BA-14683D29457E}"/>
              </a:ext>
            </a:extLst>
          </p:cNvPr>
          <p:cNvSpPr/>
          <p:nvPr/>
        </p:nvSpPr>
        <p:spPr>
          <a:xfrm>
            <a:off x="6405102" y="3500388"/>
            <a:ext cx="5235882" cy="2392412"/>
          </a:xfrm>
          <a:prstGeom prst="wedgeRoundRectCallout">
            <a:avLst>
              <a:gd name="adj1" fmla="val -68051"/>
              <a:gd name="adj2" fmla="val -9695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8C0DEFB-2985-D322-9DC5-27DEC52012EB}"/>
              </a:ext>
            </a:extLst>
          </p:cNvPr>
          <p:cNvSpPr/>
          <p:nvPr/>
        </p:nvSpPr>
        <p:spPr>
          <a:xfrm>
            <a:off x="5604933" y="553988"/>
            <a:ext cx="6096000" cy="2392412"/>
          </a:xfrm>
          <a:prstGeom prst="wedgeRoundRectCallout">
            <a:avLst>
              <a:gd name="adj1" fmla="val -60277"/>
              <a:gd name="adj2" fmla="val 40913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46181-A884-D2A1-F8C0-BCCFD8AE9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8" y="1826113"/>
            <a:ext cx="5235882" cy="5031887"/>
          </a:xfrm>
          <a:prstGeom prst="rect">
            <a:avLst/>
          </a:prstGeom>
        </p:spPr>
      </p:pic>
      <p:pic>
        <p:nvPicPr>
          <p:cNvPr id="11" name="Graphic 10" descr="Stars with solid fill">
            <a:extLst>
              <a:ext uri="{FF2B5EF4-FFF2-40B4-BE49-F238E27FC236}">
                <a16:creationId xmlns:a16="http://schemas.microsoft.com/office/drawing/2014/main" id="{28CD5B0E-5782-046B-7E5A-D5450D74A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2350" y="5389612"/>
            <a:ext cx="914400" cy="914400"/>
          </a:xfrm>
          <a:prstGeom prst="rect">
            <a:avLst/>
          </a:prstGeom>
        </p:spPr>
      </p:pic>
      <p:pic>
        <p:nvPicPr>
          <p:cNvPr id="12" name="Graphic 11" descr="Stars with solid fill">
            <a:extLst>
              <a:ext uri="{FF2B5EF4-FFF2-40B4-BE49-F238E27FC236}">
                <a16:creationId xmlns:a16="http://schemas.microsoft.com/office/drawing/2014/main" id="{4057C51C-B094-6288-0CE8-5E75B79B5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" y="25146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7B7420-F135-16F9-1F65-DA36ADA1732A}"/>
              </a:ext>
            </a:extLst>
          </p:cNvPr>
          <p:cNvSpPr txBox="1"/>
          <p:nvPr/>
        </p:nvSpPr>
        <p:spPr>
          <a:xfrm>
            <a:off x="6024033" y="866970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“[P]eople are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overconfident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in their ability to communicate sarcasm, seriousness, anger, and sadness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 e-mail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, and [one of our studies] implicated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egocentrism as a probable source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of this overconfidence.”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– Kruger et al. (2005)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9689F-D892-8369-4641-B08820160D2E}"/>
              </a:ext>
            </a:extLst>
          </p:cNvPr>
          <p:cNvSpPr txBox="1"/>
          <p:nvPr/>
        </p:nvSpPr>
        <p:spPr>
          <a:xfrm>
            <a:off x="702733" y="553988"/>
            <a:ext cx="3162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masis MT Pro Black" panose="02040A04050005020304" pitchFamily="18" charset="0"/>
              </a:rPr>
              <a:t>Egozentrische Perspektive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C459E-A2F2-3001-5A85-68B5463D96E7}"/>
              </a:ext>
            </a:extLst>
          </p:cNvPr>
          <p:cNvSpPr txBox="1"/>
          <p:nvPr/>
        </p:nvSpPr>
        <p:spPr>
          <a:xfrm>
            <a:off x="6937810" y="3819431"/>
            <a:ext cx="4171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“Speakers tended to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overestimate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their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effectiveness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and expected their addressees to understand their intentions more than was warranted.”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– Keysar and Henly (2002)</a:t>
            </a:r>
          </a:p>
        </p:txBody>
      </p:sp>
    </p:spTree>
    <p:extLst>
      <p:ext uri="{BB962C8B-B14F-4D97-AF65-F5344CB8AC3E}">
        <p14:creationId xmlns:p14="http://schemas.microsoft.com/office/powerpoint/2010/main" val="424122962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5010-F572-10AB-62A1-D9673F8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86BC0-103F-8551-1F41-A5B600620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5BB26-EA1C-3197-94BC-E4286C536702}"/>
              </a:ext>
            </a:extLst>
          </p:cNvPr>
          <p:cNvSpPr txBox="1"/>
          <p:nvPr/>
        </p:nvSpPr>
        <p:spPr>
          <a:xfrm>
            <a:off x="4540228" y="6581001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cf.: Keysar (1994), Tyagi (2024)</a:t>
            </a:r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3E5A2C-A5FF-ADD0-B800-98D99DB7729B}"/>
              </a:ext>
            </a:extLst>
          </p:cNvPr>
          <p:cNvSpPr>
            <a:spLocks/>
          </p:cNvSpPr>
          <p:nvPr/>
        </p:nvSpPr>
        <p:spPr>
          <a:xfrm>
            <a:off x="248652" y="233412"/>
            <a:ext cx="11694695" cy="662458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15F7CF-7528-357E-3D88-1834C4D4A2B0}"/>
              </a:ext>
            </a:extLst>
          </p:cNvPr>
          <p:cNvGrpSpPr/>
          <p:nvPr/>
        </p:nvGrpSpPr>
        <p:grpSpPr>
          <a:xfrm>
            <a:off x="248651" y="233412"/>
            <a:ext cx="11694695" cy="661937"/>
            <a:chOff x="248651" y="233412"/>
            <a:chExt cx="11694695" cy="66193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528BC64-13C0-497E-A063-D6D05AFBB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51" y="233412"/>
              <a:ext cx="11694695" cy="66193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CE1633-5F51-2764-2A43-E789159BD515}"/>
                </a:ext>
              </a:extLst>
            </p:cNvPr>
            <p:cNvSpPr/>
            <p:nvPr/>
          </p:nvSpPr>
          <p:spPr>
            <a:xfrm>
              <a:off x="881207" y="283392"/>
              <a:ext cx="2100118" cy="561975"/>
            </a:xfrm>
            <a:prstGeom prst="rect">
              <a:avLst/>
            </a:prstGeom>
            <a:solidFill>
              <a:srgbClr val="161717"/>
            </a:solidFill>
            <a:ln>
              <a:solidFill>
                <a:srgbClr val="161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68A4F99-E7EA-B1D5-49B6-987F75CA6035}"/>
                </a:ext>
              </a:extLst>
            </p:cNvPr>
            <p:cNvSpPr txBox="1"/>
            <p:nvPr/>
          </p:nvSpPr>
          <p:spPr>
            <a:xfrm>
              <a:off x="881206" y="379713"/>
              <a:ext cx="117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Beck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0CC3B-2826-B53E-9835-28B79EE4BA2C}"/>
              </a:ext>
            </a:extLst>
          </p:cNvPr>
          <p:cNvGrpSpPr/>
          <p:nvPr/>
        </p:nvGrpSpPr>
        <p:grpSpPr>
          <a:xfrm flipH="1">
            <a:off x="6345936" y="2182110"/>
            <a:ext cx="5193460" cy="588522"/>
            <a:chOff x="881206" y="4365557"/>
            <a:chExt cx="4417492" cy="588522"/>
          </a:xfrm>
          <a:solidFill>
            <a:srgbClr val="8664B0"/>
          </a:solidFill>
        </p:grpSpPr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0D9AFA1A-93F3-DBEC-6DD3-78383E2192EB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5557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67B8A91-83D0-4C7E-67EC-7A147734243F}"/>
                </a:ext>
              </a:extLst>
            </p:cNvPr>
            <p:cNvSpPr>
              <a:spLocks/>
            </p:cNvSpPr>
            <p:nvPr/>
          </p:nvSpPr>
          <p:spPr>
            <a:xfrm>
              <a:off x="1164785" y="4371746"/>
              <a:ext cx="4133913" cy="58233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ein moment, ich schreib es dir kurz auf...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1EF32ED-32F5-ABBA-0A96-D7D4E4CEC382}"/>
              </a:ext>
            </a:extLst>
          </p:cNvPr>
          <p:cNvGrpSpPr/>
          <p:nvPr/>
        </p:nvGrpSpPr>
        <p:grpSpPr>
          <a:xfrm>
            <a:off x="584026" y="1309350"/>
            <a:ext cx="4311824" cy="543739"/>
            <a:chOff x="888826" y="4371483"/>
            <a:chExt cx="4106846" cy="543739"/>
          </a:xfrm>
          <a:solidFill>
            <a:srgbClr val="46B1E6"/>
          </a:solidFill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A35888C6-B5DF-BE95-5EBA-2D05FB0A812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F723CC3-C852-AB3C-72D1-56EE381630BB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3830888" cy="543476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also was kann alles schief gehen?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9C999A1-97BB-7EFE-EF46-6B0296B73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43" y="5782804"/>
            <a:ext cx="11571707" cy="80241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46B10D6-FB2C-3C3F-C5B2-75486ED01A8F}"/>
              </a:ext>
            </a:extLst>
          </p:cNvPr>
          <p:cNvSpPr/>
          <p:nvPr/>
        </p:nvSpPr>
        <p:spPr>
          <a:xfrm>
            <a:off x="-3" y="6720908"/>
            <a:ext cx="12192000" cy="506423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7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99658-46BA-5AE8-C926-E31C9AB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849B75-6F39-FE38-995D-94ADC8FAA2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0" y="233412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6E15B3-6778-7AA2-16C6-28037CC5B49F}"/>
              </a:ext>
            </a:extLst>
          </p:cNvPr>
          <p:cNvGrpSpPr/>
          <p:nvPr/>
        </p:nvGrpSpPr>
        <p:grpSpPr>
          <a:xfrm>
            <a:off x="85444" y="101035"/>
            <a:ext cx="27963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DB9805-C156-C082-9CB7-4CB86EBE055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4F10E9-3FE1-FB55-B24A-BE1112071712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Quellen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BD7898-DC62-1165-DA4E-2B39C4AAB27A}"/>
              </a:ext>
            </a:extLst>
          </p:cNvPr>
          <p:cNvSpPr txBox="1"/>
          <p:nvPr/>
        </p:nvSpPr>
        <p:spPr>
          <a:xfrm>
            <a:off x="1137706" y="751343"/>
            <a:ext cx="99165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Bartlett, F. C. (1932). </a:t>
            </a:r>
            <a:r>
              <a:rPr lang="en-US" i="1"/>
              <a:t>Remembering: A study in experimental and social psychology.</a:t>
            </a:r>
            <a:r>
              <a:rPr lang="en-US"/>
              <a:t> Cambridge University Press.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 (1994). The illusory transparency of intention: Linguistic perspective taking in text. </a:t>
            </a:r>
            <a:r>
              <a:rPr lang="en-US" i="1"/>
              <a:t>Cognitive Psychology, 26</a:t>
            </a:r>
            <a:r>
              <a:rPr lang="en-US"/>
              <a:t>(2), 165–208. https://doi.org/10.1006/cogp.1994.1006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B., &amp; Henly, A. S. (2002). Speakers' overestimation of their effectiveness. </a:t>
            </a:r>
            <a:r>
              <a:rPr lang="en-US" i="1"/>
              <a:t>Psychological Science, 13</a:t>
            </a:r>
            <a:r>
              <a:rPr lang="en-US"/>
              <a:t>(3), 207–212. https://doi.org/10.1111/1467-9280.00439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Kruger, J., Epley, N., Parker, J., &amp; Ng, Z. W. (2005). Egocentrism over e-mail: can we communicate as well as we think?. </a:t>
            </a:r>
            <a:r>
              <a:rPr lang="en-US" i="1"/>
              <a:t>Journal of personality and social psychology</a:t>
            </a:r>
            <a:r>
              <a:rPr lang="en-US"/>
              <a:t>, </a:t>
            </a:r>
            <a:r>
              <a:rPr lang="en-US" i="1"/>
              <a:t>89</a:t>
            </a:r>
            <a:r>
              <a:rPr lang="en-US"/>
              <a:t>(6), 925–936. https://doi.org/10.1037/0022-3514.89.6.925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McCulloch, G. (2019). </a:t>
            </a:r>
            <a:r>
              <a:rPr lang="en-US" i="1"/>
              <a:t>Because Internet: understanding the new rules of language.</a:t>
            </a:r>
            <a:r>
              <a:rPr lang="en-US"/>
              <a:t> Riverhead Books, An imprint of Penguin Random House LLC.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Tyagi, V. (2024, June 22). Understanding How Personal Bias Shapes Our Reading Experience. Retrieved from Medium: https://medium.com/@vt3630/understanding-how-personal-bias-shapes-our-reading-experience-1c7fa4280410</a:t>
            </a:r>
          </a:p>
        </p:txBody>
      </p:sp>
    </p:spTree>
    <p:extLst>
      <p:ext uri="{BB962C8B-B14F-4D97-AF65-F5344CB8AC3E}">
        <p14:creationId xmlns:p14="http://schemas.microsoft.com/office/powerpoint/2010/main" val="346561536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1472</TotalTime>
  <Words>545</Words>
  <Application>Microsoft Office PowerPoint</Application>
  <PresentationFormat>Widescreen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Amasis MT Pro Black</vt:lpstr>
      <vt:lpstr>Aptos</vt:lpstr>
      <vt:lpstr>Arial</vt:lpstr>
      <vt:lpstr>Cascadia Code</vt:lpstr>
      <vt:lpstr>Roboto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Edison Scriven</cp:lastModifiedBy>
  <cp:revision>1116</cp:revision>
  <dcterms:created xsi:type="dcterms:W3CDTF">2025-03-21T16:11:25Z</dcterms:created>
  <dcterms:modified xsi:type="dcterms:W3CDTF">2026-01-07T23:51:29Z</dcterms:modified>
</cp:coreProperties>
</file>