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10"/>
  </p:notesMasterIdLst>
  <p:sldIdLst>
    <p:sldId id="302" r:id="rId2"/>
    <p:sldId id="256" r:id="rId3"/>
    <p:sldId id="299" r:id="rId4"/>
    <p:sldId id="301" r:id="rId5"/>
    <p:sldId id="294" r:id="rId6"/>
    <p:sldId id="296" r:id="rId7"/>
    <p:sldId id="298" r:id="rId8"/>
    <p:sldId id="30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8E6D"/>
    <a:srgbClr val="00AAE6"/>
    <a:srgbClr val="212121"/>
    <a:srgbClr val="EB8F91"/>
    <a:srgbClr val="A17CB6"/>
    <a:srgbClr val="C46EB2"/>
    <a:srgbClr val="C96994"/>
    <a:srgbClr val="D01E62"/>
    <a:srgbClr val="825FAD"/>
    <a:srgbClr val="8664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943" autoAdjust="0"/>
  </p:normalViewPr>
  <p:slideViewPr>
    <p:cSldViewPr snapToGrid="0">
      <p:cViewPr varScale="1">
        <p:scale>
          <a:sx n="76" d="100"/>
          <a:sy n="76" d="100"/>
        </p:scale>
        <p:origin x="9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DAD76-3859-4D52-8B81-C27FCE0A7D1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1062-E9D8-4DAB-8118-1CF0D558F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6126-EF57-F334-2A2C-B38B0AC1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5B86D-8D9B-FDC7-85EA-EE6D3D483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F71E6-A417-9636-9295-CEDAE34A6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EFFD6-BE77-DFCA-C1BA-36E4F13FC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4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27C79-C440-023F-7C7D-A439550D7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5C1FA-20A7-AE9F-30E8-F2FFDC6DD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DD766-9F66-6986-1F21-846703EC7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E267F-5FF6-6EBA-0694-504E21C85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56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842CE-4EA8-590C-A4D8-D3F8246AF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A85BB-EBE9-4E79-8F7F-B5D4ABCBB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80A000-5DA9-46F1-E965-DC9073FBD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E94DE-ED02-0768-7550-F1A829CFA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6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27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2A265-A38E-0B4D-77D8-81CDCAD39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6410C-3FE3-30BB-D3E8-B98BCED56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49B70-3E17-A615-9E3E-AF4BB1A1F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259A8-2457-D62C-E3C0-E6673BABD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02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DE60D-87A9-10C3-D7E3-A3B06C485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464C4-BAF7-DEE2-43BC-5C2029634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1ED67-F8AA-DEEA-9714-3A94F8C23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Primary constructor also has constructor keyword but can be omitted without visibility modifier or annotations</a:t>
            </a:r>
          </a:p>
          <a:p>
            <a:r>
              <a:rPr lang="de-DE"/>
              <a:t>Secondary is executed after primary</a:t>
            </a:r>
          </a:p>
          <a:p>
            <a:r>
              <a:rPr lang="de-DE"/>
              <a:t>Class can use inheritance by declaring it as „open“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8F45D-6C44-5E1A-42C9-9CA982B79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89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6EA9-6E82-74D0-E4E3-82D41F09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DFF5B-AE5B-3E2D-76FE-D16B1719B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41DAD-61C0-2A8C-235D-E6D7DA9C5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BB196-7B58-4B76-2D00-77BFF281E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03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5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6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15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7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1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9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1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4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8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87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19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45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9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48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2D5E-789E-474C-70AE-A01E4742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3834BC-5ECC-DBE5-570B-3FCA9E1B6B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0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F72D-82E1-A086-9B1A-97D7D9753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Programming Language</a:t>
            </a:r>
            <a:br>
              <a:rPr lang="en-US"/>
            </a:br>
            <a:r>
              <a:rPr lang="en-US">
                <a:solidFill>
                  <a:schemeClr val="tx1"/>
                </a:solidFill>
              </a:rPr>
              <a:t>Kotlin</a:t>
            </a:r>
            <a:r>
              <a:rPr lang="en-US" sz="2000">
                <a:solidFill>
                  <a:schemeClr val="tx1"/>
                </a:solidFill>
              </a:rPr>
              <a:t>(object oriented)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11D3-0A40-FDB6-3126-FE39A5160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1099856"/>
          </a:xfrm>
        </p:spPr>
        <p:txBody>
          <a:bodyPr>
            <a:normAutofit fontScale="92500" lnSpcReduction="10000"/>
          </a:bodyPr>
          <a:lstStyle/>
          <a:p>
            <a:r>
              <a:rPr lang="en-US" err="1">
                <a:solidFill>
                  <a:schemeClr val="tx1">
                    <a:lumMod val="85000"/>
                  </a:schemeClr>
                </a:solidFill>
              </a:rPr>
              <a:t>Konzepte</a:t>
            </a:r>
            <a:r>
              <a:rPr lang="en-US">
                <a:solidFill>
                  <a:schemeClr val="tx1">
                    <a:lumMod val="85000"/>
                  </a:schemeClr>
                </a:solidFill>
              </a:rPr>
              <a:t> der </a:t>
            </a:r>
            <a:r>
              <a:rPr lang="en-US" err="1">
                <a:solidFill>
                  <a:schemeClr val="tx1">
                    <a:lumMod val="85000"/>
                  </a:schemeClr>
                </a:solidFill>
              </a:rPr>
              <a:t>Programmiersprachen</a:t>
            </a:r>
            <a:endParaRPr lang="en-US">
              <a:solidFill>
                <a:schemeClr val="tx1">
                  <a:lumMod val="85000"/>
                </a:schemeClr>
              </a:solidFill>
            </a:endParaRPr>
          </a:p>
          <a:p>
            <a:r>
              <a:rPr lang="en-US">
                <a:solidFill>
                  <a:schemeClr val="tx1">
                    <a:lumMod val="85000"/>
                  </a:schemeClr>
                </a:solidFill>
              </a:rPr>
              <a:t>Julia Ihrenberger</a:t>
            </a:r>
          </a:p>
          <a:p>
            <a:r>
              <a:rPr lang="en-US">
                <a:solidFill>
                  <a:schemeClr val="tx1">
                    <a:lumMod val="85000"/>
                  </a:schemeClr>
                </a:solidFill>
              </a:rPr>
              <a:t>26.11.2025</a:t>
            </a:r>
          </a:p>
        </p:txBody>
      </p:sp>
    </p:spTree>
    <p:extLst>
      <p:ext uri="{BB962C8B-B14F-4D97-AF65-F5344CB8AC3E}">
        <p14:creationId xmlns:p14="http://schemas.microsoft.com/office/powerpoint/2010/main" val="374906590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8AF9D2-45AA-BD93-D83F-01C230513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937EDF-7CC0-B3DB-D785-CC442F9C585A}"/>
              </a:ext>
            </a:extLst>
          </p:cNvPr>
          <p:cNvSpPr/>
          <p:nvPr/>
        </p:nvSpPr>
        <p:spPr>
          <a:xfrm>
            <a:off x="248650" y="233412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6CDF7C-2104-57EE-CAC3-8AA190C3847C}"/>
              </a:ext>
            </a:extLst>
          </p:cNvPr>
          <p:cNvGrpSpPr/>
          <p:nvPr/>
        </p:nvGrpSpPr>
        <p:grpSpPr>
          <a:xfrm>
            <a:off x="85444" y="101035"/>
            <a:ext cx="2796301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209032-21B6-2D3E-2790-436326768A66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E6F6E2-D0B7-4949-301A-1CDAD8DBBA2F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General Information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B21F944-9749-C432-F935-AFD7E0E22075}"/>
              </a:ext>
            </a:extLst>
          </p:cNvPr>
          <p:cNvSpPr txBox="1"/>
          <p:nvPr/>
        </p:nvSpPr>
        <p:spPr>
          <a:xfrm>
            <a:off x="1728174" y="1859339"/>
            <a:ext cx="87356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Kotlin was developed by </a:t>
            </a:r>
            <a:r>
              <a:rPr lang="en-US" err="1">
                <a:solidFill>
                  <a:schemeClr val="accent3"/>
                </a:solidFill>
              </a:rPr>
              <a:t>Jetbrains</a:t>
            </a:r>
            <a:r>
              <a:rPr lang="en-US"/>
              <a:t> (</a:t>
            </a:r>
            <a:r>
              <a:rPr lang="en-US" err="1"/>
              <a:t>Intellj</a:t>
            </a:r>
            <a:r>
              <a:rPr lang="en-US"/>
              <a:t> Idea, Rider, Goland) and released in 2011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Goal: </a:t>
            </a:r>
            <a:r>
              <a:rPr lang="en-US">
                <a:solidFill>
                  <a:srgbClr val="00B0F0"/>
                </a:solidFill>
              </a:rPr>
              <a:t>concise and expressive</a:t>
            </a:r>
            <a:r>
              <a:rPr lang="en-US"/>
              <a:t>, interoperable with Java (previous language used), introduction of new constructs such as higher order functions</a:t>
            </a:r>
          </a:p>
          <a:p>
            <a:r>
              <a:rPr lang="en-US"/>
              <a:t>	&gt; a </a:t>
            </a:r>
            <a:r>
              <a:rPr lang="en-US">
                <a:solidFill>
                  <a:srgbClr val="92D050"/>
                </a:solidFill>
              </a:rPr>
              <a:t>better Java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Used in: </a:t>
            </a:r>
            <a:r>
              <a:rPr lang="en-US" err="1"/>
              <a:t>mobie</a:t>
            </a:r>
            <a:r>
              <a:rPr lang="en-US"/>
              <a:t> applications (android), web development, server side application, data science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IDE: </a:t>
            </a:r>
            <a:r>
              <a:rPr lang="en-US" err="1"/>
              <a:t>Intellj</a:t>
            </a:r>
            <a:r>
              <a:rPr lang="en-US"/>
              <a:t> Idea, Android Studio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BA887-6443-C102-72C3-7222849D934E}"/>
              </a:ext>
            </a:extLst>
          </p:cNvPr>
          <p:cNvSpPr txBox="1"/>
          <p:nvPr/>
        </p:nvSpPr>
        <p:spPr>
          <a:xfrm>
            <a:off x="3326002" y="6149945"/>
            <a:ext cx="8617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Source: https://www.oreilly.com/library/view/kotlin-for-enterprise/9781788997270/ea4ec584-db64-4026-89a8-2086301eb9c5.xhtml, https://www.w3schools.com/kotlin/kotlin_intro.php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11400997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1BED8-265B-44EF-5F7D-1B4EFF28C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8AE886-48C3-0C6B-2E82-9C8523AC0ABA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03D769-1785-182A-4205-86B63AADB261}"/>
              </a:ext>
            </a:extLst>
          </p:cNvPr>
          <p:cNvGrpSpPr/>
          <p:nvPr/>
        </p:nvGrpSpPr>
        <p:grpSpPr>
          <a:xfrm>
            <a:off x="85444" y="101035"/>
            <a:ext cx="2796301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6377DD-AE0A-97EB-20F7-D68096ABD130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083FA88-D270-0384-DB0E-2E2EDBC3CD70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Data Types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361B9F9-BB8D-CE33-D2AF-D4B3D919087E}"/>
              </a:ext>
            </a:extLst>
          </p:cNvPr>
          <p:cNvSpPr txBox="1"/>
          <p:nvPr/>
        </p:nvSpPr>
        <p:spPr>
          <a:xfrm>
            <a:off x="1728175" y="1997839"/>
            <a:ext cx="87356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Data types as expected: numbers (signed, unsigned), Boolean, Character, </a:t>
            </a:r>
          </a:p>
          <a:p>
            <a:r>
              <a:rPr lang="en-US"/>
              <a:t>							String, Array (also Collections)</a:t>
            </a:r>
          </a:p>
          <a:p>
            <a:r>
              <a:rPr lang="en-US"/>
              <a:t>							</a:t>
            </a:r>
            <a:r>
              <a:rPr lang="en-US" u="sng"/>
              <a:t>additionally</a:t>
            </a:r>
            <a:r>
              <a:rPr lang="en-US"/>
              <a:t>: </a:t>
            </a:r>
            <a:r>
              <a:rPr lang="en-US">
                <a:solidFill>
                  <a:schemeClr val="accent3"/>
                </a:solidFill>
              </a:rPr>
              <a:t>Any</a:t>
            </a:r>
            <a:r>
              <a:rPr lang="en-US"/>
              <a:t>, </a:t>
            </a:r>
            <a:r>
              <a:rPr lang="en-US">
                <a:solidFill>
                  <a:schemeClr val="accent1"/>
                </a:solidFill>
              </a:rPr>
              <a:t>Nothing</a:t>
            </a:r>
            <a:r>
              <a:rPr lang="en-US"/>
              <a:t>, </a:t>
            </a:r>
            <a:r>
              <a:rPr lang="en-US">
                <a:solidFill>
                  <a:srgbClr val="0070C0"/>
                </a:solidFill>
              </a:rPr>
              <a:t>Unit</a:t>
            </a:r>
          </a:p>
          <a:p>
            <a:endParaRPr lang="en-US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Any:</a:t>
            </a:r>
            <a:r>
              <a:rPr lang="en-US">
                <a:solidFill>
                  <a:srgbClr val="92D050"/>
                </a:solidFill>
              </a:rPr>
              <a:t> </a:t>
            </a:r>
            <a:r>
              <a:rPr lang="en-US"/>
              <a:t>superclass of all classes, like </a:t>
            </a:r>
            <a:r>
              <a:rPr lang="en-US" err="1"/>
              <a:t>golang</a:t>
            </a:r>
            <a:r>
              <a:rPr lang="en-US"/>
              <a:t> </a:t>
            </a:r>
            <a:r>
              <a:rPr lang="en-US">
                <a:solidFill>
                  <a:schemeClr val="accent3"/>
                </a:solidFill>
              </a:rPr>
              <a:t>any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</a:rPr>
              <a:t>Nothing: </a:t>
            </a:r>
            <a:r>
              <a:rPr lang="en-US"/>
              <a:t>class with </a:t>
            </a:r>
            <a:r>
              <a:rPr lang="en-US">
                <a:solidFill>
                  <a:schemeClr val="accent1"/>
                </a:solidFill>
              </a:rPr>
              <a:t>no instances</a:t>
            </a:r>
            <a:r>
              <a:rPr lang="en-US"/>
              <a:t>, will always </a:t>
            </a:r>
            <a:r>
              <a:rPr lang="en-US">
                <a:solidFill>
                  <a:schemeClr val="accent1"/>
                </a:solidFill>
              </a:rPr>
              <a:t>throw</a:t>
            </a:r>
            <a:r>
              <a:rPr lang="en-US"/>
              <a:t> </a:t>
            </a:r>
            <a:r>
              <a:rPr lang="en-US">
                <a:solidFill>
                  <a:schemeClr val="accent1"/>
                </a:solidFill>
              </a:rPr>
              <a:t>exception</a:t>
            </a:r>
            <a:r>
              <a:rPr lang="en-US"/>
              <a:t> as return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70C0"/>
                </a:solidFill>
              </a:rPr>
              <a:t>Unit: </a:t>
            </a:r>
            <a:r>
              <a:rPr lang="en-US"/>
              <a:t>corresponds to </a:t>
            </a:r>
            <a:r>
              <a:rPr lang="en-US">
                <a:solidFill>
                  <a:srgbClr val="0070C0"/>
                </a:solidFill>
              </a:rPr>
              <a:t>void</a:t>
            </a:r>
            <a:r>
              <a:rPr lang="en-US"/>
              <a:t>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FFFF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 semicolons at end of code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1E40CA-947B-88D5-96C6-7A6FA1A5A1F4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Source: https://kotlinlang.org/docs/types-overview.html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514004181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12AE7C-02F8-840A-3AF6-5351880ED870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8F8327-F2B6-7348-5001-D90FEB4FC220}"/>
              </a:ext>
            </a:extLst>
          </p:cNvPr>
          <p:cNvSpPr txBox="1"/>
          <p:nvPr/>
        </p:nvSpPr>
        <p:spPr>
          <a:xfrm>
            <a:off x="1246908" y="2136339"/>
            <a:ext cx="5006110" cy="2585323"/>
          </a:xfrm>
          <a:prstGeom prst="rect">
            <a:avLst/>
          </a:prstGeom>
          <a:noFill/>
          <a:ln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>
                <a:effectLst/>
                <a:latin typeface="JetBrains Mono"/>
              </a:rPr>
              <a:t>package 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packageName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import </a:t>
            </a:r>
            <a:r>
              <a:rPr lang="en-US" sz="1800">
                <a:solidFill>
                  <a:schemeClr val="accent3"/>
                </a:solidFill>
                <a:effectLst/>
                <a:latin typeface="JetBrains Mono"/>
              </a:rPr>
              <a:t>otherPackage.*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fun </a:t>
            </a:r>
            <a:r>
              <a:rPr lang="en-US" sz="1800">
                <a:solidFill>
                  <a:srgbClr val="FFC000"/>
                </a:solidFill>
                <a:effectLst/>
                <a:latin typeface="JetBrains Mono"/>
              </a:rPr>
              <a:t>main() </a:t>
            </a:r>
            <a:r>
              <a:rPr lang="en-US" sz="1800">
                <a:effectLst/>
                <a:latin typeface="JetBrains Mono"/>
              </a:rPr>
              <a:t>{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val </a:t>
            </a:r>
            <a:r>
              <a:rPr lang="en-US" sz="1800">
                <a:solidFill>
                  <a:srgbClr val="00B050"/>
                </a:solidFill>
                <a:effectLst/>
                <a:latin typeface="JetBrains Mono"/>
              </a:rPr>
              <a:t>name</a:t>
            </a:r>
            <a:r>
              <a:rPr lang="en-US">
                <a:solidFill>
                  <a:srgbClr val="00B050"/>
                </a:solidFill>
                <a:latin typeface="JetBrains Mono"/>
              </a:rPr>
              <a:t> </a:t>
            </a:r>
            <a:r>
              <a:rPr lang="en-US" sz="1800">
                <a:effectLst/>
                <a:latin typeface="JetBrains Mono"/>
              </a:rPr>
              <a:t>= "World" </a:t>
            </a:r>
            <a:r>
              <a:rPr lang="en-US" sz="1800">
                <a:solidFill>
                  <a:schemeClr val="tx1">
                    <a:lumMod val="50000"/>
                  </a:schemeClr>
                </a:solidFill>
                <a:effectLst/>
                <a:latin typeface="JetBrains Mono"/>
              </a:rPr>
              <a:t>//infers String data type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println</a:t>
            </a:r>
            <a:r>
              <a:rPr lang="en-US" sz="1800">
                <a:effectLst/>
                <a:latin typeface="JetBrains Mono"/>
              </a:rPr>
              <a:t>("Hello </a:t>
            </a: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$</a:t>
            </a:r>
            <a:r>
              <a:rPr lang="en-US" sz="1800">
                <a:solidFill>
                  <a:srgbClr val="00B050"/>
                </a:solidFill>
                <a:effectLst/>
                <a:latin typeface="JetBrains Mono"/>
              </a:rPr>
              <a:t>name</a:t>
            </a:r>
            <a:r>
              <a:rPr lang="en-US" sz="1800">
                <a:effectLst/>
                <a:latin typeface="JetBrains Mono"/>
              </a:rPr>
              <a:t>!") </a:t>
            </a:r>
            <a:r>
              <a:rPr lang="en-US" sz="1800"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JetBrains Mono"/>
              </a:rPr>
              <a:t>//output: Hello, World!</a:t>
            </a:r>
          </a:p>
          <a:p>
            <a:pPr>
              <a:buNone/>
            </a:pPr>
            <a:r>
              <a:rPr lang="en-US">
                <a:latin typeface="JetBrains Mono"/>
              </a:rPr>
              <a:t>}</a:t>
            </a:r>
            <a:endParaRPr lang="en-US" sz="1800">
              <a:effectLst/>
              <a:latin typeface="JetBrains Mono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C24E50-DEAC-A23F-8F91-EF3C078E3FD0}"/>
              </a:ext>
            </a:extLst>
          </p:cNvPr>
          <p:cNvGrpSpPr/>
          <p:nvPr/>
        </p:nvGrpSpPr>
        <p:grpSpPr>
          <a:xfrm>
            <a:off x="85444" y="101035"/>
            <a:ext cx="4120648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C0DE72-604F-30FA-B910-CF2F07D4403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800467-565F-782E-6B99-BAD5A870A37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Basic Syntax and File Structure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31F0D5A-E101-7B35-E486-13DAFD474EEC}"/>
              </a:ext>
            </a:extLst>
          </p:cNvPr>
          <p:cNvSpPr txBox="1"/>
          <p:nvPr/>
        </p:nvSpPr>
        <p:spPr>
          <a:xfrm>
            <a:off x="6789455" y="1720840"/>
            <a:ext cx="42440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Declaration of own </a:t>
            </a:r>
            <a:r>
              <a:rPr lang="en-US">
                <a:solidFill>
                  <a:srgbClr val="00B0F0"/>
                </a:solidFill>
              </a:rPr>
              <a:t>packageName</a:t>
            </a:r>
            <a:r>
              <a:rPr lang="en-US"/>
              <a:t> (must be in folder of the same name)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Declaration of </a:t>
            </a:r>
            <a:r>
              <a:rPr lang="en-US">
                <a:solidFill>
                  <a:schemeClr val="accent3"/>
                </a:solidFill>
              </a:rPr>
              <a:t>otherPackage</a:t>
            </a:r>
            <a:r>
              <a:rPr lang="en-US"/>
              <a:t> (allows </a:t>
            </a:r>
            <a:r>
              <a:rPr lang="en-US">
                <a:solidFill>
                  <a:schemeClr val="accent3"/>
                </a:solidFill>
              </a:rPr>
              <a:t>usage</a:t>
            </a:r>
            <a:r>
              <a:rPr lang="en-US"/>
              <a:t> of code without </a:t>
            </a:r>
            <a:r>
              <a:rPr lang="en-US">
                <a:solidFill>
                  <a:schemeClr val="accent3"/>
                </a:solidFill>
              </a:rPr>
              <a:t>qualification</a:t>
            </a:r>
            <a:r>
              <a:rPr lang="en-US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</a:rPr>
              <a:t>main() </a:t>
            </a:r>
            <a:r>
              <a:rPr lang="en-US"/>
              <a:t>as program entry point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println() </a:t>
            </a:r>
            <a:r>
              <a:rPr lang="en-US"/>
              <a:t>with </a:t>
            </a:r>
            <a:r>
              <a:rPr lang="en-US">
                <a:solidFill>
                  <a:srgbClr val="92D050"/>
                </a:solidFill>
                <a:latin typeface="JetBrains Mono"/>
              </a:rPr>
              <a:t>$</a:t>
            </a:r>
            <a:r>
              <a:rPr lang="en-US"/>
              <a:t> to insert value of name variable into 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25AFA-6793-29BD-BAAA-06F356746C5C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Source: https://kotlinlang.org/docs/basic-syntax.html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55525315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C5AE1B-0A42-D2DA-76E4-E19714852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80E9C3C-072C-7890-F121-CC494C567E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BE3D08-AF08-46D4-40B8-D7E6DAE43626}"/>
              </a:ext>
            </a:extLst>
          </p:cNvPr>
          <p:cNvSpPr txBox="1"/>
          <p:nvPr/>
        </p:nvSpPr>
        <p:spPr>
          <a:xfrm>
            <a:off x="1778017" y="2055303"/>
            <a:ext cx="3736092" cy="1477328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>
                <a:effectLst/>
                <a:latin typeface="JetBrains Mono"/>
              </a:rPr>
              <a:t>fun sum(</a:t>
            </a:r>
            <a:r>
              <a:rPr lang="en-US" sz="1800">
                <a:solidFill>
                  <a:schemeClr val="accent3"/>
                </a:solidFill>
                <a:effectLst/>
                <a:latin typeface="JetBrains Mono"/>
              </a:rPr>
              <a:t>a: Int </a:t>
            </a:r>
            <a:r>
              <a:rPr lang="en-US" sz="1800">
                <a:solidFill>
                  <a:schemeClr val="accent1"/>
                </a:solidFill>
                <a:effectLst/>
                <a:latin typeface="JetBrains Mono"/>
              </a:rPr>
              <a:t>= 5</a:t>
            </a:r>
            <a:r>
              <a:rPr lang="en-US" sz="1800">
                <a:effectLst/>
                <a:latin typeface="JetBrains Mono"/>
              </a:rPr>
              <a:t>, </a:t>
            </a:r>
            <a:r>
              <a:rPr lang="en-US" sz="1800">
                <a:solidFill>
                  <a:schemeClr val="accent3"/>
                </a:solidFill>
                <a:effectLst/>
                <a:latin typeface="JetBrains Mono"/>
              </a:rPr>
              <a:t>b: Int</a:t>
            </a:r>
            <a:r>
              <a:rPr lang="en-US" sz="1800">
                <a:effectLst/>
                <a:latin typeface="JetBrains Mono"/>
              </a:rPr>
              <a:t>): </a:t>
            </a:r>
            <a:r>
              <a:rPr lang="en-US" sz="180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Int</a:t>
            </a:r>
            <a:r>
              <a:rPr lang="en-US" sz="1800">
                <a:effectLst/>
                <a:latin typeface="JetBrains Mono"/>
              </a:rPr>
              <a:t> {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return a + b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}</a:t>
            </a:r>
          </a:p>
          <a:p>
            <a:pPr>
              <a:buNone/>
            </a:pPr>
            <a:endParaRPr lang="en-US">
              <a:latin typeface="JetBrains Mono"/>
            </a:endParaRPr>
          </a:p>
          <a:p>
            <a:pPr>
              <a:buNone/>
            </a:pPr>
            <a:r>
              <a:rPr lang="en-US">
                <a:latin typeface="JetBrains Mono"/>
              </a:rPr>
              <a:t>s</a:t>
            </a:r>
            <a:r>
              <a:rPr lang="en-US" sz="1800">
                <a:effectLst/>
                <a:latin typeface="JetBrains Mono"/>
              </a:rPr>
              <a:t>um(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b = 10</a:t>
            </a:r>
            <a:r>
              <a:rPr lang="en-US" sz="1800">
                <a:effectLst/>
                <a:latin typeface="JetBrains Mono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AA3C4F-72E4-B4D4-230F-C29FB20B3A7E}"/>
              </a:ext>
            </a:extLst>
          </p:cNvPr>
          <p:cNvSpPr txBox="1"/>
          <p:nvPr/>
        </p:nvSpPr>
        <p:spPr>
          <a:xfrm>
            <a:off x="1778017" y="4138104"/>
            <a:ext cx="3736092" cy="369332"/>
          </a:xfrm>
          <a:prstGeom prst="rect">
            <a:avLst/>
          </a:prstGeom>
          <a:noFill/>
          <a:ln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>
                <a:effectLst/>
                <a:latin typeface="JetBrains Mono"/>
              </a:rPr>
              <a:t>fun sum(a: Int, b: Int) </a:t>
            </a: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= a + 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9C7699-068F-3B8E-D26C-49ECBB424CF0}"/>
              </a:ext>
            </a:extLst>
          </p:cNvPr>
          <p:cNvSpPr txBox="1"/>
          <p:nvPr/>
        </p:nvSpPr>
        <p:spPr>
          <a:xfrm>
            <a:off x="6188364" y="3999604"/>
            <a:ext cx="4663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Function body as </a:t>
            </a:r>
            <a:r>
              <a:rPr lang="en-US">
                <a:solidFill>
                  <a:srgbClr val="92D050"/>
                </a:solidFill>
              </a:rPr>
              <a:t>single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Return</a:t>
            </a:r>
            <a:r>
              <a:rPr lang="en-US"/>
              <a:t> type is inferred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8715C7-D378-37EC-F29F-7E339802C34C}"/>
              </a:ext>
            </a:extLst>
          </p:cNvPr>
          <p:cNvSpPr txBox="1"/>
          <p:nvPr/>
        </p:nvSpPr>
        <p:spPr>
          <a:xfrm>
            <a:off x="6188363" y="2055303"/>
            <a:ext cx="42440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Function with </a:t>
            </a:r>
            <a:r>
              <a:rPr lang="en-US">
                <a:solidFill>
                  <a:schemeClr val="accent3"/>
                </a:solidFill>
              </a:rPr>
              <a:t>multiple parameters </a:t>
            </a:r>
            <a:r>
              <a:rPr lang="en-US"/>
              <a:t>with </a:t>
            </a:r>
            <a:r>
              <a:rPr lang="en-US">
                <a:solidFill>
                  <a:schemeClr val="accent1"/>
                </a:solidFill>
              </a:rPr>
              <a:t>default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Function call with </a:t>
            </a:r>
            <a:r>
              <a:rPr lang="en-US">
                <a:solidFill>
                  <a:srgbClr val="00B0F0"/>
                </a:solidFill>
              </a:rPr>
              <a:t>named argument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1C4A419-E98A-A097-E0E0-1BD9E9F4B4AF}"/>
              </a:ext>
            </a:extLst>
          </p:cNvPr>
          <p:cNvGrpSpPr/>
          <p:nvPr/>
        </p:nvGrpSpPr>
        <p:grpSpPr>
          <a:xfrm>
            <a:off x="85444" y="101035"/>
            <a:ext cx="3027212" cy="406964"/>
            <a:chOff x="689746" y="1254252"/>
            <a:chExt cx="10812505" cy="141531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6C102F-0591-D9ED-F2F8-FCE0A7EE56DD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5937C8-FE24-79E9-32AC-B7E25D245C9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Functions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1E2831-DE8E-089F-80F5-E8EE17C54F6D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Source: https://kotlinlang.org/docs/functions.html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989058490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BF719-6EA4-D9AD-4F43-6CC0A05D3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FD3C562-1D62-118F-12D4-838543223C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359E50-A80B-7136-4A4F-D56BE0FAA837}"/>
              </a:ext>
            </a:extLst>
          </p:cNvPr>
          <p:cNvGrpSpPr/>
          <p:nvPr/>
        </p:nvGrpSpPr>
        <p:grpSpPr>
          <a:xfrm>
            <a:off x="85444" y="101035"/>
            <a:ext cx="3027212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D417D9-5825-08C3-4C80-C8EEB2C4D321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194C8D-4F1D-8F09-9F17-9A0FDC4D5843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Class Structure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1CDBADC-8F81-FCB7-967A-9B17328F2DF5}"/>
              </a:ext>
            </a:extLst>
          </p:cNvPr>
          <p:cNvSpPr txBox="1"/>
          <p:nvPr/>
        </p:nvSpPr>
        <p:spPr>
          <a:xfrm>
            <a:off x="1200726" y="861903"/>
            <a:ext cx="9790545" cy="3970318"/>
          </a:xfrm>
          <a:prstGeom prst="rect">
            <a:avLst/>
          </a:prstGeom>
          <a:noFill/>
          <a:ln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>
                <a:effectLst/>
                <a:latin typeface="JetBrains Mono"/>
              </a:rPr>
              <a:t>class Greeting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(</a:t>
            </a:r>
            <a:r>
              <a:rPr lang="en-US" sz="1800">
                <a:solidFill>
                  <a:schemeClr val="accent3"/>
                </a:solidFill>
                <a:effectLst/>
                <a:latin typeface="JetBrains Mono"/>
              </a:rPr>
              <a:t>val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 </a:t>
            </a:r>
            <a:r>
              <a:rPr lang="en-US" sz="1800">
                <a:solidFill>
                  <a:srgbClr val="FFFF00"/>
                </a:solidFill>
                <a:effectLst/>
                <a:latin typeface="JetBrains Mono"/>
              </a:rPr>
              <a:t>name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: String = "World", </a:t>
            </a:r>
            <a:r>
              <a:rPr lang="en-US" sz="1800">
                <a:solidFill>
                  <a:schemeClr val="accent1"/>
                </a:solidFill>
                <a:effectLst/>
                <a:latin typeface="JetBrains Mono"/>
              </a:rPr>
              <a:t>var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 </a:t>
            </a:r>
            <a:r>
              <a:rPr lang="en-US" sz="1800">
                <a:solidFill>
                  <a:srgbClr val="FFFF00"/>
                </a:solidFill>
                <a:effectLst/>
                <a:latin typeface="JetBrains Mono"/>
              </a:rPr>
              <a:t>repeats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: Int = 5)</a:t>
            </a:r>
            <a:r>
              <a:rPr lang="en-US" sz="1800">
                <a:effectLst/>
                <a:latin typeface="JetBrains Mono"/>
              </a:rPr>
              <a:t>{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</a:t>
            </a:r>
            <a:r>
              <a:rPr lang="en-US" sz="180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constructor(val name: String, var repeats: Int): 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this(name, repeats)</a:t>
            </a:r>
            <a:r>
              <a:rPr lang="en-US" sz="1800">
                <a:effectLst/>
                <a:latin typeface="JetBrains Mono"/>
              </a:rPr>
              <a:t>{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    println(</a:t>
            </a:r>
            <a:r>
              <a:rPr lang="en-US">
                <a:latin typeface="JetBrains Mono"/>
              </a:rPr>
              <a:t>"</a:t>
            </a:r>
            <a:r>
              <a:rPr lang="en-US" sz="1800">
                <a:effectLst/>
                <a:latin typeface="JetBrains Mono"/>
              </a:rPr>
              <a:t>\"Greeting\" instance created with non-default name \"$name\", configured to repeat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        $repeats times")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}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fun greet(){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for(i in 1..repeats)</a:t>
            </a:r>
            <a:r>
              <a:rPr lang="en-US" sz="1800">
                <a:effectLst/>
                <a:latin typeface="JetBrains Mono"/>
              </a:rPr>
              <a:t>{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        print("Greetings and ")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        println("Hello, $name!")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    }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}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4E4092-1FF3-5AC6-56BD-9168D20A7D9B}"/>
              </a:ext>
            </a:extLst>
          </p:cNvPr>
          <p:cNvSpPr txBox="1"/>
          <p:nvPr/>
        </p:nvSpPr>
        <p:spPr>
          <a:xfrm>
            <a:off x="1200726" y="4851240"/>
            <a:ext cx="50061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Class (final by default) with </a:t>
            </a:r>
            <a:r>
              <a:rPr lang="en-US">
                <a:solidFill>
                  <a:srgbClr val="00B0F0"/>
                </a:solidFill>
              </a:rPr>
              <a:t>primary</a:t>
            </a:r>
            <a:r>
              <a:rPr lang="en-US"/>
              <a:t> and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secondary</a:t>
            </a:r>
            <a:r>
              <a:rPr lang="en-US"/>
              <a:t> constructor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FF00"/>
                </a:solidFill>
              </a:rPr>
              <a:t>Properties</a:t>
            </a:r>
            <a:r>
              <a:rPr lang="en-US"/>
              <a:t> declared in constructor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2DD8C3-FCAA-39D4-CDAA-1841A3590396}"/>
              </a:ext>
            </a:extLst>
          </p:cNvPr>
          <p:cNvSpPr txBox="1"/>
          <p:nvPr/>
        </p:nvSpPr>
        <p:spPr>
          <a:xfrm>
            <a:off x="6470071" y="4851240"/>
            <a:ext cx="452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/>
                </a:solidFill>
              </a:rPr>
              <a:t>val</a:t>
            </a:r>
            <a:r>
              <a:rPr lang="en-US"/>
              <a:t> : read-only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</a:rPr>
              <a:t>var</a:t>
            </a:r>
            <a:r>
              <a:rPr lang="en-US">
                <a:solidFill>
                  <a:srgbClr val="CF8E6D"/>
                </a:solidFill>
              </a:rPr>
              <a:t> </a:t>
            </a:r>
            <a:r>
              <a:rPr lang="en-US"/>
              <a:t>: read-write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for</a:t>
            </a:r>
            <a:r>
              <a:rPr lang="en-US"/>
              <a:t> loop (only existing variation)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C5DACD-8C73-5B32-2ACA-AA2E804DE2F4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Source: https://kotlinlang.org/docs/basic-syntax.html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3422303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4CE09-68D0-6975-4639-C5380265C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2BEF325-94E4-2962-2BB0-4FD361DD79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AEDFD2-66C9-E185-2563-BB0E4E43F36D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F90C77-2AF3-F8D5-5F29-CC9F8B03C9FC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E3DE4E-59AB-6C20-4160-2028380FB89A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Curiosity: when expression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0438C2C-BEB3-EA8C-FC1B-D3E12A7F4D40}"/>
              </a:ext>
            </a:extLst>
          </p:cNvPr>
          <p:cNvSpPr txBox="1"/>
          <p:nvPr/>
        </p:nvSpPr>
        <p:spPr>
          <a:xfrm>
            <a:off x="5523344" y="2991258"/>
            <a:ext cx="5006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3"/>
                </a:solidFill>
              </a:rPr>
              <a:t>when</a:t>
            </a:r>
            <a:r>
              <a:rPr lang="en-US"/>
              <a:t> expression (equivalent to switch case) with </a:t>
            </a:r>
            <a:r>
              <a:rPr lang="en-US">
                <a:solidFill>
                  <a:srgbClr val="00B0F0"/>
                </a:solidFill>
              </a:rPr>
              <a:t>cases</a:t>
            </a:r>
            <a:r>
              <a:rPr lang="en-US"/>
              <a:t> and </a:t>
            </a:r>
            <a:r>
              <a:rPr lang="en-US">
                <a:solidFill>
                  <a:srgbClr val="92D050"/>
                </a:solidFill>
              </a:rPr>
              <a:t>default case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22633E-E22C-D5F7-657E-B6E109A0B165}"/>
              </a:ext>
            </a:extLst>
          </p:cNvPr>
          <p:cNvSpPr txBox="1"/>
          <p:nvPr/>
        </p:nvSpPr>
        <p:spPr>
          <a:xfrm>
            <a:off x="1878584" y="1606264"/>
            <a:ext cx="2770910" cy="3693319"/>
          </a:xfrm>
          <a:prstGeom prst="rect">
            <a:avLst/>
          </a:prstGeom>
          <a:noFill/>
          <a:ln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err="1">
                <a:effectLst/>
                <a:latin typeface="JetBrains Mono"/>
              </a:rPr>
              <a:t>val</a:t>
            </a:r>
            <a:r>
              <a:rPr lang="en-US" sz="1800">
                <a:effectLst/>
                <a:latin typeface="JetBrains Mono"/>
              </a:rPr>
              <a:t> day = 4</a:t>
            </a:r>
          </a:p>
          <a:p>
            <a:pPr>
              <a:buNone/>
            </a:pPr>
            <a:endParaRPr lang="en-US" sz="1800">
              <a:effectLst/>
              <a:latin typeface="JetBrains Mono"/>
            </a:endParaRPr>
          </a:p>
          <a:p>
            <a:pPr>
              <a:buNone/>
            </a:pPr>
            <a:r>
              <a:rPr lang="en-US" sz="1800" err="1">
                <a:effectLst/>
                <a:latin typeface="JetBrains Mono"/>
              </a:rPr>
              <a:t>val</a:t>
            </a:r>
            <a:r>
              <a:rPr lang="en-US" sz="1800">
                <a:effectLst/>
                <a:latin typeface="JetBrains Mono"/>
              </a:rPr>
              <a:t> result = </a:t>
            </a:r>
            <a:r>
              <a:rPr lang="en-US" sz="1800">
                <a:solidFill>
                  <a:schemeClr val="accent3"/>
                </a:solidFill>
                <a:effectLst/>
                <a:latin typeface="JetBrains Mono"/>
              </a:rPr>
              <a:t>when (day) </a:t>
            </a:r>
            <a:r>
              <a:rPr lang="en-US" sz="1800">
                <a:effectLst/>
                <a:latin typeface="JetBrains Mono"/>
              </a:rPr>
              <a:t>{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  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1 -&gt; "Monday"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  2 -&gt; "Tuesday"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  3 -&gt; "Wednesday"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  4 -&gt; "Thursday"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  5 -&gt; "Friday"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  6 -&gt; "Saturday"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  7 -&gt; "Sunday"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  </a:t>
            </a: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else -&gt; "Invalid day."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}</a:t>
            </a:r>
          </a:p>
          <a:p>
            <a:pPr>
              <a:buNone/>
            </a:pPr>
            <a:r>
              <a:rPr lang="en-US" sz="1800" err="1">
                <a:effectLst/>
                <a:latin typeface="JetBrains Mono"/>
              </a:rPr>
              <a:t>println</a:t>
            </a:r>
            <a:r>
              <a:rPr lang="en-US" sz="1800">
                <a:effectLst/>
                <a:latin typeface="JetBrains Mono"/>
              </a:rPr>
              <a:t>(result)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020C8F-DBA9-7DC8-D534-D588EDCC328E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/>
              <a:t>Source:  https://www.w3schools.com/kotlin/kotlin_when.php</a:t>
            </a:r>
          </a:p>
        </p:txBody>
      </p:sp>
    </p:spTree>
    <p:extLst>
      <p:ext uri="{BB962C8B-B14F-4D97-AF65-F5344CB8AC3E}">
        <p14:creationId xmlns:p14="http://schemas.microsoft.com/office/powerpoint/2010/main" val="3687285452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980</TotalTime>
  <Words>686</Words>
  <Application>Microsoft Office PowerPoint</Application>
  <PresentationFormat>Widescreen</PresentationFormat>
  <Paragraphs>85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Cascadia Code</vt:lpstr>
      <vt:lpstr>JetBrains Mono</vt:lpstr>
      <vt:lpstr>Wingdings 2</vt:lpstr>
      <vt:lpstr>Quotable</vt:lpstr>
      <vt:lpstr>PowerPoint Presentation</vt:lpstr>
      <vt:lpstr>Programming Language Kotlin(object oriented)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Ihrenberger</dc:creator>
  <cp:lastModifiedBy>Ihrenberger, Julia</cp:lastModifiedBy>
  <cp:revision>855</cp:revision>
  <dcterms:created xsi:type="dcterms:W3CDTF">2025-03-21T16:11:25Z</dcterms:created>
  <dcterms:modified xsi:type="dcterms:W3CDTF">2025-11-26T13:15:05Z</dcterms:modified>
</cp:coreProperties>
</file>